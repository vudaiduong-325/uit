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319" r:id="rId5"/>
    <p:sldId id="344" r:id="rId6"/>
    <p:sldId id="339" r:id="rId7"/>
    <p:sldId id="271" r:id="rId8"/>
    <p:sldId id="345" r:id="rId9"/>
    <p:sldId id="346" r:id="rId10"/>
    <p:sldId id="340" r:id="rId11"/>
    <p:sldId id="320" r:id="rId12"/>
    <p:sldId id="341" r:id="rId13"/>
    <p:sldId id="321" r:id="rId14"/>
    <p:sldId id="347" r:id="rId15"/>
    <p:sldId id="34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EF7D"/>
    <a:srgbClr val="11998E"/>
    <a:srgbClr val="F37335"/>
    <a:srgbClr val="FDC830"/>
    <a:srgbClr val="752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431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38" y="82"/>
      </p:cViewPr>
      <p:guideLst>
        <p:guide orient="horz" pos="2142"/>
        <p:guide pos="38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rong Hieu" userId="0d85c495d8ea6f03" providerId="LiveId" clId="{81D816DB-267C-46B0-9A08-F9821A26C622}"/>
    <pc:docChg chg="undo redo custSel addSld delSld modSld">
      <pc:chgData name="Le Trong Hieu" userId="0d85c495d8ea6f03" providerId="LiveId" clId="{81D816DB-267C-46B0-9A08-F9821A26C622}" dt="2026-03-30T06:48:12.616" v="1909" actId="20577"/>
      <pc:docMkLst>
        <pc:docMk/>
      </pc:docMkLst>
      <pc:sldChg chg="modSp mod">
        <pc:chgData name="Le Trong Hieu" userId="0d85c495d8ea6f03" providerId="LiveId" clId="{81D816DB-267C-46B0-9A08-F9821A26C622}" dt="2026-03-30T06:48:12.616" v="1909" actId="20577"/>
        <pc:sldMkLst>
          <pc:docMk/>
          <pc:sldMk cId="0" sldId="256"/>
        </pc:sldMkLst>
        <pc:spChg chg="mod">
          <ac:chgData name="Le Trong Hieu" userId="0d85c495d8ea6f03" providerId="LiveId" clId="{81D816DB-267C-46B0-9A08-F9821A26C622}" dt="2026-03-30T06:48:12.616" v="1909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en-US" smtClean="0"/>
              <a:t>02/04/2026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4143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flipV="1">
            <a:off x="-31247" y="0"/>
            <a:ext cx="633743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23" name="Rounded Rectangle 22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55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en-US" dirty="0"/>
              <a:t>Địa điểm, Ngày Tháng Năm</a:t>
            </a: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5" hasCustomPrompt="1"/>
          </p:nvPr>
        </p:nvSpPr>
        <p:spPr>
          <a:xfrm>
            <a:off x="3730283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Loại trình bày</a:t>
            </a:r>
          </a:p>
        </p:txBody>
      </p:sp>
      <p:sp>
        <p:nvSpPr>
          <p:cNvPr id="52" name="Text Placeholder 50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309683"/>
            <a:ext cx="3388242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3" name="Freeform 52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0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0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24143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flipV="1">
            <a:off x="-31247" y="0"/>
            <a:ext cx="1804783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4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Rounded Rectangle 21"/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13" hasCustomPrompt="1"/>
          </p:nvPr>
        </p:nvSpPr>
        <p:spPr>
          <a:xfrm>
            <a:off x="1653362" y="561276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Freeform 9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reeform 23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reeform 23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reeform 23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reeform 23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Freeform 23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75"/>
            <a:ext cx="10980000" cy="84123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 18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895"/>
            <a:ext cx="10980000" cy="98928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4" name="Rounded Rectangle 13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Freeform 20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Freeform 16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48198"/>
            <a:ext cx="4114799" cy="13995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7490"/>
            <a:ext cx="6325038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777068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 18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70699"/>
            <a:ext cx="6325038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 18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4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reeform 17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/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Icon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/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reeform 17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/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/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591081"/>
            <a:ext cx="10314039" cy="3227807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BÁO CÁO ĐỀ TÀI ĐỒ ÁN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 err="1"/>
              <a:t>Thiết</a:t>
            </a:r>
            <a:r>
              <a:rPr lang="en-US" sz="4800" dirty="0"/>
              <a:t> </a:t>
            </a:r>
            <a:r>
              <a:rPr lang="en-US" sz="4800" dirty="0" err="1"/>
              <a:t>kế</a:t>
            </a:r>
            <a:r>
              <a:rPr lang="en-US" sz="4800" dirty="0"/>
              <a:t> </a:t>
            </a:r>
            <a:r>
              <a:rPr lang="en-US" sz="4800" dirty="0" err="1"/>
              <a:t>bộ</a:t>
            </a:r>
            <a:r>
              <a:rPr lang="en-US" sz="4800" dirty="0"/>
              <a:t> </a:t>
            </a:r>
            <a:r>
              <a:rPr lang="en-US" sz="4800" dirty="0" err="1"/>
              <a:t>tăng</a:t>
            </a:r>
            <a:r>
              <a:rPr lang="en-US" sz="4800" dirty="0"/>
              <a:t> </a:t>
            </a:r>
            <a:r>
              <a:rPr lang="en-US" sz="4800" dirty="0" err="1"/>
              <a:t>tốc</a:t>
            </a:r>
            <a:r>
              <a:rPr lang="en-US" sz="4800" dirty="0"/>
              <a:t> </a:t>
            </a:r>
            <a:r>
              <a:rPr lang="en-US" sz="4800" dirty="0" err="1"/>
              <a:t>xử</a:t>
            </a:r>
            <a:r>
              <a:rPr lang="en-US" sz="4800" dirty="0"/>
              <a:t> </a:t>
            </a:r>
            <a:r>
              <a:rPr lang="en-US" sz="4800" dirty="0" err="1"/>
              <a:t>lý</a:t>
            </a:r>
            <a:r>
              <a:rPr lang="en-US" sz="4800" dirty="0"/>
              <a:t> </a:t>
            </a:r>
            <a:r>
              <a:rPr lang="en-US" sz="4800" dirty="0" err="1"/>
              <a:t>nhân</a:t>
            </a:r>
            <a:r>
              <a:rPr lang="en-US" sz="4800" dirty="0"/>
              <a:t> ma </a:t>
            </a:r>
            <a:r>
              <a:rPr lang="en-US" sz="4800" dirty="0" err="1"/>
              <a:t>trận</a:t>
            </a:r>
            <a:r>
              <a:rPr lang="en-US" sz="4800" dirty="0"/>
              <a:t> </a:t>
            </a:r>
            <a:r>
              <a:rPr lang="en-US" sz="4800" dirty="0" err="1"/>
              <a:t>thuần</a:t>
            </a:r>
            <a:r>
              <a:rPr lang="en-US" sz="4800" dirty="0"/>
              <a:t> </a:t>
            </a:r>
            <a:r>
              <a:rPr lang="en-US" sz="4800" dirty="0" err="1"/>
              <a:t>túy</a:t>
            </a:r>
            <a:r>
              <a:rPr lang="en-US" sz="4800" dirty="0"/>
              <a:t> </a:t>
            </a:r>
            <a:r>
              <a:rPr lang="en-US" sz="4800" dirty="0" err="1"/>
              <a:t>trong</a:t>
            </a:r>
            <a:r>
              <a:rPr lang="en-US" sz="4800" dirty="0"/>
              <a:t> model INT8</a:t>
            </a:r>
            <a:br>
              <a:rPr lang="en-US" sz="4800" dirty="0"/>
            </a:br>
            <a:endParaRPr lang="en-US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730283" y="1217560"/>
            <a:ext cx="2695917" cy="381000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THIẾT KẾ HỆ THỐNG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5100677"/>
            <a:ext cx="9144000" cy="1079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5019675" algn="l"/>
              </a:tabLst>
            </a:pPr>
            <a:r>
              <a:rPr lang="en-US" sz="2400" b="1" dirty="0"/>
              <a:t>Vũ </a:t>
            </a:r>
            <a:r>
              <a:rPr lang="en-US" sz="2400" b="1" dirty="0" err="1"/>
              <a:t>Đại</a:t>
            </a:r>
            <a:r>
              <a:rPr lang="en-US" sz="2400" b="1" dirty="0"/>
              <a:t> Dương	</a:t>
            </a:r>
            <a:r>
              <a:rPr lang="en-US" sz="2400" dirty="0"/>
              <a:t>	23520359</a:t>
            </a:r>
            <a:endParaRPr lang="en-US" sz="2400" b="1" dirty="0"/>
          </a:p>
          <a:p>
            <a:pPr marL="342900" indent="-3429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5019675" algn="l"/>
              </a:tabLst>
            </a:pPr>
            <a:r>
              <a:rPr lang="en-US" sz="2400" b="1" dirty="0"/>
              <a:t>Nguyễn Đặng Phương Duy</a:t>
            </a:r>
            <a:r>
              <a:rPr lang="en-US" sz="2400" dirty="0"/>
              <a:t>	23520372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 báo cáo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32860" y="3850428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033165" y="1864032"/>
            <a:ext cx="6832642" cy="798296"/>
            <a:chOff x="1033164" y="2094865"/>
            <a:chExt cx="7770177" cy="948373"/>
          </a:xfrm>
        </p:grpSpPr>
        <p:sp>
          <p:nvSpPr>
            <p:cNvPr id="7" name="Rounded Rectangle 6"/>
            <p:cNvSpPr/>
            <p:nvPr/>
          </p:nvSpPr>
          <p:spPr>
            <a:xfrm>
              <a:off x="1033164" y="2094865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93006" y="2265441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62399" y="2294823"/>
              <a:ext cx="6940941" cy="5484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Tổng</a:t>
              </a:r>
              <a:r>
                <a:rPr lang="en-US" sz="2400" dirty="0"/>
                <a:t> </a:t>
              </a:r>
              <a:r>
                <a:rPr lang="en-US" sz="2400" dirty="0" err="1"/>
                <a:t>quan</a:t>
              </a:r>
              <a:r>
                <a:rPr lang="en-US" sz="2400" dirty="0"/>
                <a:t> </a:t>
              </a:r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tài</a:t>
              </a:r>
              <a:endParaRPr lang="en-US" sz="24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003665" y="2754695"/>
            <a:ext cx="6862141" cy="796778"/>
            <a:chOff x="1033164" y="3239499"/>
            <a:chExt cx="7770177" cy="948373"/>
          </a:xfrm>
        </p:grpSpPr>
        <p:sp>
          <p:nvSpPr>
            <p:cNvPr id="11" name="Rounded Rectangle 10"/>
            <p:cNvSpPr/>
            <p:nvPr/>
          </p:nvSpPr>
          <p:spPr>
            <a:xfrm>
              <a:off x="1033164" y="3239499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 dirty="0">
                <a:solidFill>
                  <a:schemeClr val="bg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62399" y="3438933"/>
              <a:ext cx="6609248" cy="5495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>
                  <a:solidFill>
                    <a:schemeClr val="bg1"/>
                  </a:solidFill>
                </a:rPr>
                <a:t>Đề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xuất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kiến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trúc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tổng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quan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03664" y="3718642"/>
            <a:ext cx="6862141" cy="796778"/>
            <a:chOff x="1033164" y="4431224"/>
            <a:chExt cx="7770177" cy="948373"/>
          </a:xfrm>
        </p:grpSpPr>
        <p:sp>
          <p:nvSpPr>
            <p:cNvPr id="15" name="Rounded Rectangle 6"/>
            <p:cNvSpPr/>
            <p:nvPr/>
          </p:nvSpPr>
          <p:spPr>
            <a:xfrm>
              <a:off x="1033164" y="4431224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bg1"/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1193006" y="4601800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62400" y="4630660"/>
              <a:ext cx="6609248" cy="54950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 err="1"/>
                <a:t>Đề</a:t>
              </a:r>
              <a:r>
                <a:rPr lang="en-US" sz="2400" dirty="0"/>
                <a:t> </a:t>
              </a:r>
              <a:r>
                <a:rPr lang="en-US" sz="2400" dirty="0" err="1"/>
                <a:t>xuất</a:t>
              </a:r>
              <a:r>
                <a:rPr lang="en-US" sz="2400" dirty="0"/>
                <a:t> </a:t>
              </a:r>
              <a:r>
                <a:rPr lang="en-US" sz="2400" dirty="0" err="1"/>
                <a:t>phương</a:t>
              </a:r>
              <a:r>
                <a:rPr lang="en-US" sz="2400" dirty="0"/>
                <a:t> </a:t>
              </a:r>
              <a:r>
                <a:rPr lang="en-US" sz="2400" dirty="0" err="1"/>
                <a:t>phép</a:t>
              </a:r>
              <a:r>
                <a:rPr lang="en-US" sz="2400" dirty="0"/>
                <a:t> </a:t>
              </a:r>
              <a:r>
                <a:rPr lang="en-US" sz="2400" dirty="0" err="1"/>
                <a:t>đánh</a:t>
              </a:r>
              <a:r>
                <a:rPr lang="en-US" sz="2400" dirty="0"/>
                <a:t> </a:t>
              </a:r>
              <a:r>
                <a:rPr lang="en-US" sz="2400" dirty="0" err="1"/>
                <a:t>giá</a:t>
              </a:r>
              <a:r>
                <a:rPr lang="en-US" sz="2400" dirty="0"/>
                <a:t> </a:t>
              </a:r>
              <a:r>
                <a:rPr lang="en-US" sz="2400" dirty="0" err="1"/>
                <a:t>kết</a:t>
              </a:r>
              <a:r>
                <a:rPr lang="en-US" sz="2400" dirty="0"/>
                <a:t> </a:t>
              </a:r>
              <a:r>
                <a:rPr lang="en-US" sz="2400" dirty="0" err="1"/>
                <a:t>quả</a:t>
              </a:r>
              <a:endParaRPr lang="en-US" sz="2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623B33-45D0-0B08-9120-FECCBF7FF6A2}"/>
              </a:ext>
            </a:extLst>
          </p:cNvPr>
          <p:cNvGrpSpPr/>
          <p:nvPr/>
        </p:nvGrpSpPr>
        <p:grpSpPr>
          <a:xfrm>
            <a:off x="974168" y="4658730"/>
            <a:ext cx="6891637" cy="798296"/>
            <a:chOff x="1065626" y="3239499"/>
            <a:chExt cx="7770177" cy="948373"/>
          </a:xfrm>
        </p:grpSpPr>
        <p:sp>
          <p:nvSpPr>
            <p:cNvPr id="22" name="Rounded Rectangle 10">
              <a:extLst>
                <a:ext uri="{FF2B5EF4-FFF2-40B4-BE49-F238E27FC236}">
                  <a16:creationId xmlns:a16="http://schemas.microsoft.com/office/drawing/2014/main" id="{1555F419-9600-99D9-05A8-CF57732AB965}"/>
                </a:ext>
              </a:extLst>
            </p:cNvPr>
            <p:cNvSpPr/>
            <p:nvPr/>
          </p:nvSpPr>
          <p:spPr>
            <a:xfrm>
              <a:off x="1065626" y="3239499"/>
              <a:ext cx="7770177" cy="948373"/>
            </a:xfrm>
            <a:prstGeom prst="roundRect">
              <a:avLst>
                <a:gd name="adj" fmla="val 6767"/>
              </a:avLst>
            </a:prstGeom>
            <a:solidFill>
              <a:schemeClr val="accent4">
                <a:lumMod val="75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 dirty="0">
                <a:solidFill>
                  <a:schemeClr val="bg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2CD83CF-62D2-92AE-B896-C38358EBBC90}"/>
                </a:ext>
              </a:extLst>
            </p:cNvPr>
            <p:cNvSpPr/>
            <p:nvPr/>
          </p:nvSpPr>
          <p:spPr>
            <a:xfrm>
              <a:off x="1193005" y="3410075"/>
              <a:ext cx="607219" cy="60721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AAE16BB-7D99-00C0-B64E-A053457DFDB3}"/>
                </a:ext>
              </a:extLst>
            </p:cNvPr>
            <p:cNvSpPr txBox="1"/>
            <p:nvPr/>
          </p:nvSpPr>
          <p:spPr>
            <a:xfrm>
              <a:off x="1862399" y="3439455"/>
              <a:ext cx="6609248" cy="5484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Tiến </a:t>
              </a:r>
              <a:r>
                <a:rPr lang="en-US" sz="2400" dirty="0" err="1">
                  <a:solidFill>
                    <a:schemeClr val="bg1"/>
                  </a:solidFill>
                </a:rPr>
                <a:t>độ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thực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hiện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6167A-817E-CF29-4B5C-8332A649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05A7-739D-659B-6890-7BF1BE26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36E4-6799-A911-84E2-33A3BD4BA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99" y="1924355"/>
            <a:ext cx="11350027" cy="42208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-  </a:t>
            </a:r>
            <a:r>
              <a:rPr lang="en-US" sz="2000" dirty="0" err="1">
                <a:latin typeface="+mj-lt"/>
              </a:rPr>
              <a:t>Tên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đề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tài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tăng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tốc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túy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trong</a:t>
            </a:r>
            <a:r>
              <a:rPr lang="en-US" sz="2000" dirty="0">
                <a:latin typeface="+mj-lt"/>
              </a:rPr>
              <a:t> model INT8</a:t>
            </a:r>
          </a:p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Nội</a:t>
            </a:r>
            <a:r>
              <a:rPr lang="en-US" sz="2000" dirty="0">
                <a:latin typeface="+mj-lt"/>
              </a:rPr>
              <a:t> dung: </a:t>
            </a:r>
            <a:r>
              <a:rPr lang="en-US" sz="2000" dirty="0" err="1">
                <a:latin typeface="+mj-lt"/>
              </a:rPr>
              <a:t>tập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trung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từ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mức</a:t>
            </a:r>
            <a:r>
              <a:rPr lang="en-US" sz="2000" dirty="0">
                <a:latin typeface="+mj-lt"/>
              </a:rPr>
              <a:t> RTL </a:t>
            </a:r>
            <a:r>
              <a:rPr lang="en-US" sz="2000" dirty="0" err="1">
                <a:latin typeface="+mj-lt"/>
              </a:rPr>
              <a:t>một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IP Systolic Array </a:t>
            </a: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năng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lí</a:t>
            </a:r>
            <a:r>
              <a:rPr lang="en-US" sz="2000" dirty="0">
                <a:latin typeface="+mj-lt"/>
              </a:rPr>
              <a:t> song </a:t>
            </a:r>
            <a:r>
              <a:rPr lang="en-US" sz="2000" dirty="0" err="1">
                <a:latin typeface="+mj-lt"/>
              </a:rPr>
              <a:t>song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mức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giảm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thiểu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băng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truy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nhớ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đóng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gói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chuẩn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 AXI4-Stream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tích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hợp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lên</a:t>
            </a:r>
            <a:r>
              <a:rPr lang="en-US" sz="2000" dirty="0">
                <a:latin typeface="+mj-lt"/>
              </a:rPr>
              <a:t> KV260.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Yêu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cầu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Thực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phép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2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8 bit Act &amp; Weight, </a:t>
            </a:r>
            <a:r>
              <a:rPr lang="en-US" sz="2000" dirty="0" err="1">
                <a:latin typeface="+mj-lt"/>
              </a:rPr>
              <a:t>đưa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ra</a:t>
            </a:r>
            <a:r>
              <a:rPr lang="en-US" sz="2000" dirty="0">
                <a:latin typeface="+mj-lt"/>
              </a:rPr>
              <a:t> Output </a:t>
            </a:r>
            <a:r>
              <a:rPr lang="en-US" sz="2000" dirty="0" err="1">
                <a:latin typeface="+mj-lt"/>
              </a:rPr>
              <a:t>psum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trùng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với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chạy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mềm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hoạt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với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chuẩn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thống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phải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được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đồng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cơ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chế</a:t>
            </a:r>
            <a:r>
              <a:rPr lang="en-US" sz="2000" dirty="0">
                <a:latin typeface="+mj-lt"/>
              </a:rPr>
              <a:t> pipeline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đạt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số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hoạt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cao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tối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ưu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hóa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tài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cứng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  </a:t>
            </a:r>
          </a:p>
          <a:p>
            <a:pPr>
              <a:buFontTx/>
              <a:buChar char="-"/>
            </a:pPr>
            <a:endParaRPr lang="en-US" sz="20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9FA8B-0C7D-0F0B-3695-579D0644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F4F37-75D7-52F6-4AEC-7C592164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2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BDD5-153A-6216-AD05-CBEF795B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4190-6D68-17E1-B531-A9615E08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34D5-5B04-CCF0-8D70-49719B9B3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99" y="1924355"/>
            <a:ext cx="11350027" cy="4220805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Mục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tiêu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đề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tài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Xây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dựng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công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lõi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tử</a:t>
            </a:r>
            <a:r>
              <a:rPr lang="en-US" sz="2000" dirty="0">
                <a:latin typeface="+mj-lt"/>
              </a:rPr>
              <a:t> (Processing Element – PE) bao </a:t>
            </a:r>
            <a:r>
              <a:rPr lang="en-US" sz="2000" dirty="0" err="1">
                <a:latin typeface="+mj-lt"/>
              </a:rPr>
              <a:t>gồm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dồn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Xây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dựng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điều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khiển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luồng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dữ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hoạt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theo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Systolic Array.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Đóng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gói</a:t>
            </a:r>
            <a:r>
              <a:rPr lang="en-US" sz="2000" dirty="0">
                <a:latin typeface="+mj-lt"/>
              </a:rPr>
              <a:t> IP Core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xây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dựng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thống</a:t>
            </a:r>
            <a:r>
              <a:rPr lang="en-US" sz="2000" dirty="0">
                <a:latin typeface="+mj-lt"/>
              </a:rPr>
              <a:t> SoC </a:t>
            </a:r>
            <a:r>
              <a:rPr lang="en-US" sz="2000" dirty="0" err="1">
                <a:latin typeface="+mj-lt"/>
              </a:rPr>
              <a:t>hoàn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chỉnh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Viết</a:t>
            </a:r>
            <a:r>
              <a:rPr lang="en-US" sz="2000" dirty="0">
                <a:latin typeface="+mj-lt"/>
              </a:rPr>
              <a:t> code C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cấu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hình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điều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khiển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nạp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lên</a:t>
            </a:r>
            <a:r>
              <a:rPr lang="en-US" sz="2000" dirty="0">
                <a:latin typeface="+mj-lt"/>
              </a:rPr>
              <a:t> KV260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chính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tuyệt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đối</a:t>
            </a:r>
            <a:r>
              <a:rPr lang="en-US" sz="2000" dirty="0">
                <a:latin typeface="+mj-lt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  </a:t>
            </a:r>
          </a:p>
          <a:p>
            <a:pPr>
              <a:buFontTx/>
              <a:buChar char="-"/>
            </a:pPr>
            <a:endParaRPr lang="en-US" sz="20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18698-1EE7-2487-5EAD-DC45EF9D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846D0-E825-5D62-8270-68EFE37D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0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4FB34-2AF2-57B8-24C1-DCF9198E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4DDABD-BE99-F91E-6B5C-22B6CD61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43CE6A-7541-611D-8616-96F55A4F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4886EF-248C-0936-578E-5D47FAC9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B5299-B503-5EF6-80BE-2E8DFE786D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9598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9" y="1924356"/>
            <a:ext cx="11173045" cy="458061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200" dirty="0" err="1">
                <a:latin typeface="+mj-lt"/>
              </a:rPr>
              <a:t>Thiết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kế</a:t>
            </a:r>
            <a:r>
              <a:rPr lang="en-US" sz="2200" dirty="0">
                <a:latin typeface="+mj-lt"/>
              </a:rPr>
              <a:t> bao </a:t>
            </a:r>
            <a:r>
              <a:rPr lang="en-US" sz="2200" dirty="0" err="1">
                <a:latin typeface="+mj-lt"/>
              </a:rPr>
              <a:t>gồm</a:t>
            </a:r>
            <a:r>
              <a:rPr lang="en-US" sz="22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đầu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vào</a:t>
            </a:r>
            <a:r>
              <a:rPr lang="en-US" sz="20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điều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khiển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luồng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trễ</a:t>
            </a:r>
            <a:endParaRPr lang="en-US" sz="2000" dirty="0">
              <a:latin typeface="+mj-lt"/>
            </a:endParaRP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Mảng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tính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toán</a:t>
            </a:r>
            <a:r>
              <a:rPr lang="en-US" sz="2000" dirty="0">
                <a:latin typeface="+mj-lt"/>
              </a:rPr>
              <a:t> </a:t>
            </a:r>
          </a:p>
          <a:p>
            <a:pPr lvl="1">
              <a:buFontTx/>
              <a:buChar char="-"/>
            </a:pP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đầu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ra</a:t>
            </a:r>
            <a:endParaRPr lang="en-US" sz="2000" dirty="0"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A560D-1DCA-0271-398C-0EF2738A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8985-F684-3F79-C127-7CF7FD43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34E9-663E-B2D8-9EAC-A3EE54DF4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99" y="1924356"/>
            <a:ext cx="11173045" cy="458061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tiếp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đầu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vào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1800" dirty="0">
                <a:latin typeface="+mj-lt"/>
              </a:rPr>
              <a:t>2 ma </a:t>
            </a:r>
            <a:r>
              <a:rPr lang="en-US" sz="1800" dirty="0" err="1">
                <a:latin typeface="+mj-lt"/>
              </a:rPr>
              <a:t>trận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đầu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sẽ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vào</a:t>
            </a:r>
            <a:r>
              <a:rPr lang="en-US" sz="1800" dirty="0">
                <a:latin typeface="+mj-lt"/>
              </a:rPr>
              <a:t> DMA </a:t>
            </a:r>
            <a:r>
              <a:rPr lang="en-US" sz="1800" dirty="0" err="1">
                <a:latin typeface="+mj-lt"/>
              </a:rPr>
              <a:t>để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băm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đưa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về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đúng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dạng</a:t>
            </a:r>
            <a:r>
              <a:rPr lang="en-US" sz="1800" dirty="0">
                <a:latin typeface="+mj-lt"/>
              </a:rPr>
              <a:t> ma </a:t>
            </a:r>
            <a:r>
              <a:rPr lang="en-US" sz="1800" dirty="0" err="1">
                <a:latin typeface="+mj-lt"/>
              </a:rPr>
              <a:t>trận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cần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toán</a:t>
            </a:r>
            <a:r>
              <a:rPr lang="en-US" sz="18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chuẩn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</a:t>
            </a:r>
            <a:r>
              <a:rPr lang="en-US" sz="1800" dirty="0">
                <a:latin typeface="+mj-lt"/>
              </a:rPr>
              <a:t> DMA </a:t>
            </a:r>
            <a:r>
              <a:rPr lang="en-US" sz="1800" dirty="0" err="1">
                <a:latin typeface="+mj-lt"/>
              </a:rPr>
              <a:t>sẽ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được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lưu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vào</a:t>
            </a:r>
            <a:r>
              <a:rPr lang="en-US" sz="1800" dirty="0">
                <a:latin typeface="+mj-lt"/>
              </a:rPr>
              <a:t> 2 SC-FIFO (1 </a:t>
            </a:r>
            <a:r>
              <a:rPr lang="en-US" sz="1800" dirty="0" err="1">
                <a:latin typeface="+mj-lt"/>
              </a:rPr>
              <a:t>cho</a:t>
            </a:r>
            <a:r>
              <a:rPr lang="en-US" sz="1800" dirty="0">
                <a:latin typeface="+mj-lt"/>
              </a:rPr>
              <a:t> ma </a:t>
            </a:r>
            <a:r>
              <a:rPr lang="en-US" sz="1800" dirty="0" err="1">
                <a:latin typeface="+mj-lt"/>
              </a:rPr>
              <a:t>trận</a:t>
            </a:r>
            <a:r>
              <a:rPr lang="en-US" sz="1800" dirty="0">
                <a:latin typeface="+mj-lt"/>
              </a:rPr>
              <a:t> Weight, 1 </a:t>
            </a:r>
            <a:r>
              <a:rPr lang="en-US" sz="1800" dirty="0" err="1">
                <a:latin typeface="+mj-lt"/>
              </a:rPr>
              <a:t>cho</a:t>
            </a:r>
            <a:r>
              <a:rPr lang="en-US" sz="1800" dirty="0">
                <a:latin typeface="+mj-lt"/>
              </a:rPr>
              <a:t> ma </a:t>
            </a:r>
            <a:r>
              <a:rPr lang="en-US" sz="1800" dirty="0" err="1">
                <a:latin typeface="+mj-lt"/>
              </a:rPr>
              <a:t>trận</a:t>
            </a:r>
            <a:r>
              <a:rPr lang="en-US" sz="1800" dirty="0">
                <a:latin typeface="+mj-lt"/>
              </a:rPr>
              <a:t> Activation) 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Khối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điều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khiển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luồng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độ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trễ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1800" dirty="0">
                <a:latin typeface="+mj-lt"/>
              </a:rPr>
              <a:t>Dataflow Control: Theo </a:t>
            </a:r>
            <a:r>
              <a:rPr lang="en-US" sz="1800" dirty="0" err="1">
                <a:latin typeface="+mj-lt"/>
              </a:rPr>
              <a:t>dõi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trạng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thái</a:t>
            </a:r>
            <a:r>
              <a:rPr lang="en-US" sz="1800" dirty="0">
                <a:latin typeface="+mj-lt"/>
              </a:rPr>
              <a:t> FIFO </a:t>
            </a:r>
            <a:r>
              <a:rPr lang="en-US" sz="1800" dirty="0" err="1">
                <a:latin typeface="+mj-lt"/>
              </a:rPr>
              <a:t>để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đưa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mảng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toán</a:t>
            </a:r>
            <a:r>
              <a:rPr lang="en-US" sz="18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1800" dirty="0">
                <a:latin typeface="+mj-lt"/>
              </a:rPr>
              <a:t>Skew: Làm </a:t>
            </a:r>
            <a:r>
              <a:rPr lang="en-US" sz="1800" dirty="0" err="1">
                <a:latin typeface="+mj-lt"/>
              </a:rPr>
              <a:t>trễ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đầu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theo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hình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bậc</a:t>
            </a:r>
            <a:r>
              <a:rPr lang="en-US" sz="1800" dirty="0">
                <a:latin typeface="+mj-lt"/>
              </a:rPr>
              <a:t> thang, </a:t>
            </a:r>
            <a:r>
              <a:rPr lang="en-US" sz="1800" dirty="0" err="1">
                <a:latin typeface="+mj-lt"/>
              </a:rPr>
              <a:t>đảm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bảo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đến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đúng</a:t>
            </a:r>
            <a:r>
              <a:rPr lang="en-US" sz="1800" dirty="0">
                <a:latin typeface="+mj-lt"/>
              </a:rPr>
              <a:t> PE </a:t>
            </a:r>
            <a:r>
              <a:rPr lang="en-US" sz="1800" dirty="0" err="1">
                <a:latin typeface="+mj-lt"/>
              </a:rPr>
              <a:t>tại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đúng</a:t>
            </a:r>
            <a:r>
              <a:rPr lang="en-US" sz="1800" dirty="0">
                <a:latin typeface="+mj-lt"/>
              </a:rPr>
              <a:t> chu </a:t>
            </a:r>
            <a:r>
              <a:rPr lang="en-US" sz="1800" dirty="0" err="1">
                <a:latin typeface="+mj-lt"/>
              </a:rPr>
              <a:t>kì</a:t>
            </a:r>
            <a:r>
              <a:rPr lang="en-US" sz="1800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93B3C-DBAD-CEB9-0A1A-AAF89D6E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5DAEE-775D-32E6-FB3D-AD14BC6F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42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633E-5433-5507-4657-87FF996C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77D6-E89B-6AE6-A816-2492EFDD2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5803-A9E2-B0DE-E06B-598FD66C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99" y="1924356"/>
            <a:ext cx="11173045" cy="458061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200" dirty="0" err="1">
                <a:latin typeface="+mj-lt"/>
              </a:rPr>
              <a:t>Mảng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tính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toán</a:t>
            </a:r>
            <a:r>
              <a:rPr lang="en-US" sz="22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1800" dirty="0">
                <a:latin typeface="+mj-lt"/>
              </a:rPr>
              <a:t>Ma </a:t>
            </a:r>
            <a:r>
              <a:rPr lang="en-US" sz="1800" dirty="0" err="1">
                <a:latin typeface="+mj-lt"/>
              </a:rPr>
              <a:t>trận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NxN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các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phần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tử</a:t>
            </a:r>
            <a:r>
              <a:rPr lang="en-US" sz="1800" dirty="0">
                <a:latin typeface="+mj-lt"/>
              </a:rPr>
              <a:t> PE, </a:t>
            </a:r>
            <a:r>
              <a:rPr lang="en-US" sz="1800" dirty="0" err="1">
                <a:latin typeface="+mj-lt"/>
              </a:rPr>
              <a:t>mỗi</a:t>
            </a:r>
            <a:r>
              <a:rPr lang="en-US" sz="1800" dirty="0">
                <a:latin typeface="+mj-lt"/>
              </a:rPr>
              <a:t> PE </a:t>
            </a:r>
            <a:r>
              <a:rPr lang="en-US" sz="1800" dirty="0" err="1">
                <a:latin typeface="+mj-lt"/>
              </a:rPr>
              <a:t>chứa</a:t>
            </a:r>
            <a:r>
              <a:rPr lang="en-US" sz="1800" dirty="0">
                <a:latin typeface="+mj-lt"/>
              </a:rPr>
              <a:t> 1 </a:t>
            </a:r>
            <a:r>
              <a:rPr lang="en-US" sz="1800" dirty="0" err="1">
                <a:latin typeface="+mj-lt"/>
              </a:rPr>
              <a:t>lõi</a:t>
            </a:r>
            <a:r>
              <a:rPr lang="en-US" sz="1800" dirty="0">
                <a:latin typeface="+mj-lt"/>
              </a:rPr>
              <a:t> MAC </a:t>
            </a:r>
            <a:r>
              <a:rPr lang="en-US" sz="1800" dirty="0" err="1">
                <a:latin typeface="+mj-lt"/>
              </a:rPr>
              <a:t>gồm</a:t>
            </a:r>
            <a:r>
              <a:rPr lang="en-US" sz="1800" dirty="0">
                <a:latin typeface="+mj-lt"/>
              </a:rPr>
              <a:t> 2 </a:t>
            </a:r>
            <a:r>
              <a:rPr lang="en-US" sz="1800" dirty="0" err="1">
                <a:latin typeface="+mj-lt"/>
              </a:rPr>
              <a:t>tầng</a:t>
            </a:r>
            <a:r>
              <a:rPr lang="en-US" sz="1800" dirty="0">
                <a:latin typeface="+mj-lt"/>
              </a:rPr>
              <a:t> pipeline: </a:t>
            </a:r>
            <a:r>
              <a:rPr lang="en-US" sz="1800" dirty="0" err="1">
                <a:latin typeface="+mj-lt"/>
              </a:rPr>
              <a:t>tầng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nhân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tầng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cộng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dồn</a:t>
            </a:r>
            <a:r>
              <a:rPr lang="en-US" sz="1800" dirty="0">
                <a:latin typeface="+mj-lt"/>
              </a:rPr>
              <a:t>.</a:t>
            </a:r>
          </a:p>
          <a:p>
            <a:pPr lvl="1">
              <a:buFontTx/>
              <a:buChar char="-"/>
            </a:pP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Act </a:t>
            </a:r>
            <a:r>
              <a:rPr lang="en-US" sz="1800" dirty="0" err="1">
                <a:latin typeface="+mj-lt"/>
              </a:rPr>
              <a:t>chảy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trái</a:t>
            </a:r>
            <a:r>
              <a:rPr lang="en-US" sz="1800" dirty="0">
                <a:latin typeface="+mj-lt"/>
              </a:rPr>
              <a:t> sang </a:t>
            </a:r>
            <a:r>
              <a:rPr lang="en-US" sz="1800" dirty="0" err="1">
                <a:latin typeface="+mj-lt"/>
              </a:rPr>
              <a:t>phải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Weight </a:t>
            </a:r>
            <a:r>
              <a:rPr lang="en-US" sz="1800" dirty="0" err="1">
                <a:latin typeface="+mj-lt"/>
              </a:rPr>
              <a:t>chảy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trên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xuống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dưới</a:t>
            </a:r>
            <a:r>
              <a:rPr lang="en-US" sz="1800" dirty="0">
                <a:latin typeface="+mj-lt"/>
              </a:rPr>
              <a:t>.</a:t>
            </a:r>
          </a:p>
          <a:p>
            <a:pPr>
              <a:buFontTx/>
              <a:buChar char="-"/>
            </a:pPr>
            <a:r>
              <a:rPr lang="en-US" sz="2200" dirty="0" err="1">
                <a:latin typeface="+mj-lt"/>
              </a:rPr>
              <a:t>Khối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giao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tiếp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đầu</a:t>
            </a:r>
            <a:r>
              <a:rPr lang="en-US" sz="2200" dirty="0">
                <a:latin typeface="+mj-lt"/>
              </a:rPr>
              <a:t> </a:t>
            </a:r>
            <a:r>
              <a:rPr lang="en-US" sz="2200" dirty="0" err="1">
                <a:latin typeface="+mj-lt"/>
              </a:rPr>
              <a:t>ra</a:t>
            </a:r>
            <a:r>
              <a:rPr lang="en-US" sz="2200" dirty="0">
                <a:latin typeface="+mj-lt"/>
              </a:rPr>
              <a:t>:</a:t>
            </a:r>
          </a:p>
          <a:p>
            <a:pPr lvl="1">
              <a:buFontTx/>
              <a:buChar char="-"/>
            </a:pPr>
            <a:r>
              <a:rPr lang="en-US" sz="1800" dirty="0" err="1">
                <a:latin typeface="+mj-lt"/>
              </a:rPr>
              <a:t>Chốt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NxN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kết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quả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đẩy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tuần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tự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từng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kết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quả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vào</a:t>
            </a:r>
            <a:r>
              <a:rPr lang="en-US" sz="1800" dirty="0">
                <a:latin typeface="+mj-lt"/>
              </a:rPr>
              <a:t> FIFO </a:t>
            </a:r>
            <a:r>
              <a:rPr lang="en-US" sz="1800" dirty="0" err="1">
                <a:latin typeface="+mj-lt"/>
              </a:rPr>
              <a:t>đầu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ra.</a:t>
            </a:r>
            <a:endParaRPr lang="en-US" sz="1800" dirty="0">
              <a:latin typeface="+mj-lt"/>
            </a:endParaRPr>
          </a:p>
          <a:p>
            <a:pPr lvl="1">
              <a:buFontTx/>
              <a:buChar char="-"/>
            </a:pPr>
            <a:r>
              <a:rPr lang="en-US" sz="1800" dirty="0" err="1">
                <a:latin typeface="+mj-lt"/>
              </a:rPr>
              <a:t>Bật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tín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thứ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NxN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báo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cho</a:t>
            </a:r>
            <a:r>
              <a:rPr lang="en-US" sz="1800" dirty="0">
                <a:latin typeface="+mj-lt"/>
              </a:rPr>
              <a:t> DMA </a:t>
            </a:r>
            <a:r>
              <a:rPr lang="en-US" sz="1800" dirty="0" err="1">
                <a:latin typeface="+mj-lt"/>
              </a:rPr>
              <a:t>biết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đã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hoàn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thành</a:t>
            </a:r>
            <a:r>
              <a:rPr lang="en-US" sz="1800" dirty="0">
                <a:latin typeface="+mj-lt"/>
              </a:rPr>
              <a:t> 1 block </a:t>
            </a: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EDB97-2FC7-DFF4-FEA4-D25B9105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934EB-EE16-3693-17D2-9B752FDB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26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7DBF-FFAD-FC18-C155-7C3DECDC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C89EBC-4333-5140-469C-BA2654E5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E7724-2626-6357-12B3-78AC3DBB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40C7F7-7C92-D6D7-0676-607C0C9A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169A5-FF94-B60C-A90B-E08A6EBCD8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7223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C2FC-0B44-7F72-5A8E-69B63CF0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00" y="1037042"/>
            <a:ext cx="10980000" cy="890663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0BF73-BFA9-1664-216F-F3A81EB8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3564" y="6356625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7481A-0C34-5B3E-16B2-92E5AFF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22944" y="6356625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429208D-715D-C9E8-BD9B-75193579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057" y="152375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CA53E-D9D2-4A27-1DE1-A26C1D0FB967}"/>
              </a:ext>
            </a:extLst>
          </p:cNvPr>
          <p:cNvSpPr txBox="1"/>
          <p:nvPr/>
        </p:nvSpPr>
        <p:spPr>
          <a:xfrm>
            <a:off x="606000" y="1927705"/>
            <a:ext cx="11092664" cy="507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Đánh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giá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dựa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trên</a:t>
            </a:r>
            <a:r>
              <a:rPr lang="en-US" sz="2000" dirty="0">
                <a:latin typeface="+mj-lt"/>
              </a:rPr>
              <a:t>: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xác</a:t>
            </a:r>
            <a:r>
              <a:rPr lang="en-US" dirty="0">
                <a:latin typeface="+mj-lt"/>
              </a:rPr>
              <a:t>: 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en-US" dirty="0"/>
              <a:t> </a:t>
            </a:r>
            <a:r>
              <a:rPr lang="en-US" dirty="0">
                <a:latin typeface="+mj-lt"/>
              </a:rPr>
              <a:t>Waveform testbench </a:t>
            </a:r>
            <a:r>
              <a:rPr lang="en-US" dirty="0" err="1">
                <a:latin typeface="+mj-lt"/>
              </a:rPr>
              <a:t>phải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thể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hiện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được</a:t>
            </a:r>
            <a:r>
              <a:rPr lang="en-US" dirty="0">
                <a:latin typeface="+mj-lt"/>
              </a:rPr>
              <a:t>:</a:t>
            </a:r>
          </a:p>
          <a:p>
            <a:pPr lvl="3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Nạp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dữ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liệu</a:t>
            </a:r>
            <a:r>
              <a:rPr lang="en-US" dirty="0">
                <a:latin typeface="+mj-lt"/>
              </a:rPr>
              <a:t>: Handshake </a:t>
            </a:r>
            <a:r>
              <a:rPr lang="en-US" dirty="0" err="1">
                <a:latin typeface="+mj-lt"/>
              </a:rPr>
              <a:t>thành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đúng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kích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thước</a:t>
            </a:r>
            <a:r>
              <a:rPr lang="en-US" dirty="0">
                <a:latin typeface="+mj-lt"/>
              </a:rPr>
              <a:t>.</a:t>
            </a:r>
          </a:p>
          <a:p>
            <a:pPr lvl="3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Mảng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toán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trễ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đặc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bậc</a:t>
            </a:r>
            <a:r>
              <a:rPr lang="en-US" dirty="0">
                <a:latin typeface="+mj-lt"/>
              </a:rPr>
              <a:t> thang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quá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trình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cộng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dồn</a:t>
            </a:r>
            <a:r>
              <a:rPr lang="en-US" dirty="0">
                <a:latin typeface="+mj-lt"/>
              </a:rPr>
              <a:t>.</a:t>
            </a:r>
          </a:p>
          <a:p>
            <a:pPr lvl="3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quả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trên</a:t>
            </a:r>
            <a:r>
              <a:rPr lang="en-US" dirty="0">
                <a:latin typeface="+mj-lt"/>
              </a:rPr>
              <a:t> board: </a:t>
            </a:r>
            <a:r>
              <a:rPr lang="en-US" dirty="0" err="1">
                <a:latin typeface="+mj-lt"/>
              </a:rPr>
              <a:t>Kết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quả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xác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hiệu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báo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hoàn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thành</a:t>
            </a:r>
            <a:r>
              <a:rPr lang="en-US" dirty="0">
                <a:latin typeface="+mj-lt"/>
              </a:rPr>
              <a:t> 1 block </a:t>
            </a:r>
            <a:r>
              <a:rPr lang="en-US" dirty="0" err="1">
                <a:latin typeface="+mj-lt"/>
              </a:rPr>
              <a:t>được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bật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đúng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lúc</a:t>
            </a:r>
            <a:r>
              <a:rPr lang="en-US" dirty="0">
                <a:latin typeface="+mj-lt"/>
              </a:rPr>
              <a:t>.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quả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của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phải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đúng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tuyệt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đối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với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quả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chạy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trên</a:t>
            </a:r>
            <a:r>
              <a:rPr lang="en-US" dirty="0">
                <a:latin typeface="+mj-lt"/>
              </a:rPr>
              <a:t> code Python.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Tính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tối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ưu</a:t>
            </a:r>
            <a:r>
              <a:rPr lang="en-US" dirty="0">
                <a:latin typeface="+mj-lt"/>
              </a:rPr>
              <a:t>: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Báo </a:t>
            </a:r>
            <a:r>
              <a:rPr lang="en-US" dirty="0" err="1">
                <a:latin typeface="+mj-lt"/>
              </a:rPr>
              <a:t>cáo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tài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nguyên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cho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thấy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số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lượng</a:t>
            </a:r>
            <a:r>
              <a:rPr lang="en-US" dirty="0">
                <a:latin typeface="+mj-lt"/>
              </a:rPr>
              <a:t> DSP, LUTs, BRAM </a:t>
            </a:r>
            <a:r>
              <a:rPr lang="en-US" dirty="0" err="1">
                <a:latin typeface="+mj-lt"/>
              </a:rPr>
              <a:t>được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dụng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hợp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lí</a:t>
            </a:r>
            <a:r>
              <a:rPr lang="en-US" dirty="0">
                <a:latin typeface="+mj-lt"/>
              </a:rPr>
              <a:t>.</a:t>
            </a:r>
          </a:p>
          <a:p>
            <a:pPr lvl="2">
              <a:lnSpc>
                <a:spcPct val="150000"/>
              </a:lnSpc>
              <a:buFontTx/>
              <a:buChar char="-"/>
            </a:pPr>
            <a:r>
              <a:rPr lang="en-US" dirty="0">
                <a:latin typeface="+mj-lt"/>
              </a:rPr>
              <a:t> Báo </a:t>
            </a:r>
            <a:r>
              <a:rPr lang="en-US" dirty="0" err="1">
                <a:latin typeface="+mj-lt"/>
              </a:rPr>
              <a:t>cáo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thời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gian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đưa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được</a:t>
            </a:r>
            <a:r>
              <a:rPr lang="en-US" dirty="0">
                <a:latin typeface="+mj-lt"/>
              </a:rPr>
              <a:t> Fmax </a:t>
            </a:r>
            <a:r>
              <a:rPr lang="en-US" dirty="0" err="1">
                <a:latin typeface="+mj-lt"/>
              </a:rPr>
              <a:t>của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</a:t>
            </a:r>
            <a:r>
              <a:rPr lang="en-US" dirty="0">
                <a:latin typeface="+mj-lt"/>
              </a:rPr>
              <a:t>, so </a:t>
            </a:r>
            <a:r>
              <a:rPr lang="en-US" dirty="0" err="1">
                <a:latin typeface="+mj-lt"/>
              </a:rPr>
              <a:t>sánh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thời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gian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xử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lí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với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các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thiết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kế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khác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cùng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đề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tài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nếu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có</a:t>
            </a:r>
            <a:r>
              <a:rPr lang="en-US" dirty="0">
                <a:latin typeface="+mj-lt"/>
              </a:rPr>
              <a:t>)</a:t>
            </a:r>
          </a:p>
          <a:p>
            <a:pPr lvl="1">
              <a:lnSpc>
                <a:spcPct val="150000"/>
              </a:lnSpc>
              <a:buFontTx/>
              <a:buChar char="-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2080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EEA7-87C4-CFAC-9B0F-4B0177BA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184952-8521-9592-CEDC-0E75582E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21AB5-AC9B-AA26-A711-AA5F3438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CC648C-3E20-3EC5-5DCA-7D3C3E92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995C2-5150-FA27-3C12-CC503F98A5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86963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0A22-E67E-8622-5AFA-D2E69F4E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43C26-254D-8888-DA5F-6FE2E3B3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Tính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được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tỷ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trọng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thời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thực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túy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trong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tổng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thời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gian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model </a:t>
            </a:r>
            <a:r>
              <a:rPr lang="en-US" sz="2000" dirty="0" err="1">
                <a:latin typeface="+mj-lt"/>
              </a:rPr>
              <a:t>là</a:t>
            </a:r>
            <a:r>
              <a:rPr lang="en-US" sz="2000" dirty="0">
                <a:latin typeface="+mj-lt"/>
              </a:rPr>
              <a:t> : 40.36%.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được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file .hex </a:t>
            </a:r>
            <a:r>
              <a:rPr lang="en-US" sz="2000" dirty="0" err="1">
                <a:latin typeface="+mj-lt"/>
              </a:rPr>
              <a:t>dạng</a:t>
            </a:r>
            <a:r>
              <a:rPr lang="en-US" sz="2000" dirty="0">
                <a:latin typeface="+mj-lt"/>
              </a:rPr>
              <a:t> INT8 </a:t>
            </a:r>
            <a:r>
              <a:rPr lang="en-US" sz="2000" dirty="0" err="1">
                <a:latin typeface="+mj-lt"/>
              </a:rPr>
              <a:t>từ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lớp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có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chứa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phép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thuần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túy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được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lượng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tử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hóa</a:t>
            </a:r>
            <a:r>
              <a:rPr lang="en-US" sz="2000" dirty="0">
                <a:latin typeface="+mj-lt"/>
              </a:rPr>
              <a:t>.</a:t>
            </a:r>
          </a:p>
          <a:p>
            <a:pPr>
              <a:buFontTx/>
              <a:buChar char="-"/>
            </a:pPr>
            <a:r>
              <a:rPr lang="en-US" sz="2000" dirty="0" err="1">
                <a:latin typeface="+mj-lt"/>
              </a:rPr>
              <a:t>Đã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thực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hiện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thiết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kế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thống</a:t>
            </a:r>
            <a:r>
              <a:rPr lang="en-US" sz="2000" dirty="0">
                <a:latin typeface="+mj-lt"/>
              </a:rPr>
              <a:t> SoC </a:t>
            </a:r>
            <a:r>
              <a:rPr lang="en-US" sz="2000" dirty="0" err="1">
                <a:latin typeface="+mj-lt"/>
              </a:rPr>
              <a:t>cho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các</a:t>
            </a:r>
            <a:r>
              <a:rPr lang="en-US" sz="2000" dirty="0">
                <a:latin typeface="+mj-lt"/>
              </a:rPr>
              <a:t> module </a:t>
            </a:r>
            <a:r>
              <a:rPr lang="en-US" sz="2000" dirty="0" err="1">
                <a:latin typeface="+mj-lt"/>
              </a:rPr>
              <a:t>nhỏ</a:t>
            </a:r>
            <a:r>
              <a:rPr lang="en-US" sz="2000" dirty="0">
                <a:latin typeface="+mj-lt"/>
              </a:rPr>
              <a:t> (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cộng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dồn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2 ma </a:t>
            </a:r>
            <a:r>
              <a:rPr lang="en-US" sz="2000" dirty="0" err="1">
                <a:latin typeface="+mj-lt"/>
              </a:rPr>
              <a:t>trận</a:t>
            </a:r>
            <a:r>
              <a:rPr lang="en-US" sz="2000" dirty="0">
                <a:latin typeface="+mj-lt"/>
              </a:rPr>
              <a:t> 4x4) </a:t>
            </a:r>
            <a:r>
              <a:rPr lang="en-US" sz="2000" dirty="0" err="1">
                <a:latin typeface="+mj-lt"/>
              </a:rPr>
              <a:t>và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nạp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lên</a:t>
            </a:r>
            <a:r>
              <a:rPr lang="en-US" sz="2000" dirty="0">
                <a:latin typeface="+mj-lt"/>
              </a:rPr>
              <a:t> board FPGA </a:t>
            </a:r>
            <a:r>
              <a:rPr lang="en-US" sz="2000" dirty="0" err="1">
                <a:latin typeface="+mj-lt"/>
              </a:rPr>
              <a:t>để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kiểm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tính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chính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xác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3E057-A1EC-DB05-0E78-F1ABD4C6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04263-28E5-075E-E23A-80826752D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57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C6C3-DACF-F8A0-5130-6727E93D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DB4C-E15D-DD5C-2DD1-B2FA131F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C753-086E-C9A7-D3F5-D3DF6E28F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FE2BA-A7AA-0EA3-857B-56C6A6534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DC56D-F445-DFF4-8263-8582A3ED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5A807-B9D5-0135-AC95-8C665520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72" y="1927430"/>
            <a:ext cx="3161328" cy="4600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C9698B-F141-5A36-477D-751B3206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65" y="3429000"/>
            <a:ext cx="3315163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95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D6E1-8F7E-339D-8A41-14F54ED9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CF4D-0B6B-C60A-987D-6CC6916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Tiến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5B43-44C1-7166-B797-C8590DB93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1777B-0391-E432-EA62-F1DA7097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3CDA3-F080-CFB7-AD0B-21915A7B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5CA40-40B5-5317-AB5A-D8A81C763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750" y="2330237"/>
            <a:ext cx="3921634" cy="3249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874930-607D-1997-CB43-723339A0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2224595"/>
            <a:ext cx="5943600" cy="34512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4C7D3C-2E56-CECA-4574-41B0D89068D8}"/>
              </a:ext>
            </a:extLst>
          </p:cNvPr>
          <p:cNvSpPr/>
          <p:nvPr/>
        </p:nvSpPr>
        <p:spPr>
          <a:xfrm>
            <a:off x="701040" y="4709160"/>
            <a:ext cx="5782056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39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969</TotalTime>
  <Words>969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BÁO CÁO ĐỀ TÀI ĐỒ ÁN  Thiết kế bộ tăng tốc xử lý nhân ma trận thuần túy trong model INT8 </vt:lpstr>
      <vt:lpstr>Nội dung báo cáo</vt:lpstr>
      <vt:lpstr>Tổng quan đề tài</vt:lpstr>
      <vt:lpstr>1. Tổng quan đề tài</vt:lpstr>
      <vt:lpstr>1. Tổng quan đề tài</vt:lpstr>
      <vt:lpstr>Đề xuất kiến trúc tổng quan</vt:lpstr>
      <vt:lpstr>2. Đề xuất kiến trúc tổng quan</vt:lpstr>
      <vt:lpstr>2. Đề xuất kiến trúc tổng quan</vt:lpstr>
      <vt:lpstr>2. Đề xuất kiến trúc tổng quan</vt:lpstr>
      <vt:lpstr>Đề xuất phương pháp đánh giá kết quả</vt:lpstr>
      <vt:lpstr>3. Đề xuất phương pháp đánh giá kết quả</vt:lpstr>
      <vt:lpstr>Tiến độ thực hiện</vt:lpstr>
      <vt:lpstr>4. Tiến độ thực hiện</vt:lpstr>
      <vt:lpstr>4. Tiến độ thực hiện</vt:lpstr>
      <vt:lpstr>4. Tiến độ thực hiện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Duy Nguyễn Trọng Bảo</dc:creator>
  <dc:description>9Slide.vn</dc:description>
  <cp:lastModifiedBy>Vu Duong</cp:lastModifiedBy>
  <cp:revision>721</cp:revision>
  <dcterms:created xsi:type="dcterms:W3CDTF">2022-06-26T12:27:00Z</dcterms:created>
  <dcterms:modified xsi:type="dcterms:W3CDTF">2026-04-02T16:17:43Z</dcterms:modified>
  <cp:category>9Slide.vn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8EB211B2FEBB4944B770CB1E355DB03A_12</vt:lpwstr>
  </property>
  <property fmtid="{D5CDD505-2E9C-101B-9397-08002B2CF9AE}" pid="3" name="KSOProductBuildVer">
    <vt:lpwstr>1033-12.2.0.20782</vt:lpwstr>
  </property>
</Properties>
</file>