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3"/>
  </p:notesMasterIdLst>
  <p:sldIdLst>
    <p:sldId id="256" r:id="rId2"/>
    <p:sldId id="258" r:id="rId3"/>
    <p:sldId id="259" r:id="rId4"/>
    <p:sldId id="280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D5BF6-0C93-426F-B65A-EA93D19CB0F3}" type="datetimeFigureOut">
              <a:rPr lang="en-US" smtClean="0"/>
              <a:t>5/26/2017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93670-DC17-4FCA-BB8A-0F214190720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94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3670-DC17-4FCA-BB8A-0F214190720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28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3670-DC17-4FCA-BB8A-0F21419072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94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3670-DC17-4FCA-BB8A-0F214190720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35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3670-DC17-4FCA-BB8A-0F214190720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2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3670-DC17-4FCA-BB8A-0F214190720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5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3670-DC17-4FCA-BB8A-0F214190720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32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3670-DC17-4FCA-BB8A-0F214190720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80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93670-DC17-4FCA-BB8A-0F214190720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89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B52C6-9500-4BFA-8F2F-88CEB7475360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241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2460-4DFE-4E59-A52C-50112D509D84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81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02CB9-20AA-4F27-884E-62C78E15B5AC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095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CCD98-8516-4040-B936-E3E654ECF0F3}" type="datetime1">
              <a:rPr lang="en-US" smtClean="0"/>
              <a:t>5/26/2017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7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01B6A-E2FF-4A02-B01B-E5FEA21F2AF7}" type="datetime1">
              <a:rPr lang="en-US" smtClean="0"/>
              <a:t>5/26/2017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8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4069D-0214-41A1-9078-50D5FC089322}" type="datetime1">
              <a:rPr lang="en-US" smtClean="0"/>
              <a:t>5/26/2017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98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1CEE5-99DB-4FEA-8E78-C66D84662FBE}" type="datetime1">
              <a:rPr lang="en-US" smtClean="0"/>
              <a:t>5/26/2017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1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A91C2B09-E06D-4241-A8D7-6F0BDCA25CB7}" type="datetime1">
              <a:rPr lang="en-US" smtClean="0"/>
              <a:t>5/26/2017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7FC3D-B219-406E-AA6C-725DD287FF7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93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52E4-B222-41F1-A6B4-230E5C6ED346}" type="datetime1">
              <a:rPr lang="en-US" smtClean="0"/>
              <a:t>5/26/2017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73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9F85C-F517-4996-9254-917079DB9E08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00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50AA5-AA06-4D8E-8DE4-4ED92949B724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614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293FD67-F8CF-4BD9-A375-1CA6E12DD599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7FC3D-B219-406E-AA6C-725DD287FF7D}" type="slidenum">
              <a:rPr lang="en-US" smtClean="0"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34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28600"/>
            <a:ext cx="2400300" cy="1051559"/>
          </a:xfrm>
        </p:spPr>
        <p:txBody>
          <a:bodyPr>
            <a:norm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LÝ THUYẾT MẠCH ĐIỆN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152400" y="1752600"/>
            <a:ext cx="2895600" cy="4552604"/>
          </a:xfrm>
        </p:spPr>
        <p:txBody>
          <a:bodyPr>
            <a:norm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 err="1" smtClean="0"/>
              <a:t>Số</a:t>
            </a:r>
            <a:r>
              <a:rPr lang="en-US" b="1" dirty="0" smtClean="0"/>
              <a:t> </a:t>
            </a:r>
            <a:r>
              <a:rPr lang="en-US" b="1" dirty="0" err="1" smtClean="0"/>
              <a:t>phức</a:t>
            </a:r>
            <a:endParaRPr lang="en-US" b="1" dirty="0"/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vi-VN" b="1" dirty="0"/>
              <a:t>Quá trình điều </a:t>
            </a:r>
            <a:r>
              <a:rPr lang="vi-VN" b="1" dirty="0" smtClean="0"/>
              <a:t>hòa</a:t>
            </a:r>
            <a:endParaRPr lang="en-US" b="1" dirty="0" smtClean="0"/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vi-VN" b="1" dirty="0" smtClean="0"/>
              <a:t>Phương </a:t>
            </a:r>
            <a:r>
              <a:rPr lang="vi-VN" b="1" dirty="0"/>
              <a:t>pháp ảnh </a:t>
            </a:r>
            <a:r>
              <a:rPr lang="vi-VN" b="1" dirty="0" smtClean="0"/>
              <a:t>phức</a:t>
            </a:r>
            <a:endParaRPr lang="en-US" b="1" dirty="0"/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vi-VN" b="1" dirty="0" smtClean="0"/>
              <a:t>Định </a:t>
            </a:r>
            <a:r>
              <a:rPr lang="vi-VN" b="1" dirty="0"/>
              <a:t>luật Ohm và Kirchhoff</a:t>
            </a:r>
            <a:br>
              <a:rPr lang="vi-VN" b="1" dirty="0"/>
            </a:br>
            <a:r>
              <a:rPr lang="vi-VN" b="1" dirty="0"/>
              <a:t>dạng </a:t>
            </a:r>
            <a:r>
              <a:rPr lang="vi-VN" b="1" dirty="0" smtClean="0"/>
              <a:t>phức</a:t>
            </a:r>
            <a:endParaRPr lang="en-US" b="1" dirty="0"/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vi-VN" b="1" dirty="0" smtClean="0"/>
              <a:t>Phương </a:t>
            </a:r>
            <a:r>
              <a:rPr lang="vi-VN" b="1" dirty="0"/>
              <a:t>pháp giải mạch xác</a:t>
            </a:r>
            <a:br>
              <a:rPr lang="vi-VN" b="1" dirty="0"/>
            </a:br>
            <a:r>
              <a:rPr lang="vi-VN" b="1" dirty="0"/>
              <a:t>lập điều hoà dùng số phức</a:t>
            </a:r>
            <a:r>
              <a:rPr lang="vi-VN" dirty="0"/>
              <a:t> </a:t>
            </a:r>
            <a:endParaRPr lang="en-US" dirty="0" smtClean="0"/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q"/>
            </a:pPr>
            <a:r>
              <a:rPr lang="en-US" b="1" dirty="0" err="1" smtClean="0"/>
              <a:t>Công</a:t>
            </a:r>
            <a:r>
              <a:rPr lang="en-US" b="1" dirty="0" smtClean="0"/>
              <a:t> </a:t>
            </a:r>
            <a:r>
              <a:rPr lang="en-US" b="1" dirty="0" err="1" smtClean="0"/>
              <a:t>suất</a:t>
            </a:r>
            <a:r>
              <a:rPr lang="en-US" b="1" dirty="0" smtClean="0"/>
              <a:t> </a:t>
            </a:r>
            <a:r>
              <a:rPr lang="en-US" b="1" dirty="0" err="1" smtClean="0"/>
              <a:t>mạch</a:t>
            </a:r>
            <a:r>
              <a:rPr lang="en-US" b="1" dirty="0" smtClean="0"/>
              <a:t> </a:t>
            </a:r>
            <a:r>
              <a:rPr lang="en-US" b="1" dirty="0" err="1" smtClean="0"/>
              <a:t>xác</a:t>
            </a:r>
            <a:r>
              <a:rPr lang="en-US" b="1" dirty="0" smtClean="0"/>
              <a:t> </a:t>
            </a:r>
            <a:r>
              <a:rPr lang="en-US" b="1" dirty="0" err="1" smtClean="0"/>
              <a:t>lập</a:t>
            </a:r>
            <a:r>
              <a:rPr lang="en-US" b="1" dirty="0" smtClean="0"/>
              <a:t> </a:t>
            </a:r>
            <a:r>
              <a:rPr lang="en-US" b="1" dirty="0" err="1" smtClean="0"/>
              <a:t>điều</a:t>
            </a:r>
            <a:r>
              <a:rPr lang="en-US" b="1" dirty="0" smtClean="0"/>
              <a:t> </a:t>
            </a:r>
            <a:r>
              <a:rPr lang="en-US" b="1" dirty="0" err="1" smtClean="0"/>
              <a:t>hòa</a:t>
            </a:r>
            <a:endParaRPr lang="vi-VN" b="1" dirty="0"/>
          </a:p>
        </p:txBody>
      </p:sp>
      <p:grpSp>
        <p:nvGrpSpPr>
          <p:cNvPr id="6" name="Group 5"/>
          <p:cNvGrpSpPr/>
          <p:nvPr/>
        </p:nvGrpSpPr>
        <p:grpSpPr>
          <a:xfrm>
            <a:off x="4280535" y="2819400"/>
            <a:ext cx="3509010" cy="1737360"/>
            <a:chOff x="5141976" y="2438890"/>
            <a:chExt cx="3509010" cy="1737360"/>
          </a:xfrm>
        </p:grpSpPr>
        <p:pic>
          <p:nvPicPr>
            <p:cNvPr id="7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D58A-BA96-4951-BEC4-FD157A5A2767}" type="datetime1">
              <a:rPr lang="en-US" smtClean="0"/>
              <a:t>5/26/2017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31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/>
              <a:t>2</a:t>
            </a:r>
            <a:r>
              <a:rPr lang="en-US" dirty="0" smtClean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 smtClean="0"/>
              <a:t>lập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Ohm, Kirchhoff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 smtClean="0"/>
              <a:t>lập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vector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629D9-38A7-4BE8-A446-9904738DFC41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08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phức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78866"/>
          </a:xfrm>
        </p:spPr>
        <p:txBody>
          <a:bodyPr>
            <a:noAutofit/>
          </a:bodyPr>
          <a:lstStyle/>
          <a:p>
            <a:r>
              <a:rPr lang="vi-VN" sz="2800" b="1" dirty="0"/>
              <a:t>Định nghĩa</a:t>
            </a:r>
          </a:p>
          <a:p>
            <a:r>
              <a:rPr lang="vi-VN" dirty="0"/>
              <a:t>Để giải phương trình dạng x</a:t>
            </a:r>
            <a:r>
              <a:rPr lang="vi-VN" baseline="30000" dirty="0"/>
              <a:t>2</a:t>
            </a:r>
            <a:r>
              <a:rPr lang="vi-VN" dirty="0"/>
              <a:t> + 4 = 0, người ta đưa vào đơn vị ảo, ký hiệu j, và định nghĩa bởi:</a:t>
            </a:r>
          </a:p>
          <a:p>
            <a:pPr algn="ctr"/>
            <a:r>
              <a:rPr lang="vi-VN" dirty="0"/>
              <a:t>j</a:t>
            </a:r>
            <a:r>
              <a:rPr lang="vi-VN" baseline="30000" dirty="0"/>
              <a:t>2</a:t>
            </a:r>
            <a:r>
              <a:rPr lang="vi-VN" dirty="0"/>
              <a:t> = -1	</a:t>
            </a:r>
            <a:endParaRPr lang="en-US" dirty="0"/>
          </a:p>
          <a:p>
            <a:r>
              <a:rPr lang="vi-VN" i="1" dirty="0"/>
              <a:t>Như vậy j</a:t>
            </a:r>
            <a:r>
              <a:rPr lang="vi-VN" i="1" baseline="30000" dirty="0"/>
              <a:t>3</a:t>
            </a:r>
            <a:r>
              <a:rPr lang="vi-VN" i="1" dirty="0"/>
              <a:t> = -j, j</a:t>
            </a:r>
            <a:r>
              <a:rPr lang="vi-VN" i="1" baseline="30000" dirty="0"/>
              <a:t>4</a:t>
            </a:r>
            <a:r>
              <a:rPr lang="vi-VN" i="1" dirty="0"/>
              <a:t> = 1, ...</a:t>
            </a:r>
          </a:p>
          <a:p>
            <a:r>
              <a:rPr lang="vi-VN" dirty="0"/>
              <a:t>Số phức</a:t>
            </a:r>
            <a:r>
              <a:rPr lang="en-US" dirty="0"/>
              <a:t>: 		       </a:t>
            </a:r>
            <a:r>
              <a:rPr lang="vi-VN" dirty="0"/>
              <a:t>A = a + jb</a:t>
            </a:r>
          </a:p>
          <a:p>
            <a:r>
              <a:rPr lang="vi-VN" i="1" dirty="0"/>
              <a:t>Trong đó a, b là các số thực</a:t>
            </a:r>
            <a:r>
              <a:rPr lang="en-US" i="1" dirty="0"/>
              <a:t>          ||    S</a:t>
            </a:r>
            <a:r>
              <a:rPr lang="vi-VN" i="1" dirty="0"/>
              <a:t>ố a</a:t>
            </a:r>
            <a:r>
              <a:rPr lang="en-US" i="1" dirty="0"/>
              <a:t> </a:t>
            </a:r>
            <a:r>
              <a:rPr lang="en-US" i="1" dirty="0" err="1"/>
              <a:t>là</a:t>
            </a:r>
            <a:r>
              <a:rPr lang="en-US" i="1" dirty="0"/>
              <a:t> </a:t>
            </a:r>
            <a:r>
              <a:rPr lang="vi-VN" i="1" dirty="0"/>
              <a:t>phần thực và</a:t>
            </a:r>
            <a:r>
              <a:rPr lang="en-US" i="1" dirty="0"/>
              <a:t> </a:t>
            </a:r>
            <a:r>
              <a:rPr lang="en-US" i="1" dirty="0" err="1"/>
              <a:t>số</a:t>
            </a:r>
            <a:r>
              <a:rPr lang="en-US" i="1" dirty="0"/>
              <a:t> b</a:t>
            </a:r>
            <a:r>
              <a:rPr lang="vi-VN" i="1" dirty="0"/>
              <a:t> phần ảo</a:t>
            </a:r>
            <a:endParaRPr lang="en-US" i="1" dirty="0"/>
          </a:p>
          <a:p>
            <a:r>
              <a:rPr lang="vi-VN" i="1" dirty="0"/>
              <a:t>Ký hiệu</a:t>
            </a:r>
            <a:r>
              <a:rPr lang="en-US" i="1" dirty="0"/>
              <a:t>:</a:t>
            </a:r>
            <a:r>
              <a:rPr lang="en-US" dirty="0"/>
              <a:t>	          </a:t>
            </a:r>
            <a:r>
              <a:rPr lang="vi-VN" dirty="0"/>
              <a:t>a = Re(A) và b = Im(A)</a:t>
            </a:r>
            <a:endParaRPr lang="en-US" dirty="0"/>
          </a:p>
          <a:p>
            <a:endParaRPr lang="vi-VN" dirty="0"/>
          </a:p>
          <a:p>
            <a:r>
              <a:rPr lang="vi-VN" dirty="0"/>
              <a:t>Số phức liên hợp của A, ký hiệu A*</a:t>
            </a:r>
            <a:r>
              <a:rPr lang="en-US" dirty="0"/>
              <a:t>       ||      </a:t>
            </a:r>
            <a:r>
              <a:rPr lang="vi-VN" dirty="0"/>
              <a:t>A = a + jb  thì A* = a – jb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63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phức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7886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phép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phức</a:t>
            </a:r>
            <a:r>
              <a:rPr lang="en-US" b="1" dirty="0"/>
              <a:t> </a:t>
            </a:r>
          </a:p>
          <a:p>
            <a:r>
              <a:rPr lang="en-US" dirty="0"/>
              <a:t>Cho A = a</a:t>
            </a:r>
            <a:r>
              <a:rPr lang="en-US" baseline="-25000" dirty="0"/>
              <a:t>1</a:t>
            </a:r>
            <a:r>
              <a:rPr lang="en-US" dirty="0"/>
              <a:t> + jb</a:t>
            </a:r>
            <a:r>
              <a:rPr lang="en-US" baseline="-25000" dirty="0"/>
              <a:t>1</a:t>
            </a:r>
            <a:r>
              <a:rPr lang="en-US" dirty="0"/>
              <a:t>  </a:t>
            </a:r>
            <a:r>
              <a:rPr lang="en-US" dirty="0" err="1"/>
              <a:t>và</a:t>
            </a:r>
            <a:r>
              <a:rPr lang="en-US" dirty="0"/>
              <a:t>  B = a</a:t>
            </a:r>
            <a:r>
              <a:rPr lang="en-US" baseline="-25000" dirty="0"/>
              <a:t>2</a:t>
            </a:r>
            <a:r>
              <a:rPr lang="en-US" dirty="0"/>
              <a:t> +jb</a:t>
            </a:r>
            <a:r>
              <a:rPr lang="en-US" baseline="-25000" dirty="0"/>
              <a:t>2</a:t>
            </a:r>
            <a:r>
              <a:rPr lang="en-US" dirty="0"/>
              <a:t>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 A = B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&lt;=&gt;</a:t>
            </a:r>
            <a:r>
              <a:rPr lang="en-US" sz="2000" dirty="0"/>
              <a:t> a1 = a2  </a:t>
            </a:r>
            <a:r>
              <a:rPr lang="en-US" sz="2000" dirty="0" err="1"/>
              <a:t>và</a:t>
            </a:r>
            <a:r>
              <a:rPr lang="en-US" sz="2000" dirty="0"/>
              <a:t> b1 =  b2 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 A + B = (a</a:t>
            </a:r>
            <a:r>
              <a:rPr lang="en-US" sz="2000" baseline="-25000" dirty="0"/>
              <a:t>1</a:t>
            </a:r>
            <a:r>
              <a:rPr lang="en-US" sz="2000" dirty="0"/>
              <a:t> +jb</a:t>
            </a:r>
            <a:r>
              <a:rPr lang="en-US" sz="2000" baseline="-25000" dirty="0"/>
              <a:t>1</a:t>
            </a:r>
            <a:r>
              <a:rPr lang="en-US" sz="2000" dirty="0"/>
              <a:t>) + (a</a:t>
            </a:r>
            <a:r>
              <a:rPr lang="en-US" sz="2000" baseline="-25000" dirty="0"/>
              <a:t>2</a:t>
            </a:r>
            <a:r>
              <a:rPr lang="en-US" sz="2000" dirty="0"/>
              <a:t> +jb</a:t>
            </a:r>
            <a:r>
              <a:rPr lang="en-US" sz="2000" baseline="-25000" dirty="0"/>
              <a:t>2</a:t>
            </a:r>
            <a:r>
              <a:rPr lang="en-US" sz="2000" dirty="0"/>
              <a:t>)</a:t>
            </a:r>
          </a:p>
          <a:p>
            <a:pPr marL="201168" lvl="1" indent="0">
              <a:buNone/>
            </a:pPr>
            <a:r>
              <a:rPr lang="en-US" sz="2000" dirty="0"/>
              <a:t>	   = (a</a:t>
            </a:r>
            <a:r>
              <a:rPr lang="en-US" sz="2000" baseline="-25000" dirty="0"/>
              <a:t>1</a:t>
            </a:r>
            <a:r>
              <a:rPr lang="en-US" sz="2000" dirty="0"/>
              <a:t> + a</a:t>
            </a:r>
            <a:r>
              <a:rPr lang="en-US" sz="2000" baseline="-25000" dirty="0"/>
              <a:t>2</a:t>
            </a:r>
            <a:r>
              <a:rPr lang="en-US" sz="2000" dirty="0"/>
              <a:t>) + j(b</a:t>
            </a:r>
            <a:r>
              <a:rPr lang="en-US" sz="2000" baseline="-25000" dirty="0"/>
              <a:t>1</a:t>
            </a:r>
            <a:r>
              <a:rPr lang="en-US" sz="2000" dirty="0"/>
              <a:t> + b</a:t>
            </a:r>
            <a:r>
              <a:rPr lang="en-US" sz="2000" baseline="-25000" dirty="0"/>
              <a:t>2</a:t>
            </a:r>
            <a:r>
              <a:rPr lang="en-US" sz="2000" dirty="0"/>
              <a:t>) </a:t>
            </a:r>
          </a:p>
          <a:p>
            <a:r>
              <a:rPr lang="en-US" i="1" dirty="0" err="1"/>
              <a:t>Ví</a:t>
            </a:r>
            <a:r>
              <a:rPr lang="en-US" i="1" dirty="0"/>
              <a:t> </a:t>
            </a:r>
            <a:r>
              <a:rPr lang="en-US" i="1" dirty="0" err="1"/>
              <a:t>dụ</a:t>
            </a:r>
            <a:r>
              <a:rPr lang="en-US" i="1" dirty="0"/>
              <a:t>:</a:t>
            </a:r>
            <a:r>
              <a:rPr lang="en-US" dirty="0"/>
              <a:t> 		(3 + j4) + (4 – j2)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 A – B = (a</a:t>
            </a:r>
            <a:r>
              <a:rPr lang="en-US" sz="2000" baseline="-25000" dirty="0"/>
              <a:t>1</a:t>
            </a:r>
            <a:r>
              <a:rPr lang="en-US" sz="2000" dirty="0"/>
              <a:t> +jb</a:t>
            </a:r>
            <a:r>
              <a:rPr lang="en-US" sz="2000" baseline="-25000" dirty="0"/>
              <a:t>1</a:t>
            </a:r>
            <a:r>
              <a:rPr lang="en-US" sz="2000" dirty="0"/>
              <a:t>) – (a</a:t>
            </a:r>
            <a:r>
              <a:rPr lang="en-US" sz="2000" baseline="-25000" dirty="0"/>
              <a:t>2</a:t>
            </a:r>
            <a:r>
              <a:rPr lang="en-US" sz="2000" dirty="0"/>
              <a:t> +jb</a:t>
            </a:r>
            <a:r>
              <a:rPr lang="en-US" sz="2000" baseline="-25000" dirty="0"/>
              <a:t>2</a:t>
            </a:r>
            <a:r>
              <a:rPr lang="en-US" sz="2000" dirty="0"/>
              <a:t>)</a:t>
            </a:r>
          </a:p>
          <a:p>
            <a:pPr marL="201168" lvl="1" indent="0">
              <a:buNone/>
            </a:pPr>
            <a:r>
              <a:rPr lang="en-US" sz="2000" dirty="0"/>
              <a:t>	   = (a</a:t>
            </a:r>
            <a:r>
              <a:rPr lang="en-US" sz="2000" baseline="-25000" dirty="0"/>
              <a:t>1</a:t>
            </a:r>
            <a:r>
              <a:rPr lang="en-US" sz="2000" dirty="0"/>
              <a:t> – a</a:t>
            </a:r>
            <a:r>
              <a:rPr lang="en-US" sz="2000" baseline="-25000" dirty="0"/>
              <a:t>2</a:t>
            </a:r>
            <a:r>
              <a:rPr lang="en-US" sz="2000" dirty="0"/>
              <a:t>) + j(b</a:t>
            </a:r>
            <a:r>
              <a:rPr lang="en-US" sz="2000" baseline="-25000" dirty="0"/>
              <a:t>1</a:t>
            </a:r>
            <a:r>
              <a:rPr lang="en-US" sz="2000" dirty="0"/>
              <a:t> – b</a:t>
            </a:r>
            <a:r>
              <a:rPr lang="en-US" sz="2000" baseline="-25000" dirty="0"/>
              <a:t>2</a:t>
            </a:r>
            <a:r>
              <a:rPr lang="en-US" sz="2000" dirty="0"/>
              <a:t>) </a:t>
            </a:r>
          </a:p>
          <a:p>
            <a:r>
              <a:rPr lang="en-US" i="1" dirty="0" err="1"/>
              <a:t>Ví</a:t>
            </a:r>
            <a:r>
              <a:rPr lang="en-US" i="1" dirty="0"/>
              <a:t> </a:t>
            </a:r>
            <a:r>
              <a:rPr lang="en-US" i="1" dirty="0" err="1"/>
              <a:t>dụ</a:t>
            </a:r>
            <a:r>
              <a:rPr lang="en-US" i="1" dirty="0"/>
              <a:t>:</a:t>
            </a:r>
            <a:r>
              <a:rPr lang="en-US" dirty="0"/>
              <a:t> 		(3 + j4) – (4 – j2)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2560" y="2438400"/>
            <a:ext cx="3124200" cy="209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ZoneTexte 7"/>
          <p:cNvSpPr txBox="1"/>
          <p:nvPr/>
        </p:nvSpPr>
        <p:spPr>
          <a:xfrm>
            <a:off x="5344828" y="4755978"/>
            <a:ext cx="3092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phức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599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phức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4478866"/>
              </a:xfrm>
            </p:spPr>
            <p:txBody>
              <a:bodyPr>
                <a:no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Các</a:t>
                </a: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phép</a:t>
                </a: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tính</a:t>
                </a: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trên</a:t>
                </a: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số</a:t>
                </a: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phức</a:t>
                </a:r>
                <a:r>
                  <a:rPr lang="en-US" b="1" dirty="0">
                    <a:latin typeface="+mj-lt"/>
                  </a:rPr>
                  <a:t> </a:t>
                </a:r>
              </a:p>
              <a:p>
                <a:r>
                  <a:rPr lang="en-US" dirty="0">
                    <a:latin typeface="+mj-lt"/>
                  </a:rPr>
                  <a:t>Cho A = a</a:t>
                </a:r>
                <a:r>
                  <a:rPr lang="en-US" baseline="-25000" dirty="0">
                    <a:latin typeface="+mj-lt"/>
                  </a:rPr>
                  <a:t>1</a:t>
                </a:r>
                <a:r>
                  <a:rPr lang="en-US" dirty="0">
                    <a:latin typeface="+mj-lt"/>
                  </a:rPr>
                  <a:t> + jb</a:t>
                </a:r>
                <a:r>
                  <a:rPr lang="en-US" baseline="-25000" dirty="0">
                    <a:latin typeface="+mj-lt"/>
                  </a:rPr>
                  <a:t>1</a:t>
                </a:r>
                <a:r>
                  <a:rPr lang="en-US" dirty="0">
                    <a:latin typeface="+mj-lt"/>
                  </a:rPr>
                  <a:t>  </a:t>
                </a:r>
                <a:r>
                  <a:rPr lang="en-US" dirty="0" err="1">
                    <a:latin typeface="+mj-lt"/>
                  </a:rPr>
                  <a:t>và</a:t>
                </a:r>
                <a:r>
                  <a:rPr lang="en-US" dirty="0">
                    <a:latin typeface="+mj-lt"/>
                  </a:rPr>
                  <a:t>  B = a</a:t>
                </a:r>
                <a:r>
                  <a:rPr lang="en-US" baseline="-25000" dirty="0">
                    <a:latin typeface="+mj-lt"/>
                  </a:rPr>
                  <a:t>2</a:t>
                </a:r>
                <a:r>
                  <a:rPr lang="en-US" dirty="0">
                    <a:latin typeface="+mj-lt"/>
                  </a:rPr>
                  <a:t> +jb</a:t>
                </a:r>
                <a:r>
                  <a:rPr lang="en-US" baseline="-25000" dirty="0">
                    <a:latin typeface="+mj-lt"/>
                  </a:rPr>
                  <a:t>2</a:t>
                </a:r>
                <a:r>
                  <a:rPr lang="en-US" dirty="0">
                    <a:latin typeface="+mj-lt"/>
                  </a:rPr>
                  <a:t> 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+mj-lt"/>
                  </a:rPr>
                  <a:t> A </a:t>
                </a:r>
                <a:r>
                  <a:rPr lang="en-US" sz="2000" dirty="0">
                    <a:latin typeface="+mj-lt"/>
                    <a:sym typeface="Symbol" panose="05050102010706020507" pitchFamily="18" charset="2"/>
                  </a:rPr>
                  <a:t></a:t>
                </a:r>
                <a:r>
                  <a:rPr lang="en-US" sz="2000" dirty="0">
                    <a:latin typeface="+mj-lt"/>
                  </a:rPr>
                  <a:t> B =</a:t>
                </a:r>
                <a:r>
                  <a:rPr lang="pt-BR" sz="2000" dirty="0">
                    <a:latin typeface="+mj-lt"/>
                  </a:rPr>
                  <a:t>(a</a:t>
                </a:r>
                <a:r>
                  <a:rPr lang="pt-BR" sz="2000" baseline="-25000" dirty="0">
                    <a:latin typeface="+mj-lt"/>
                  </a:rPr>
                  <a:t>1</a:t>
                </a:r>
                <a:r>
                  <a:rPr lang="pt-BR" sz="2000" dirty="0">
                    <a:latin typeface="+mj-lt"/>
                  </a:rPr>
                  <a:t> +jb</a:t>
                </a:r>
                <a:r>
                  <a:rPr lang="pt-BR" sz="2000" baseline="-25000" dirty="0">
                    <a:latin typeface="+mj-lt"/>
                  </a:rPr>
                  <a:t>1</a:t>
                </a:r>
                <a:r>
                  <a:rPr lang="pt-BR" sz="2000" dirty="0">
                    <a:latin typeface="+mj-lt"/>
                  </a:rPr>
                  <a:t>).(a</a:t>
                </a:r>
                <a:r>
                  <a:rPr lang="pt-BR" sz="2000" baseline="-25000" dirty="0">
                    <a:latin typeface="+mj-lt"/>
                  </a:rPr>
                  <a:t>2</a:t>
                </a:r>
                <a:r>
                  <a:rPr lang="pt-BR" sz="2000" dirty="0">
                    <a:latin typeface="+mj-lt"/>
                  </a:rPr>
                  <a:t> +jb</a:t>
                </a:r>
                <a:r>
                  <a:rPr lang="pt-BR" sz="2000" baseline="-25000" dirty="0">
                    <a:latin typeface="+mj-lt"/>
                  </a:rPr>
                  <a:t>2</a:t>
                </a:r>
                <a:r>
                  <a:rPr lang="pt-BR" sz="2000" dirty="0">
                    <a:latin typeface="+mj-lt"/>
                  </a:rPr>
                  <a:t>) = (a</a:t>
                </a:r>
                <a:r>
                  <a:rPr lang="pt-BR" sz="2000" baseline="-25000" dirty="0">
                    <a:latin typeface="+mj-lt"/>
                  </a:rPr>
                  <a:t>1</a:t>
                </a:r>
                <a:r>
                  <a:rPr lang="pt-BR" sz="2000" dirty="0">
                    <a:latin typeface="+mj-lt"/>
                  </a:rPr>
                  <a:t>a</a:t>
                </a:r>
                <a:r>
                  <a:rPr lang="pt-BR" sz="2000" baseline="-25000" dirty="0">
                    <a:latin typeface="+mj-lt"/>
                  </a:rPr>
                  <a:t>2</a:t>
                </a:r>
                <a:r>
                  <a:rPr lang="pt-BR" sz="2000" dirty="0">
                    <a:latin typeface="+mj-lt"/>
                  </a:rPr>
                  <a:t> – b</a:t>
                </a:r>
                <a:r>
                  <a:rPr lang="pt-BR" sz="2000" baseline="-25000" dirty="0">
                    <a:latin typeface="+mj-lt"/>
                  </a:rPr>
                  <a:t>1</a:t>
                </a:r>
                <a:r>
                  <a:rPr lang="pt-BR" sz="2000" dirty="0">
                    <a:latin typeface="+mj-lt"/>
                  </a:rPr>
                  <a:t>b</a:t>
                </a:r>
                <a:r>
                  <a:rPr lang="pt-BR" sz="2000" baseline="-25000" dirty="0">
                    <a:latin typeface="+mj-lt"/>
                  </a:rPr>
                  <a:t>2</a:t>
                </a:r>
                <a:r>
                  <a:rPr lang="pt-BR" sz="2000" dirty="0">
                    <a:latin typeface="+mj-lt"/>
                  </a:rPr>
                  <a:t>) + j(a</a:t>
                </a:r>
                <a:r>
                  <a:rPr lang="pt-BR" sz="2000" baseline="-25000" dirty="0">
                    <a:latin typeface="+mj-lt"/>
                  </a:rPr>
                  <a:t>1</a:t>
                </a:r>
                <a:r>
                  <a:rPr lang="pt-BR" sz="2000" dirty="0">
                    <a:latin typeface="+mj-lt"/>
                  </a:rPr>
                  <a:t>b</a:t>
                </a:r>
                <a:r>
                  <a:rPr lang="pt-BR" sz="2000" baseline="-25000" dirty="0">
                    <a:latin typeface="+mj-lt"/>
                  </a:rPr>
                  <a:t>2</a:t>
                </a:r>
                <a:r>
                  <a:rPr lang="pt-BR" sz="2000" dirty="0">
                    <a:latin typeface="+mj-lt"/>
                  </a:rPr>
                  <a:t> + a</a:t>
                </a:r>
                <a:r>
                  <a:rPr lang="pt-BR" sz="2000" baseline="-25000" dirty="0">
                    <a:latin typeface="+mj-lt"/>
                  </a:rPr>
                  <a:t>2</a:t>
                </a:r>
                <a:r>
                  <a:rPr lang="pt-BR" sz="2000" dirty="0">
                    <a:latin typeface="+mj-lt"/>
                  </a:rPr>
                  <a:t>b</a:t>
                </a:r>
                <a:r>
                  <a:rPr lang="pt-BR" sz="2000" baseline="-25000" dirty="0">
                    <a:latin typeface="+mj-lt"/>
                  </a:rPr>
                  <a:t>1</a:t>
                </a:r>
                <a:r>
                  <a:rPr lang="pt-BR" sz="2000" dirty="0">
                    <a:latin typeface="+mj-lt"/>
                  </a:rPr>
                  <a:t>)</a:t>
                </a:r>
                <a:endParaRPr lang="en-US" sz="2000" dirty="0">
                  <a:latin typeface="+mj-lt"/>
                </a:endParaRPr>
              </a:p>
              <a:p>
                <a:r>
                  <a:rPr lang="en-US" i="1" dirty="0" err="1">
                    <a:latin typeface="+mj-lt"/>
                  </a:rPr>
                  <a:t>Ví</a:t>
                </a:r>
                <a:r>
                  <a:rPr lang="en-US" i="1" dirty="0">
                    <a:latin typeface="+mj-lt"/>
                  </a:rPr>
                  <a:t> </a:t>
                </a:r>
                <a:r>
                  <a:rPr lang="en-US" i="1" dirty="0" err="1">
                    <a:latin typeface="+mj-lt"/>
                  </a:rPr>
                  <a:t>dụ</a:t>
                </a:r>
                <a:r>
                  <a:rPr lang="en-US" i="1" dirty="0">
                    <a:latin typeface="+mj-lt"/>
                  </a:rPr>
                  <a:t>:</a:t>
                </a:r>
                <a:r>
                  <a:rPr lang="en-US" dirty="0">
                    <a:latin typeface="+mj-lt"/>
                  </a:rPr>
                  <a:t> 		(3 + j4) </a:t>
                </a:r>
                <a:r>
                  <a:rPr lang="en-US" dirty="0">
                    <a:latin typeface="+mj-lt"/>
                    <a:sym typeface="Symbol" panose="05050102010706020507" pitchFamily="18" charset="2"/>
                  </a:rPr>
                  <a:t></a:t>
                </a:r>
                <a:r>
                  <a:rPr lang="en-US" dirty="0">
                    <a:latin typeface="+mj-lt"/>
                  </a:rPr>
                  <a:t> (4 – j2)</a:t>
                </a:r>
              </a:p>
              <a:p>
                <a:endParaRPr lang="en-US" dirty="0">
                  <a:latin typeface="+mj-lt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en-US" dirty="0">
                  <a:latin typeface="+mj-lt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</m:oMath>
                </a14:m>
                <a:r>
                  <a:rPr lang="en-US" sz="2000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dirty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+mj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dirty="0"/>
                          <m:t>(</m:t>
                        </m:r>
                        <m:r>
                          <m:rPr>
                            <m:nor/>
                          </m:rPr>
                          <a:rPr lang="en-US" sz="2000" dirty="0"/>
                          <m:t>a</m:t>
                        </m:r>
                        <m:r>
                          <m:rPr>
                            <m:nor/>
                          </m:rPr>
                          <a:rPr lang="en-US" sz="20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sz="2000" dirty="0"/>
                          <m:t> +</m:t>
                        </m:r>
                        <m:r>
                          <m:rPr>
                            <m:nor/>
                          </m:rPr>
                          <a:rPr lang="en-US" sz="2000" dirty="0"/>
                          <m:t>jb</m:t>
                        </m:r>
                        <m:r>
                          <m:rPr>
                            <m:nor/>
                          </m:rPr>
                          <a:rPr lang="en-US" sz="2000" baseline="-25000" dirty="0"/>
                          <m:t>1</m:t>
                        </m:r>
                        <m:r>
                          <m:rPr>
                            <m:nor/>
                          </m:rPr>
                          <a:rPr lang="en-US" sz="2000" dirty="0"/>
                          <m:t>)(</m:t>
                        </m:r>
                        <m:r>
                          <m:rPr>
                            <m:nor/>
                          </m:rPr>
                          <a:rPr lang="en-US" sz="2000" dirty="0"/>
                          <m:t>a</m:t>
                        </m:r>
                        <m:r>
                          <m:rPr>
                            <m:nor/>
                          </m:rPr>
                          <a:rPr lang="en-US" sz="2000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sz="2000" dirty="0"/>
                          <m:t> −</m:t>
                        </m:r>
                        <m:r>
                          <m:rPr>
                            <m:nor/>
                          </m:rPr>
                          <a:rPr lang="en-US" sz="2000" dirty="0"/>
                          <m:t>jb</m:t>
                        </m:r>
                        <m:r>
                          <m:rPr>
                            <m:nor/>
                          </m:rPr>
                          <a:rPr lang="en-US" sz="2000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sz="2000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dirty="0"/>
                          <m:t>(</m:t>
                        </m:r>
                        <m:r>
                          <m:rPr>
                            <m:nor/>
                          </m:rPr>
                          <a:rPr lang="en-US" sz="2000" dirty="0"/>
                          <m:t>a</m:t>
                        </m:r>
                        <m:r>
                          <m:rPr>
                            <m:nor/>
                          </m:rPr>
                          <a:rPr lang="en-US" sz="2000" b="0" i="0" baseline="-2500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sz="2000" dirty="0"/>
                          <m:t> +</m:t>
                        </m:r>
                        <m:r>
                          <m:rPr>
                            <m:nor/>
                          </m:rPr>
                          <a:rPr lang="en-US" sz="2000" dirty="0"/>
                          <m:t>jb</m:t>
                        </m:r>
                        <m:r>
                          <m:rPr>
                            <m:nor/>
                          </m:rPr>
                          <a:rPr lang="en-US" sz="2000" b="0" i="0" baseline="-2500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sz="2000" dirty="0"/>
                          <m:t>)(</m:t>
                        </m:r>
                        <m:r>
                          <m:rPr>
                            <m:nor/>
                          </m:rPr>
                          <a:rPr lang="en-US" sz="2000" dirty="0"/>
                          <m:t>a</m:t>
                        </m:r>
                        <m:r>
                          <m:rPr>
                            <m:nor/>
                          </m:rPr>
                          <a:rPr lang="en-US" sz="2000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sz="2000" dirty="0"/>
                          <m:t> −</m:t>
                        </m:r>
                        <m:r>
                          <m:rPr>
                            <m:nor/>
                          </m:rPr>
                          <a:rPr lang="en-US" sz="2000" dirty="0"/>
                          <m:t>jb</m:t>
                        </m:r>
                        <m:r>
                          <m:rPr>
                            <m:nor/>
                          </m:rPr>
                          <a:rPr lang="en-US" sz="2000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sz="2000" dirty="0"/>
                          <m:t>)</m:t>
                        </m:r>
                      </m:den>
                    </m:f>
                  </m:oMath>
                </a14:m>
                <a:r>
                  <a:rPr lang="en-US" sz="2000" dirty="0">
                    <a:latin typeface="+mj-lt"/>
                  </a:rPr>
                  <a:t>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2000" dirty="0"/>
                          <m:t>(</m:t>
                        </m:r>
                        <m:r>
                          <m:rPr>
                            <m:nor/>
                          </m:rPr>
                          <a:rPr lang="pt-BR" sz="2000" dirty="0"/>
                          <m:t>a</m:t>
                        </m:r>
                        <m:r>
                          <m:rPr>
                            <m:nor/>
                          </m:rPr>
                          <a:rPr lang="pt-BR" sz="2000" baseline="-25000" dirty="0"/>
                          <m:t>1</m:t>
                        </m:r>
                        <m:r>
                          <m:rPr>
                            <m:nor/>
                          </m:rPr>
                          <a:rPr lang="pt-BR" sz="2000" dirty="0"/>
                          <m:t>a</m:t>
                        </m:r>
                        <m:r>
                          <m:rPr>
                            <m:nor/>
                          </m:rPr>
                          <a:rPr lang="pt-BR" sz="2000" baseline="-25000" dirty="0"/>
                          <m:t>2</m:t>
                        </m:r>
                        <m:r>
                          <m:rPr>
                            <m:nor/>
                          </m:rPr>
                          <a:rPr lang="pt-BR" sz="2000" dirty="0"/>
                          <m:t> </m:t>
                        </m:r>
                        <m:r>
                          <m:rPr>
                            <m:nor/>
                          </m:rPr>
                          <a:rPr lang="en-US" sz="2000" b="0" i="0" dirty="0" smtClean="0"/>
                          <m:t>+</m:t>
                        </m:r>
                        <m:r>
                          <m:rPr>
                            <m:nor/>
                          </m:rPr>
                          <a:rPr lang="pt-BR" sz="2000" dirty="0"/>
                          <m:t> </m:t>
                        </m:r>
                        <m:r>
                          <m:rPr>
                            <m:nor/>
                          </m:rPr>
                          <a:rPr lang="pt-BR" sz="2000" dirty="0"/>
                          <m:t>b</m:t>
                        </m:r>
                        <m:r>
                          <m:rPr>
                            <m:nor/>
                          </m:rPr>
                          <a:rPr lang="pt-BR" sz="2000" baseline="-25000" dirty="0"/>
                          <m:t>1</m:t>
                        </m:r>
                        <m:r>
                          <m:rPr>
                            <m:nor/>
                          </m:rPr>
                          <a:rPr lang="pt-BR" sz="2000" dirty="0"/>
                          <m:t>b</m:t>
                        </m:r>
                        <m:r>
                          <m:rPr>
                            <m:nor/>
                          </m:rPr>
                          <a:rPr lang="pt-BR" sz="2000" baseline="-25000" dirty="0"/>
                          <m:t>2</m:t>
                        </m:r>
                        <m:r>
                          <m:rPr>
                            <m:nor/>
                          </m:rPr>
                          <a:rPr lang="pt-BR" sz="2000" dirty="0"/>
                          <m:t>) + </m:t>
                        </m:r>
                        <m:r>
                          <m:rPr>
                            <m:nor/>
                          </m:rPr>
                          <a:rPr lang="pt-BR" sz="2000" dirty="0"/>
                          <m:t>j</m:t>
                        </m:r>
                        <m:r>
                          <m:rPr>
                            <m:nor/>
                          </m:rPr>
                          <a:rPr lang="pt-BR" sz="2000" dirty="0"/>
                          <m:t>(</m:t>
                        </m:r>
                        <m:r>
                          <m:rPr>
                            <m:nor/>
                          </m:rPr>
                          <a:rPr lang="pt-BR" sz="2000" dirty="0"/>
                          <m:t>a</m:t>
                        </m:r>
                        <m:r>
                          <m:rPr>
                            <m:nor/>
                          </m:rPr>
                          <a:rPr lang="en-US" sz="2000" b="0" i="0" baseline="-25000" dirty="0" smtClean="0"/>
                          <m:t>2</m:t>
                        </m:r>
                        <m:r>
                          <m:rPr>
                            <m:nor/>
                          </m:rPr>
                          <a:rPr lang="pt-BR" sz="2000" dirty="0"/>
                          <m:t>b</m:t>
                        </m:r>
                        <m:r>
                          <m:rPr>
                            <m:nor/>
                          </m:rPr>
                          <a:rPr lang="en-US" sz="2000" b="0" i="0" baseline="-25000" dirty="0" smtClean="0"/>
                          <m:t>1</m:t>
                        </m:r>
                        <m:r>
                          <m:rPr>
                            <m:nor/>
                          </m:rPr>
                          <a:rPr lang="pt-BR" sz="2000" dirty="0"/>
                          <m:t> </m:t>
                        </m:r>
                        <m:r>
                          <m:rPr>
                            <m:nor/>
                          </m:rPr>
                          <a:rPr lang="en-US" sz="2000" b="0" i="0" dirty="0" smtClean="0"/>
                          <m:t>−</m:t>
                        </m:r>
                        <m:r>
                          <m:rPr>
                            <m:nor/>
                          </m:rPr>
                          <a:rPr lang="pt-BR" sz="2000" dirty="0"/>
                          <m:t> </m:t>
                        </m:r>
                        <m:r>
                          <m:rPr>
                            <m:nor/>
                          </m:rPr>
                          <a:rPr lang="pt-BR" sz="2000" dirty="0"/>
                          <m:t>a</m:t>
                        </m:r>
                        <m:r>
                          <m:rPr>
                            <m:nor/>
                          </m:rPr>
                          <a:rPr lang="en-US" sz="2000" b="0" i="0" baseline="-25000" dirty="0" smtClean="0"/>
                          <m:t>1</m:t>
                        </m:r>
                        <m:r>
                          <m:rPr>
                            <m:nor/>
                          </m:rPr>
                          <a:rPr lang="pt-BR" sz="2000" dirty="0"/>
                          <m:t>b</m:t>
                        </m:r>
                        <m:r>
                          <m:rPr>
                            <m:nor/>
                          </m:rPr>
                          <a:rPr lang="pt-BR" sz="2000" baseline="-25000" dirty="0"/>
                          <m:t>2</m:t>
                        </m:r>
                        <m:r>
                          <m:rPr>
                            <m:nor/>
                          </m:rPr>
                          <a:rPr lang="pt-BR" sz="2000" dirty="0"/>
                          <m:t>)</m:t>
                        </m:r>
                        <m:r>
                          <m:rPr>
                            <m:nor/>
                          </m:rPr>
                          <a:rPr lang="en-US" sz="2000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dirty="0"/>
                          <m:t>a</m:t>
                        </m:r>
                        <m:r>
                          <m:rPr>
                            <m:nor/>
                          </m:rPr>
                          <a:rPr lang="en-US" sz="2000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sz="2000" b="0" i="0" baseline="3000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sz="2000" dirty="0"/>
                          <m:t> +</m:t>
                        </m:r>
                        <m:r>
                          <m:rPr>
                            <m:nor/>
                          </m:rPr>
                          <a:rPr lang="en-US" sz="20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000" dirty="0"/>
                          <m:t>b</m:t>
                        </m:r>
                        <m:r>
                          <m:rPr>
                            <m:nor/>
                          </m:rPr>
                          <a:rPr lang="en-US" sz="2000" baseline="-25000" dirty="0"/>
                          <m:t>2</m:t>
                        </m:r>
                        <m:r>
                          <m:rPr>
                            <m:nor/>
                          </m:rPr>
                          <a:rPr lang="en-US" sz="2000" b="0" i="0" baseline="30000" dirty="0" smtClean="0"/>
                          <m:t>2</m:t>
                        </m:r>
                      </m:den>
                    </m:f>
                  </m:oMath>
                </a14:m>
                <a:endParaRPr lang="en-US" sz="2000" dirty="0">
                  <a:latin typeface="+mj-lt"/>
                </a:endParaRPr>
              </a:p>
              <a:p>
                <a:pPr marL="201168" lvl="1" indent="0">
                  <a:buNone/>
                </a:pPr>
                <a:r>
                  <a:rPr lang="en-US" sz="2000" dirty="0">
                    <a:latin typeface="+mj-lt"/>
                  </a:rPr>
                  <a:t>	     </a:t>
                </a:r>
              </a:p>
              <a:p>
                <a:pPr marL="201168" lvl="1" indent="0">
                  <a:buNone/>
                </a:pPr>
                <a:r>
                  <a:rPr lang="en-US" i="1" dirty="0" err="1">
                    <a:latin typeface="+mj-lt"/>
                  </a:rPr>
                  <a:t>Ví</a:t>
                </a:r>
                <a:r>
                  <a:rPr lang="en-US" i="1" dirty="0">
                    <a:latin typeface="+mj-lt"/>
                  </a:rPr>
                  <a:t> </a:t>
                </a:r>
                <a:r>
                  <a:rPr lang="en-US" i="1" dirty="0" err="1">
                    <a:latin typeface="+mj-lt"/>
                  </a:rPr>
                  <a:t>dụ</a:t>
                </a:r>
                <a:r>
                  <a:rPr lang="en-US" i="1" dirty="0">
                    <a:latin typeface="+mj-lt"/>
                  </a:rPr>
                  <a:t>:</a:t>
                </a:r>
                <a:r>
                  <a:rPr lang="en-US" dirty="0">
                    <a:latin typeface="+mj-lt"/>
                  </a:rPr>
                  <a:t> 		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3 + </m:t>
                        </m:r>
                        <m:r>
                          <m:rPr>
                            <m:nor/>
                          </m:rPr>
                          <a:rPr lang="en-US" dirty="0"/>
                          <m:t>j</m:t>
                        </m:r>
                        <m:r>
                          <m:rPr>
                            <m:nor/>
                          </m:rPr>
                          <a:rPr lang="en-US" dirty="0"/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4 – </m:t>
                        </m:r>
                        <m:r>
                          <m:rPr>
                            <m:nor/>
                          </m:rPr>
                          <a:rPr lang="en-US" dirty="0"/>
                          <m:t>j</m:t>
                        </m:r>
                        <m:r>
                          <m:rPr>
                            <m:nor/>
                          </m:rPr>
                          <a:rPr lang="en-US" dirty="0"/>
                          <m:t>2 </m:t>
                        </m:r>
                      </m:den>
                    </m:f>
                  </m:oMath>
                </a14:m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4478866"/>
              </a:xfrm>
              <a:blipFill rotWithShape="0">
                <a:blip r:embed="rId2"/>
                <a:stretch>
                  <a:fillRect l="-1939" t="-1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53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phức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7886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err="1">
                <a:latin typeface="+mj-lt"/>
              </a:rPr>
              <a:t>Dạng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lượng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giác</a:t>
            </a:r>
            <a:endParaRPr lang="en-US" b="1" dirty="0">
              <a:latin typeface="+mj-lt"/>
            </a:endParaRPr>
          </a:p>
          <a:p>
            <a:r>
              <a:rPr lang="en-US" dirty="0"/>
              <a:t>Cho A = a +</a:t>
            </a:r>
            <a:r>
              <a:rPr lang="en-US" dirty="0" err="1"/>
              <a:t>jb</a:t>
            </a:r>
            <a:endParaRPr lang="en-US" dirty="0"/>
          </a:p>
          <a:p>
            <a:r>
              <a:rPr lang="en-US" i="1" dirty="0"/>
              <a:t>R </a:t>
            </a:r>
            <a:r>
              <a:rPr lang="en-US" i="1" dirty="0" err="1"/>
              <a:t>là</a:t>
            </a:r>
            <a:r>
              <a:rPr lang="en-US" i="1" dirty="0"/>
              <a:t> </a:t>
            </a:r>
            <a:r>
              <a:rPr lang="en-US" i="1" dirty="0" err="1"/>
              <a:t>khoảng</a:t>
            </a:r>
            <a:r>
              <a:rPr lang="en-US" i="1" dirty="0"/>
              <a:t> </a:t>
            </a:r>
            <a:r>
              <a:rPr lang="en-US" i="1" dirty="0" err="1"/>
              <a:t>cách</a:t>
            </a:r>
            <a:r>
              <a:rPr lang="en-US" i="1" dirty="0"/>
              <a:t> </a:t>
            </a:r>
            <a:r>
              <a:rPr lang="en-US" i="1" dirty="0" err="1"/>
              <a:t>từ</a:t>
            </a:r>
            <a:r>
              <a:rPr lang="en-US" i="1" dirty="0"/>
              <a:t> </a:t>
            </a:r>
            <a:r>
              <a:rPr lang="en-US" i="1" dirty="0" err="1"/>
              <a:t>điểm</a:t>
            </a:r>
            <a:r>
              <a:rPr lang="en-US" i="1" dirty="0"/>
              <a:t> A </a:t>
            </a:r>
            <a:r>
              <a:rPr lang="en-US" i="1" dirty="0" err="1"/>
              <a:t>đến</a:t>
            </a:r>
            <a:r>
              <a:rPr lang="en-US" i="1" dirty="0"/>
              <a:t> </a:t>
            </a:r>
            <a:r>
              <a:rPr lang="en-US" i="1" dirty="0" err="1"/>
              <a:t>gốc</a:t>
            </a:r>
            <a:r>
              <a:rPr lang="en-US" i="1" dirty="0"/>
              <a:t> O</a:t>
            </a:r>
          </a:p>
          <a:p>
            <a:r>
              <a:rPr lang="en-US" i="1" dirty="0">
                <a:sym typeface="Symbol"/>
              </a:rPr>
              <a:t></a:t>
            </a:r>
            <a:r>
              <a:rPr lang="en-US" i="1" dirty="0"/>
              <a:t> </a:t>
            </a:r>
            <a:r>
              <a:rPr lang="en-US" i="1" dirty="0" err="1"/>
              <a:t>là</a:t>
            </a:r>
            <a:r>
              <a:rPr lang="en-US" i="1" dirty="0"/>
              <a:t> </a:t>
            </a:r>
            <a:r>
              <a:rPr lang="en-US" i="1" dirty="0" err="1"/>
              <a:t>góc</a:t>
            </a:r>
            <a:r>
              <a:rPr lang="en-US" i="1" dirty="0"/>
              <a:t> </a:t>
            </a:r>
            <a:r>
              <a:rPr lang="en-US" i="1" dirty="0" err="1"/>
              <a:t>mà</a:t>
            </a:r>
            <a:r>
              <a:rPr lang="en-US" i="1" dirty="0"/>
              <a:t> OA </a:t>
            </a:r>
            <a:r>
              <a:rPr lang="en-US" i="1" dirty="0" err="1"/>
              <a:t>tạo</a:t>
            </a:r>
            <a:r>
              <a:rPr lang="en-US" i="1" dirty="0"/>
              <a:t> </a:t>
            </a:r>
            <a:r>
              <a:rPr lang="en-US" i="1" dirty="0" err="1"/>
              <a:t>với</a:t>
            </a:r>
            <a:r>
              <a:rPr lang="en-US" i="1" dirty="0"/>
              <a:t> </a:t>
            </a:r>
            <a:r>
              <a:rPr lang="en-US" i="1" dirty="0" err="1"/>
              <a:t>trục</a:t>
            </a:r>
            <a:r>
              <a:rPr lang="en-US" i="1" dirty="0"/>
              <a:t> </a:t>
            </a:r>
            <a:r>
              <a:rPr lang="en-US" i="1" dirty="0" err="1"/>
              <a:t>thực</a:t>
            </a:r>
            <a:r>
              <a:rPr lang="en-US" i="1" dirty="0"/>
              <a:t> (–180</a:t>
            </a:r>
            <a:r>
              <a:rPr lang="en-US" i="1" baseline="30000" dirty="0"/>
              <a:t>0</a:t>
            </a:r>
            <a:r>
              <a:rPr lang="en-US" i="1" dirty="0"/>
              <a:t> </a:t>
            </a:r>
            <a:r>
              <a:rPr lang="en-US" i="1" dirty="0">
                <a:sym typeface="Symbol"/>
              </a:rPr>
              <a:t></a:t>
            </a:r>
            <a:r>
              <a:rPr lang="en-US" i="1" dirty="0"/>
              <a:t> </a:t>
            </a:r>
            <a:r>
              <a:rPr lang="en-US" i="1" dirty="0">
                <a:sym typeface="Symbol"/>
              </a:rPr>
              <a:t></a:t>
            </a:r>
            <a:r>
              <a:rPr lang="en-US" i="1" dirty="0"/>
              <a:t> </a:t>
            </a:r>
            <a:r>
              <a:rPr lang="en-US" i="1" dirty="0">
                <a:sym typeface="Symbol"/>
              </a:rPr>
              <a:t></a:t>
            </a:r>
            <a:r>
              <a:rPr lang="en-US" i="1" dirty="0"/>
              <a:t> 180</a:t>
            </a:r>
            <a:r>
              <a:rPr lang="en-US" i="1" baseline="30000" dirty="0"/>
              <a:t>0</a:t>
            </a:r>
            <a:r>
              <a:rPr lang="en-US" i="1" dirty="0"/>
              <a:t>)</a:t>
            </a:r>
          </a:p>
          <a:p>
            <a:pPr marL="0" indent="0">
              <a:buNone/>
            </a:pPr>
            <a:r>
              <a:rPr lang="en-US" dirty="0"/>
              <a:t>(R,</a:t>
            </a:r>
            <a:r>
              <a:rPr lang="en-US" dirty="0">
                <a:sym typeface="Symbol"/>
              </a:rPr>
              <a:t></a:t>
            </a:r>
            <a:r>
              <a:rPr lang="en-US" dirty="0"/>
              <a:t>)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toạ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phẳng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757833"/>
            <a:ext cx="3124200" cy="209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ZoneTexte 7"/>
          <p:cNvSpPr txBox="1"/>
          <p:nvPr/>
        </p:nvSpPr>
        <p:spPr>
          <a:xfrm>
            <a:off x="7256067" y="241962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9" name="Rectangle 8"/>
          <p:cNvSpPr/>
          <p:nvPr/>
        </p:nvSpPr>
        <p:spPr>
          <a:xfrm>
            <a:off x="7010400" y="2863210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ym typeface="Symbol"/>
              </a:rPr>
              <a:t></a:t>
            </a:r>
            <a:endParaRPr lang="en-US" dirty="0"/>
          </a:p>
        </p:txBody>
      </p:sp>
      <p:sp>
        <p:nvSpPr>
          <p:cNvPr id="10" name="Arc 9"/>
          <p:cNvSpPr/>
          <p:nvPr/>
        </p:nvSpPr>
        <p:spPr>
          <a:xfrm>
            <a:off x="6858000" y="2997299"/>
            <a:ext cx="152400" cy="23524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au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7752802"/>
                  </p:ext>
                </p:extLst>
              </p:nvPr>
            </p:nvGraphicFramePr>
            <p:xfrm>
              <a:off x="1546859" y="4191000"/>
              <a:ext cx="6096000" cy="13228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 + </a:t>
                          </a:r>
                          <a:r>
                            <a:rPr lang="en-US" dirty="0" err="1"/>
                            <a:t>jb</a:t>
                          </a:r>
                          <a:r>
                            <a:rPr lang="en-US" dirty="0"/>
                            <a:t> 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 (R,</a:t>
                          </a:r>
                          <a:r>
                            <a:rPr lang="en-US" dirty="0">
                              <a:sym typeface="Symbol"/>
                            </a:rPr>
                            <a:t> )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(R,</a:t>
                          </a:r>
                          <a:r>
                            <a:rPr lang="en-US" dirty="0">
                              <a:sym typeface="Symbol"/>
                            </a:rPr>
                            <a:t> ) </a:t>
                          </a:r>
                          <a:r>
                            <a:rPr lang="en-US" dirty="0">
                              <a:sym typeface="Symbol" panose="05050102010706020507" pitchFamily="18" charset="2"/>
                            </a:rPr>
                            <a:t> </a:t>
                          </a:r>
                          <a:r>
                            <a:rPr lang="en-US" dirty="0" err="1">
                              <a:sym typeface="Symbol" panose="05050102010706020507" pitchFamily="18" charset="2"/>
                            </a:rPr>
                            <a:t>a+jb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b="0" i="1" dirty="0" smtClean="0">
                                    <a:sym typeface="Symbol"/>
                                  </a:rPr>
                                  <m:t>tan</m:t>
                                </m:r>
                                <m:r>
                                  <m:rPr>
                                    <m:nor/>
                                  </m:rPr>
                                  <a:rPr lang="en-US" i="1" dirty="0" smtClean="0">
                                    <a:sym typeface="Symbol"/>
                                  </a:rPr>
                                  <m:t>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𝑏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m:rPr>
                                    <m:nor/>
                                  </m:rPr>
                                  <a:rPr lang="en-US" i="1" dirty="0" smtClean="0">
                                    <a:sym typeface="Symbol"/>
                                  </a:rPr>
                                  <m:t>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m:rPr>
                                    <m:nor/>
                                  </m:rPr>
                                  <a:rPr lang="en-US" i="1" dirty="0" smtClean="0">
                                    <a:sym typeface="Symbol"/>
                                  </a:rPr>
                                  <m:t>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au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7752802"/>
                  </p:ext>
                </p:extLst>
              </p:nvPr>
            </p:nvGraphicFramePr>
            <p:xfrm>
              <a:off x="1546859" y="4191000"/>
              <a:ext cx="6096000" cy="13228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/>
                    <a:gridCol w="3048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 + </a:t>
                          </a:r>
                          <a:r>
                            <a:rPr lang="en-US" dirty="0" err="1" smtClean="0"/>
                            <a:t>jb</a:t>
                          </a:r>
                          <a:r>
                            <a:rPr lang="en-US" dirty="0" smtClean="0"/>
                            <a:t> </a:t>
                          </a:r>
                          <a:r>
                            <a:rPr lang="en-US" dirty="0" smtClean="0">
                              <a:sym typeface="Symbol" panose="05050102010706020507" pitchFamily="18" charset="2"/>
                            </a:rPr>
                            <a:t> (R,</a:t>
                          </a:r>
                          <a:r>
                            <a:rPr lang="en-US" dirty="0" smtClean="0">
                              <a:sym typeface="Symbol"/>
                            </a:rPr>
                            <a:t> )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(R,</a:t>
                          </a:r>
                          <a:r>
                            <a:rPr lang="en-US" dirty="0" smtClean="0">
                              <a:sym typeface="Symbol"/>
                            </a:rPr>
                            <a:t> ) </a:t>
                          </a:r>
                          <a:r>
                            <a:rPr lang="en-US" dirty="0" smtClean="0">
                              <a:sym typeface="Symbol" panose="05050102010706020507" pitchFamily="18" charset="2"/>
                            </a:rPr>
                            <a:t> </a:t>
                          </a:r>
                          <a:r>
                            <a:rPr lang="en-US" dirty="0" err="1" smtClean="0">
                              <a:sym typeface="Symbol" panose="05050102010706020507" pitchFamily="18" charset="2"/>
                            </a:rPr>
                            <a:t>a+jb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9520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" t="-42675" r="-100599" b="-12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400" t="-42675" r="-800" b="-127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14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751572"/>
              </p:ext>
            </p:extLst>
          </p:nvPr>
        </p:nvGraphicFramePr>
        <p:xfrm>
          <a:off x="1546859" y="5759469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A=R(</a:t>
                      </a:r>
                      <a:r>
                        <a:rPr lang="en-US" dirty="0" err="1"/>
                        <a:t>cos</a:t>
                      </a:r>
                      <a:r>
                        <a:rPr lang="en-US" i="0" dirty="0">
                          <a:sym typeface="Symbol"/>
                        </a:rPr>
                        <a:t> + sin)</a:t>
                      </a:r>
                      <a:endParaRPr lang="en-US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pSp>
        <p:nvGrpSpPr>
          <p:cNvPr id="23" name="Groupe 22"/>
          <p:cNvGrpSpPr/>
          <p:nvPr/>
        </p:nvGrpSpPr>
        <p:grpSpPr>
          <a:xfrm>
            <a:off x="609600" y="1981200"/>
            <a:ext cx="914400" cy="3962400"/>
            <a:chOff x="609600" y="1981200"/>
            <a:chExt cx="914400" cy="3962400"/>
          </a:xfrm>
        </p:grpSpPr>
        <p:cxnSp>
          <p:nvCxnSpPr>
            <p:cNvPr id="16" name="Connecteur droit avec flèche 15"/>
            <p:cNvCxnSpPr/>
            <p:nvPr/>
          </p:nvCxnSpPr>
          <p:spPr>
            <a:xfrm>
              <a:off x="609600" y="5943600"/>
              <a:ext cx="914400" cy="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flipV="1">
              <a:off x="609600" y="1981200"/>
              <a:ext cx="0" cy="396240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>
              <a:off x="609600" y="1981200"/>
              <a:ext cx="213359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7071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phức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7886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Dạng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lượng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giác</a:t>
            </a:r>
            <a:endParaRPr lang="en-US" b="1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Dạng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mũ</a:t>
            </a:r>
            <a:endParaRPr lang="en-US" b="1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Dạng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cực</a:t>
            </a:r>
            <a:endParaRPr lang="en-US" b="1" dirty="0">
              <a:latin typeface="+mj-lt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14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284403"/>
              </p:ext>
            </p:extLst>
          </p:nvPr>
        </p:nvGraphicFramePr>
        <p:xfrm>
          <a:off x="1600200" y="252476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A=R(</a:t>
                      </a:r>
                      <a:r>
                        <a:rPr lang="en-US" sz="2400" dirty="0" err="1"/>
                        <a:t>cos</a:t>
                      </a:r>
                      <a:r>
                        <a:rPr lang="en-US" sz="2400" i="0" dirty="0">
                          <a:sym typeface="Symbol"/>
                        </a:rPr>
                        <a:t> + sin)</a:t>
                      </a:r>
                      <a:endParaRPr lang="en-US" sz="240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7" name="Tableau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536031"/>
              </p:ext>
            </p:extLst>
          </p:nvPr>
        </p:nvGraphicFramePr>
        <p:xfrm>
          <a:off x="1600200" y="38862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A=</a:t>
                      </a:r>
                      <a:r>
                        <a:rPr lang="en-US" sz="2400" dirty="0" err="1"/>
                        <a:t>R.e</a:t>
                      </a:r>
                      <a:r>
                        <a:rPr lang="en-US" sz="2400" baseline="30000" dirty="0" err="1"/>
                        <a:t>j</a:t>
                      </a:r>
                      <a:r>
                        <a:rPr lang="en-US" sz="2400" i="0" baseline="30000" dirty="0">
                          <a:sym typeface="Symbol"/>
                        </a:rPr>
                        <a:t></a:t>
                      </a:r>
                      <a:endParaRPr lang="en-US" sz="2400" i="0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356681"/>
              </p:ext>
            </p:extLst>
          </p:nvPr>
        </p:nvGraphicFramePr>
        <p:xfrm>
          <a:off x="1600200" y="51816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A=R</a:t>
                      </a:r>
                      <a:r>
                        <a:rPr lang="en-US" sz="2400" dirty="0">
                          <a:sym typeface="Symbol" panose="05050102010706020507" pitchFamily="18" charset="2"/>
                        </a:rPr>
                        <a:t></a:t>
                      </a:r>
                      <a:r>
                        <a:rPr lang="en-US" sz="2400" i="0" dirty="0">
                          <a:sym typeface="Symbol"/>
                        </a:rPr>
                        <a:t></a:t>
                      </a:r>
                      <a:endParaRPr lang="en-US" sz="2400" i="0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600200" y="5181600"/>
            <a:ext cx="6096000" cy="4572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4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phức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4478866"/>
              </a:xfrm>
            </p:spPr>
            <p:txBody>
              <a:bodyPr>
                <a:no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Các</a:t>
                </a: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phép</a:t>
                </a: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tính</a:t>
                </a: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trên</a:t>
                </a: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số</a:t>
                </a: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phức</a:t>
                </a: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dạng</a:t>
                </a:r>
                <a:r>
                  <a:rPr lang="en-US" b="1" dirty="0">
                    <a:latin typeface="+mj-lt"/>
                  </a:rPr>
                  <a:t> </a:t>
                </a:r>
                <a:r>
                  <a:rPr lang="en-US" b="1" dirty="0" err="1">
                    <a:latin typeface="+mj-lt"/>
                  </a:rPr>
                  <a:t>cực</a:t>
                </a:r>
                <a:r>
                  <a:rPr lang="en-US" b="1" dirty="0">
                    <a:latin typeface="+mj-lt"/>
                  </a:rPr>
                  <a:t> </a:t>
                </a:r>
              </a:p>
              <a:p>
                <a:r>
                  <a:rPr lang="en-US" dirty="0">
                    <a:latin typeface="+mj-lt"/>
                  </a:rPr>
                  <a:t>Cho A = a</a:t>
                </a:r>
                <a:r>
                  <a:rPr lang="en-US" baseline="-25000" dirty="0">
                    <a:latin typeface="+mj-lt"/>
                  </a:rPr>
                  <a:t>1</a:t>
                </a:r>
                <a:r>
                  <a:rPr lang="en-US" dirty="0">
                    <a:latin typeface="+mj-lt"/>
                  </a:rPr>
                  <a:t> + jb</a:t>
                </a:r>
                <a:r>
                  <a:rPr lang="en-US" baseline="-25000" dirty="0">
                    <a:latin typeface="+mj-lt"/>
                  </a:rPr>
                  <a:t>1 </a:t>
                </a:r>
                <a:r>
                  <a:rPr lang="en-US" dirty="0">
                    <a:latin typeface="+mj-lt"/>
                  </a:rPr>
                  <a:t>= </a:t>
                </a:r>
                <a:r>
                  <a:rPr lang="en-US" b="1" dirty="0">
                    <a:latin typeface="+mj-lt"/>
                  </a:rPr>
                  <a:t>R</a:t>
                </a:r>
                <a:r>
                  <a:rPr lang="en-US" b="1" baseline="-25000" dirty="0">
                    <a:latin typeface="+mj-lt"/>
                  </a:rPr>
                  <a:t>1</a:t>
                </a:r>
                <a:r>
                  <a:rPr lang="en-US" b="1" dirty="0">
                    <a:latin typeface="+mj-lt"/>
                    <a:sym typeface="Symbol" panose="05050102010706020507" pitchFamily="18" charset="2"/>
                  </a:rPr>
                  <a:t></a:t>
                </a:r>
                <a:r>
                  <a:rPr lang="en-US" b="1" baseline="-25000" dirty="0">
                    <a:latin typeface="+mj-lt"/>
                    <a:sym typeface="Symbol" panose="05050102010706020507" pitchFamily="18" charset="2"/>
                  </a:rPr>
                  <a:t>1</a:t>
                </a:r>
                <a:r>
                  <a:rPr lang="en-US" b="1" dirty="0">
                    <a:latin typeface="+mj-lt"/>
                  </a:rPr>
                  <a:t>  </a:t>
                </a:r>
                <a:r>
                  <a:rPr lang="en-US" dirty="0" err="1">
                    <a:latin typeface="+mj-lt"/>
                  </a:rPr>
                  <a:t>và</a:t>
                </a:r>
                <a:r>
                  <a:rPr lang="en-US" dirty="0">
                    <a:latin typeface="+mj-lt"/>
                  </a:rPr>
                  <a:t>  B = a</a:t>
                </a:r>
                <a:r>
                  <a:rPr lang="en-US" baseline="-25000" dirty="0">
                    <a:latin typeface="+mj-lt"/>
                  </a:rPr>
                  <a:t>2</a:t>
                </a:r>
                <a:r>
                  <a:rPr lang="en-US" dirty="0">
                    <a:latin typeface="+mj-lt"/>
                  </a:rPr>
                  <a:t> +jb</a:t>
                </a:r>
                <a:r>
                  <a:rPr lang="en-US" baseline="-25000" dirty="0">
                    <a:latin typeface="+mj-lt"/>
                  </a:rPr>
                  <a:t>2</a:t>
                </a:r>
                <a:r>
                  <a:rPr lang="en-US" dirty="0">
                    <a:latin typeface="+mj-lt"/>
                  </a:rPr>
                  <a:t> = </a:t>
                </a:r>
                <a:r>
                  <a:rPr lang="en-US" b="1" dirty="0"/>
                  <a:t>R</a:t>
                </a:r>
                <a:r>
                  <a:rPr lang="en-US" b="1" baseline="-25000" dirty="0"/>
                  <a:t>2</a:t>
                </a:r>
                <a:r>
                  <a:rPr lang="en-US" b="1" dirty="0">
                    <a:sym typeface="Symbol" panose="05050102010706020507" pitchFamily="18" charset="2"/>
                  </a:rPr>
                  <a:t></a:t>
                </a:r>
                <a:r>
                  <a:rPr lang="en-US" b="1" baseline="-25000" dirty="0">
                    <a:sym typeface="Symbol" panose="05050102010706020507" pitchFamily="18" charset="2"/>
                  </a:rPr>
                  <a:t>2</a:t>
                </a:r>
                <a:endParaRPr lang="en-US" b="1" baseline="-25000" dirty="0">
                  <a:latin typeface="+mj-lt"/>
                </a:endParaRPr>
              </a:p>
              <a:p>
                <a:endParaRPr lang="en-US" dirty="0">
                  <a:latin typeface="+mj-lt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+mj-lt"/>
                  </a:rPr>
                  <a:t> A </a:t>
                </a:r>
                <a:r>
                  <a:rPr lang="en-US" sz="2000" dirty="0">
                    <a:latin typeface="+mj-lt"/>
                    <a:sym typeface="Symbol" panose="05050102010706020507" pitchFamily="18" charset="2"/>
                  </a:rPr>
                  <a:t></a:t>
                </a:r>
                <a:r>
                  <a:rPr lang="en-US" sz="2000" dirty="0">
                    <a:latin typeface="+mj-lt"/>
                  </a:rPr>
                  <a:t> B =?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en-US" dirty="0">
                  <a:latin typeface="+mj-lt"/>
                </a:endParaRP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:r>
                  <a:rPr lang="en-US" i="1" dirty="0" err="1">
                    <a:latin typeface="+mj-lt"/>
                  </a:rPr>
                  <a:t>Ví</a:t>
                </a:r>
                <a:r>
                  <a:rPr lang="en-US" i="1" dirty="0">
                    <a:latin typeface="+mj-lt"/>
                  </a:rPr>
                  <a:t> </a:t>
                </a:r>
                <a:r>
                  <a:rPr lang="en-US" i="1" dirty="0" err="1">
                    <a:latin typeface="+mj-lt"/>
                  </a:rPr>
                  <a:t>dụ</a:t>
                </a:r>
                <a:r>
                  <a:rPr lang="en-US" i="1" dirty="0">
                    <a:latin typeface="+mj-lt"/>
                  </a:rPr>
                  <a:t>:</a:t>
                </a:r>
                <a:r>
                  <a:rPr lang="en-US" dirty="0">
                    <a:latin typeface="+mj-lt"/>
                  </a:rPr>
                  <a:t> 		</a:t>
                </a:r>
                <a:r>
                  <a:rPr lang="en-US" dirty="0" err="1">
                    <a:latin typeface="+mj-lt"/>
                  </a:rPr>
                  <a:t>Tính</a:t>
                </a:r>
                <a:r>
                  <a:rPr lang="en-US" dirty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smtClean="0">
                            <a:latin typeface="+mj-lt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dirty="0">
                            <a:latin typeface="+mj-lt"/>
                          </a:rPr>
                          <m:t> +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+mj-lt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latin typeface="+mj-lt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>
                            <a:latin typeface="+mj-lt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US" dirty="0">
                            <a:latin typeface="+mj-lt"/>
                          </a:rPr>
                          <m:t> –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+mj-lt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latin typeface="+mj-lt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dirty="0">
                            <a:latin typeface="+mj-lt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dirty="0">
                    <a:latin typeface="+mj-lt"/>
                  </a:rPr>
                  <a:t>  </a:t>
                </a:r>
                <a:r>
                  <a:rPr lang="en-US" dirty="0" err="1">
                    <a:latin typeface="+mj-lt"/>
                  </a:rPr>
                  <a:t>và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/>
                  <a:t>(4 + j2) </a:t>
                </a:r>
                <a:r>
                  <a:rPr lang="en-US" dirty="0">
                    <a:sym typeface="Symbol" panose="05050102010706020507" pitchFamily="18" charset="2"/>
                  </a:rPr>
                  <a:t></a:t>
                </a:r>
                <a:r>
                  <a:rPr lang="en-US" dirty="0"/>
                  <a:t> (5 – j3) </a:t>
                </a:r>
              </a:p>
              <a:p>
                <a:pPr marL="0" indent="0">
                  <a:buNone/>
                </a:pPr>
                <a:r>
                  <a:rPr lang="en-US" dirty="0"/>
                  <a:t>		a. </a:t>
                </a:r>
                <a:r>
                  <a:rPr lang="en-US" dirty="0" err="1"/>
                  <a:t>theo</a:t>
                </a:r>
                <a:r>
                  <a:rPr lang="en-US" dirty="0"/>
                  <a:t> </a:t>
                </a:r>
                <a:r>
                  <a:rPr lang="en-US" dirty="0" err="1"/>
                  <a:t>dạng</a:t>
                </a:r>
                <a:r>
                  <a:rPr lang="en-US" dirty="0"/>
                  <a:t> </a:t>
                </a:r>
                <a:r>
                  <a:rPr lang="en-US" dirty="0" err="1"/>
                  <a:t>đại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b. </a:t>
                </a:r>
                <a:r>
                  <a:rPr lang="en-US" dirty="0" err="1"/>
                  <a:t>theo</a:t>
                </a:r>
                <a:r>
                  <a:rPr lang="en-US" dirty="0"/>
                  <a:t> </a:t>
                </a:r>
                <a:r>
                  <a:rPr lang="en-US" dirty="0" err="1"/>
                  <a:t>dạng</a:t>
                </a:r>
                <a:r>
                  <a:rPr lang="en-US" dirty="0"/>
                  <a:t> </a:t>
                </a:r>
                <a:r>
                  <a:rPr lang="en-US" dirty="0" err="1"/>
                  <a:t>cực</a:t>
                </a:r>
                <a:endParaRPr lang="en-US" dirty="0"/>
              </a:p>
              <a:p>
                <a:pPr marL="0" indent="0">
                  <a:buNone/>
                </a:pP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4478866"/>
              </a:xfrm>
              <a:blipFill rotWithShape="0">
                <a:blip r:embed="rId2"/>
                <a:stretch>
                  <a:fillRect l="-1939" t="-1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78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Quá</a:t>
            </a:r>
            <a:r>
              <a:rPr lang="en-US" dirty="0"/>
              <a:t> trình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hòa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7886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Một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đại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lượng</a:t>
            </a:r>
            <a:r>
              <a:rPr lang="en-US" b="1" dirty="0">
                <a:latin typeface="+mj-lt"/>
              </a:rPr>
              <a:t> f(t) </a:t>
            </a:r>
            <a:r>
              <a:rPr lang="en-US" b="1" dirty="0" err="1">
                <a:latin typeface="+mj-lt"/>
              </a:rPr>
              <a:t>được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gọi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là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điều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hòa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nếu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nó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biến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thiên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theo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thời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gian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dựa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trên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quy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luật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sau</a:t>
            </a:r>
            <a:r>
              <a:rPr lang="en-US" b="1" dirty="0">
                <a:latin typeface="+mj-lt"/>
              </a:rPr>
              <a:t>:</a:t>
            </a:r>
          </a:p>
          <a:p>
            <a:pPr marL="0" indent="0" algn="ctr">
              <a:buNone/>
            </a:pPr>
            <a:r>
              <a:rPr lang="en-US" b="1" dirty="0">
                <a:latin typeface="+mj-lt"/>
              </a:rPr>
              <a:t>f(t) = </a:t>
            </a:r>
            <a:r>
              <a:rPr lang="en-US" b="1" dirty="0" err="1">
                <a:latin typeface="+mj-lt"/>
              </a:rPr>
              <a:t>F</a:t>
            </a:r>
            <a:r>
              <a:rPr lang="en-US" b="1" baseline="-25000" dirty="0" err="1">
                <a:latin typeface="+mj-lt"/>
              </a:rPr>
              <a:t>m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cos</a:t>
            </a:r>
            <a:r>
              <a:rPr lang="en-US" b="1" dirty="0">
                <a:latin typeface="+mj-lt"/>
              </a:rPr>
              <a:t>(</a:t>
            </a:r>
            <a:r>
              <a:rPr lang="en-US" b="1" dirty="0">
                <a:latin typeface="+mj-lt"/>
                <a:sym typeface="Symbol" panose="05050102010706020507" pitchFamily="18" charset="2"/>
              </a:rPr>
              <a:t>t + )</a:t>
            </a:r>
            <a:endParaRPr lang="en-US" b="1" baseline="-25000" dirty="0">
              <a:latin typeface="+mj-lt"/>
            </a:endParaRPr>
          </a:p>
          <a:p>
            <a:r>
              <a:rPr lang="en-US" dirty="0" err="1">
                <a:latin typeface="+mj-lt"/>
              </a:rPr>
              <a:t>Với</a:t>
            </a:r>
            <a:r>
              <a:rPr lang="en-US" dirty="0">
                <a:latin typeface="+mj-lt"/>
              </a:rPr>
              <a:t> f(t) </a:t>
            </a:r>
            <a:r>
              <a:rPr lang="en-US" dirty="0" err="1">
                <a:latin typeface="+mj-lt"/>
              </a:rPr>
              <a:t>có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thể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là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dòng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điện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(t), </a:t>
            </a:r>
            <a:r>
              <a:rPr lang="en-US" dirty="0" err="1">
                <a:latin typeface="+mj-lt"/>
              </a:rPr>
              <a:t>điện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áp</a:t>
            </a:r>
            <a:r>
              <a:rPr lang="en-US" dirty="0">
                <a:latin typeface="+mj-lt"/>
              </a:rPr>
              <a:t> u(t)</a:t>
            </a:r>
          </a:p>
          <a:p>
            <a:r>
              <a:rPr lang="en-US" dirty="0" err="1">
                <a:latin typeface="+mj-lt"/>
              </a:rPr>
              <a:t>Fm</a:t>
            </a:r>
            <a:r>
              <a:rPr lang="en-US" dirty="0">
                <a:latin typeface="+mj-lt"/>
              </a:rPr>
              <a:t>: </a:t>
            </a:r>
            <a:r>
              <a:rPr lang="en-US" dirty="0" err="1">
                <a:latin typeface="+mj-lt"/>
              </a:rPr>
              <a:t>Biên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độ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  <a:sym typeface="Symbol" panose="05050102010706020507" pitchFamily="18" charset="2"/>
              </a:rPr>
              <a:t>: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tần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số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góc</a:t>
            </a:r>
            <a:r>
              <a:rPr lang="en-US" dirty="0">
                <a:latin typeface="+mj-lt"/>
                <a:sym typeface="Symbol" panose="05050102010706020507" pitchFamily="18" charset="2"/>
              </a:rPr>
              <a:t>,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đơn</a:t>
            </a:r>
            <a:r>
              <a:rPr lang="en-US" dirty="0">
                <a:latin typeface="+mj-lt"/>
                <a:sym typeface="Symbol" panose="05050102010706020507" pitchFamily="18" charset="2"/>
              </a:rPr>
              <a:t> </a:t>
            </a:r>
            <a:r>
              <a:rPr lang="en-US" dirty="0" err="1">
                <a:latin typeface="+mj-lt"/>
                <a:sym typeface="Symbol" panose="05050102010706020507" pitchFamily="18" charset="2"/>
              </a:rPr>
              <a:t>vị</a:t>
            </a:r>
            <a:r>
              <a:rPr lang="en-US" dirty="0">
                <a:latin typeface="+mj-lt"/>
                <a:sym typeface="Symbol" panose="05050102010706020507" pitchFamily="18" charset="2"/>
              </a:rPr>
              <a:t> rad/s</a:t>
            </a:r>
          </a:p>
          <a:p>
            <a:r>
              <a:rPr lang="en-US" dirty="0">
                <a:sym typeface="Symbol" panose="05050102010706020507" pitchFamily="18" charset="2"/>
              </a:rPr>
              <a:t>t + : </a:t>
            </a:r>
            <a:r>
              <a:rPr lang="en-US" dirty="0" err="1">
                <a:sym typeface="Symbol" panose="05050102010706020507" pitchFamily="18" charset="2"/>
              </a:rPr>
              <a:t>góc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pha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tại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thời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điểm</a:t>
            </a:r>
            <a:r>
              <a:rPr lang="en-US" dirty="0">
                <a:sym typeface="Symbol" panose="05050102010706020507" pitchFamily="18" charset="2"/>
              </a:rPr>
              <a:t> t, </a:t>
            </a:r>
            <a:r>
              <a:rPr lang="en-US" dirty="0" err="1">
                <a:sym typeface="Symbol" panose="05050102010706020507" pitchFamily="18" charset="2"/>
              </a:rPr>
              <a:t>đơn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vị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là</a:t>
            </a:r>
            <a:r>
              <a:rPr lang="en-US" dirty="0">
                <a:sym typeface="Symbol" panose="05050102010706020507" pitchFamily="18" charset="2"/>
              </a:rPr>
              <a:t> radian </a:t>
            </a:r>
            <a:r>
              <a:rPr lang="en-US" dirty="0" err="1">
                <a:sym typeface="Symbol" panose="05050102010706020507" pitchFamily="18" charset="2"/>
              </a:rPr>
              <a:t>hoặc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độ</a:t>
            </a: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: </a:t>
            </a:r>
            <a:r>
              <a:rPr lang="en-US" dirty="0" err="1">
                <a:sym typeface="Symbol" panose="05050102010706020507" pitchFamily="18" charset="2"/>
              </a:rPr>
              <a:t>góc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pha</a:t>
            </a:r>
            <a:r>
              <a:rPr lang="en-US" dirty="0">
                <a:sym typeface="Symbol" panose="05050102010706020507" pitchFamily="18" charset="2"/>
              </a:rPr>
              <a:t> ban </a:t>
            </a:r>
            <a:r>
              <a:rPr lang="en-US" dirty="0" err="1">
                <a:sym typeface="Symbol" panose="05050102010706020507" pitchFamily="18" charset="2"/>
              </a:rPr>
              <a:t>đầu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 err="1">
                <a:sym typeface="Symbol" panose="05050102010706020507" pitchFamily="18" charset="2"/>
              </a:rPr>
              <a:t>đơn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vị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đo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là</a:t>
            </a:r>
            <a:r>
              <a:rPr lang="en-US" dirty="0">
                <a:sym typeface="Symbol" panose="05050102010706020507" pitchFamily="18" charset="2"/>
              </a:rPr>
              <a:t> radian </a:t>
            </a:r>
            <a:r>
              <a:rPr lang="en-US" dirty="0" err="1">
                <a:sym typeface="Symbol" panose="05050102010706020507" pitchFamily="18" charset="2"/>
              </a:rPr>
              <a:t>hoặc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độ</a:t>
            </a:r>
            <a:r>
              <a:rPr lang="en-US" dirty="0">
                <a:sym typeface="Symbol" panose="05050102010706020507" pitchFamily="18" charset="2"/>
              </a:rPr>
              <a:t> </a:t>
            </a:r>
          </a:p>
          <a:p>
            <a:r>
              <a:rPr lang="en-US" dirty="0">
                <a:sym typeface="Symbol" panose="05050102010706020507" pitchFamily="18" charset="2"/>
              </a:rPr>
              <a:t>-180 &lt;  &lt;180 </a:t>
            </a:r>
            <a:r>
              <a:rPr lang="en-US" dirty="0" err="1">
                <a:sym typeface="Symbol" panose="05050102010706020507" pitchFamily="18" charset="2"/>
              </a:rPr>
              <a:t>hoặc</a:t>
            </a:r>
            <a:r>
              <a:rPr lang="en-US" dirty="0">
                <a:sym typeface="Symbol" panose="05050102010706020507" pitchFamily="18" charset="2"/>
              </a:rPr>
              <a:t> 0 &lt;  &lt; 360</a:t>
            </a:r>
            <a:endParaRPr lang="en-US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9</a:t>
            </a:fld>
            <a:endParaRPr lang="en-US"/>
          </a:p>
        </p:txBody>
      </p:sp>
      <p:pic>
        <p:nvPicPr>
          <p:cNvPr id="1026" name="Picture 2" descr="Image result for cos sig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606" y="2743200"/>
            <a:ext cx="3558194" cy="1558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631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Quá</a:t>
            </a:r>
            <a:r>
              <a:rPr lang="en-US" dirty="0"/>
              <a:t> trình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hòa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7886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Ngoài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ra</a:t>
            </a:r>
            <a:r>
              <a:rPr lang="en-US" b="1" dirty="0">
                <a:latin typeface="+mj-lt"/>
              </a:rPr>
              <a:t>, </a:t>
            </a:r>
            <a:r>
              <a:rPr lang="en-US" b="1" dirty="0" err="1">
                <a:latin typeface="+mj-lt"/>
              </a:rPr>
              <a:t>đại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lượng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điều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hòa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cũng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có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thể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dùng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hàm</a:t>
            </a:r>
            <a:r>
              <a:rPr lang="en-US" b="1" dirty="0">
                <a:latin typeface="+mj-lt"/>
              </a:rPr>
              <a:t> sin:</a:t>
            </a:r>
          </a:p>
          <a:p>
            <a:pPr marL="0" indent="0" algn="ctr">
              <a:buNone/>
            </a:pPr>
            <a:r>
              <a:rPr lang="en-US" b="1" dirty="0">
                <a:latin typeface="+mj-lt"/>
              </a:rPr>
              <a:t>f(t) = </a:t>
            </a:r>
            <a:r>
              <a:rPr lang="en-US" b="1" dirty="0" err="1">
                <a:latin typeface="+mj-lt"/>
              </a:rPr>
              <a:t>F</a:t>
            </a:r>
            <a:r>
              <a:rPr lang="en-US" b="1" baseline="-25000" dirty="0" err="1">
                <a:latin typeface="+mj-lt"/>
              </a:rPr>
              <a:t>m</a:t>
            </a:r>
            <a:r>
              <a:rPr lang="en-US" b="1" dirty="0">
                <a:latin typeface="+mj-lt"/>
              </a:rPr>
              <a:t> sin(</a:t>
            </a:r>
            <a:r>
              <a:rPr lang="en-US" b="1" dirty="0">
                <a:latin typeface="+mj-lt"/>
                <a:sym typeface="Symbol" panose="05050102010706020507" pitchFamily="18" charset="2"/>
              </a:rPr>
              <a:t>t + )</a:t>
            </a:r>
            <a:endParaRPr lang="en-US" b="1" baseline="-25000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10</a:t>
            </a:fld>
            <a:endParaRPr lang="en-US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63608"/>
            <a:ext cx="6904285" cy="3660991"/>
          </a:xfrm>
          <a:prstGeom prst="rect">
            <a:avLst/>
          </a:prstGeom>
        </p:spPr>
      </p:pic>
      <p:pic>
        <p:nvPicPr>
          <p:cNvPr id="9" name="Picture 2" descr="Image result for cos sign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806" y="2935554"/>
            <a:ext cx="3558194" cy="1558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161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788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err="1">
                <a:latin typeface="+mj-lt"/>
              </a:rPr>
              <a:t>Tính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góc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lệch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pha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giữa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hai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điện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áp</a:t>
            </a:r>
            <a:r>
              <a:rPr lang="en-US" b="1" dirty="0">
                <a:latin typeface="+mj-lt"/>
              </a:rPr>
              <a:t>:</a:t>
            </a:r>
          </a:p>
          <a:p>
            <a:pPr marL="0" indent="0" algn="ctr">
              <a:buNone/>
            </a:pPr>
            <a:r>
              <a:rPr lang="en-US" b="1" dirty="0">
                <a:latin typeface="+mj-lt"/>
              </a:rPr>
              <a:t>u</a:t>
            </a:r>
            <a:r>
              <a:rPr lang="en-US" b="1" baseline="-25000" dirty="0">
                <a:latin typeface="+mj-lt"/>
              </a:rPr>
              <a:t>1</a:t>
            </a:r>
            <a:r>
              <a:rPr lang="en-US" b="1" dirty="0">
                <a:latin typeface="+mj-lt"/>
              </a:rPr>
              <a:t>(t) = 4cos(2t+ 300)  </a:t>
            </a:r>
            <a:r>
              <a:rPr lang="en-US" b="1" dirty="0" err="1">
                <a:latin typeface="+mj-lt"/>
              </a:rPr>
              <a:t>và</a:t>
            </a:r>
            <a:r>
              <a:rPr lang="en-US" b="1" dirty="0">
                <a:latin typeface="+mj-lt"/>
              </a:rPr>
              <a:t> u</a:t>
            </a:r>
            <a:r>
              <a:rPr lang="en-US" b="1" baseline="-25000" dirty="0">
                <a:latin typeface="+mj-lt"/>
              </a:rPr>
              <a:t>2</a:t>
            </a:r>
            <a:r>
              <a:rPr lang="en-US" b="1" dirty="0">
                <a:latin typeface="+mj-lt"/>
              </a:rPr>
              <a:t>(t) = –2sin(2t+ 180) 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41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điện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12</a:t>
            </a:fld>
            <a:endParaRPr lang="en-US"/>
          </a:p>
        </p:txBody>
      </p:sp>
      <p:pic>
        <p:nvPicPr>
          <p:cNvPr id="10" name="Espace réservé du contenu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905000"/>
            <a:ext cx="5810602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905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phức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13</a:t>
            </a:fld>
            <a:endParaRPr lang="en-US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2057116"/>
            <a:ext cx="7543800" cy="360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1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phức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 </a:t>
                </a:r>
                <a:r>
                  <a:rPr lang="en-US" b="1" dirty="0" err="1"/>
                  <a:t>Phức</a:t>
                </a:r>
                <a:r>
                  <a:rPr lang="en-US" b="1" dirty="0"/>
                  <a:t> </a:t>
                </a:r>
                <a:r>
                  <a:rPr lang="en-US" b="1" dirty="0" err="1"/>
                  <a:t>hóa</a:t>
                </a:r>
                <a:r>
                  <a:rPr lang="en-US" b="1" dirty="0"/>
                  <a:t> </a:t>
                </a:r>
                <a:r>
                  <a:rPr lang="en-US" b="1" dirty="0" err="1"/>
                  <a:t>phần</a:t>
                </a:r>
                <a:r>
                  <a:rPr lang="en-US" b="1" dirty="0"/>
                  <a:t> </a:t>
                </a:r>
                <a:r>
                  <a:rPr lang="en-US" b="1" dirty="0" err="1"/>
                  <a:t>tử</a:t>
                </a:r>
                <a:r>
                  <a:rPr lang="en-US" b="1" dirty="0"/>
                  <a:t> </a:t>
                </a:r>
                <a:r>
                  <a:rPr lang="en-US" b="1" dirty="0" err="1"/>
                  <a:t>mạch</a:t>
                </a:r>
                <a:r>
                  <a:rPr lang="en-US" b="1" dirty="0"/>
                  <a:t>:</a:t>
                </a: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b="1" dirty="0" err="1"/>
                  <a:t>Phần</a:t>
                </a:r>
                <a:r>
                  <a:rPr lang="en-US" b="1" dirty="0"/>
                  <a:t> </a:t>
                </a:r>
                <a:r>
                  <a:rPr lang="en-US" b="1" dirty="0" err="1"/>
                  <a:t>tử</a:t>
                </a:r>
                <a:r>
                  <a:rPr lang="en-US" b="1" dirty="0"/>
                  <a:t> </a:t>
                </a:r>
                <a:r>
                  <a:rPr lang="en-US" b="1" dirty="0" err="1"/>
                  <a:t>điện</a:t>
                </a:r>
                <a:r>
                  <a:rPr lang="en-US" b="1" dirty="0"/>
                  <a:t> </a:t>
                </a:r>
                <a:r>
                  <a:rPr lang="en-US" b="1" dirty="0" err="1"/>
                  <a:t>trợ</a:t>
                </a:r>
                <a:r>
                  <a:rPr lang="en-US" b="1" dirty="0"/>
                  <a:t>: R </a:t>
                </a:r>
                <a:r>
                  <a:rPr lang="en-US" b="1" dirty="0">
                    <a:sym typeface="Symbol" panose="05050102010706020507" pitchFamily="18" charset="2"/>
                  </a:rPr>
                  <a:t> R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b="1" dirty="0">
                  <a:sym typeface="Symbol" panose="05050102010706020507" pitchFamily="18" charset="2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b="1" dirty="0" err="1">
                    <a:sym typeface="Symbol" panose="05050102010706020507" pitchFamily="18" charset="2"/>
                  </a:rPr>
                  <a:t>Phần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tử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điện</a:t>
                </a:r>
                <a:r>
                  <a:rPr lang="en-US" b="1" dirty="0">
                    <a:sym typeface="Symbol" panose="05050102010706020507" pitchFamily="18" charset="2"/>
                  </a:rPr>
                  <a:t> dung: L  </a:t>
                </a:r>
                <a:r>
                  <a:rPr lang="en-US" b="1" dirty="0" err="1">
                    <a:sym typeface="Symbol" panose="05050102010706020507" pitchFamily="18" charset="2"/>
                  </a:rPr>
                  <a:t>jL</a:t>
                </a:r>
                <a:endParaRPr lang="en-US" b="1" dirty="0">
                  <a:sym typeface="Symbol" panose="05050102010706020507" pitchFamily="18" charset="2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b="1" dirty="0">
                  <a:sym typeface="Symbol" panose="05050102010706020507" pitchFamily="18" charset="2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b="1" dirty="0" err="1">
                    <a:sym typeface="Symbol" panose="05050102010706020507" pitchFamily="18" charset="2"/>
                  </a:rPr>
                  <a:t>Phần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tử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điện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cảm</a:t>
                </a:r>
                <a:r>
                  <a:rPr lang="en-US" b="1" dirty="0">
                    <a:sym typeface="Symbol" panose="05050102010706020507" pitchFamily="18" charset="2"/>
                  </a:rPr>
                  <a:t>: C 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2400" b="1" i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𝟏</m:t>
                        </m:r>
                      </m:num>
                      <m:den>
                        <m:r>
                          <a:rPr lang="en-US" sz="2400" b="1" i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𝐣</m:t>
                        </m:r>
                        <m:r>
                          <m:rPr>
                            <m:nor/>
                          </m:rPr>
                          <a:rPr lang="en-US" sz="2400" b="1" dirty="0">
                            <a:sym typeface="Symbol" panose="05050102010706020507" pitchFamily="18" charset="2"/>
                          </a:rPr>
                          <m:t></m:t>
                        </m:r>
                        <m:r>
                          <m:rPr>
                            <m:nor/>
                          </m:rPr>
                          <a:rPr lang="en-US" sz="2400" b="1" dirty="0" smtClean="0">
                            <a:sym typeface="Symbol" panose="05050102010706020507" pitchFamily="18" charset="2"/>
                          </a:rPr>
                          <m:t>C</m:t>
                        </m:r>
                      </m:den>
                    </m:f>
                    <m:r>
                      <a:rPr lang="en-US" sz="2400" b="1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−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𝐣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1" dirty="0">
                            <a:sym typeface="Symbol" panose="05050102010706020507" pitchFamily="18" charset="2"/>
                          </a:rPr>
                          <m:t></m:t>
                        </m:r>
                        <m:r>
                          <m:rPr>
                            <m:nor/>
                          </m:rPr>
                          <a:rPr lang="en-US" sz="2400" b="1" dirty="0">
                            <a:sym typeface="Symbol" panose="05050102010706020507" pitchFamily="18" charset="2"/>
                          </a:rPr>
                          <m:t>C</m:t>
                        </m:r>
                      </m:den>
                    </m:f>
                  </m:oMath>
                </a14:m>
                <a:endParaRPr lang="en-US" b="1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939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2771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luật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phức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15</a:t>
            </a:fld>
            <a:endParaRPr lang="en-US"/>
          </a:p>
        </p:txBody>
      </p:sp>
      <p:pic>
        <p:nvPicPr>
          <p:cNvPr id="12" name="Espace réservé du contenu 1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6159" y="1752600"/>
            <a:ext cx="5527858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96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hòa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phức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16</a:t>
            </a:fld>
            <a:endParaRPr lang="en-US"/>
          </a:p>
        </p:txBody>
      </p:sp>
      <p:pic>
        <p:nvPicPr>
          <p:cNvPr id="10" name="Espace réservé du contenu 9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31513" y="1946321"/>
            <a:ext cx="2483353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46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17</a:t>
            </a:fld>
            <a:endParaRPr lang="en-US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74712" y="2909888"/>
            <a:ext cx="7439025" cy="189547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876915" y="2010574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(t)</a:t>
            </a:r>
          </a:p>
        </p:txBody>
      </p:sp>
    </p:spTree>
    <p:extLst>
      <p:ext uri="{BB962C8B-B14F-4D97-AF65-F5344CB8AC3E}">
        <p14:creationId xmlns:p14="http://schemas.microsoft.com/office/powerpoint/2010/main" val="2432779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hòa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Cho </a:t>
                </a:r>
                <a:r>
                  <a:rPr lang="en-US" b="1" dirty="0" err="1"/>
                  <a:t>i</a:t>
                </a:r>
                <a:r>
                  <a:rPr lang="en-US" b="1" dirty="0"/>
                  <a:t>(t) = </a:t>
                </a:r>
                <a:r>
                  <a:rPr lang="en-US" b="1" dirty="0" err="1"/>
                  <a:t>I</a:t>
                </a:r>
                <a:r>
                  <a:rPr lang="en-US" b="1" baseline="-25000" dirty="0" err="1"/>
                  <a:t>m</a:t>
                </a:r>
                <a:r>
                  <a:rPr lang="en-US" b="1" dirty="0" err="1"/>
                  <a:t>cos</a:t>
                </a:r>
                <a:r>
                  <a:rPr lang="en-US" b="1" dirty="0"/>
                  <a:t>(</a:t>
                </a:r>
                <a:r>
                  <a:rPr lang="en-US" b="1" dirty="0">
                    <a:sym typeface="Symbol" panose="05050102010706020507" pitchFamily="18" charset="2"/>
                  </a:rPr>
                  <a:t>t+</a:t>
                </a:r>
                <a:r>
                  <a:rPr lang="en-US" b="1" baseline="-25000" dirty="0" err="1">
                    <a:sym typeface="Symbol" panose="05050102010706020507" pitchFamily="18" charset="2"/>
                  </a:rPr>
                  <a:t>i</a:t>
                </a:r>
                <a:r>
                  <a:rPr lang="en-US" b="1" dirty="0">
                    <a:sym typeface="Symbol" panose="05050102010706020507" pitchFamily="18" charset="2"/>
                  </a:rPr>
                  <a:t>)</a:t>
                </a:r>
                <a:r>
                  <a:rPr lang="en-US" b="1" dirty="0"/>
                  <a:t> </a:t>
                </a:r>
                <a:r>
                  <a:rPr lang="en-US" b="1" dirty="0" err="1"/>
                  <a:t>và</a:t>
                </a:r>
                <a:r>
                  <a:rPr lang="en-US" b="1" dirty="0"/>
                  <a:t> u(t) = </a:t>
                </a:r>
                <a:r>
                  <a:rPr lang="en-US" b="1" dirty="0" err="1"/>
                  <a:t>U</a:t>
                </a:r>
                <a:r>
                  <a:rPr lang="en-US" b="1" baseline="-25000" dirty="0" err="1"/>
                  <a:t>m</a:t>
                </a:r>
                <a:r>
                  <a:rPr lang="en-US" b="1" dirty="0" err="1"/>
                  <a:t>cos</a:t>
                </a:r>
                <a:r>
                  <a:rPr lang="en-US" b="1" dirty="0"/>
                  <a:t>(</a:t>
                </a:r>
                <a:r>
                  <a:rPr lang="en-US" b="1" dirty="0">
                    <a:sym typeface="Symbol" panose="05050102010706020507" pitchFamily="18" charset="2"/>
                  </a:rPr>
                  <a:t>t+</a:t>
                </a:r>
                <a:r>
                  <a:rPr lang="en-US" b="1" baseline="-25000" dirty="0">
                    <a:sym typeface="Symbol" panose="05050102010706020507" pitchFamily="18" charset="2"/>
                  </a:rPr>
                  <a:t>u</a:t>
                </a:r>
                <a:r>
                  <a:rPr lang="en-US" b="1" dirty="0">
                    <a:sym typeface="Symbol" panose="05050102010706020507" pitchFamily="18" charset="2"/>
                  </a:rPr>
                  <a:t>)</a:t>
                </a:r>
                <a:endParaRPr lang="en-US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 </a:t>
                </a:r>
                <a:r>
                  <a:rPr lang="en-US" b="1" dirty="0" err="1"/>
                  <a:t>Công</a:t>
                </a:r>
                <a:r>
                  <a:rPr lang="en-US" b="1" dirty="0"/>
                  <a:t> </a:t>
                </a:r>
                <a:r>
                  <a:rPr lang="en-US" b="1" dirty="0" err="1"/>
                  <a:t>suất</a:t>
                </a:r>
                <a:r>
                  <a:rPr lang="en-US" b="1" dirty="0"/>
                  <a:t> </a:t>
                </a:r>
                <a:r>
                  <a:rPr lang="en-US" b="1" dirty="0" err="1"/>
                  <a:t>tức</a:t>
                </a:r>
                <a:r>
                  <a:rPr lang="en-US" b="1" dirty="0"/>
                  <a:t> </a:t>
                </a:r>
                <a:r>
                  <a:rPr lang="en-US" b="1" dirty="0" err="1"/>
                  <a:t>thời</a:t>
                </a:r>
                <a:r>
                  <a:rPr lang="en-US" b="1" dirty="0"/>
                  <a:t>: 	p(t) = u(t).</a:t>
                </a:r>
                <a:r>
                  <a:rPr lang="en-US" b="1" dirty="0" err="1"/>
                  <a:t>i</a:t>
                </a:r>
                <a:r>
                  <a:rPr lang="en-US" b="1" dirty="0"/>
                  <a:t>(t)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Công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suất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tác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dụng</a:t>
                </a:r>
                <a:r>
                  <a:rPr lang="en-US" b="1" dirty="0">
                    <a:sym typeface="Symbol" panose="05050102010706020507" pitchFamily="18" charset="2"/>
                  </a:rPr>
                  <a:t>: 	P = </a:t>
                </a:r>
                <a:r>
                  <a:rPr lang="en-US" b="1" dirty="0" err="1">
                    <a:sym typeface="Symbol" panose="05050102010706020507" pitchFamily="18" charset="2"/>
                  </a:rPr>
                  <a:t>U.I.cos</a:t>
                </a:r>
                <a:r>
                  <a:rPr lang="en-US" b="1" dirty="0">
                    <a:sym typeface="Symbol" panose="05050102010706020507" pitchFamily="18" charset="2"/>
                  </a:rPr>
                  <a:t> (W)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Công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suất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phản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kháng</a:t>
                </a:r>
                <a:r>
                  <a:rPr lang="en-US" b="1" dirty="0">
                    <a:sym typeface="Symbol" panose="05050102010706020507" pitchFamily="18" charset="2"/>
                  </a:rPr>
                  <a:t>: Q = </a:t>
                </a:r>
                <a:r>
                  <a:rPr lang="en-US" b="1" dirty="0" err="1">
                    <a:sym typeface="Symbol" panose="05050102010706020507" pitchFamily="18" charset="2"/>
                  </a:rPr>
                  <a:t>U.I.sin</a:t>
                </a:r>
                <a:r>
                  <a:rPr lang="en-US" b="1" dirty="0">
                    <a:sym typeface="Symbol" panose="05050102010706020507" pitchFamily="18" charset="2"/>
                  </a:rPr>
                  <a:t> (VAR)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Công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suất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biểu</a:t>
                </a:r>
                <a:r>
                  <a:rPr lang="en-US" b="1" dirty="0">
                    <a:sym typeface="Symbol" panose="05050102010706020507" pitchFamily="18" charset="2"/>
                  </a:rPr>
                  <a:t> </a:t>
                </a:r>
                <a:r>
                  <a:rPr lang="en-US" b="1" dirty="0" err="1">
                    <a:sym typeface="Symbol" panose="05050102010706020507" pitchFamily="18" charset="2"/>
                  </a:rPr>
                  <a:t>kiên</a:t>
                </a:r>
                <a:r>
                  <a:rPr lang="en-US" b="1" dirty="0">
                    <a:sym typeface="Symbol" panose="05050102010706020507" pitchFamily="18" charset="2"/>
                  </a:rPr>
                  <a:t>: 	S = U.I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𝑷</m:t>
                        </m:r>
                        <m:r>
                          <a:rPr lang="en-US" b="1" i="1" baseline="3000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𝟐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𝑸</m:t>
                        </m:r>
                        <m:r>
                          <a:rPr lang="en-US" b="1" i="1" baseline="3000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b="1" dirty="0">
                    <a:sym typeface="Symbol" panose="05050102010706020507" pitchFamily="18" charset="2"/>
                  </a:rPr>
                  <a:t> (VA)</a:t>
                </a:r>
              </a:p>
              <a:p>
                <a:pPr marL="0" indent="0">
                  <a:buNone/>
                </a:pPr>
                <a:r>
                  <a:rPr lang="en-US" dirty="0" err="1">
                    <a:sym typeface="Symbol" panose="05050102010706020507" pitchFamily="18" charset="2"/>
                  </a:rPr>
                  <a:t>Với</a:t>
                </a:r>
                <a:r>
                  <a:rPr lang="en-US" dirty="0">
                    <a:sym typeface="Symbol" panose="05050102010706020507" pitchFamily="18" charset="2"/>
                  </a:rPr>
                  <a:t>	Um, </a:t>
                </a:r>
                <a:r>
                  <a:rPr lang="en-US" dirty="0" err="1">
                    <a:sym typeface="Symbol" panose="05050102010706020507" pitchFamily="18" charset="2"/>
                  </a:rPr>
                  <a:t>Im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là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hiệu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điện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thế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và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cường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độ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dòng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điện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cực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đại</a:t>
                </a:r>
                <a:endParaRPr lang="en-US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Symbol" panose="05050102010706020507" pitchFamily="18" charset="2"/>
                  </a:rPr>
                  <a:t>	U, I </a:t>
                </a:r>
                <a:r>
                  <a:rPr lang="en-US" dirty="0" err="1">
                    <a:sym typeface="Symbol" panose="05050102010706020507" pitchFamily="18" charset="2"/>
                  </a:rPr>
                  <a:t>là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hiệu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điện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thế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thế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và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cường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độ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dòng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điện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hiệu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dụng</a:t>
                </a:r>
                <a:endParaRPr lang="en-US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Symbol" panose="05050102010706020507" pitchFamily="18" charset="2"/>
                  </a:rPr>
                  <a:t>	 = </a:t>
                </a:r>
                <a:r>
                  <a:rPr lang="en-US" baseline="-25000" dirty="0">
                    <a:sym typeface="Symbol" panose="05050102010706020507" pitchFamily="18" charset="2"/>
                  </a:rPr>
                  <a:t>u</a:t>
                </a:r>
                <a:r>
                  <a:rPr lang="en-US" dirty="0">
                    <a:sym typeface="Symbol" panose="05050102010706020507" pitchFamily="18" charset="2"/>
                  </a:rPr>
                  <a:t> - </a:t>
                </a:r>
                <a:r>
                  <a:rPr lang="en-US" baseline="-25000" dirty="0" err="1">
                    <a:sym typeface="Symbol" panose="05050102010706020507" pitchFamily="18" charset="2"/>
                  </a:rPr>
                  <a:t>i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gọi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là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độ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lệch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pha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giữa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hiệu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điên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thế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và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cường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độ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dòng</a:t>
                </a:r>
                <a:r>
                  <a:rPr lang="en-US" dirty="0">
                    <a:sym typeface="Symbol" panose="05050102010706020507" pitchFamily="18" charset="2"/>
                  </a:rPr>
                  <a:t> </a:t>
                </a:r>
                <a:r>
                  <a:rPr lang="en-US" dirty="0" err="1">
                    <a:sym typeface="Symbol" panose="05050102010706020507" pitchFamily="18" charset="2"/>
                  </a:rPr>
                  <a:t>điện</a:t>
                </a:r>
                <a:endParaRPr lang="en-US" baseline="-250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2019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961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19</a:t>
            </a:fld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Thực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r>
              <a:rPr lang="en-US" dirty="0"/>
              <a:t>a. (23.5 +j8.55) / (4.53 – j2.11)		e. 6.88</a:t>
            </a:r>
            <a:r>
              <a:rPr lang="en-US" dirty="0">
                <a:sym typeface="Symbol" panose="05050102010706020507" pitchFamily="18" charset="2"/>
              </a:rPr>
              <a:t></a:t>
            </a:r>
            <a:r>
              <a:rPr lang="en-US" dirty="0"/>
              <a:t>12</a:t>
            </a:r>
            <a:r>
              <a:rPr lang="en-US" baseline="30000" dirty="0"/>
              <a:t>0</a:t>
            </a:r>
            <a:r>
              <a:rPr lang="en-US" dirty="0"/>
              <a:t> /(2 + j1) </a:t>
            </a:r>
          </a:p>
          <a:p>
            <a:r>
              <a:rPr lang="en-US" dirty="0"/>
              <a:t>b.(21.2 –j21.2) / (3.54 – j3.54) 		f. (5 +j5) / 5</a:t>
            </a:r>
            <a:r>
              <a:rPr lang="en-US" dirty="0">
                <a:sym typeface="Symbol" panose="05050102010706020507" pitchFamily="18" charset="2"/>
              </a:rPr>
              <a:t></a:t>
            </a:r>
            <a:r>
              <a:rPr lang="en-US" dirty="0"/>
              <a:t>80</a:t>
            </a:r>
            <a:r>
              <a:rPr lang="en-US" baseline="30000" dirty="0"/>
              <a:t>0</a:t>
            </a:r>
            <a:r>
              <a:rPr lang="en-US" dirty="0"/>
              <a:t> 	</a:t>
            </a:r>
          </a:p>
          <a:p>
            <a:r>
              <a:rPr lang="en-US" dirty="0"/>
              <a:t>c.(–7.07+j7.07) / (4.92 + j0.868) 		g. 1 /(6 + j8)	</a:t>
            </a:r>
          </a:p>
          <a:p>
            <a:r>
              <a:rPr lang="en-US" dirty="0"/>
              <a:t>d.(–j45) / (6.36 – j6.36) 			h.(–10 +j20) / (2 – j1)	</a:t>
            </a:r>
          </a:p>
          <a:p>
            <a:pPr marL="0" indent="0">
              <a:buNone/>
            </a:pPr>
            <a:endParaRPr 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49718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20</a:t>
            </a:fld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Thực </a:t>
            </a:r>
            <a:r>
              <a:rPr lang="en-US" dirty="0" err="1">
                <a:sym typeface="Symbol" panose="05050102010706020507" pitchFamily="18" charset="2"/>
              </a:rPr>
              <a:t>hiện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phép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tính</a:t>
            </a:r>
            <a:r>
              <a:rPr lang="en-US" dirty="0">
                <a:sym typeface="Symbol" panose="05050102010706020507" pitchFamily="18" charset="2"/>
              </a:rPr>
              <a:t>   </a:t>
            </a:r>
            <a:r>
              <a:rPr lang="en-US" dirty="0" err="1">
                <a:sym typeface="Symbol" panose="05050102010706020507" pitchFamily="18" charset="2"/>
              </a:rPr>
              <a:t>khi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biết</a:t>
            </a:r>
            <a:endParaRPr 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a. Z1 = 10 +j5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Z2 = 20300     	b. Z1 = 5450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Z2 = 10-700     </a:t>
            </a:r>
          </a:p>
          <a:p>
            <a:pPr marL="0" indent="0">
              <a:buNone/>
            </a:pPr>
            <a:r>
              <a:rPr lang="en-US" dirty="0">
                <a:sym typeface="Symbol" panose="05050102010706020507" pitchFamily="18" charset="2"/>
              </a:rPr>
              <a:t>c. Z1 = 6 –j2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Z2 = 1+j8     	d. Z1 = 20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Z2 = j40</a:t>
            </a:r>
          </a:p>
          <a:p>
            <a:pPr marL="0" indent="0">
              <a:buNone/>
            </a:pPr>
            <a:endParaRPr 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99327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85A6-60DA-4F50-A55F-ECD749DD170F}" type="datetime1">
              <a:rPr lang="en-US" smtClean="0"/>
              <a:t>5/26/2017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7FC3D-B219-406E-AA6C-725DD287FF7D}" type="slidenum">
              <a:rPr lang="en-US" smtClean="0"/>
              <a:t>21</a:t>
            </a:fld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nối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tiếp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gồm</a:t>
            </a:r>
            <a:r>
              <a:rPr lang="en-US" dirty="0">
                <a:sym typeface="Symbol" panose="05050102010706020507" pitchFamily="18" charset="2"/>
              </a:rPr>
              <a:t> R = 20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L = 0.02 H </a:t>
            </a:r>
            <a:r>
              <a:rPr lang="en-US" dirty="0" err="1">
                <a:sym typeface="Symbol" panose="05050102010706020507" pitchFamily="18" charset="2"/>
              </a:rPr>
              <a:t>có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tổng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trở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là</a:t>
            </a:r>
            <a:r>
              <a:rPr lang="en-US" dirty="0">
                <a:sym typeface="Symbol" panose="05050102010706020507" pitchFamily="18" charset="2"/>
              </a:rPr>
              <a:t> Z = 40. </a:t>
            </a:r>
            <a:r>
              <a:rPr lang="en-US" dirty="0" err="1">
                <a:sym typeface="Symbol" panose="05050102010706020507" pitchFamily="18" charset="2"/>
              </a:rPr>
              <a:t>Xác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định</a:t>
            </a:r>
            <a:r>
              <a:rPr lang="en-US" dirty="0">
                <a:sym typeface="Symbol" panose="05050102010706020507" pitchFamily="18" charset="2"/>
              </a:rPr>
              <a:t> 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tần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số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pPr marL="457200" indent="-457200">
              <a:buAutoNum type="arabicPeriod"/>
            </a:pP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nối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tiếp</a:t>
            </a:r>
            <a:r>
              <a:rPr lang="en-US" dirty="0">
                <a:sym typeface="Symbol" panose="05050102010706020507" pitchFamily="18" charset="2"/>
              </a:rPr>
              <a:t> R = 25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L = 0.01 H </a:t>
            </a:r>
            <a:r>
              <a:rPr lang="en-US" dirty="0" err="1">
                <a:sym typeface="Symbol" panose="05050102010706020507" pitchFamily="18" charset="2"/>
              </a:rPr>
              <a:t>làm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việc</a:t>
            </a:r>
            <a:r>
              <a:rPr lang="en-US" dirty="0">
                <a:sym typeface="Symbol" panose="05050102010706020507" pitchFamily="18" charset="2"/>
              </a:rPr>
              <a:t> ở </a:t>
            </a:r>
            <a:r>
              <a:rPr lang="en-US" dirty="0" err="1">
                <a:sym typeface="Symbol" panose="05050102010706020507" pitchFamily="18" charset="2"/>
              </a:rPr>
              <a:t>tần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số</a:t>
            </a:r>
            <a:r>
              <a:rPr lang="en-US" dirty="0">
                <a:sym typeface="Symbol" panose="05050102010706020507" pitchFamily="18" charset="2"/>
              </a:rPr>
              <a:t> f = 100Hz, 500Hz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1000Hz. </a:t>
            </a:r>
            <a:r>
              <a:rPr lang="en-US" dirty="0" err="1">
                <a:sym typeface="Symbol" panose="05050102010706020507" pitchFamily="18" charset="2"/>
              </a:rPr>
              <a:t>Tính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các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tổng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trở</a:t>
            </a:r>
            <a:r>
              <a:rPr lang="en-US" dirty="0">
                <a:sym typeface="Symbol" panose="05050102010706020507" pitchFamily="18" charset="2"/>
              </a:rPr>
              <a:t> Z ở </a:t>
            </a:r>
            <a:r>
              <a:rPr lang="en-US" dirty="0" err="1">
                <a:sym typeface="Symbol" panose="05050102010706020507" pitchFamily="18" charset="2"/>
              </a:rPr>
              <a:t>các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tần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số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đó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pPr marL="457200" indent="-457200">
              <a:buAutoNum type="arabicPeriod"/>
            </a:pP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nối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tiếp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gồm</a:t>
            </a:r>
            <a:r>
              <a:rPr lang="en-US" dirty="0">
                <a:sym typeface="Symbol" panose="05050102010706020507" pitchFamily="18" charset="2"/>
              </a:rPr>
              <a:t> R = 10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C = 40F </a:t>
            </a:r>
            <a:r>
              <a:rPr lang="en-US" dirty="0" err="1">
                <a:sym typeface="Symbol" panose="05050102010706020507" pitchFamily="18" charset="2"/>
              </a:rPr>
              <a:t>chịu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tác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dụng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của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áp</a:t>
            </a:r>
            <a:r>
              <a:rPr lang="en-US" dirty="0">
                <a:sym typeface="Symbol" panose="05050102010706020507" pitchFamily="18" charset="2"/>
              </a:rPr>
              <a:t> u(t) = 500cos(2500t –200). </a:t>
            </a:r>
            <a:r>
              <a:rPr lang="en-US" dirty="0" err="1">
                <a:sym typeface="Symbol" panose="05050102010706020507" pitchFamily="18" charset="2"/>
              </a:rPr>
              <a:t>Tìm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i</a:t>
            </a:r>
            <a:r>
              <a:rPr lang="en-US" dirty="0">
                <a:sym typeface="Symbol" panose="05050102010706020507" pitchFamily="18" charset="2"/>
              </a:rPr>
              <a:t>(t)</a:t>
            </a:r>
          </a:p>
          <a:p>
            <a:pPr marL="457200" indent="-457200">
              <a:buAutoNum type="arabicPeriod"/>
            </a:pP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R = 8</a:t>
            </a:r>
            <a:r>
              <a:rPr lang="en-US" dirty="0">
                <a:sym typeface="Symbol" panose="05050102010706020507" pitchFamily="18" charset="2"/>
              </a:rPr>
              <a:t></a:t>
            </a:r>
            <a:r>
              <a:rPr lang="en-US" dirty="0"/>
              <a:t>  </a:t>
            </a:r>
            <a:r>
              <a:rPr lang="en-US" dirty="0" err="1"/>
              <a:t>và</a:t>
            </a:r>
            <a:r>
              <a:rPr lang="en-US" dirty="0"/>
              <a:t> L = 0.02 H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u(t) = 283sin(300t +90</a:t>
            </a:r>
            <a:r>
              <a:rPr lang="en-US" baseline="30000" dirty="0"/>
              <a:t>0</a:t>
            </a:r>
            <a:r>
              <a:rPr lang="en-US" dirty="0"/>
              <a:t>).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(t)</a:t>
            </a:r>
            <a:endParaRPr lang="en-US" dirty="0">
              <a:sym typeface="Symbol" panose="05050102010706020507" pitchFamily="18" charset="2"/>
            </a:endParaRPr>
          </a:p>
          <a:p>
            <a:pPr marL="457200" indent="-457200">
              <a:buAutoNum type="arabicPeriod"/>
            </a:pPr>
            <a:endParaRPr 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977973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4890</TotalTime>
  <Words>910</Words>
  <Application>Microsoft Office PowerPoint</Application>
  <PresentationFormat>Affichage à l'écran (4:3)</PresentationFormat>
  <Paragraphs>205</Paragraphs>
  <Slides>21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 Math</vt:lpstr>
      <vt:lpstr>Symbol</vt:lpstr>
      <vt:lpstr>Times New Roman</vt:lpstr>
      <vt:lpstr>Wingdings</vt:lpstr>
      <vt:lpstr>Retrospect</vt:lpstr>
      <vt:lpstr>Chương 2</vt:lpstr>
      <vt:lpstr>Mục tiêu</vt:lpstr>
      <vt:lpstr>Số phức</vt:lpstr>
      <vt:lpstr>Số phức</vt:lpstr>
      <vt:lpstr>Số phức</vt:lpstr>
      <vt:lpstr>Số phức</vt:lpstr>
      <vt:lpstr>Số phức</vt:lpstr>
      <vt:lpstr>Số phức</vt:lpstr>
      <vt:lpstr>Quá trình điều hòa</vt:lpstr>
      <vt:lpstr>Quá trình điều hòa</vt:lpstr>
      <vt:lpstr>Ví dụ</vt:lpstr>
      <vt:lpstr>Các đại lượng điện</vt:lpstr>
      <vt:lpstr>Phương pháp ảnh phức</vt:lpstr>
      <vt:lpstr>Phương pháp ảnh phức</vt:lpstr>
      <vt:lpstr>Các định luật dạng phức</vt:lpstr>
      <vt:lpstr>Phương pháp giải mạch xác lập điều hòa dùng số phức</vt:lpstr>
      <vt:lpstr>Ví dụ</vt:lpstr>
      <vt:lpstr>Công suất xác lập điều hòa</vt:lpstr>
      <vt:lpstr>Bài tập</vt:lpstr>
      <vt:lpstr>Bài tập</vt:lpstr>
      <vt:lpstr>Bài tập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</dc:title>
  <dc:creator>user</dc:creator>
  <cp:lastModifiedBy>Le Huy Trinh</cp:lastModifiedBy>
  <cp:revision>64</cp:revision>
  <dcterms:created xsi:type="dcterms:W3CDTF">2012-09-07T14:13:11Z</dcterms:created>
  <dcterms:modified xsi:type="dcterms:W3CDTF">2017-05-26T00:45:21Z</dcterms:modified>
</cp:coreProperties>
</file>