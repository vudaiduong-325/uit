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98" r:id="rId2"/>
    <p:sldId id="257" r:id="rId3"/>
    <p:sldId id="258" r:id="rId4"/>
    <p:sldId id="295" r:id="rId5"/>
    <p:sldId id="260" r:id="rId6"/>
    <p:sldId id="261" r:id="rId7"/>
    <p:sldId id="262" r:id="rId8"/>
    <p:sldId id="263" r:id="rId9"/>
    <p:sldId id="264" r:id="rId10"/>
    <p:sldId id="296" r:id="rId11"/>
    <p:sldId id="266" r:id="rId12"/>
    <p:sldId id="267" r:id="rId13"/>
    <p:sldId id="29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2" r:id="rId36"/>
    <p:sldId id="293" r:id="rId37"/>
    <p:sldId id="294" r:id="rId38"/>
    <p:sldId id="290" r:id="rId39"/>
    <p:sldId id="291" r:id="rId40"/>
  </p:sldIdLst>
  <p:sldSz cx="9144000" cy="6858000" type="screen4x3"/>
  <p:notesSz cx="7315200" cy="9601200"/>
  <p:custDataLst>
    <p:tags r:id="rId4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CC66"/>
    <a:srgbClr val="5CADFF"/>
    <a:srgbClr val="FF99FF"/>
    <a:srgbClr val="FF66FF"/>
    <a:srgbClr val="FFCCFF"/>
    <a:srgbClr val="CC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7" autoAdjust="0"/>
    <p:restoredTop sz="94004" autoAdjust="0"/>
  </p:normalViewPr>
  <p:slideViewPr>
    <p:cSldViewPr>
      <p:cViewPr>
        <p:scale>
          <a:sx n="75" d="100"/>
          <a:sy n="75" d="100"/>
        </p:scale>
        <p:origin x="-1158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508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D7A30B22-F58B-415E-AE7F-023B783DF9FC}" type="datetimeFigureOut">
              <a:rPr lang="vi-VN"/>
              <a:pPr>
                <a:defRPr/>
              </a:pPr>
              <a:t>11/12/2015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92D1E006-7DA7-4401-AD26-55432DCE56FB}" type="slidenum">
              <a:rPr lang="vi-VN"/>
              <a:pPr>
                <a:defRPr/>
              </a:pPr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00874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 smtClean="0">
                <a:cs typeface="+mn-cs"/>
              </a:defRPr>
            </a:lvl1pPr>
          </a:lstStyle>
          <a:p>
            <a:pPr>
              <a:defRPr/>
            </a:pPr>
            <a:fld id="{8A59A21A-B537-4D2E-8889-773FAFC66A62}" type="datetimeFigureOut">
              <a:rPr lang="en-US"/>
              <a:pPr>
                <a:defRPr/>
              </a:pPr>
              <a:t>12/11/2015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 smtClean="0">
                <a:cs typeface="+mn-cs"/>
              </a:defRPr>
            </a:lvl1pPr>
          </a:lstStyle>
          <a:p>
            <a:pPr>
              <a:defRPr/>
            </a:pPr>
            <a:fld id="{EFC1EF3C-3A7E-4B7E-B4ED-FFE6F8AAD6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582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E435928-834C-458B-9DF6-0F0863EA17C7}" type="slidenum">
              <a:rPr lang="en-US"/>
              <a:pPr eaLnBrk="1" hangingPunct="1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D5E09E2-06D3-4950-B6A0-C043D02DCD4C}" type="slidenum">
              <a:rPr lang="en-US"/>
              <a:pPr eaLnBrk="1" hangingPunct="1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EFBD703-6F4C-4F3A-BA6B-47DA24C82AFA}" type="slidenum">
              <a:rPr lang="en-US"/>
              <a:pPr eaLnBrk="1" hangingPunct="1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D222D70-5CC6-48F8-A288-74778A220875}" type="slidenum">
              <a:rPr lang="en-US"/>
              <a:pPr eaLnBrk="1" hangingPunct="1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76E61CC-2D6D-474B-9E98-D128BCF82182}" type="slidenum">
              <a:rPr lang="en-US"/>
              <a:pPr eaLnBrk="1" hangingPunct="1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BCF97D1-0A5A-4668-BB93-91F660DCA797}" type="slidenum">
              <a:rPr lang="en-US"/>
              <a:pPr eaLnBrk="1" hangingPunct="1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CB7529E-7D18-49EC-8EAA-128882620966}" type="slidenum">
              <a:rPr lang="en-US"/>
              <a:pPr eaLnBrk="1" hangingPunct="1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594086-9F2D-4878-BB40-374295BD5BE2}" type="slidenum">
              <a:rPr lang="en-US"/>
              <a:pPr eaLnBrk="1" hangingPunct="1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6359815-089B-4B10-82D6-7733106A9F9C}" type="slidenum">
              <a:rPr lang="en-US"/>
              <a:pPr eaLnBrk="1" hangingPunct="1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82DC1B7-5285-4D1B-856E-57A2044353D4}" type="slidenum">
              <a:rPr lang="en-US"/>
              <a:pPr eaLnBrk="1" hangingPunct="1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3802003-0B5C-4279-AF94-63A9CC768813}" type="slidenum">
              <a:rPr lang="en-US"/>
              <a:pPr eaLnBrk="1" hangingPunct="1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07210D3-DAE0-4700-B00D-534CDC68BC51}" type="slidenum">
              <a:rPr lang="en-US"/>
              <a:pPr eaLnBrk="1" hangingPunct="1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ED6F58E-35AD-469F-9DF6-15239561A467}" type="slidenum">
              <a:rPr lang="en-US"/>
              <a:pPr eaLnBrk="1" hangingPunct="1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B0BD28B-52FB-4E21-B7B2-5F6C5F4E06E9}" type="slidenum">
              <a:rPr lang="en-US"/>
              <a:pPr eaLnBrk="1" hangingPunct="1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0FB3B38-2635-4646-94DD-2EEBF6A713D1}" type="slidenum">
              <a:rPr lang="en-US"/>
              <a:pPr eaLnBrk="1" hangingPunct="1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E45210F-7DA0-485A-BD7A-748EC08C20C4}" type="slidenum">
              <a:rPr lang="en-US"/>
              <a:pPr eaLnBrk="1" hangingPunct="1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0927B88-272E-441A-8C9B-8A0D8CD69005}" type="slidenum">
              <a:rPr lang="en-US"/>
              <a:pPr eaLnBrk="1" hangingPunct="1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F29A532-39DD-4143-9AF8-377BA9FC2A55}" type="slidenum">
              <a:rPr lang="en-US"/>
              <a:pPr eaLnBrk="1" hangingPunct="1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1D5AB66-E182-44C7-9A04-3E1A834AA09B}" type="slidenum">
              <a:rPr lang="en-US"/>
              <a:pPr eaLnBrk="1" hangingPunct="1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F958952-7C2A-4D8B-9C15-15E6994452FD}" type="slidenum">
              <a:rPr lang="en-US"/>
              <a:pPr eaLnBrk="1" hangingPunct="1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3066A03-15A2-47C0-BBCF-B21852A5B46C}" type="slidenum">
              <a:rPr lang="en-US"/>
              <a:pPr eaLnBrk="1" hangingPunct="1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E1ECD55-FC66-439F-AC2A-C1D9BBD0FDE4}" type="slidenum">
              <a:rPr lang="en-US"/>
              <a:pPr eaLnBrk="1" hangingPunct="1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0B140F8-4C55-47B7-854B-C44895C9D2EB}" type="slidenum">
              <a:rPr lang="en-US"/>
              <a:pPr eaLnBrk="1" hangingPunct="1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579D683-4269-4229-A3EF-F20567F1E683}" type="slidenum">
              <a:rPr lang="en-US"/>
              <a:pPr eaLnBrk="1" hangingPunct="1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E9449FA-9F6C-4530-8727-30C8836CE52D}" type="slidenum">
              <a:rPr lang="en-US"/>
              <a:pPr eaLnBrk="1" hangingPunct="1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ED69913-F57C-48A1-A1E9-C42D5413C3B1}" type="slidenum">
              <a:rPr lang="en-US"/>
              <a:pPr eaLnBrk="1" hangingPunct="1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726639E-B8F2-4C1E-B1DE-93F7C7593561}" type="slidenum">
              <a:rPr lang="en-US"/>
              <a:pPr eaLnBrk="1" hangingPunct="1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FB29AF7-B986-4D8E-8ACC-B59D05A22BCE}" type="slidenum">
              <a:rPr lang="en-US"/>
              <a:pPr eaLnBrk="1" hangingPunct="1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8E39D85-D35B-4D98-B9DB-2A2AF8D66572}" type="slidenum">
              <a:rPr lang="en-US"/>
              <a:pPr eaLnBrk="1" hangingPunct="1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D3E91C6-17A2-4CD8-9A80-8B6A50049B69}" type="slidenum">
              <a:rPr lang="en-US"/>
              <a:pPr eaLnBrk="1" hangingPunct="1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2D21D6A-03B3-4246-9749-D556F5D81D23}" type="slidenum">
              <a:rPr lang="en-US"/>
              <a:pPr eaLnBrk="1" hangingPunct="1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777CAE-8968-41E7-817C-4E33FFA774E5}" type="slidenum">
              <a:rPr lang="en-US"/>
              <a:pPr eaLnBrk="1" hangingPunct="1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D78FC2E-854F-4653-BD42-4DE6A4264C75}" type="slidenum">
              <a:rPr lang="en-US"/>
              <a:pPr eaLnBrk="1" hangingPunct="1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0EC57C3-5E56-4C39-8332-F2247C26DE18}" type="slidenum">
              <a:rPr lang="en-US"/>
              <a:pPr eaLnBrk="1" hangingPunct="1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28991D-9C23-45EB-BDDC-9C79217BE052}" type="slidenum">
              <a:rPr lang="en-US"/>
              <a:pPr eaLnBrk="1" hangingPunct="1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67A3944-BF3F-467E-83BA-6F7DBC970D30}" type="slidenum">
              <a:rPr lang="en-US"/>
              <a:pPr eaLnBrk="1" hangingPunct="1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45DC77E-AA3F-4D25-AB06-672307CAA135}" type="slidenum">
              <a:rPr lang="en-US"/>
              <a:pPr eaLnBrk="1" hangingPunct="1"/>
              <a:t>39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gray">
          <a:xfrm>
            <a:off x="8004175" y="0"/>
            <a:ext cx="1139825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4638675"/>
            <a:ext cx="9144000" cy="2219325"/>
          </a:xfrm>
          <a:prstGeom prst="rect">
            <a:avLst/>
          </a:prstGeom>
          <a:solidFill>
            <a:schemeClr val="folHlink">
              <a:alpha val="31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gray">
          <a:xfrm>
            <a:off x="0" y="2149475"/>
            <a:ext cx="9144000" cy="24987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gray">
          <a:xfrm>
            <a:off x="-9525" y="2138363"/>
            <a:ext cx="8015288" cy="22717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049" y="2"/>
              </a:cxn>
              <a:cxn ang="0">
                <a:pos x="5048" y="1458"/>
              </a:cxn>
              <a:cxn ang="0">
                <a:pos x="0" y="1471"/>
              </a:cxn>
              <a:cxn ang="0">
                <a:pos x="0" y="0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3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8" name="AutoShape 21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9" name="AutoShape 22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" name="AutoShape 23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 userDrawn="1"/>
        </p:nvSpPr>
        <p:spPr bwMode="auto">
          <a:xfrm>
            <a:off x="1143000" y="228600"/>
            <a:ext cx="67056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Tr</a:t>
            </a:r>
            <a:r>
              <a:rPr lang="vi-VN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ườ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ng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Đại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học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Khoa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học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Tự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nhiên</a:t>
            </a:r>
            <a:endParaRPr lang="en-US" sz="1600">
              <a:solidFill>
                <a:schemeClr val="tx2"/>
              </a:solidFill>
              <a:latin typeface="Tahoma" pitchFamily="34" charset="0"/>
              <a:cs typeface="Tahoma" pitchFamily="34" charset="0"/>
            </a:endParaRPr>
          </a:p>
          <a:p>
            <a:pPr>
              <a:defRPr/>
            </a:pP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Khoa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nghệ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thông tin</a:t>
            </a:r>
          </a:p>
          <a:p>
            <a:pPr>
              <a:defRPr/>
            </a:pP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Bộ môn Tin học c</a:t>
            </a:r>
            <a:r>
              <a:rPr lang="vi-VN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ơ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s</a:t>
            </a:r>
            <a:r>
              <a:rPr lang="vi-VN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ở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</a:p>
        </p:txBody>
      </p:sp>
      <p:sp>
        <p:nvSpPr>
          <p:cNvPr id="12" name="AutoShape 113" descr="gdd01"/>
          <p:cNvSpPr>
            <a:spLocks noChangeArrowheads="1"/>
          </p:cNvSpPr>
          <p:nvPr userDrawn="1"/>
        </p:nvSpPr>
        <p:spPr bwMode="gray">
          <a:xfrm>
            <a:off x="190500" y="3162300"/>
            <a:ext cx="1752600" cy="1600200"/>
          </a:xfrm>
          <a:prstGeom prst="hexagon">
            <a:avLst>
              <a:gd name="adj" fmla="val 27381"/>
              <a:gd name="vf" fmla="val 115470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endParaRPr lang="ko-KR" altLang="en-US">
              <a:latin typeface="Times New Roman" pitchFamily="18" charset="0"/>
              <a:ea typeface="Gulim" pitchFamily="34" charset="-127"/>
              <a:cs typeface="+mn-cs"/>
            </a:endParaRPr>
          </a:p>
        </p:txBody>
      </p:sp>
      <p:sp>
        <p:nvSpPr>
          <p:cNvPr id="13" name="AutoShape 114" descr="gdd04"/>
          <p:cNvSpPr>
            <a:spLocks noChangeArrowheads="1"/>
          </p:cNvSpPr>
          <p:nvPr userDrawn="1"/>
        </p:nvSpPr>
        <p:spPr bwMode="gray">
          <a:xfrm>
            <a:off x="1638300" y="2324100"/>
            <a:ext cx="1828800" cy="1600200"/>
          </a:xfrm>
          <a:prstGeom prst="hexagon">
            <a:avLst>
              <a:gd name="adj" fmla="val 28571"/>
              <a:gd name="vf" fmla="val 115470"/>
            </a:avLst>
          </a:prstGeom>
          <a:blipFill dpi="0" rotWithShape="1">
            <a:blip r:embed="rId3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endParaRPr lang="ko-KR" altLang="en-US">
              <a:latin typeface="Times New Roman" pitchFamily="18" charset="0"/>
              <a:ea typeface="Gulim" pitchFamily="34" charset="-127"/>
              <a:cs typeface="+mn-cs"/>
            </a:endParaRPr>
          </a:p>
        </p:txBody>
      </p:sp>
      <p:sp>
        <p:nvSpPr>
          <p:cNvPr id="14" name="AutoShape 115" descr="gdd03"/>
          <p:cNvSpPr>
            <a:spLocks noChangeArrowheads="1"/>
          </p:cNvSpPr>
          <p:nvPr userDrawn="1"/>
        </p:nvSpPr>
        <p:spPr bwMode="gray">
          <a:xfrm>
            <a:off x="1600200" y="4038600"/>
            <a:ext cx="1828800" cy="1600200"/>
          </a:xfrm>
          <a:prstGeom prst="hexagon">
            <a:avLst>
              <a:gd name="adj" fmla="val 28571"/>
              <a:gd name="vf" fmla="val 115470"/>
            </a:avLst>
          </a:prstGeom>
          <a:blipFill dpi="0" rotWithShape="1">
            <a:blip r:embed="rId4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endParaRPr lang="ko-KR" altLang="en-US">
              <a:latin typeface="Times New Roman" pitchFamily="18" charset="0"/>
              <a:ea typeface="Gulim" pitchFamily="34" charset="-127"/>
              <a:cs typeface="+mn-cs"/>
            </a:endParaRPr>
          </a:p>
        </p:txBody>
      </p:sp>
      <p:sp>
        <p:nvSpPr>
          <p:cNvPr id="1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5D535A4A-A296-4E4E-A40E-E4A868870730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 userDrawn="1"/>
        </p:nvSpPr>
        <p:spPr bwMode="white">
          <a:xfrm>
            <a:off x="3505200" y="1600200"/>
            <a:ext cx="434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0" indent="0" algn="r">
              <a:buFont typeface="Wingdings" pitchFamily="2" charset="2"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kern="0" smtClean="0">
                <a:solidFill>
                  <a:schemeClr val="tx1"/>
                </a:solidFill>
                <a:latin typeface="+mn-lt"/>
                <a:cs typeface="+mn-cs"/>
              </a:rPr>
              <a:t>Đặng Bình Ph</a:t>
            </a:r>
            <a:r>
              <a:rPr lang="vi-VN" kern="0" smtClean="0">
                <a:solidFill>
                  <a:schemeClr val="tx1"/>
                </a:solidFill>
                <a:latin typeface="+mn-lt"/>
                <a:cs typeface="+mn-cs"/>
              </a:rPr>
              <a:t>ươ</a:t>
            </a:r>
            <a:r>
              <a:rPr lang="en-US" kern="0" smtClean="0">
                <a:solidFill>
                  <a:schemeClr val="tx1"/>
                </a:solidFill>
                <a:latin typeface="+mn-lt"/>
                <a:cs typeface="+mn-cs"/>
              </a:rPr>
              <a:t>ng</a:t>
            </a:r>
          </a:p>
          <a:p>
            <a:pPr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1200" kern="0" smtClean="0">
                <a:solidFill>
                  <a:schemeClr val="tx1"/>
                </a:solidFill>
                <a:latin typeface="+mn-lt"/>
                <a:cs typeface="+mn-cs"/>
              </a:rPr>
              <a:t>dbphuong@fit.hcmuns.edu.vn</a:t>
            </a:r>
            <a:endParaRPr lang="en-US" sz="1200" kern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17" name="Rounded Rectangle 16"/>
          <p:cNvSpPr/>
          <p:nvPr userDrawn="1"/>
        </p:nvSpPr>
        <p:spPr>
          <a:xfrm>
            <a:off x="304800" y="152400"/>
            <a:ext cx="708025" cy="9906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143000" y="1143000"/>
            <a:ext cx="6705600" cy="533400"/>
          </a:xfrm>
        </p:spPr>
        <p:txBody>
          <a:bodyPr/>
          <a:lstStyle>
            <a:lvl1pPr algn="r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3505200" y="2971800"/>
            <a:ext cx="4343400" cy="6858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352800" y="6553200"/>
            <a:ext cx="2133600" cy="152400"/>
          </a:xfrm>
        </p:spPr>
        <p:txBody>
          <a:bodyPr/>
          <a:lstStyle>
            <a:lvl1pPr algn="r"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" y="6477000"/>
            <a:ext cx="2590800" cy="228600"/>
          </a:xfrm>
        </p:spPr>
        <p:txBody>
          <a:bodyPr/>
          <a:lstStyle>
            <a:lvl1pPr algn="ctr">
              <a:defRPr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56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38D40EF1-1729-42A6-8412-09720AC1FEC5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>
            <a:lvl1pPr>
              <a:defRPr b="0"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85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8B7E48D4-8F73-475C-9CDE-749CC2D17D41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E53D4A69-72DD-466C-ACB5-04FF0267271D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76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71D4ABCC-1FD6-431E-ADED-84489124C1A6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9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B158C0AC-5FF6-4518-8B97-D469372E1B98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2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4C6B8A9A-8CE5-46B9-B8F3-F68076C110BC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83299691-E84D-49CA-A448-DBD907FAB01F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8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E5F6ECBC-B499-42A7-B225-B15CD8E7B2CC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2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D0FD4514-E499-4145-9B82-E07A138D151C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95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810B2E2C-0758-4770-87CA-C12D9109D5F8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39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345C14AD-D198-42A0-8B37-DD33B46AA11F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77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EFDEB026-3D90-4B4E-8151-B94089BF6F34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n-US" noProof="0" smtClean="0"/>
              <a:t>Click icon to add chart</a:t>
            </a:r>
            <a:endParaRPr lang="en-US"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63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/>
          <p:cNvSpPr>
            <a:spLocks/>
          </p:cNvSpPr>
          <p:nvPr/>
        </p:nvSpPr>
        <p:spPr bwMode="gray">
          <a:xfrm>
            <a:off x="-9525" y="344488"/>
            <a:ext cx="8194675" cy="6334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049" y="2"/>
              </a:cxn>
              <a:cxn ang="0">
                <a:pos x="5048" y="1458"/>
              </a:cxn>
              <a:cxn ang="0">
                <a:pos x="0" y="1471"/>
              </a:cxn>
              <a:cxn ang="0">
                <a:pos x="0" y="0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1027" name="Group 16"/>
          <p:cNvGrpSpPr>
            <a:grpSpLocks/>
          </p:cNvGrpSpPr>
          <p:nvPr/>
        </p:nvGrpSpPr>
        <p:grpSpPr bwMode="auto"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1041" name="Rectangle 17"/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42" name="Rectangle 18"/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043" name="AutoShape 19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44" name="AutoShape 20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45" name="AutoShape 21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19863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81600" y="6477000"/>
            <a:ext cx="2895600" cy="23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7" name="AutoShape 23"/>
          <p:cNvSpPr>
            <a:spLocks noChangeArrowheads="1"/>
          </p:cNvSpPr>
          <p:nvPr userDrawn="1"/>
        </p:nvSpPr>
        <p:spPr bwMode="gray">
          <a:xfrm>
            <a:off x="169863" y="436563"/>
            <a:ext cx="473075" cy="419100"/>
          </a:xfrm>
          <a:prstGeom prst="hexagon">
            <a:avLst>
              <a:gd name="adj" fmla="val 30000"/>
              <a:gd name="vf" fmla="val 115470"/>
            </a:avLst>
          </a:prstGeom>
          <a:solidFill>
            <a:schemeClr val="tx1">
              <a:lumMod val="40000"/>
              <a:lumOff val="60000"/>
            </a:schemeClr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VC</a:t>
            </a:r>
          </a:p>
        </p:txBody>
      </p:sp>
      <p:sp>
        <p:nvSpPr>
          <p:cNvPr id="1048" name="AutoShape 24"/>
          <p:cNvSpPr>
            <a:spLocks noChangeArrowheads="1"/>
          </p:cNvSpPr>
          <p:nvPr userDrawn="1"/>
        </p:nvSpPr>
        <p:spPr bwMode="gray">
          <a:xfrm>
            <a:off x="517525" y="228600"/>
            <a:ext cx="473075" cy="419100"/>
          </a:xfrm>
          <a:prstGeom prst="hexagon">
            <a:avLst>
              <a:gd name="adj" fmla="val 30000"/>
              <a:gd name="vf" fmla="val 115470"/>
            </a:avLst>
          </a:prstGeom>
          <a:solidFill>
            <a:srgbClr val="FFC000"/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cs typeface="+mn-cs"/>
              </a:rPr>
              <a:t>&amp;</a:t>
            </a:r>
          </a:p>
        </p:txBody>
      </p:sp>
      <p:sp>
        <p:nvSpPr>
          <p:cNvPr id="1049" name="AutoShape 25"/>
          <p:cNvSpPr>
            <a:spLocks noChangeArrowheads="1"/>
          </p:cNvSpPr>
          <p:nvPr userDrawn="1"/>
        </p:nvSpPr>
        <p:spPr bwMode="gray">
          <a:xfrm>
            <a:off x="517525" y="647700"/>
            <a:ext cx="473075" cy="419100"/>
          </a:xfrm>
          <a:prstGeom prst="hexagon">
            <a:avLst>
              <a:gd name="adj" fmla="val 30000"/>
              <a:gd name="vf" fmla="val 115470"/>
            </a:avLst>
          </a:prstGeom>
          <a:solidFill>
            <a:srgbClr val="FF99FF"/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cs typeface="+mn-cs"/>
              </a:rPr>
              <a:t>BB</a:t>
            </a:r>
            <a:endParaRPr lang="en-US" sz="1600" b="1" baseline="30000">
              <a:solidFill>
                <a:schemeClr val="bg1"/>
              </a:solidFill>
              <a:cs typeface="+mn-cs"/>
            </a:endParaRPr>
          </a:p>
        </p:txBody>
      </p:sp>
      <p:sp>
        <p:nvSpPr>
          <p:cNvPr id="1037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143000" y="381000"/>
            <a:ext cx="67056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33656DB8-CEEE-43CE-B3E8-295AFFA0FDF3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Tahoma" pitchFamily="34" charset="0"/>
          <a:cs typeface="Tahoma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Tahoma" pitchFamily="34" charset="0"/>
          <a:cs typeface="Tahoma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itchFamily="34" charset="0"/>
          <a:cs typeface="Tahoma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itchFamily="34" charset="0"/>
          <a:cs typeface="Tahoma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sz="3200" smtClean="0">
                <a:latin typeface="Arial" charset="0"/>
                <a:cs typeface="Arial" charset="0"/>
              </a:rPr>
              <a:t>Nhập môn Lập trình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3200" smtClean="0">
                <a:latin typeface="Arial" charset="0"/>
                <a:cs typeface="Arial" charset="0"/>
              </a:rPr>
              <a:t>Con trỏ (cơ bản)</a:t>
            </a:r>
          </a:p>
        </p:txBody>
      </p:sp>
      <p:sp>
        <p:nvSpPr>
          <p:cNvPr id="1536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53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0216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Nội dung</a:t>
            </a:r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2133600" y="1905000"/>
            <a:ext cx="4724400" cy="685800"/>
            <a:chOff x="1296" y="1824"/>
            <a:chExt cx="2976" cy="432"/>
          </a:xfrm>
        </p:grpSpPr>
        <p:sp>
          <p:nvSpPr>
            <p:cNvPr id="6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406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Khái niệm và cách sử dụng</a:t>
              </a:r>
            </a:p>
          </p:txBody>
        </p:sp>
        <p:sp>
          <p:nvSpPr>
            <p:cNvPr id="16407" name="Text Box 5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5" name="Group 51"/>
          <p:cNvGrpSpPr>
            <a:grpSpLocks/>
          </p:cNvGrpSpPr>
          <p:nvPr/>
        </p:nvGrpSpPr>
        <p:grpSpPr bwMode="auto">
          <a:xfrm>
            <a:off x="2133600" y="2743200"/>
            <a:ext cx="4724400" cy="685800"/>
            <a:chOff x="1296" y="1824"/>
            <a:chExt cx="2976" cy="432"/>
          </a:xfrm>
        </p:grpSpPr>
        <p:sp>
          <p:nvSpPr>
            <p:cNvPr id="11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402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Các cách truyền </a:t>
              </a:r>
              <a:r>
                <a:rPr lang="vi-VN" b="1">
                  <a:solidFill>
                    <a:srgbClr val="000000"/>
                  </a:solidFill>
                </a:rPr>
                <a:t>đố</a:t>
              </a:r>
              <a:r>
                <a:rPr lang="en-US" b="1">
                  <a:solidFill>
                    <a:srgbClr val="000000"/>
                  </a:solidFill>
                </a:rPr>
                <a:t>i số cho hàm</a:t>
              </a:r>
            </a:p>
          </p:txBody>
        </p:sp>
        <p:sp>
          <p:nvSpPr>
            <p:cNvPr id="16403" name="Text Box 5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oup 56"/>
          <p:cNvGrpSpPr>
            <a:grpSpLocks/>
          </p:cNvGrpSpPr>
          <p:nvPr/>
        </p:nvGrpSpPr>
        <p:grpSpPr bwMode="auto">
          <a:xfrm>
            <a:off x="2133600" y="3581400"/>
            <a:ext cx="4724400" cy="685800"/>
            <a:chOff x="1296" y="1824"/>
            <a:chExt cx="2976" cy="432"/>
          </a:xfrm>
        </p:grpSpPr>
        <p:sp>
          <p:nvSpPr>
            <p:cNvPr id="16" name="AutoShape 5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tx2">
                    <a:gamma/>
                    <a:tint val="21176"/>
                    <a:invGamma/>
                  </a:schemeClr>
                </a:gs>
                <a:gs pos="100000">
                  <a:schemeClr val="tx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7" name="AutoShape 5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398" name="Text Box 5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Con trỏ và mảng một chiều</a:t>
              </a:r>
            </a:p>
          </p:txBody>
        </p:sp>
        <p:sp>
          <p:nvSpPr>
            <p:cNvPr id="16399" name="Text Box 6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5" name="Group 61"/>
          <p:cNvGrpSpPr>
            <a:grpSpLocks/>
          </p:cNvGrpSpPr>
          <p:nvPr/>
        </p:nvGrpSpPr>
        <p:grpSpPr bwMode="auto">
          <a:xfrm>
            <a:off x="2133600" y="4495800"/>
            <a:ext cx="4724400" cy="685800"/>
            <a:chOff x="1296" y="1824"/>
            <a:chExt cx="2976" cy="432"/>
          </a:xfrm>
        </p:grpSpPr>
        <p:sp>
          <p:nvSpPr>
            <p:cNvPr id="21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2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394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Con trỏ và cấu trúc</a:t>
              </a:r>
            </a:p>
          </p:txBody>
        </p:sp>
        <p:sp>
          <p:nvSpPr>
            <p:cNvPr id="16395" name="Text Box 6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Kiến trúc máy tính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Bộ nhớ máy tính</a:t>
            </a:r>
          </a:p>
          <a:p>
            <a:pPr lvl="1">
              <a:defRPr/>
            </a:pPr>
            <a:r>
              <a:rPr lang="en-US" smtClean="0"/>
              <a:t>Bộ nhớ RAM chứa rất </a:t>
            </a:r>
            <a:r>
              <a:rPr lang="en-US" smtClean="0">
                <a:solidFill>
                  <a:srgbClr val="FF0000"/>
                </a:solidFill>
              </a:rPr>
              <a:t>nhiều ô nhớ</a:t>
            </a:r>
            <a:r>
              <a:rPr lang="en-US" smtClean="0"/>
              <a:t>, mỗi ô nhớ có </a:t>
            </a:r>
            <a:r>
              <a:rPr lang="en-US" smtClean="0">
                <a:solidFill>
                  <a:srgbClr val="FF0000"/>
                </a:solidFill>
              </a:rPr>
              <a:t>kích th</a:t>
            </a:r>
            <a:r>
              <a:rPr lang="vi-VN" smtClean="0">
                <a:solidFill>
                  <a:srgbClr val="FF0000"/>
                </a:solidFill>
              </a:rPr>
              <a:t>ướ</a:t>
            </a:r>
            <a:r>
              <a:rPr lang="en-US" smtClean="0">
                <a:solidFill>
                  <a:srgbClr val="FF0000"/>
                </a:solidFill>
              </a:rPr>
              <a:t>c 1 byte</a:t>
            </a:r>
            <a:r>
              <a:rPr lang="en-US" smtClean="0"/>
              <a:t>.</a:t>
            </a:r>
          </a:p>
          <a:p>
            <a:pPr lvl="1">
              <a:defRPr/>
            </a:pPr>
            <a:r>
              <a:rPr lang="en-US" smtClean="0"/>
              <a:t>RAM dùng </a:t>
            </a:r>
            <a:r>
              <a:rPr lang="vi-VN" smtClean="0"/>
              <a:t>để</a:t>
            </a:r>
            <a:r>
              <a:rPr lang="en-US" smtClean="0"/>
              <a:t> chứa </a:t>
            </a:r>
            <a:r>
              <a:rPr lang="en-US" smtClean="0">
                <a:solidFill>
                  <a:srgbClr val="FF0000"/>
                </a:solidFill>
              </a:rPr>
              <a:t>một phần hệ </a:t>
            </a:r>
            <a:r>
              <a:rPr lang="vi-VN" smtClean="0">
                <a:solidFill>
                  <a:srgbClr val="FF0000"/>
                </a:solidFill>
              </a:rPr>
              <a:t>đ</a:t>
            </a:r>
            <a:r>
              <a:rPr lang="en-US" smtClean="0">
                <a:solidFill>
                  <a:srgbClr val="FF0000"/>
                </a:solidFill>
              </a:rPr>
              <a:t>iều hành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các lệnh ch</a:t>
            </a:r>
            <a:r>
              <a:rPr lang="vi-VN" smtClean="0">
                <a:solidFill>
                  <a:srgbClr val="FF0000"/>
                </a:solidFill>
              </a:rPr>
              <a:t>ươ</a:t>
            </a:r>
            <a:r>
              <a:rPr lang="en-US" smtClean="0">
                <a:solidFill>
                  <a:srgbClr val="FF0000"/>
                </a:solidFill>
              </a:rPr>
              <a:t>ng trình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các dữ liệu</a:t>
            </a:r>
            <a:r>
              <a:rPr lang="en-US" smtClean="0"/>
              <a:t>…</a:t>
            </a:r>
          </a:p>
          <a:p>
            <a:pPr lvl="1">
              <a:defRPr/>
            </a:pPr>
            <a:r>
              <a:rPr lang="en-US" smtClean="0"/>
              <a:t>Mỗi ô nhớ có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a chỉ duy nhất</a:t>
            </a:r>
            <a:r>
              <a:rPr lang="en-US" smtClean="0"/>
              <a:t> và </a:t>
            </a:r>
            <a:r>
              <a:rPr lang="vi-VN" smtClean="0"/>
              <a:t>đị</a:t>
            </a:r>
            <a:r>
              <a:rPr lang="en-US" smtClean="0"/>
              <a:t>a chỉ này </a:t>
            </a:r>
            <a:r>
              <a:rPr lang="vi-VN" smtClean="0"/>
              <a:t>đượ</a:t>
            </a:r>
            <a:r>
              <a:rPr lang="en-US" smtClean="0"/>
              <a:t>c </a:t>
            </a:r>
            <a:r>
              <a:rPr lang="vi-VN" smtClean="0">
                <a:solidFill>
                  <a:srgbClr val="FF0000"/>
                </a:solidFill>
              </a:rPr>
              <a:t>đá</a:t>
            </a:r>
            <a:r>
              <a:rPr lang="en-US" smtClean="0">
                <a:solidFill>
                  <a:srgbClr val="FF0000"/>
                </a:solidFill>
              </a:rPr>
              <a:t>nh số từ 0 trở </a:t>
            </a:r>
            <a:r>
              <a:rPr lang="vi-VN" smtClean="0">
                <a:solidFill>
                  <a:srgbClr val="FF0000"/>
                </a:solidFill>
              </a:rPr>
              <a:t>đ</a:t>
            </a:r>
            <a:r>
              <a:rPr lang="en-US" smtClean="0">
                <a:solidFill>
                  <a:srgbClr val="FF0000"/>
                </a:solidFill>
              </a:rPr>
              <a:t>i</a:t>
            </a:r>
            <a:r>
              <a:rPr lang="en-US" smtClean="0"/>
              <a:t>.</a:t>
            </a:r>
          </a:p>
          <a:p>
            <a:pPr lvl="1">
              <a:defRPr/>
            </a:pPr>
            <a:r>
              <a:rPr lang="en-US" smtClean="0"/>
              <a:t>Ví dụ</a:t>
            </a:r>
          </a:p>
          <a:p>
            <a:pPr lvl="2">
              <a:defRPr/>
            </a:pPr>
            <a:r>
              <a:rPr lang="en-US" smtClean="0"/>
              <a:t>RAM </a:t>
            </a:r>
            <a:r>
              <a:rPr lang="en-US" smtClean="0">
                <a:solidFill>
                  <a:srgbClr val="FF0000"/>
                </a:solidFill>
              </a:rPr>
              <a:t>512MB</a:t>
            </a:r>
            <a:r>
              <a:rPr lang="en-US" smtClean="0"/>
              <a:t> </a:t>
            </a:r>
            <a:r>
              <a:rPr lang="vi-VN" smtClean="0"/>
              <a:t>đượ</a:t>
            </a:r>
            <a:r>
              <a:rPr lang="en-US" smtClean="0"/>
              <a:t>c </a:t>
            </a:r>
            <a:r>
              <a:rPr lang="vi-VN" smtClean="0"/>
              <a:t>đá</a:t>
            </a:r>
            <a:r>
              <a:rPr lang="en-US" smtClean="0"/>
              <a:t>nh </a:t>
            </a:r>
            <a:r>
              <a:rPr lang="vi-VN" smtClean="0"/>
              <a:t>đị</a:t>
            </a:r>
            <a:r>
              <a:rPr lang="en-US" smtClean="0"/>
              <a:t>a chỉ từ </a:t>
            </a:r>
            <a:r>
              <a:rPr lang="en-US" smtClean="0">
                <a:solidFill>
                  <a:srgbClr val="FF0000"/>
                </a:solidFill>
              </a:rPr>
              <a:t>0</a:t>
            </a:r>
            <a:r>
              <a:rPr lang="en-US" smtClean="0"/>
              <a:t> </a:t>
            </a:r>
            <a:r>
              <a:rPr lang="vi-VN" smtClean="0"/>
              <a:t>đế</a:t>
            </a:r>
            <a:r>
              <a:rPr lang="en-US" smtClean="0"/>
              <a:t>n </a:t>
            </a:r>
            <a:r>
              <a:rPr lang="en-US" smtClean="0">
                <a:solidFill>
                  <a:srgbClr val="FF0000"/>
                </a:solidFill>
              </a:rPr>
              <a:t>2</a:t>
            </a:r>
            <a:r>
              <a:rPr lang="en-US" baseline="30000" smtClean="0">
                <a:solidFill>
                  <a:srgbClr val="FF0000"/>
                </a:solidFill>
              </a:rPr>
              <a:t>29</a:t>
            </a:r>
            <a:r>
              <a:rPr lang="en-US" smtClean="0">
                <a:solidFill>
                  <a:srgbClr val="FF0000"/>
                </a:solidFill>
              </a:rPr>
              <a:t> – 1</a:t>
            </a:r>
          </a:p>
          <a:p>
            <a:pPr lvl="2">
              <a:defRPr/>
            </a:pPr>
            <a:r>
              <a:rPr lang="en-US" smtClean="0"/>
              <a:t>RAM </a:t>
            </a:r>
            <a:r>
              <a:rPr lang="en-US" smtClean="0">
                <a:solidFill>
                  <a:srgbClr val="FF0000"/>
                </a:solidFill>
              </a:rPr>
              <a:t>2GB</a:t>
            </a:r>
            <a:r>
              <a:rPr lang="en-US" smtClean="0"/>
              <a:t> </a:t>
            </a:r>
            <a:r>
              <a:rPr lang="vi-VN" smtClean="0"/>
              <a:t>đượ</a:t>
            </a:r>
            <a:r>
              <a:rPr lang="en-US" smtClean="0"/>
              <a:t>c </a:t>
            </a:r>
            <a:r>
              <a:rPr lang="vi-VN" smtClean="0"/>
              <a:t>đá</a:t>
            </a:r>
            <a:r>
              <a:rPr lang="en-US" smtClean="0"/>
              <a:t>nh </a:t>
            </a:r>
            <a:r>
              <a:rPr lang="vi-VN" smtClean="0"/>
              <a:t>đị</a:t>
            </a:r>
            <a:r>
              <a:rPr lang="en-US" smtClean="0"/>
              <a:t>a chỉ từ </a:t>
            </a:r>
            <a:r>
              <a:rPr lang="en-US" smtClean="0">
                <a:solidFill>
                  <a:srgbClr val="FF0000"/>
                </a:solidFill>
              </a:rPr>
              <a:t>0</a:t>
            </a:r>
            <a:r>
              <a:rPr lang="en-US" smtClean="0"/>
              <a:t> </a:t>
            </a:r>
            <a:r>
              <a:rPr lang="vi-VN" smtClean="0"/>
              <a:t>đế</a:t>
            </a:r>
            <a:r>
              <a:rPr lang="en-US" smtClean="0"/>
              <a:t>n </a:t>
            </a:r>
            <a:r>
              <a:rPr lang="en-US" smtClean="0">
                <a:solidFill>
                  <a:srgbClr val="FF0000"/>
                </a:solidFill>
              </a:rPr>
              <a:t>2</a:t>
            </a:r>
            <a:r>
              <a:rPr lang="en-US" baseline="30000" smtClean="0">
                <a:solidFill>
                  <a:srgbClr val="FF0000"/>
                </a:solidFill>
              </a:rPr>
              <a:t>31</a:t>
            </a:r>
            <a:r>
              <a:rPr lang="en-US" smtClean="0">
                <a:solidFill>
                  <a:srgbClr val="FF0000"/>
                </a:solidFill>
              </a:rPr>
              <a:t> – 1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Quy trình xử lý của trình biên dịch</a:t>
            </a:r>
          </a:p>
          <a:p>
            <a:pPr lvl="1">
              <a:defRPr/>
            </a:pPr>
            <a:r>
              <a:rPr lang="en-US" smtClean="0">
                <a:solidFill>
                  <a:srgbClr val="FF0000"/>
                </a:solidFill>
              </a:rPr>
              <a:t>Dành riêng một vùng nhớ</a:t>
            </a:r>
            <a:r>
              <a:rPr lang="en-US" smtClean="0"/>
              <a:t> với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a chỉ duy nhất</a:t>
            </a:r>
            <a:r>
              <a:rPr lang="en-US" smtClean="0"/>
              <a:t> </a:t>
            </a:r>
            <a:r>
              <a:rPr lang="vi-VN" smtClean="0"/>
              <a:t>để</a:t>
            </a:r>
            <a:r>
              <a:rPr lang="en-US" smtClean="0"/>
              <a:t> l</a:t>
            </a:r>
            <a:r>
              <a:rPr lang="vi-VN" smtClean="0"/>
              <a:t>ư</a:t>
            </a:r>
            <a:r>
              <a:rPr lang="en-US" smtClean="0"/>
              <a:t>u biến </a:t>
            </a:r>
            <a:r>
              <a:rPr lang="vi-VN" smtClean="0"/>
              <a:t>đó</a:t>
            </a:r>
            <a:r>
              <a:rPr lang="en-US" smtClean="0"/>
              <a:t>.</a:t>
            </a:r>
          </a:p>
          <a:p>
            <a:pPr lvl="1">
              <a:defRPr/>
            </a:pPr>
            <a:r>
              <a:rPr lang="en-US" smtClean="0">
                <a:solidFill>
                  <a:srgbClr val="FF0000"/>
                </a:solidFill>
              </a:rPr>
              <a:t>Liên kết</a:t>
            </a:r>
            <a:r>
              <a:rPr lang="en-US" smtClean="0"/>
              <a:t> </a:t>
            </a:r>
            <a:r>
              <a:rPr lang="vi-VN" smtClean="0"/>
              <a:t>đị</a:t>
            </a:r>
            <a:r>
              <a:rPr lang="en-US" smtClean="0"/>
              <a:t>a chỉ ô nhớ </a:t>
            </a:r>
            <a:r>
              <a:rPr lang="vi-VN" smtClean="0"/>
              <a:t>đó</a:t>
            </a:r>
            <a:r>
              <a:rPr lang="en-US" smtClean="0"/>
              <a:t> với tên biến.</a:t>
            </a:r>
          </a:p>
          <a:p>
            <a:pPr lvl="1">
              <a:defRPr/>
            </a:pPr>
            <a:r>
              <a:rPr lang="en-US" smtClean="0"/>
              <a:t>Khi gọi tên biến, nó sẽ </a:t>
            </a:r>
            <a:r>
              <a:rPr lang="en-US" smtClean="0">
                <a:solidFill>
                  <a:srgbClr val="FF0000"/>
                </a:solidFill>
              </a:rPr>
              <a:t>truy xuất tự </a:t>
            </a:r>
            <a:r>
              <a:rPr lang="vi-VN" smtClean="0">
                <a:solidFill>
                  <a:srgbClr val="FF0000"/>
                </a:solidFill>
              </a:rPr>
              <a:t>độ</a:t>
            </a:r>
            <a:r>
              <a:rPr lang="en-US" smtClean="0">
                <a:solidFill>
                  <a:srgbClr val="FF0000"/>
                </a:solidFill>
              </a:rPr>
              <a:t>ng</a:t>
            </a:r>
            <a:r>
              <a:rPr lang="en-US" smtClean="0"/>
              <a:t> </a:t>
            </a:r>
            <a:r>
              <a:rPr lang="vi-VN" smtClean="0"/>
              <a:t>đế</a:t>
            </a:r>
            <a:r>
              <a:rPr lang="en-US" smtClean="0"/>
              <a:t>n ô nhớ </a:t>
            </a:r>
            <a:r>
              <a:rPr lang="vi-VN" smtClean="0"/>
              <a:t>đã</a:t>
            </a:r>
            <a:r>
              <a:rPr lang="en-US" smtClean="0"/>
              <a:t> liên kết với tên biến.</a:t>
            </a: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dụ:</a:t>
            </a:r>
            <a:r>
              <a:rPr lang="en-US" smtClean="0"/>
              <a:t> int a = 0x1234;	// Giả sử </a:t>
            </a:r>
            <a:r>
              <a:rPr lang="vi-VN" smtClean="0"/>
              <a:t>đ</a:t>
            </a:r>
            <a:r>
              <a:rPr lang="en-US" smtClean="0"/>
              <a:t>ịa chỉ 0x0B</a:t>
            </a:r>
            <a:endParaRPr lang="en-US" baseline="-25000"/>
          </a:p>
        </p:txBody>
      </p:sp>
      <p:sp>
        <p:nvSpPr>
          <p:cNvPr id="93" name="AutoShape 6"/>
          <p:cNvSpPr>
            <a:spLocks noChangeArrowheads="1"/>
          </p:cNvSpPr>
          <p:nvPr/>
        </p:nvSpPr>
        <p:spPr bwMode="gray">
          <a:xfrm>
            <a:off x="7543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95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184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Khai báo biến trong C</a:t>
            </a:r>
          </a:p>
        </p:txBody>
      </p:sp>
      <p:sp>
        <p:nvSpPr>
          <p:cNvPr id="1843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65" name="AutoShape 6"/>
          <p:cNvSpPr>
            <a:spLocks noChangeArrowheads="1"/>
          </p:cNvSpPr>
          <p:nvPr/>
        </p:nvSpPr>
        <p:spPr bwMode="gray">
          <a:xfrm>
            <a:off x="1143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6" name="AutoShape 6"/>
          <p:cNvSpPr>
            <a:spLocks noChangeArrowheads="1"/>
          </p:cNvSpPr>
          <p:nvPr/>
        </p:nvSpPr>
        <p:spPr bwMode="gray">
          <a:xfrm>
            <a:off x="1143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0A</a:t>
            </a:r>
            <a:endParaRPr lang="en-US" baseline="30000"/>
          </a:p>
        </p:txBody>
      </p:sp>
      <p:sp>
        <p:nvSpPr>
          <p:cNvPr id="67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8" name="AutoShape 6"/>
          <p:cNvSpPr>
            <a:spLocks noChangeArrowheads="1"/>
          </p:cNvSpPr>
          <p:nvPr/>
        </p:nvSpPr>
        <p:spPr bwMode="gray">
          <a:xfrm>
            <a:off x="1600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0B</a:t>
            </a:r>
            <a:endParaRPr lang="en-US" baseline="30000"/>
          </a:p>
        </p:txBody>
      </p:sp>
      <p:sp>
        <p:nvSpPr>
          <p:cNvPr id="69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0" name="AutoShape 6"/>
          <p:cNvSpPr>
            <a:spLocks noChangeArrowheads="1"/>
          </p:cNvSpPr>
          <p:nvPr/>
        </p:nvSpPr>
        <p:spPr bwMode="gray">
          <a:xfrm>
            <a:off x="2057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0C</a:t>
            </a:r>
            <a:endParaRPr lang="en-US" baseline="30000"/>
          </a:p>
        </p:txBody>
      </p:sp>
      <p:sp>
        <p:nvSpPr>
          <p:cNvPr id="71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2" name="AutoShape 6"/>
          <p:cNvSpPr>
            <a:spLocks noChangeArrowheads="1"/>
          </p:cNvSpPr>
          <p:nvPr/>
        </p:nvSpPr>
        <p:spPr bwMode="gray">
          <a:xfrm>
            <a:off x="2514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0D</a:t>
            </a:r>
            <a:endParaRPr lang="en-US" baseline="30000"/>
          </a:p>
        </p:txBody>
      </p:sp>
      <p:sp>
        <p:nvSpPr>
          <p:cNvPr id="73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gray">
          <a:xfrm>
            <a:off x="2971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0E</a:t>
            </a:r>
            <a:endParaRPr lang="en-US" baseline="30000"/>
          </a:p>
        </p:txBody>
      </p:sp>
      <p:sp>
        <p:nvSpPr>
          <p:cNvPr id="75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6" name="AutoShape 6"/>
          <p:cNvSpPr>
            <a:spLocks noChangeArrowheads="1"/>
          </p:cNvSpPr>
          <p:nvPr/>
        </p:nvSpPr>
        <p:spPr bwMode="gray">
          <a:xfrm>
            <a:off x="3429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0F</a:t>
            </a:r>
            <a:endParaRPr lang="en-US" baseline="30000"/>
          </a:p>
        </p:txBody>
      </p:sp>
      <p:sp>
        <p:nvSpPr>
          <p:cNvPr id="77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8" name="AutoShape 6"/>
          <p:cNvSpPr>
            <a:spLocks noChangeArrowheads="1"/>
          </p:cNvSpPr>
          <p:nvPr/>
        </p:nvSpPr>
        <p:spPr bwMode="gray">
          <a:xfrm>
            <a:off x="3886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79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0" name="AutoShape 6"/>
          <p:cNvSpPr>
            <a:spLocks noChangeArrowheads="1"/>
          </p:cNvSpPr>
          <p:nvPr/>
        </p:nvSpPr>
        <p:spPr bwMode="gray">
          <a:xfrm>
            <a:off x="4343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81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2" name="AutoShape 6"/>
          <p:cNvSpPr>
            <a:spLocks noChangeArrowheads="1"/>
          </p:cNvSpPr>
          <p:nvPr/>
        </p:nvSpPr>
        <p:spPr bwMode="gray">
          <a:xfrm>
            <a:off x="4800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12</a:t>
            </a:r>
            <a:endParaRPr lang="en-US" baseline="30000"/>
          </a:p>
        </p:txBody>
      </p:sp>
      <p:sp>
        <p:nvSpPr>
          <p:cNvPr id="83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4" name="AutoShape 6"/>
          <p:cNvSpPr>
            <a:spLocks noChangeArrowheads="1"/>
          </p:cNvSpPr>
          <p:nvPr/>
        </p:nvSpPr>
        <p:spPr bwMode="gray">
          <a:xfrm>
            <a:off x="5257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85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6" name="AutoShape 6"/>
          <p:cNvSpPr>
            <a:spLocks noChangeArrowheads="1"/>
          </p:cNvSpPr>
          <p:nvPr/>
        </p:nvSpPr>
        <p:spPr bwMode="gray">
          <a:xfrm>
            <a:off x="5715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87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8" name="AutoShape 6"/>
          <p:cNvSpPr>
            <a:spLocks noChangeArrowheads="1"/>
          </p:cNvSpPr>
          <p:nvPr/>
        </p:nvSpPr>
        <p:spPr bwMode="gray">
          <a:xfrm>
            <a:off x="6172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89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0" name="AutoShape 6"/>
          <p:cNvSpPr>
            <a:spLocks noChangeArrowheads="1"/>
          </p:cNvSpPr>
          <p:nvPr/>
        </p:nvSpPr>
        <p:spPr bwMode="gray">
          <a:xfrm>
            <a:off x="6629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91" name="AutoShape 6"/>
          <p:cNvSpPr>
            <a:spLocks noChangeArrowheads="1"/>
          </p:cNvSpPr>
          <p:nvPr/>
        </p:nvSpPr>
        <p:spPr bwMode="gray">
          <a:xfrm>
            <a:off x="7086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2" name="AutoShape 6"/>
          <p:cNvSpPr>
            <a:spLocks noChangeArrowheads="1"/>
          </p:cNvSpPr>
          <p:nvPr/>
        </p:nvSpPr>
        <p:spPr bwMode="gray">
          <a:xfrm>
            <a:off x="7086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sp>
        <p:nvSpPr>
          <p:cNvPr id="96" name="AutoShape 6"/>
          <p:cNvSpPr>
            <a:spLocks noChangeArrowheads="1"/>
          </p:cNvSpPr>
          <p:nvPr/>
        </p:nvSpPr>
        <p:spPr bwMode="gray">
          <a:xfrm>
            <a:off x="16002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cxnSp>
        <p:nvCxnSpPr>
          <p:cNvPr id="97" name="Straight Arrow Connector 96"/>
          <p:cNvCxnSpPr/>
          <p:nvPr/>
        </p:nvCxnSpPr>
        <p:spPr>
          <a:xfrm rot="5400000" flipH="1" flipV="1">
            <a:off x="16398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34</a:t>
            </a:r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12</a:t>
            </a:r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101" name="AutoShape 6"/>
          <p:cNvSpPr>
            <a:spLocks noChangeArrowheads="1"/>
          </p:cNvSpPr>
          <p:nvPr/>
        </p:nvSpPr>
        <p:spPr bwMode="gray">
          <a:xfrm>
            <a:off x="16002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05535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5" grpId="0" animBg="1"/>
      <p:bldP spid="65" grpId="0" animBg="1"/>
      <p:bldP spid="66" grpId="0"/>
      <p:bldP spid="67" grpId="0" animBg="1"/>
      <p:bldP spid="68" grpId="0"/>
      <p:bldP spid="69" grpId="0" animBg="1"/>
      <p:bldP spid="70" grpId="0"/>
      <p:bldP spid="71" grpId="0" animBg="1"/>
      <p:bldP spid="72" grpId="0"/>
      <p:bldP spid="73" grpId="0" animBg="1"/>
      <p:bldP spid="74" grpId="0"/>
      <p:bldP spid="75" grpId="0" animBg="1"/>
      <p:bldP spid="76" grpId="0"/>
      <p:bldP spid="77" grpId="0" animBg="1"/>
      <p:bldP spid="78" grpId="0"/>
      <p:bldP spid="79" grpId="0" animBg="1"/>
      <p:bldP spid="80" grpId="0"/>
      <p:bldP spid="81" grpId="0" animBg="1"/>
      <p:bldP spid="82" grpId="0"/>
      <p:bldP spid="83" grpId="0" animBg="1"/>
      <p:bldP spid="84" grpId="0"/>
      <p:bldP spid="85" grpId="0" animBg="1"/>
      <p:bldP spid="86" grpId="0"/>
      <p:bldP spid="87" grpId="0" animBg="1"/>
      <p:bldP spid="88" grpId="0"/>
      <p:bldP spid="89" grpId="0" animBg="1"/>
      <p:bldP spid="90" grpId="0"/>
      <p:bldP spid="91" grpId="0" animBg="1"/>
      <p:bldP spid="92" grpId="0"/>
      <p:bldP spid="96" grpId="0" animBg="1"/>
      <p:bldP spid="38" grpId="0" animBg="1"/>
      <p:bldP spid="39" grpId="0" animBg="1"/>
      <p:bldP spid="40" grpId="0" animBg="1"/>
      <p:bldP spid="41" grpId="0" animBg="1"/>
      <p:bldP spid="10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AutoShape 6"/>
          <p:cNvSpPr>
            <a:spLocks noChangeArrowheads="1"/>
          </p:cNvSpPr>
          <p:nvPr/>
        </p:nvSpPr>
        <p:spPr bwMode="gray">
          <a:xfrm>
            <a:off x="7543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95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194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Khái niệm con trỏ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Khái niệm</a:t>
            </a:r>
          </a:p>
          <a:p>
            <a:pPr lvl="1">
              <a:defRPr/>
            </a:pPr>
            <a:r>
              <a:rPr lang="en-US" smtClean="0"/>
              <a:t>Địa chỉ của biến là một con số.</a:t>
            </a:r>
          </a:p>
          <a:p>
            <a:pPr lvl="1">
              <a:defRPr/>
            </a:pPr>
            <a:r>
              <a:rPr lang="en-US" smtClean="0"/>
              <a:t>Ta có thể tạo </a:t>
            </a:r>
            <a:r>
              <a:rPr lang="en-US" smtClean="0">
                <a:solidFill>
                  <a:srgbClr val="FF0000"/>
                </a:solidFill>
              </a:rPr>
              <a:t>biến khác </a:t>
            </a:r>
            <a:r>
              <a:rPr lang="vi-VN" smtClean="0">
                <a:solidFill>
                  <a:srgbClr val="FF0000"/>
                </a:solidFill>
              </a:rPr>
              <a:t>để</a:t>
            </a:r>
            <a:r>
              <a:rPr lang="en-US" smtClean="0">
                <a:solidFill>
                  <a:srgbClr val="FF0000"/>
                </a:solidFill>
              </a:rPr>
              <a:t> l</a:t>
            </a:r>
            <a:r>
              <a:rPr lang="vi-VN" smtClean="0">
                <a:solidFill>
                  <a:srgbClr val="FF0000"/>
                </a:solidFill>
              </a:rPr>
              <a:t>ư</a:t>
            </a:r>
            <a:r>
              <a:rPr lang="en-US" smtClean="0">
                <a:solidFill>
                  <a:srgbClr val="FF0000"/>
                </a:solidFill>
              </a:rPr>
              <a:t>u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a chỉ của biến này</a:t>
            </a:r>
            <a:r>
              <a:rPr lang="en-US" smtClean="0"/>
              <a:t> </a:t>
            </a:r>
            <a:r>
              <a:rPr lang="en-US" smtClean="0">
                <a:sym typeface="Wingdings" pitchFamily="2" charset="2"/>
              </a:rPr>
              <a:t> Con trỏ.</a:t>
            </a:r>
            <a:endParaRPr lang="en-US" smtClean="0"/>
          </a:p>
        </p:txBody>
      </p:sp>
      <p:sp>
        <p:nvSpPr>
          <p:cNvPr id="1946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65" name="AutoShape 6"/>
          <p:cNvSpPr>
            <a:spLocks noChangeArrowheads="1"/>
          </p:cNvSpPr>
          <p:nvPr/>
        </p:nvSpPr>
        <p:spPr bwMode="gray">
          <a:xfrm>
            <a:off x="1143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6" name="AutoShape 6"/>
          <p:cNvSpPr>
            <a:spLocks noChangeArrowheads="1"/>
          </p:cNvSpPr>
          <p:nvPr/>
        </p:nvSpPr>
        <p:spPr bwMode="gray">
          <a:xfrm>
            <a:off x="1143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0A</a:t>
            </a:r>
            <a:endParaRPr lang="en-US" baseline="30000"/>
          </a:p>
        </p:txBody>
      </p:sp>
      <p:sp>
        <p:nvSpPr>
          <p:cNvPr id="67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 smtClean="0"/>
              <a:t>5</a:t>
            </a:r>
            <a:endParaRPr lang="en-US" sz="2400"/>
          </a:p>
        </p:txBody>
      </p:sp>
      <p:sp>
        <p:nvSpPr>
          <p:cNvPr id="68" name="AutoShape 6"/>
          <p:cNvSpPr>
            <a:spLocks noChangeArrowheads="1"/>
          </p:cNvSpPr>
          <p:nvPr/>
        </p:nvSpPr>
        <p:spPr bwMode="gray">
          <a:xfrm>
            <a:off x="1600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0B</a:t>
            </a:r>
            <a:endParaRPr lang="en-US" baseline="30000"/>
          </a:p>
        </p:txBody>
      </p:sp>
      <p:sp>
        <p:nvSpPr>
          <p:cNvPr id="70" name="AutoShape 6"/>
          <p:cNvSpPr>
            <a:spLocks noChangeArrowheads="1"/>
          </p:cNvSpPr>
          <p:nvPr/>
        </p:nvSpPr>
        <p:spPr bwMode="gray">
          <a:xfrm>
            <a:off x="2057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0C</a:t>
            </a:r>
            <a:endParaRPr lang="en-US" baseline="30000"/>
          </a:p>
        </p:txBody>
      </p:sp>
      <p:sp>
        <p:nvSpPr>
          <p:cNvPr id="72" name="AutoShape 6"/>
          <p:cNvSpPr>
            <a:spLocks noChangeArrowheads="1"/>
          </p:cNvSpPr>
          <p:nvPr/>
        </p:nvSpPr>
        <p:spPr bwMode="gray">
          <a:xfrm>
            <a:off x="2514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0D</a:t>
            </a:r>
            <a:endParaRPr lang="en-US" baseline="30000"/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gray">
          <a:xfrm>
            <a:off x="2971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0E</a:t>
            </a:r>
            <a:endParaRPr lang="en-US" baseline="30000"/>
          </a:p>
        </p:txBody>
      </p:sp>
      <p:sp>
        <p:nvSpPr>
          <p:cNvPr id="75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6" name="AutoShape 6"/>
          <p:cNvSpPr>
            <a:spLocks noChangeArrowheads="1"/>
          </p:cNvSpPr>
          <p:nvPr/>
        </p:nvSpPr>
        <p:spPr bwMode="gray">
          <a:xfrm>
            <a:off x="3429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0F</a:t>
            </a:r>
            <a:endParaRPr lang="en-US" baseline="30000"/>
          </a:p>
        </p:txBody>
      </p:sp>
      <p:sp>
        <p:nvSpPr>
          <p:cNvPr id="77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8" name="AutoShape 6"/>
          <p:cNvSpPr>
            <a:spLocks noChangeArrowheads="1"/>
          </p:cNvSpPr>
          <p:nvPr/>
        </p:nvSpPr>
        <p:spPr bwMode="gray">
          <a:xfrm>
            <a:off x="3886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79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0" name="AutoShape 6"/>
          <p:cNvSpPr>
            <a:spLocks noChangeArrowheads="1"/>
          </p:cNvSpPr>
          <p:nvPr/>
        </p:nvSpPr>
        <p:spPr bwMode="gray">
          <a:xfrm>
            <a:off x="4343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81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2" name="AutoShape 6"/>
          <p:cNvSpPr>
            <a:spLocks noChangeArrowheads="1"/>
          </p:cNvSpPr>
          <p:nvPr/>
        </p:nvSpPr>
        <p:spPr bwMode="gray">
          <a:xfrm>
            <a:off x="4800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12</a:t>
            </a:r>
            <a:endParaRPr lang="en-US" baseline="30000"/>
          </a:p>
        </p:txBody>
      </p:sp>
      <p:sp>
        <p:nvSpPr>
          <p:cNvPr id="83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4" name="AutoShape 6"/>
          <p:cNvSpPr>
            <a:spLocks noChangeArrowheads="1"/>
          </p:cNvSpPr>
          <p:nvPr/>
        </p:nvSpPr>
        <p:spPr bwMode="gray">
          <a:xfrm>
            <a:off x="5257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85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6" name="AutoShape 6"/>
          <p:cNvSpPr>
            <a:spLocks noChangeArrowheads="1"/>
          </p:cNvSpPr>
          <p:nvPr/>
        </p:nvSpPr>
        <p:spPr bwMode="gray">
          <a:xfrm>
            <a:off x="5715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87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8" name="AutoShape 6"/>
          <p:cNvSpPr>
            <a:spLocks noChangeArrowheads="1"/>
          </p:cNvSpPr>
          <p:nvPr/>
        </p:nvSpPr>
        <p:spPr bwMode="gray">
          <a:xfrm>
            <a:off x="6172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89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0" name="AutoShape 6"/>
          <p:cNvSpPr>
            <a:spLocks noChangeArrowheads="1"/>
          </p:cNvSpPr>
          <p:nvPr/>
        </p:nvSpPr>
        <p:spPr bwMode="gray">
          <a:xfrm>
            <a:off x="6629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91" name="AutoShape 6"/>
          <p:cNvSpPr>
            <a:spLocks noChangeArrowheads="1"/>
          </p:cNvSpPr>
          <p:nvPr/>
        </p:nvSpPr>
        <p:spPr bwMode="gray">
          <a:xfrm>
            <a:off x="7086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2" name="AutoShape 6"/>
          <p:cNvSpPr>
            <a:spLocks noChangeArrowheads="1"/>
          </p:cNvSpPr>
          <p:nvPr/>
        </p:nvSpPr>
        <p:spPr bwMode="gray">
          <a:xfrm>
            <a:off x="7086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sp>
        <p:nvSpPr>
          <p:cNvPr id="96" name="AutoShape 6"/>
          <p:cNvSpPr>
            <a:spLocks noChangeArrowheads="1"/>
          </p:cNvSpPr>
          <p:nvPr/>
        </p:nvSpPr>
        <p:spPr bwMode="gray">
          <a:xfrm>
            <a:off x="16002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cxnSp>
        <p:nvCxnSpPr>
          <p:cNvPr id="97" name="Straight Arrow Connector 96"/>
          <p:cNvCxnSpPr/>
          <p:nvPr/>
        </p:nvCxnSpPr>
        <p:spPr>
          <a:xfrm rot="5400000" flipH="1" flipV="1">
            <a:off x="16398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43434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pa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rot="5400000" flipH="1" flipV="1">
            <a:off x="43830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5400000" flipH="1" flipV="1">
            <a:off x="4383087" y="4837113"/>
            <a:ext cx="379413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5400000">
            <a:off x="1638300" y="4838700"/>
            <a:ext cx="3825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rot="10800000">
            <a:off x="1828800" y="4648200"/>
            <a:ext cx="2743200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1600200" y="5334000"/>
            <a:ext cx="4572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0B</a:t>
            </a:r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4343400" y="5334000"/>
            <a:ext cx="4572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2" name="AutoShape 6"/>
          <p:cNvSpPr>
            <a:spLocks noChangeArrowheads="1"/>
          </p:cNvSpPr>
          <p:nvPr/>
        </p:nvSpPr>
        <p:spPr bwMode="gray">
          <a:xfrm>
            <a:off x="2971799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5" grpId="0" animBg="1"/>
      <p:bldP spid="65" grpId="0" animBg="1"/>
      <p:bldP spid="66" grpId="0"/>
      <p:bldP spid="67" grpId="0" animBg="1"/>
      <p:bldP spid="68" grpId="0"/>
      <p:bldP spid="70" grpId="0"/>
      <p:bldP spid="72" grpId="0"/>
      <p:bldP spid="74" grpId="0"/>
      <p:bldP spid="75" grpId="0" animBg="1"/>
      <p:bldP spid="76" grpId="0"/>
      <p:bldP spid="77" grpId="0" animBg="1"/>
      <p:bldP spid="78" grpId="0"/>
      <p:bldP spid="79" grpId="0" animBg="1"/>
      <p:bldP spid="80" grpId="0"/>
      <p:bldP spid="81" grpId="0" animBg="1"/>
      <p:bldP spid="82" grpId="0"/>
      <p:bldP spid="83" grpId="0" animBg="1"/>
      <p:bldP spid="84" grpId="0"/>
      <p:bldP spid="85" grpId="0" animBg="1"/>
      <p:bldP spid="86" grpId="0"/>
      <p:bldP spid="87" grpId="0" animBg="1"/>
      <p:bldP spid="88" grpId="0"/>
      <p:bldP spid="89" grpId="0" animBg="1"/>
      <p:bldP spid="90" grpId="0"/>
      <p:bldP spid="91" grpId="0" animBg="1"/>
      <p:bldP spid="92" grpId="0"/>
      <p:bldP spid="96" grpId="0" animBg="1"/>
      <p:bldP spid="37" grpId="0" animBg="1"/>
      <p:bldP spid="46" grpId="0" animBg="1"/>
      <p:bldP spid="44" grpId="0" animBg="1"/>
      <p:bldP spid="47" grpId="0" animBg="1"/>
      <p:bldP spid="50" grpId="0" animBg="1"/>
      <p:bldP spid="51" grpId="0" animBg="1"/>
      <p:bldP spid="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Khai báo con trỏ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Khai báo</a:t>
            </a:r>
          </a:p>
          <a:p>
            <a:pPr lvl="1">
              <a:defRPr/>
            </a:pPr>
            <a:r>
              <a:rPr lang="en-US" smtClean="0"/>
              <a:t>Giống nh</a:t>
            </a:r>
            <a:r>
              <a:rPr lang="vi-VN" smtClean="0"/>
              <a:t>ư</a:t>
            </a:r>
            <a:r>
              <a:rPr lang="en-US" smtClean="0"/>
              <a:t> mọi biến khác, biến con trỏ muốn sử dụng cũng cần phải </a:t>
            </a:r>
            <a:r>
              <a:rPr lang="vi-VN" smtClean="0"/>
              <a:t>đượ</a:t>
            </a:r>
            <a:r>
              <a:rPr lang="en-US" smtClean="0"/>
              <a:t>c khai báo</a:t>
            </a:r>
          </a:p>
          <a:p>
            <a:pPr lvl="1">
              <a:defRPr/>
            </a:pPr>
            <a:endParaRPr lang="en-US" smtClean="0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>
              <a:defRPr/>
            </a:pPr>
            <a:endParaRPr lang="en-US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smtClean="0"/>
              <a:t>ch1 và ch2 là biến con trỏ, trỏ tới vùng nhớ kiểu char (1 byte).</a:t>
            </a:r>
          </a:p>
          <a:p>
            <a:pPr lvl="1">
              <a:defRPr/>
            </a:pPr>
            <a:r>
              <a:rPr lang="en-US" smtClean="0"/>
              <a:t>p1 là biến con trỏ, trỏ tới vùng nhớ kiểu int (4 bytes) còn p2 là biến kiểu int bình th</a:t>
            </a:r>
            <a:r>
              <a:rPr lang="vi-VN" smtClean="0"/>
              <a:t>ườ</a:t>
            </a:r>
            <a:r>
              <a:rPr lang="en-US" smtClean="0"/>
              <a:t>ng.</a:t>
            </a: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3028950"/>
            <a:ext cx="152400" cy="381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3028950"/>
            <a:ext cx="701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&lt;kiểu dữ liệu&gt;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&lt;tên biến con trỏ&gt;;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40175"/>
            <a:ext cx="152400" cy="685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3940175"/>
            <a:ext cx="7010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ch1,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ch2;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p1, p2;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Khai báo con trỏ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Sử dụng từ khóa typedef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u ý khi khai báo kiểu dữ liệu mới</a:t>
            </a:r>
          </a:p>
          <a:p>
            <a:pPr lvl="1">
              <a:defRPr/>
            </a:pPr>
            <a:r>
              <a:rPr lang="en-US" smtClean="0"/>
              <a:t>Giảm bối rối khi mới tiếp xúc với con trỏ.</a:t>
            </a:r>
          </a:p>
          <a:p>
            <a:pPr lvl="1">
              <a:defRPr/>
            </a:pPr>
            <a:r>
              <a:rPr lang="en-US" smtClean="0"/>
              <a:t>Nh</a:t>
            </a:r>
            <a:r>
              <a:rPr lang="vi-VN" smtClean="0"/>
              <a:t>ư</a:t>
            </a:r>
            <a:r>
              <a:rPr lang="en-US" smtClean="0"/>
              <a:t>ng dễ nhầm lẫn với biến th</a:t>
            </a:r>
            <a:r>
              <a:rPr lang="vi-VN" smtClean="0"/>
              <a:t>ườ</a:t>
            </a:r>
            <a:r>
              <a:rPr lang="en-US" smtClean="0"/>
              <a:t>ng.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10096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7010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&lt;kiểu dữ liệu&gt;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&lt;tên kiểu con trỏ&gt;;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&lt;tên kiểu con trỏ&gt; &lt;tên biến con trỏ&gt;;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59175"/>
            <a:ext cx="152400" cy="10128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3559175"/>
            <a:ext cx="7010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int *pint;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*p1;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pint p2, p3;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3581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4191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 trỏ NULL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Khái niệm</a:t>
            </a:r>
          </a:p>
          <a:p>
            <a:pPr lvl="1">
              <a:defRPr/>
            </a:pPr>
            <a:r>
              <a:rPr lang="en-US" smtClean="0"/>
              <a:t>Con trỏ </a:t>
            </a:r>
            <a:r>
              <a:rPr lang="en-US" smtClean="0">
                <a:solidFill>
                  <a:srgbClr val="FF0000"/>
                </a:solidFill>
              </a:rPr>
              <a:t>NULL</a:t>
            </a:r>
            <a:r>
              <a:rPr lang="en-US" smtClean="0"/>
              <a:t> là con trỏ không trỏ vào </a:t>
            </a:r>
            <a:r>
              <a:rPr lang="vi-VN" smtClean="0"/>
              <a:t>đâ</a:t>
            </a:r>
            <a:r>
              <a:rPr lang="en-US" smtClean="0"/>
              <a:t>u cả.</a:t>
            </a:r>
          </a:p>
          <a:p>
            <a:pPr lvl="1">
              <a:defRPr/>
            </a:pPr>
            <a:r>
              <a:rPr lang="en-US" smtClean="0"/>
              <a:t>Khác với con trỏ ch</a:t>
            </a:r>
            <a:r>
              <a:rPr lang="vi-VN" smtClean="0"/>
              <a:t>ư</a:t>
            </a:r>
            <a:r>
              <a:rPr lang="en-US" smtClean="0"/>
              <a:t>a </a:t>
            </a:r>
            <a:r>
              <a:rPr lang="vi-VN" smtClean="0"/>
              <a:t>đượ</a:t>
            </a:r>
            <a:r>
              <a:rPr lang="en-US" smtClean="0"/>
              <a:t>c khởi tạo.</a:t>
            </a:r>
            <a:endParaRPr lang="en-US"/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gray">
          <a:xfrm>
            <a:off x="2286000" y="4953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743200" y="5181600"/>
            <a:ext cx="10668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4876800" y="4953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884738" y="4989513"/>
            <a:ext cx="895350" cy="41116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900613" y="4976813"/>
            <a:ext cx="869950" cy="40957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4876800" y="5486400"/>
            <a:ext cx="9906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NULL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124199"/>
            <a:ext cx="152400" cy="101566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40" name="TextBox 25"/>
          <p:cNvSpPr txBox="1">
            <a:spLocks noChangeArrowheads="1"/>
          </p:cNvSpPr>
          <p:nvPr/>
        </p:nvSpPr>
        <p:spPr bwMode="auto">
          <a:xfrm>
            <a:off x="838200" y="3124200"/>
            <a:ext cx="70104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n;</a:t>
            </a:r>
          </a:p>
          <a:p>
            <a:pPr eaLnBrk="1" hangingPunct="1"/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*p2;	//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unreferenced local varialbe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*p3 = NULL;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Khởi tạo kiểu con trỏ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Khởi tạo</a:t>
            </a:r>
          </a:p>
          <a:p>
            <a:pPr lvl="1">
              <a:defRPr/>
            </a:pPr>
            <a:r>
              <a:rPr lang="en-US" smtClean="0"/>
              <a:t>Khi mới khai báo, biến con trỏ </a:t>
            </a:r>
            <a:r>
              <a:rPr lang="vi-VN" smtClean="0"/>
              <a:t>đượ</a:t>
            </a:r>
            <a:r>
              <a:rPr lang="en-US" smtClean="0"/>
              <a:t>c </a:t>
            </a:r>
            <a:r>
              <a:rPr lang="vi-VN" smtClean="0">
                <a:solidFill>
                  <a:srgbClr val="FF0000"/>
                </a:solidFill>
              </a:rPr>
              <a:t>đặ</a:t>
            </a:r>
            <a:r>
              <a:rPr lang="en-US" smtClean="0">
                <a:solidFill>
                  <a:srgbClr val="FF0000"/>
                </a:solidFill>
              </a:rPr>
              <a:t>t ở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a chỉ nào </a:t>
            </a:r>
            <a:r>
              <a:rPr lang="vi-VN" smtClean="0">
                <a:solidFill>
                  <a:srgbClr val="FF0000"/>
                </a:solidFill>
              </a:rPr>
              <a:t>đó</a:t>
            </a:r>
            <a:r>
              <a:rPr lang="en-US" smtClean="0"/>
              <a:t> (không biết tr</a:t>
            </a:r>
            <a:r>
              <a:rPr lang="vi-VN" smtClean="0"/>
              <a:t>ướ</a:t>
            </a:r>
            <a:r>
              <a:rPr lang="en-US" smtClean="0"/>
              <a:t>c). 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 c</a:t>
            </a:r>
            <a:r>
              <a:rPr lang="en-US" smtClean="0"/>
              <a:t>hứa </a:t>
            </a:r>
            <a:r>
              <a:rPr lang="en-US" smtClean="0">
                <a:solidFill>
                  <a:srgbClr val="FF0000"/>
                </a:solidFill>
              </a:rPr>
              <a:t>giá trị không xác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nh</a:t>
            </a:r>
          </a:p>
          <a:p>
            <a:pPr lvl="1">
              <a:defRPr/>
            </a:pPr>
            <a:r>
              <a:rPr lang="en-US"/>
              <a:t>Để lấy địa chỉ của biến: &amp;&lt;tên_biến&gt;</a:t>
            </a:r>
          </a:p>
          <a:p>
            <a:pPr lvl="1">
              <a:defRPr/>
            </a:pPr>
            <a:r>
              <a:rPr lang="en-US" smtClean="0"/>
              <a:t>Đặt </a:t>
            </a:r>
            <a:r>
              <a:rPr lang="vi-VN" smtClean="0"/>
              <a:t>đị</a:t>
            </a:r>
            <a:r>
              <a:rPr lang="en-US" smtClean="0"/>
              <a:t>a chỉ của biến vào con trỏ (toán tử </a:t>
            </a:r>
            <a:r>
              <a:rPr lang="en-US" smtClean="0">
                <a:solidFill>
                  <a:srgbClr val="FF0000"/>
                </a:solidFill>
              </a:rPr>
              <a:t>&amp;</a:t>
            </a:r>
            <a:r>
              <a:rPr lang="en-US" smtClean="0"/>
              <a:t>)</a:t>
            </a:r>
          </a:p>
          <a:p>
            <a:pPr lvl="1">
              <a:spcBef>
                <a:spcPts val="0"/>
              </a:spcBef>
              <a:defRPr/>
            </a:pPr>
            <a:endParaRPr lang="en-US" smtClean="0"/>
          </a:p>
          <a:p>
            <a:pPr marL="0" indent="0">
              <a:spcAft>
                <a:spcPts val="1200"/>
              </a:spcAft>
              <a:buNone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4495800"/>
            <a:ext cx="152400" cy="381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4552950"/>
            <a:ext cx="701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tên biến con trỏ&gt;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&lt;tên biến&gt;;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410200"/>
            <a:ext cx="1524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38200" y="5388114"/>
            <a:ext cx="70104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a,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*pa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a, *</a:t>
            </a:r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pb;</a:t>
            </a:r>
          </a:p>
          <a:p>
            <a:pPr eaLnBrk="1" hangingPunct="1"/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pb = </a:t>
            </a:r>
            <a:r>
              <a:rPr lang="en-US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b;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541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5715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601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0" grpId="0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Sử dụng con trỏ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 xuất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đế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 ô nhớ mà con trỏ trỏ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đế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</a:t>
            </a:r>
          </a:p>
          <a:p>
            <a:pPr lvl="1">
              <a:defRPr/>
            </a:pPr>
            <a:r>
              <a:rPr lang="en-US" smtClean="0"/>
              <a:t>Con trỏ chứa </a:t>
            </a:r>
            <a:r>
              <a:rPr lang="en-US" smtClean="0">
                <a:solidFill>
                  <a:srgbClr val="FF0000"/>
                </a:solidFill>
              </a:rPr>
              <a:t>một số nguyên chỉ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a chỉ</a:t>
            </a:r>
            <a:r>
              <a:rPr lang="en-US" smtClean="0"/>
              <a:t>.</a:t>
            </a:r>
          </a:p>
          <a:p>
            <a:pPr lvl="1">
              <a:defRPr/>
            </a:pPr>
            <a:r>
              <a:rPr lang="en-US" smtClean="0"/>
              <a:t>Vùng nhớ mà nó trỏ </a:t>
            </a:r>
            <a:r>
              <a:rPr lang="vi-VN" smtClean="0"/>
              <a:t>đế</a:t>
            </a:r>
            <a:r>
              <a:rPr lang="en-US" smtClean="0"/>
              <a:t>n, sử dụng toán tử </a:t>
            </a:r>
            <a:r>
              <a:rPr lang="en-US" smtClean="0">
                <a:solidFill>
                  <a:srgbClr val="FF0000"/>
                </a:solidFill>
              </a:rPr>
              <a:t>*</a:t>
            </a:r>
            <a:r>
              <a:rPr lang="en-US" smtClean="0"/>
              <a:t>.</a:t>
            </a: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3581400"/>
            <a:ext cx="152400" cy="1219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38200" y="3581400"/>
            <a:ext cx="8305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 = 5, *pa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printf(“%d\n”, pa);  // Giá trị biến pa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printf(“%d\n”, *pa); // Giá trị vùng nhớ pa trỏ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đế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printf(“%d\n”, &amp;pa); // Địa chỉ biến pa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3581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886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AutoShape 6"/>
          <p:cNvSpPr>
            <a:spLocks noChangeArrowheads="1"/>
          </p:cNvSpPr>
          <p:nvPr/>
        </p:nvSpPr>
        <p:spPr bwMode="gray">
          <a:xfrm>
            <a:off x="75438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57" name="AutoShape 6"/>
          <p:cNvSpPr>
            <a:spLocks noChangeArrowheads="1"/>
          </p:cNvSpPr>
          <p:nvPr/>
        </p:nvSpPr>
        <p:spPr bwMode="gray">
          <a:xfrm>
            <a:off x="6858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58" name="AutoShape 6"/>
          <p:cNvSpPr>
            <a:spLocks noChangeArrowheads="1"/>
          </p:cNvSpPr>
          <p:nvPr/>
        </p:nvSpPr>
        <p:spPr bwMode="gray">
          <a:xfrm>
            <a:off x="11430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9" name="AutoShape 6"/>
          <p:cNvSpPr>
            <a:spLocks noChangeArrowheads="1"/>
          </p:cNvSpPr>
          <p:nvPr/>
        </p:nvSpPr>
        <p:spPr bwMode="gray">
          <a:xfrm>
            <a:off x="11430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0A</a:t>
            </a:r>
            <a:endParaRPr lang="en-US" baseline="30000"/>
          </a:p>
        </p:txBody>
      </p:sp>
      <p:sp>
        <p:nvSpPr>
          <p:cNvPr id="60" name="AutoShape 6"/>
          <p:cNvSpPr>
            <a:spLocks noChangeArrowheads="1"/>
          </p:cNvSpPr>
          <p:nvPr/>
        </p:nvSpPr>
        <p:spPr bwMode="gray">
          <a:xfrm>
            <a:off x="16002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1" name="AutoShape 6"/>
          <p:cNvSpPr>
            <a:spLocks noChangeArrowheads="1"/>
          </p:cNvSpPr>
          <p:nvPr/>
        </p:nvSpPr>
        <p:spPr bwMode="gray">
          <a:xfrm>
            <a:off x="16002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0B</a:t>
            </a:r>
            <a:endParaRPr lang="en-US" baseline="30000"/>
          </a:p>
        </p:txBody>
      </p:sp>
      <p:sp>
        <p:nvSpPr>
          <p:cNvPr id="62" name="AutoShape 6"/>
          <p:cNvSpPr>
            <a:spLocks noChangeArrowheads="1"/>
          </p:cNvSpPr>
          <p:nvPr/>
        </p:nvSpPr>
        <p:spPr bwMode="gray">
          <a:xfrm>
            <a:off x="20574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3" name="AutoShape 6"/>
          <p:cNvSpPr>
            <a:spLocks noChangeArrowheads="1"/>
          </p:cNvSpPr>
          <p:nvPr/>
        </p:nvSpPr>
        <p:spPr bwMode="gray">
          <a:xfrm>
            <a:off x="20574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0C</a:t>
            </a:r>
            <a:endParaRPr lang="en-US" baseline="30000"/>
          </a:p>
        </p:txBody>
      </p:sp>
      <p:sp>
        <p:nvSpPr>
          <p:cNvPr id="64" name="AutoShape 6"/>
          <p:cNvSpPr>
            <a:spLocks noChangeArrowheads="1"/>
          </p:cNvSpPr>
          <p:nvPr/>
        </p:nvSpPr>
        <p:spPr bwMode="gray">
          <a:xfrm>
            <a:off x="25146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5" name="AutoShape 6"/>
          <p:cNvSpPr>
            <a:spLocks noChangeArrowheads="1"/>
          </p:cNvSpPr>
          <p:nvPr/>
        </p:nvSpPr>
        <p:spPr bwMode="gray">
          <a:xfrm>
            <a:off x="25146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0D</a:t>
            </a:r>
            <a:endParaRPr lang="en-US" baseline="30000"/>
          </a:p>
        </p:txBody>
      </p:sp>
      <p:sp>
        <p:nvSpPr>
          <p:cNvPr id="66" name="AutoShape 6"/>
          <p:cNvSpPr>
            <a:spLocks noChangeArrowheads="1"/>
          </p:cNvSpPr>
          <p:nvPr/>
        </p:nvSpPr>
        <p:spPr bwMode="gray">
          <a:xfrm>
            <a:off x="29718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7" name="AutoShape 6"/>
          <p:cNvSpPr>
            <a:spLocks noChangeArrowheads="1"/>
          </p:cNvSpPr>
          <p:nvPr/>
        </p:nvSpPr>
        <p:spPr bwMode="gray">
          <a:xfrm>
            <a:off x="29718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0E</a:t>
            </a:r>
            <a:endParaRPr lang="en-US" baseline="30000"/>
          </a:p>
        </p:txBody>
      </p:sp>
      <p:sp>
        <p:nvSpPr>
          <p:cNvPr id="68" name="AutoShape 6"/>
          <p:cNvSpPr>
            <a:spLocks noChangeArrowheads="1"/>
          </p:cNvSpPr>
          <p:nvPr/>
        </p:nvSpPr>
        <p:spPr bwMode="gray">
          <a:xfrm>
            <a:off x="34290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9" name="AutoShape 6"/>
          <p:cNvSpPr>
            <a:spLocks noChangeArrowheads="1"/>
          </p:cNvSpPr>
          <p:nvPr/>
        </p:nvSpPr>
        <p:spPr bwMode="gray">
          <a:xfrm>
            <a:off x="34290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0F</a:t>
            </a:r>
            <a:endParaRPr lang="en-US" baseline="30000"/>
          </a:p>
        </p:txBody>
      </p:sp>
      <p:sp>
        <p:nvSpPr>
          <p:cNvPr id="70" name="AutoShape 6"/>
          <p:cNvSpPr>
            <a:spLocks noChangeArrowheads="1"/>
          </p:cNvSpPr>
          <p:nvPr/>
        </p:nvSpPr>
        <p:spPr bwMode="gray">
          <a:xfrm>
            <a:off x="38862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1" name="AutoShape 6"/>
          <p:cNvSpPr>
            <a:spLocks noChangeArrowheads="1"/>
          </p:cNvSpPr>
          <p:nvPr/>
        </p:nvSpPr>
        <p:spPr bwMode="gray">
          <a:xfrm>
            <a:off x="38862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72" name="AutoShape 6"/>
          <p:cNvSpPr>
            <a:spLocks noChangeArrowheads="1"/>
          </p:cNvSpPr>
          <p:nvPr/>
        </p:nvSpPr>
        <p:spPr bwMode="gray">
          <a:xfrm>
            <a:off x="43434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3" name="AutoShape 6"/>
          <p:cNvSpPr>
            <a:spLocks noChangeArrowheads="1"/>
          </p:cNvSpPr>
          <p:nvPr/>
        </p:nvSpPr>
        <p:spPr bwMode="gray">
          <a:xfrm>
            <a:off x="43434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gray">
          <a:xfrm>
            <a:off x="48006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5" name="AutoShape 6"/>
          <p:cNvSpPr>
            <a:spLocks noChangeArrowheads="1"/>
          </p:cNvSpPr>
          <p:nvPr/>
        </p:nvSpPr>
        <p:spPr bwMode="gray">
          <a:xfrm>
            <a:off x="48006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12</a:t>
            </a:r>
            <a:endParaRPr lang="en-US" baseline="30000"/>
          </a:p>
        </p:txBody>
      </p:sp>
      <p:sp>
        <p:nvSpPr>
          <p:cNvPr id="76" name="AutoShape 6"/>
          <p:cNvSpPr>
            <a:spLocks noChangeArrowheads="1"/>
          </p:cNvSpPr>
          <p:nvPr/>
        </p:nvSpPr>
        <p:spPr bwMode="gray">
          <a:xfrm>
            <a:off x="52578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7" name="AutoShape 6"/>
          <p:cNvSpPr>
            <a:spLocks noChangeArrowheads="1"/>
          </p:cNvSpPr>
          <p:nvPr/>
        </p:nvSpPr>
        <p:spPr bwMode="gray">
          <a:xfrm>
            <a:off x="52578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78" name="AutoShape 6"/>
          <p:cNvSpPr>
            <a:spLocks noChangeArrowheads="1"/>
          </p:cNvSpPr>
          <p:nvPr/>
        </p:nvSpPr>
        <p:spPr bwMode="gray">
          <a:xfrm>
            <a:off x="57150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9" name="AutoShape 6"/>
          <p:cNvSpPr>
            <a:spLocks noChangeArrowheads="1"/>
          </p:cNvSpPr>
          <p:nvPr/>
        </p:nvSpPr>
        <p:spPr bwMode="gray">
          <a:xfrm>
            <a:off x="57150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80" name="AutoShape 6"/>
          <p:cNvSpPr>
            <a:spLocks noChangeArrowheads="1"/>
          </p:cNvSpPr>
          <p:nvPr/>
        </p:nvSpPr>
        <p:spPr bwMode="gray">
          <a:xfrm>
            <a:off x="61722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1" name="AutoShape 6"/>
          <p:cNvSpPr>
            <a:spLocks noChangeArrowheads="1"/>
          </p:cNvSpPr>
          <p:nvPr/>
        </p:nvSpPr>
        <p:spPr bwMode="gray">
          <a:xfrm>
            <a:off x="61722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82" name="AutoShape 6"/>
          <p:cNvSpPr>
            <a:spLocks noChangeArrowheads="1"/>
          </p:cNvSpPr>
          <p:nvPr/>
        </p:nvSpPr>
        <p:spPr bwMode="gray">
          <a:xfrm>
            <a:off x="66294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3" name="AutoShape 6"/>
          <p:cNvSpPr>
            <a:spLocks noChangeArrowheads="1"/>
          </p:cNvSpPr>
          <p:nvPr/>
        </p:nvSpPr>
        <p:spPr bwMode="gray">
          <a:xfrm>
            <a:off x="66294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84" name="AutoShape 6"/>
          <p:cNvSpPr>
            <a:spLocks noChangeArrowheads="1"/>
          </p:cNvSpPr>
          <p:nvPr/>
        </p:nvSpPr>
        <p:spPr bwMode="gray">
          <a:xfrm>
            <a:off x="70866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5" name="AutoShape 6"/>
          <p:cNvSpPr>
            <a:spLocks noChangeArrowheads="1"/>
          </p:cNvSpPr>
          <p:nvPr/>
        </p:nvSpPr>
        <p:spPr bwMode="gray">
          <a:xfrm>
            <a:off x="7086600" y="51054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sp>
        <p:nvSpPr>
          <p:cNvPr id="86" name="AutoShape 6"/>
          <p:cNvSpPr>
            <a:spLocks noChangeArrowheads="1"/>
          </p:cNvSpPr>
          <p:nvPr/>
        </p:nvSpPr>
        <p:spPr bwMode="gray">
          <a:xfrm>
            <a:off x="1600200" y="6400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</a:t>
            </a:r>
          </a:p>
        </p:txBody>
      </p:sp>
      <p:cxnSp>
        <p:nvCxnSpPr>
          <p:cNvPr id="87" name="Straight Arrow Connector 86"/>
          <p:cNvCxnSpPr/>
          <p:nvPr/>
        </p:nvCxnSpPr>
        <p:spPr>
          <a:xfrm rot="5400000" flipH="1" flipV="1">
            <a:off x="1639887" y="62849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AutoShape 6"/>
          <p:cNvSpPr>
            <a:spLocks noChangeArrowheads="1"/>
          </p:cNvSpPr>
          <p:nvPr/>
        </p:nvSpPr>
        <p:spPr bwMode="gray">
          <a:xfrm>
            <a:off x="4343400" y="6400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pa</a:t>
            </a:r>
          </a:p>
        </p:txBody>
      </p:sp>
      <p:cxnSp>
        <p:nvCxnSpPr>
          <p:cNvPr id="89" name="Straight Arrow Connector 88"/>
          <p:cNvCxnSpPr/>
          <p:nvPr/>
        </p:nvCxnSpPr>
        <p:spPr>
          <a:xfrm rot="5400000" flipH="1" flipV="1">
            <a:off x="4383087" y="62849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rot="5400000" flipH="1" flipV="1">
            <a:off x="4420395" y="5028406"/>
            <a:ext cx="303212" cy="317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rot="5400000">
            <a:off x="1676401" y="5029200"/>
            <a:ext cx="3048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rot="10800000">
            <a:off x="1828800" y="4875213"/>
            <a:ext cx="2743200" cy="1587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AutoShape 6"/>
          <p:cNvSpPr>
            <a:spLocks noChangeArrowheads="1"/>
          </p:cNvSpPr>
          <p:nvPr/>
        </p:nvSpPr>
        <p:spPr bwMode="gray">
          <a:xfrm>
            <a:off x="1600200" y="54864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4" name="AutoShape 6"/>
          <p:cNvSpPr>
            <a:spLocks noChangeArrowheads="1"/>
          </p:cNvSpPr>
          <p:nvPr/>
        </p:nvSpPr>
        <p:spPr bwMode="gray">
          <a:xfrm>
            <a:off x="43434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0B</a:t>
            </a:r>
          </a:p>
        </p:txBody>
      </p:sp>
      <p:sp>
        <p:nvSpPr>
          <p:cNvPr id="95" name="AutoShape 6"/>
          <p:cNvSpPr>
            <a:spLocks noChangeArrowheads="1"/>
          </p:cNvSpPr>
          <p:nvPr/>
        </p:nvSpPr>
        <p:spPr bwMode="gray">
          <a:xfrm>
            <a:off x="48006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6" name="AutoShape 6"/>
          <p:cNvSpPr>
            <a:spLocks noChangeArrowheads="1"/>
          </p:cNvSpPr>
          <p:nvPr/>
        </p:nvSpPr>
        <p:spPr bwMode="gray">
          <a:xfrm>
            <a:off x="52578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7" name="AutoShape 6"/>
          <p:cNvSpPr>
            <a:spLocks noChangeArrowheads="1"/>
          </p:cNvSpPr>
          <p:nvPr/>
        </p:nvSpPr>
        <p:spPr bwMode="gray">
          <a:xfrm>
            <a:off x="57150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8" name="AutoShape 6"/>
          <p:cNvSpPr>
            <a:spLocks noChangeArrowheads="1"/>
          </p:cNvSpPr>
          <p:nvPr/>
        </p:nvSpPr>
        <p:spPr bwMode="gray">
          <a:xfrm>
            <a:off x="4343400" y="54864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9" name="AutoShape 6"/>
          <p:cNvSpPr>
            <a:spLocks noChangeArrowheads="1"/>
          </p:cNvSpPr>
          <p:nvPr/>
        </p:nvSpPr>
        <p:spPr bwMode="gray">
          <a:xfrm>
            <a:off x="16002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05</a:t>
            </a:r>
          </a:p>
        </p:txBody>
      </p:sp>
      <p:sp>
        <p:nvSpPr>
          <p:cNvPr id="100" name="AutoShape 6"/>
          <p:cNvSpPr>
            <a:spLocks noChangeArrowheads="1"/>
          </p:cNvSpPr>
          <p:nvPr/>
        </p:nvSpPr>
        <p:spPr bwMode="gray">
          <a:xfrm>
            <a:off x="20574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101" name="AutoShape 6"/>
          <p:cNvSpPr>
            <a:spLocks noChangeArrowheads="1"/>
          </p:cNvSpPr>
          <p:nvPr/>
        </p:nvSpPr>
        <p:spPr bwMode="gray">
          <a:xfrm>
            <a:off x="25146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102" name="AutoShape 6"/>
          <p:cNvSpPr>
            <a:spLocks noChangeArrowheads="1"/>
          </p:cNvSpPr>
          <p:nvPr/>
        </p:nvSpPr>
        <p:spPr bwMode="gray">
          <a:xfrm>
            <a:off x="2971800" y="5562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110" name="Rectangle 109"/>
          <p:cNvSpPr>
            <a:spLocks/>
          </p:cNvSpPr>
          <p:nvPr/>
        </p:nvSpPr>
        <p:spPr bwMode="auto">
          <a:xfrm>
            <a:off x="0" y="4191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Rectangle 110"/>
          <p:cNvSpPr>
            <a:spLocks/>
          </p:cNvSpPr>
          <p:nvPr/>
        </p:nvSpPr>
        <p:spPr bwMode="auto">
          <a:xfrm>
            <a:off x="0" y="4495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7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3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4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6" dur="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7" dur="2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9" dur="500" tmFilter="0, 0; .2, .5; .8, .5; 1, 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0" dur="250" autoRev="1" fill="hold"/>
                                        <p:tgtEl>
                                          <p:spTgt spid="9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12" dur="500" tmFilter="0, 0; .2, .5; .8, .5; 1, 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3" dur="25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500" tmFilter="0, 0; .2, .5; .8, .5; 1, 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6" dur="250" autoRev="1" fill="hold"/>
                                        <p:tgtEl>
                                          <p:spTgt spid="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 tmFilter="0, 0; .2, .5; .8, .5; 1, 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9" dur="250" autoRev="1" fill="hold"/>
                                        <p:tgtEl>
                                          <p:spTgt spid="1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 tmFilter="0, 0; .2, .5; .8, .5; 1, 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2" dur="250" autoRev="1" fill="hold"/>
                                        <p:tgtEl>
                                          <p:spTgt spid="1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5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4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4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5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5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7" grpId="0" animBg="1"/>
      <p:bldP spid="11" grpId="0" animBg="1"/>
      <p:bldP spid="56" grpId="0" animBg="1"/>
      <p:bldP spid="57" grpId="0" animBg="1"/>
      <p:bldP spid="58" grpId="0" animBg="1"/>
      <p:bldP spid="59" grpId="0"/>
      <p:bldP spid="60" grpId="0" animBg="1"/>
      <p:bldP spid="61" grpId="0"/>
      <p:bldP spid="62" grpId="0" animBg="1"/>
      <p:bldP spid="63" grpId="0"/>
      <p:bldP spid="64" grpId="0" animBg="1"/>
      <p:bldP spid="65" grpId="0"/>
      <p:bldP spid="66" grpId="0" animBg="1"/>
      <p:bldP spid="67" grpId="0"/>
      <p:bldP spid="68" grpId="0" animBg="1"/>
      <p:bldP spid="69" grpId="0"/>
      <p:bldP spid="70" grpId="0" animBg="1"/>
      <p:bldP spid="71" grpId="0"/>
      <p:bldP spid="72" grpId="0" animBg="1"/>
      <p:bldP spid="73" grpId="0"/>
      <p:bldP spid="73" grpId="1"/>
      <p:bldP spid="74" grpId="0" animBg="1"/>
      <p:bldP spid="75" grpId="0"/>
      <p:bldP spid="76" grpId="0" animBg="1"/>
      <p:bldP spid="77" grpId="0"/>
      <p:bldP spid="78" grpId="0" animBg="1"/>
      <p:bldP spid="79" grpId="0"/>
      <p:bldP spid="80" grpId="0" animBg="1"/>
      <p:bldP spid="81" grpId="0"/>
      <p:bldP spid="82" grpId="0" animBg="1"/>
      <p:bldP spid="83" grpId="0"/>
      <p:bldP spid="84" grpId="0" animBg="1"/>
      <p:bldP spid="85" grpId="0"/>
      <p:bldP spid="86" grpId="0" animBg="1"/>
      <p:bldP spid="88" grpId="0" animBg="1"/>
      <p:bldP spid="93" grpId="0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Kích th</a:t>
            </a:r>
            <a:r>
              <a:rPr lang="vi-VN" smtClean="0"/>
              <a:t>ướ</a:t>
            </a:r>
            <a:r>
              <a:rPr lang="en-US" smtClean="0"/>
              <a:t>c của con trỏ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Kích th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ướ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 của con trỏ</a:t>
            </a:r>
          </a:p>
          <a:p>
            <a:pPr lvl="1">
              <a:defRPr/>
            </a:pPr>
            <a:endParaRPr lang="en-US" smtClean="0"/>
          </a:p>
          <a:p>
            <a:pPr lvl="1">
              <a:defRPr/>
            </a:pPr>
            <a:endParaRPr lang="en-US" smtClean="0"/>
          </a:p>
          <a:p>
            <a:pPr lvl="1">
              <a:defRPr/>
            </a:pPr>
            <a:endParaRPr lang="en-US" smtClean="0"/>
          </a:p>
          <a:p>
            <a:pPr lvl="1">
              <a:defRPr/>
            </a:pPr>
            <a:r>
              <a:rPr lang="en-US" smtClean="0"/>
              <a:t>Con trỏ </a:t>
            </a:r>
            <a:r>
              <a:rPr lang="en-US" smtClean="0">
                <a:solidFill>
                  <a:srgbClr val="FF0000"/>
                </a:solidFill>
              </a:rPr>
              <a:t>chỉ l</a:t>
            </a:r>
            <a:r>
              <a:rPr lang="vi-VN" smtClean="0">
                <a:solidFill>
                  <a:srgbClr val="FF0000"/>
                </a:solidFill>
              </a:rPr>
              <a:t>ư</a:t>
            </a:r>
            <a:r>
              <a:rPr lang="en-US" smtClean="0">
                <a:solidFill>
                  <a:srgbClr val="FF0000"/>
                </a:solidFill>
              </a:rPr>
              <a:t>u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a chỉ</a:t>
            </a:r>
            <a:r>
              <a:rPr lang="en-US" smtClean="0"/>
              <a:t> nên kích th</a:t>
            </a:r>
            <a:r>
              <a:rPr lang="vi-VN" smtClean="0"/>
              <a:t>ước</a:t>
            </a:r>
            <a:r>
              <a:rPr lang="en-US" smtClean="0"/>
              <a:t> của mọi con trỏ là nh</a:t>
            </a:r>
            <a:r>
              <a:rPr lang="vi-VN" smtClean="0"/>
              <a:t>ư</a:t>
            </a:r>
            <a:r>
              <a:rPr lang="en-US" smtClean="0"/>
              <a:t> nhau:</a:t>
            </a:r>
          </a:p>
          <a:p>
            <a:pPr lvl="2">
              <a:defRPr/>
            </a:pPr>
            <a:r>
              <a:rPr lang="en-US" smtClean="0"/>
              <a:t>Môi tr</a:t>
            </a:r>
            <a:r>
              <a:rPr lang="vi-VN" smtClean="0"/>
              <a:t>ườ</a:t>
            </a:r>
            <a:r>
              <a:rPr lang="en-US" smtClean="0"/>
              <a:t>ng MD-DOS (</a:t>
            </a:r>
            <a:r>
              <a:rPr lang="en-US" smtClean="0">
                <a:solidFill>
                  <a:srgbClr val="FF0000"/>
                </a:solidFill>
              </a:rPr>
              <a:t>16 bit</a:t>
            </a:r>
            <a:r>
              <a:rPr lang="en-US" smtClean="0"/>
              <a:t>): </a:t>
            </a:r>
            <a:r>
              <a:rPr lang="en-US" smtClean="0">
                <a:solidFill>
                  <a:srgbClr val="FF0000"/>
                </a:solidFill>
              </a:rPr>
              <a:t>2</a:t>
            </a:r>
            <a:r>
              <a:rPr lang="en-US" smtClean="0"/>
              <a:t> bytes</a:t>
            </a:r>
          </a:p>
          <a:p>
            <a:pPr lvl="2">
              <a:defRPr/>
            </a:pPr>
            <a:r>
              <a:rPr lang="en-US" smtClean="0"/>
              <a:t>Môi tr</a:t>
            </a:r>
            <a:r>
              <a:rPr lang="vi-VN" smtClean="0"/>
              <a:t>ườ</a:t>
            </a:r>
            <a:r>
              <a:rPr lang="en-US" smtClean="0"/>
              <a:t>ng Windows (</a:t>
            </a:r>
            <a:r>
              <a:rPr lang="en-US" smtClean="0">
                <a:solidFill>
                  <a:srgbClr val="FF0000"/>
                </a:solidFill>
              </a:rPr>
              <a:t>32 bit</a:t>
            </a:r>
            <a:r>
              <a:rPr lang="en-US" smtClean="0"/>
              <a:t>): </a:t>
            </a:r>
            <a:r>
              <a:rPr lang="en-US" smtClean="0">
                <a:solidFill>
                  <a:srgbClr val="FF0000"/>
                </a:solidFill>
              </a:rPr>
              <a:t>4</a:t>
            </a:r>
            <a:r>
              <a:rPr lang="en-US" smtClean="0"/>
              <a:t> bytes</a:t>
            </a: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52400" cy="1600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6" name="TextBox 7"/>
          <p:cNvSpPr txBox="1">
            <a:spLocks noChangeArrowheads="1"/>
          </p:cNvSpPr>
          <p:nvPr/>
        </p:nvSpPr>
        <p:spPr bwMode="auto">
          <a:xfrm>
            <a:off x="838200" y="2057400"/>
            <a:ext cx="70104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p1;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p2;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float *p3;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double *p4;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cách truyền </a:t>
            </a:r>
            <a:r>
              <a:rPr lang="vi-VN" smtClean="0"/>
              <a:t>đố</a:t>
            </a:r>
            <a:r>
              <a:rPr lang="en-US" smtClean="0"/>
              <a:t>i số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Truyền giá trị (tham trị)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4419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hoanvi(int x, int y);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 = 5; b = 6;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hoanvi(a, b);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printf(“a = %d, b = %d”, a, b);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hoanvi(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x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y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 = x; x = y; y = 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2743200" y="5105400"/>
            <a:ext cx="1828800" cy="381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438400" y="5715000"/>
            <a:ext cx="3048000" cy="381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AutoShape 6"/>
          <p:cNvSpPr>
            <a:spLocks noChangeArrowheads="1"/>
          </p:cNvSpPr>
          <p:nvPr/>
        </p:nvSpPr>
        <p:spPr bwMode="gray">
          <a:xfrm>
            <a:off x="5410200" y="3505200"/>
            <a:ext cx="1828800" cy="91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int t = x;</a:t>
            </a:r>
          </a:p>
          <a:p>
            <a:pPr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x = y;</a:t>
            </a:r>
          </a:p>
          <a:p>
            <a:pPr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y = t;</a:t>
            </a:r>
          </a:p>
        </p:txBody>
      </p:sp>
      <p:sp>
        <p:nvSpPr>
          <p:cNvPr id="27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Truyền giá trị (tham trị)</a:t>
            </a: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73" name="AutoShape 6"/>
          <p:cNvSpPr>
            <a:spLocks noChangeArrowheads="1"/>
          </p:cNvSpPr>
          <p:nvPr/>
        </p:nvSpPr>
        <p:spPr bwMode="gray">
          <a:xfrm>
            <a:off x="7543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75" name="AutoShape 6"/>
          <p:cNvSpPr>
            <a:spLocks noChangeArrowheads="1"/>
          </p:cNvSpPr>
          <p:nvPr/>
        </p:nvSpPr>
        <p:spPr bwMode="gray">
          <a:xfrm>
            <a:off x="1143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6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05</a:t>
            </a:r>
          </a:p>
        </p:txBody>
      </p:sp>
      <p:sp>
        <p:nvSpPr>
          <p:cNvPr id="81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2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3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5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06</a:t>
            </a:r>
          </a:p>
        </p:txBody>
      </p:sp>
      <p:sp>
        <p:nvSpPr>
          <p:cNvPr id="86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7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8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9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4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5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7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8" name="AutoShape 6"/>
          <p:cNvSpPr>
            <a:spLocks noChangeArrowheads="1"/>
          </p:cNvSpPr>
          <p:nvPr/>
        </p:nvSpPr>
        <p:spPr bwMode="gray">
          <a:xfrm>
            <a:off x="7086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9" name="AutoShape 6"/>
          <p:cNvSpPr>
            <a:spLocks noChangeArrowheads="1"/>
          </p:cNvSpPr>
          <p:nvPr/>
        </p:nvSpPr>
        <p:spPr bwMode="gray">
          <a:xfrm>
            <a:off x="16002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/>
              <a:t> = 5</a:t>
            </a:r>
          </a:p>
        </p:txBody>
      </p:sp>
      <p:sp>
        <p:nvSpPr>
          <p:cNvPr id="111" name="AutoShape 6"/>
          <p:cNvSpPr>
            <a:spLocks noChangeArrowheads="1"/>
          </p:cNvSpPr>
          <p:nvPr/>
        </p:nvSpPr>
        <p:spPr bwMode="gray">
          <a:xfrm>
            <a:off x="1143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0A</a:t>
            </a:r>
            <a:endParaRPr lang="en-US" baseline="30000"/>
          </a:p>
        </p:txBody>
      </p:sp>
      <p:sp>
        <p:nvSpPr>
          <p:cNvPr id="112" name="AutoShape 6"/>
          <p:cNvSpPr>
            <a:spLocks noChangeArrowheads="1"/>
          </p:cNvSpPr>
          <p:nvPr/>
        </p:nvSpPr>
        <p:spPr bwMode="gray">
          <a:xfrm>
            <a:off x="1600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0B</a:t>
            </a:r>
            <a:endParaRPr lang="en-US" baseline="30000"/>
          </a:p>
        </p:txBody>
      </p:sp>
      <p:sp>
        <p:nvSpPr>
          <p:cNvPr id="113" name="AutoShape 6"/>
          <p:cNvSpPr>
            <a:spLocks noChangeArrowheads="1"/>
          </p:cNvSpPr>
          <p:nvPr/>
        </p:nvSpPr>
        <p:spPr bwMode="gray">
          <a:xfrm>
            <a:off x="2057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0C</a:t>
            </a:r>
            <a:endParaRPr lang="en-US" baseline="30000"/>
          </a:p>
        </p:txBody>
      </p:sp>
      <p:sp>
        <p:nvSpPr>
          <p:cNvPr id="117" name="AutoShape 6"/>
          <p:cNvSpPr>
            <a:spLocks noChangeArrowheads="1"/>
          </p:cNvSpPr>
          <p:nvPr/>
        </p:nvSpPr>
        <p:spPr bwMode="gray">
          <a:xfrm>
            <a:off x="2514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0D</a:t>
            </a:r>
            <a:endParaRPr lang="en-US" baseline="30000"/>
          </a:p>
        </p:txBody>
      </p:sp>
      <p:sp>
        <p:nvSpPr>
          <p:cNvPr id="118" name="AutoShape 6"/>
          <p:cNvSpPr>
            <a:spLocks noChangeArrowheads="1"/>
          </p:cNvSpPr>
          <p:nvPr/>
        </p:nvSpPr>
        <p:spPr bwMode="gray">
          <a:xfrm>
            <a:off x="2971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0E</a:t>
            </a:r>
            <a:endParaRPr lang="en-US" baseline="30000"/>
          </a:p>
        </p:txBody>
      </p:sp>
      <p:sp>
        <p:nvSpPr>
          <p:cNvPr id="119" name="AutoShape 6"/>
          <p:cNvSpPr>
            <a:spLocks noChangeArrowheads="1"/>
          </p:cNvSpPr>
          <p:nvPr/>
        </p:nvSpPr>
        <p:spPr bwMode="gray">
          <a:xfrm>
            <a:off x="3429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0F</a:t>
            </a:r>
            <a:endParaRPr lang="en-US" baseline="30000"/>
          </a:p>
        </p:txBody>
      </p:sp>
      <p:sp>
        <p:nvSpPr>
          <p:cNvPr id="120" name="AutoShape 6"/>
          <p:cNvSpPr>
            <a:spLocks noChangeArrowheads="1"/>
          </p:cNvSpPr>
          <p:nvPr/>
        </p:nvSpPr>
        <p:spPr bwMode="gray">
          <a:xfrm>
            <a:off x="3886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121" name="AutoShape 6"/>
          <p:cNvSpPr>
            <a:spLocks noChangeArrowheads="1"/>
          </p:cNvSpPr>
          <p:nvPr/>
        </p:nvSpPr>
        <p:spPr bwMode="gray">
          <a:xfrm>
            <a:off x="4343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122" name="AutoShape 6"/>
          <p:cNvSpPr>
            <a:spLocks noChangeArrowheads="1"/>
          </p:cNvSpPr>
          <p:nvPr/>
        </p:nvSpPr>
        <p:spPr bwMode="gray">
          <a:xfrm>
            <a:off x="4800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12</a:t>
            </a:r>
            <a:endParaRPr lang="en-US" baseline="30000"/>
          </a:p>
        </p:txBody>
      </p:sp>
      <p:sp>
        <p:nvSpPr>
          <p:cNvPr id="123" name="AutoShape 6"/>
          <p:cNvSpPr>
            <a:spLocks noChangeArrowheads="1"/>
          </p:cNvSpPr>
          <p:nvPr/>
        </p:nvSpPr>
        <p:spPr bwMode="gray">
          <a:xfrm>
            <a:off x="5257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124" name="AutoShape 6"/>
          <p:cNvSpPr>
            <a:spLocks noChangeArrowheads="1"/>
          </p:cNvSpPr>
          <p:nvPr/>
        </p:nvSpPr>
        <p:spPr bwMode="gray">
          <a:xfrm>
            <a:off x="5715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125" name="AutoShape 6"/>
          <p:cNvSpPr>
            <a:spLocks noChangeArrowheads="1"/>
          </p:cNvSpPr>
          <p:nvPr/>
        </p:nvSpPr>
        <p:spPr bwMode="gray">
          <a:xfrm>
            <a:off x="6172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126" name="AutoShape 6"/>
          <p:cNvSpPr>
            <a:spLocks noChangeArrowheads="1"/>
          </p:cNvSpPr>
          <p:nvPr/>
        </p:nvSpPr>
        <p:spPr bwMode="gray">
          <a:xfrm>
            <a:off x="6629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127" name="AutoShape 6"/>
          <p:cNvSpPr>
            <a:spLocks noChangeArrowheads="1"/>
          </p:cNvSpPr>
          <p:nvPr/>
        </p:nvSpPr>
        <p:spPr bwMode="gray">
          <a:xfrm>
            <a:off x="7086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cxnSp>
        <p:nvCxnSpPr>
          <p:cNvPr id="128" name="Straight Arrow Connector 127"/>
          <p:cNvCxnSpPr/>
          <p:nvPr/>
        </p:nvCxnSpPr>
        <p:spPr>
          <a:xfrm rot="5400000" flipH="1" flipV="1">
            <a:off x="16398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AutoShape 6"/>
          <p:cNvSpPr>
            <a:spLocks noChangeArrowheads="1"/>
          </p:cNvSpPr>
          <p:nvPr/>
        </p:nvSpPr>
        <p:spPr bwMode="gray">
          <a:xfrm>
            <a:off x="16002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0" name="AutoShape 6"/>
          <p:cNvSpPr>
            <a:spLocks noChangeArrowheads="1"/>
          </p:cNvSpPr>
          <p:nvPr/>
        </p:nvSpPr>
        <p:spPr bwMode="gray">
          <a:xfrm>
            <a:off x="34290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2" name="AutoShape 6"/>
          <p:cNvSpPr>
            <a:spLocks noChangeArrowheads="1"/>
          </p:cNvSpPr>
          <p:nvPr/>
        </p:nvSpPr>
        <p:spPr bwMode="gray">
          <a:xfrm>
            <a:off x="34290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b</a:t>
            </a:r>
            <a:r>
              <a:rPr lang="en-US" sz="2400"/>
              <a:t> = 6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 rot="5400000" flipH="1" flipV="1">
            <a:off x="34686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AutoShape 6"/>
          <p:cNvSpPr>
            <a:spLocks noChangeArrowheads="1"/>
          </p:cNvSpPr>
          <p:nvPr/>
        </p:nvSpPr>
        <p:spPr bwMode="gray">
          <a:xfrm>
            <a:off x="2514600" y="3733800"/>
            <a:ext cx="1219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35" name="AutoShape 6"/>
          <p:cNvSpPr>
            <a:spLocks noChangeArrowheads="1"/>
          </p:cNvSpPr>
          <p:nvPr/>
        </p:nvSpPr>
        <p:spPr bwMode="gray">
          <a:xfrm>
            <a:off x="3886200" y="3733800"/>
            <a:ext cx="1295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136" name="AutoShape 6"/>
          <p:cNvSpPr>
            <a:spLocks noChangeArrowheads="1"/>
          </p:cNvSpPr>
          <p:nvPr/>
        </p:nvSpPr>
        <p:spPr bwMode="gray">
          <a:xfrm>
            <a:off x="1143000" y="3657600"/>
            <a:ext cx="4114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7" name="AutoShape 6"/>
          <p:cNvSpPr>
            <a:spLocks noChangeArrowheads="1"/>
          </p:cNvSpPr>
          <p:nvPr/>
        </p:nvSpPr>
        <p:spPr bwMode="gray">
          <a:xfrm>
            <a:off x="1295400" y="3733800"/>
            <a:ext cx="10668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hoanvi</a:t>
            </a:r>
          </a:p>
        </p:txBody>
      </p:sp>
      <p:cxnSp>
        <p:nvCxnSpPr>
          <p:cNvPr id="138" name="Straight Arrow Connector 137"/>
          <p:cNvCxnSpPr>
            <a:stCxn id="134" idx="2"/>
          </p:cNvCxnSpPr>
          <p:nvPr/>
        </p:nvCxnSpPr>
        <p:spPr>
          <a:xfrm rot="5400000">
            <a:off x="2857501" y="4457700"/>
            <a:ext cx="533400" cy="3175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/>
          <p:nvPr/>
        </p:nvCxnSpPr>
        <p:spPr>
          <a:xfrm rot="5400000">
            <a:off x="1639094" y="4914106"/>
            <a:ext cx="381000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>
            <a:off x="1828800" y="4724400"/>
            <a:ext cx="1295400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>
            <a:stCxn id="135" idx="2"/>
          </p:cNvCxnSpPr>
          <p:nvPr/>
        </p:nvCxnSpPr>
        <p:spPr>
          <a:xfrm rot="16200000" flipH="1">
            <a:off x="4264819" y="4460081"/>
            <a:ext cx="546100" cy="7938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 rot="5400000">
            <a:off x="3467894" y="4914106"/>
            <a:ext cx="381000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 flipV="1">
            <a:off x="3657600" y="4724400"/>
            <a:ext cx="884238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AutoShape 6"/>
          <p:cNvSpPr>
            <a:spLocks noChangeArrowheads="1"/>
          </p:cNvSpPr>
          <p:nvPr/>
        </p:nvSpPr>
        <p:spPr bwMode="gray">
          <a:xfrm>
            <a:off x="75438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172" name="AutoShape 6"/>
          <p:cNvSpPr>
            <a:spLocks noChangeArrowheads="1"/>
          </p:cNvSpPr>
          <p:nvPr/>
        </p:nvSpPr>
        <p:spPr bwMode="gray">
          <a:xfrm>
            <a:off x="6858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173" name="AutoShape 6"/>
          <p:cNvSpPr>
            <a:spLocks noChangeArrowheads="1"/>
          </p:cNvSpPr>
          <p:nvPr/>
        </p:nvSpPr>
        <p:spPr bwMode="gray">
          <a:xfrm>
            <a:off x="11430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4" name="AutoShape 6"/>
          <p:cNvSpPr>
            <a:spLocks noChangeArrowheads="1"/>
          </p:cNvSpPr>
          <p:nvPr/>
        </p:nvSpPr>
        <p:spPr bwMode="gray">
          <a:xfrm>
            <a:off x="16002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5" name="AutoShape 6"/>
          <p:cNvSpPr>
            <a:spLocks noChangeArrowheads="1"/>
          </p:cNvSpPr>
          <p:nvPr/>
        </p:nvSpPr>
        <p:spPr bwMode="gray">
          <a:xfrm>
            <a:off x="20574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6" name="AutoShape 6"/>
          <p:cNvSpPr>
            <a:spLocks noChangeArrowheads="1"/>
          </p:cNvSpPr>
          <p:nvPr/>
        </p:nvSpPr>
        <p:spPr bwMode="gray">
          <a:xfrm>
            <a:off x="25146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7" name="AutoShape 6"/>
          <p:cNvSpPr>
            <a:spLocks noChangeArrowheads="1"/>
          </p:cNvSpPr>
          <p:nvPr/>
        </p:nvSpPr>
        <p:spPr bwMode="gray">
          <a:xfrm>
            <a:off x="29718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8" name="AutoShape 6"/>
          <p:cNvSpPr>
            <a:spLocks noChangeArrowheads="1"/>
          </p:cNvSpPr>
          <p:nvPr/>
        </p:nvSpPr>
        <p:spPr bwMode="gray">
          <a:xfrm>
            <a:off x="34290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9" name="AutoShape 6"/>
          <p:cNvSpPr>
            <a:spLocks noChangeArrowheads="1"/>
          </p:cNvSpPr>
          <p:nvPr/>
        </p:nvSpPr>
        <p:spPr bwMode="gray">
          <a:xfrm>
            <a:off x="38862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0" name="AutoShape 6"/>
          <p:cNvSpPr>
            <a:spLocks noChangeArrowheads="1"/>
          </p:cNvSpPr>
          <p:nvPr/>
        </p:nvSpPr>
        <p:spPr bwMode="gray">
          <a:xfrm>
            <a:off x="43434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1" name="AutoShape 6"/>
          <p:cNvSpPr>
            <a:spLocks noChangeArrowheads="1"/>
          </p:cNvSpPr>
          <p:nvPr/>
        </p:nvSpPr>
        <p:spPr bwMode="gray">
          <a:xfrm>
            <a:off x="48006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2" name="AutoShape 6"/>
          <p:cNvSpPr>
            <a:spLocks noChangeArrowheads="1"/>
          </p:cNvSpPr>
          <p:nvPr/>
        </p:nvSpPr>
        <p:spPr bwMode="gray">
          <a:xfrm>
            <a:off x="52578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3" name="AutoShape 6"/>
          <p:cNvSpPr>
            <a:spLocks noChangeArrowheads="1"/>
          </p:cNvSpPr>
          <p:nvPr/>
        </p:nvSpPr>
        <p:spPr bwMode="gray">
          <a:xfrm>
            <a:off x="57150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4" name="AutoShape 6"/>
          <p:cNvSpPr>
            <a:spLocks noChangeArrowheads="1"/>
          </p:cNvSpPr>
          <p:nvPr/>
        </p:nvSpPr>
        <p:spPr bwMode="gray">
          <a:xfrm>
            <a:off x="61722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5" name="AutoShape 6"/>
          <p:cNvSpPr>
            <a:spLocks noChangeArrowheads="1"/>
          </p:cNvSpPr>
          <p:nvPr/>
        </p:nvSpPr>
        <p:spPr bwMode="gray">
          <a:xfrm>
            <a:off x="66294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6" name="AutoShape 6"/>
          <p:cNvSpPr>
            <a:spLocks noChangeArrowheads="1"/>
          </p:cNvSpPr>
          <p:nvPr/>
        </p:nvSpPr>
        <p:spPr bwMode="gray">
          <a:xfrm>
            <a:off x="70866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7" name="AutoShape 6"/>
          <p:cNvSpPr>
            <a:spLocks noChangeArrowheads="1"/>
          </p:cNvSpPr>
          <p:nvPr/>
        </p:nvSpPr>
        <p:spPr bwMode="gray">
          <a:xfrm>
            <a:off x="11430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18</a:t>
            </a:r>
            <a:endParaRPr lang="en-US" baseline="30000"/>
          </a:p>
        </p:txBody>
      </p:sp>
      <p:sp>
        <p:nvSpPr>
          <p:cNvPr id="188" name="AutoShape 6"/>
          <p:cNvSpPr>
            <a:spLocks noChangeArrowheads="1"/>
          </p:cNvSpPr>
          <p:nvPr/>
        </p:nvSpPr>
        <p:spPr bwMode="gray">
          <a:xfrm>
            <a:off x="16002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19</a:t>
            </a:r>
            <a:endParaRPr lang="en-US" baseline="30000"/>
          </a:p>
        </p:txBody>
      </p:sp>
      <p:sp>
        <p:nvSpPr>
          <p:cNvPr id="189" name="AutoShape 6"/>
          <p:cNvSpPr>
            <a:spLocks noChangeArrowheads="1"/>
          </p:cNvSpPr>
          <p:nvPr/>
        </p:nvSpPr>
        <p:spPr bwMode="gray">
          <a:xfrm>
            <a:off x="20574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1A</a:t>
            </a:r>
            <a:endParaRPr lang="en-US" baseline="30000"/>
          </a:p>
        </p:txBody>
      </p:sp>
      <p:sp>
        <p:nvSpPr>
          <p:cNvPr id="190" name="AutoShape 6"/>
          <p:cNvSpPr>
            <a:spLocks noChangeArrowheads="1"/>
          </p:cNvSpPr>
          <p:nvPr/>
        </p:nvSpPr>
        <p:spPr bwMode="gray">
          <a:xfrm>
            <a:off x="25146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1B</a:t>
            </a:r>
            <a:endParaRPr lang="en-US" baseline="30000"/>
          </a:p>
        </p:txBody>
      </p:sp>
      <p:sp>
        <p:nvSpPr>
          <p:cNvPr id="191" name="AutoShape 6"/>
          <p:cNvSpPr>
            <a:spLocks noChangeArrowheads="1"/>
          </p:cNvSpPr>
          <p:nvPr/>
        </p:nvSpPr>
        <p:spPr bwMode="gray">
          <a:xfrm>
            <a:off x="29718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1C</a:t>
            </a:r>
            <a:endParaRPr lang="en-US" baseline="30000"/>
          </a:p>
        </p:txBody>
      </p:sp>
      <p:sp>
        <p:nvSpPr>
          <p:cNvPr id="192" name="AutoShape 6"/>
          <p:cNvSpPr>
            <a:spLocks noChangeArrowheads="1"/>
          </p:cNvSpPr>
          <p:nvPr/>
        </p:nvSpPr>
        <p:spPr bwMode="gray">
          <a:xfrm>
            <a:off x="34290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1D</a:t>
            </a:r>
            <a:endParaRPr lang="en-US" baseline="30000"/>
          </a:p>
        </p:txBody>
      </p:sp>
      <p:sp>
        <p:nvSpPr>
          <p:cNvPr id="193" name="AutoShape 6"/>
          <p:cNvSpPr>
            <a:spLocks noChangeArrowheads="1"/>
          </p:cNvSpPr>
          <p:nvPr/>
        </p:nvSpPr>
        <p:spPr bwMode="gray">
          <a:xfrm>
            <a:off x="38862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1E</a:t>
            </a:r>
            <a:endParaRPr lang="en-US" baseline="30000"/>
          </a:p>
        </p:txBody>
      </p:sp>
      <p:sp>
        <p:nvSpPr>
          <p:cNvPr id="194" name="AutoShape 6"/>
          <p:cNvSpPr>
            <a:spLocks noChangeArrowheads="1"/>
          </p:cNvSpPr>
          <p:nvPr/>
        </p:nvSpPr>
        <p:spPr bwMode="gray">
          <a:xfrm>
            <a:off x="43434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1F</a:t>
            </a:r>
            <a:endParaRPr lang="en-US" baseline="30000"/>
          </a:p>
        </p:txBody>
      </p:sp>
      <p:sp>
        <p:nvSpPr>
          <p:cNvPr id="195" name="AutoShape 6"/>
          <p:cNvSpPr>
            <a:spLocks noChangeArrowheads="1"/>
          </p:cNvSpPr>
          <p:nvPr/>
        </p:nvSpPr>
        <p:spPr bwMode="gray">
          <a:xfrm>
            <a:off x="48006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20</a:t>
            </a:r>
            <a:endParaRPr lang="en-US" baseline="30000"/>
          </a:p>
        </p:txBody>
      </p:sp>
      <p:sp>
        <p:nvSpPr>
          <p:cNvPr id="196" name="AutoShape 6"/>
          <p:cNvSpPr>
            <a:spLocks noChangeArrowheads="1"/>
          </p:cNvSpPr>
          <p:nvPr/>
        </p:nvSpPr>
        <p:spPr bwMode="gray">
          <a:xfrm>
            <a:off x="52578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21</a:t>
            </a:r>
            <a:endParaRPr lang="en-US" baseline="30000"/>
          </a:p>
        </p:txBody>
      </p:sp>
      <p:sp>
        <p:nvSpPr>
          <p:cNvPr id="197" name="AutoShape 6"/>
          <p:cNvSpPr>
            <a:spLocks noChangeArrowheads="1"/>
          </p:cNvSpPr>
          <p:nvPr/>
        </p:nvSpPr>
        <p:spPr bwMode="gray">
          <a:xfrm>
            <a:off x="57150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22</a:t>
            </a:r>
            <a:endParaRPr lang="en-US" baseline="30000"/>
          </a:p>
        </p:txBody>
      </p:sp>
      <p:sp>
        <p:nvSpPr>
          <p:cNvPr id="198" name="AutoShape 6"/>
          <p:cNvSpPr>
            <a:spLocks noChangeArrowheads="1"/>
          </p:cNvSpPr>
          <p:nvPr/>
        </p:nvSpPr>
        <p:spPr bwMode="gray">
          <a:xfrm>
            <a:off x="61722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23</a:t>
            </a:r>
            <a:endParaRPr lang="en-US" baseline="30000"/>
          </a:p>
        </p:txBody>
      </p:sp>
      <p:sp>
        <p:nvSpPr>
          <p:cNvPr id="199" name="AutoShape 6"/>
          <p:cNvSpPr>
            <a:spLocks noChangeArrowheads="1"/>
          </p:cNvSpPr>
          <p:nvPr/>
        </p:nvSpPr>
        <p:spPr bwMode="gray">
          <a:xfrm>
            <a:off x="66294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24</a:t>
            </a:r>
            <a:endParaRPr lang="en-US" baseline="30000"/>
          </a:p>
        </p:txBody>
      </p:sp>
      <p:sp>
        <p:nvSpPr>
          <p:cNvPr id="200" name="AutoShape 6"/>
          <p:cNvSpPr>
            <a:spLocks noChangeArrowheads="1"/>
          </p:cNvSpPr>
          <p:nvPr/>
        </p:nvSpPr>
        <p:spPr bwMode="gray">
          <a:xfrm>
            <a:off x="70866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25</a:t>
            </a:r>
            <a:endParaRPr lang="en-US" baseline="30000"/>
          </a:p>
        </p:txBody>
      </p:sp>
      <p:sp>
        <p:nvSpPr>
          <p:cNvPr id="201" name="AutoShape 6"/>
          <p:cNvSpPr>
            <a:spLocks noChangeArrowheads="1"/>
          </p:cNvSpPr>
          <p:nvPr/>
        </p:nvSpPr>
        <p:spPr bwMode="gray">
          <a:xfrm>
            <a:off x="1600200" y="990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x</a:t>
            </a:r>
          </a:p>
        </p:txBody>
      </p:sp>
      <p:cxnSp>
        <p:nvCxnSpPr>
          <p:cNvPr id="202" name="Straight Arrow Connector 201"/>
          <p:cNvCxnSpPr/>
          <p:nvPr/>
        </p:nvCxnSpPr>
        <p:spPr>
          <a:xfrm rot="5400000">
            <a:off x="1600994" y="1675606"/>
            <a:ext cx="4572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AutoShape 6"/>
          <p:cNvSpPr>
            <a:spLocks noChangeArrowheads="1"/>
          </p:cNvSpPr>
          <p:nvPr/>
        </p:nvSpPr>
        <p:spPr bwMode="gray">
          <a:xfrm>
            <a:off x="3429000" y="990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y</a:t>
            </a:r>
          </a:p>
        </p:txBody>
      </p:sp>
      <p:cxnSp>
        <p:nvCxnSpPr>
          <p:cNvPr id="206" name="Straight Arrow Connector 205"/>
          <p:cNvCxnSpPr/>
          <p:nvPr/>
        </p:nvCxnSpPr>
        <p:spPr>
          <a:xfrm rot="5400000">
            <a:off x="3429794" y="1675606"/>
            <a:ext cx="4572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AutoShape 6"/>
          <p:cNvSpPr>
            <a:spLocks noChangeArrowheads="1"/>
          </p:cNvSpPr>
          <p:nvPr/>
        </p:nvSpPr>
        <p:spPr bwMode="gray">
          <a:xfrm>
            <a:off x="5257800" y="3276600"/>
            <a:ext cx="2133600" cy="1371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0" name="AutoShape 6"/>
          <p:cNvSpPr>
            <a:spLocks noChangeArrowheads="1"/>
          </p:cNvSpPr>
          <p:nvPr/>
        </p:nvSpPr>
        <p:spPr bwMode="gray">
          <a:xfrm>
            <a:off x="16002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05</a:t>
            </a:r>
          </a:p>
        </p:txBody>
      </p:sp>
      <p:sp>
        <p:nvSpPr>
          <p:cNvPr id="91" name="AutoShape 6"/>
          <p:cNvSpPr>
            <a:spLocks noChangeArrowheads="1"/>
          </p:cNvSpPr>
          <p:nvPr/>
        </p:nvSpPr>
        <p:spPr bwMode="gray">
          <a:xfrm>
            <a:off x="20574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2" name="AutoShape 6"/>
          <p:cNvSpPr>
            <a:spLocks noChangeArrowheads="1"/>
          </p:cNvSpPr>
          <p:nvPr/>
        </p:nvSpPr>
        <p:spPr bwMode="gray">
          <a:xfrm>
            <a:off x="25146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3" name="AutoShape 6"/>
          <p:cNvSpPr>
            <a:spLocks noChangeArrowheads="1"/>
          </p:cNvSpPr>
          <p:nvPr/>
        </p:nvSpPr>
        <p:spPr bwMode="gray">
          <a:xfrm>
            <a:off x="29718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4" name="AutoShape 6"/>
          <p:cNvSpPr>
            <a:spLocks noChangeArrowheads="1"/>
          </p:cNvSpPr>
          <p:nvPr/>
        </p:nvSpPr>
        <p:spPr bwMode="gray">
          <a:xfrm>
            <a:off x="34290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06</a:t>
            </a:r>
          </a:p>
        </p:txBody>
      </p:sp>
      <p:sp>
        <p:nvSpPr>
          <p:cNvPr id="95" name="AutoShape 6"/>
          <p:cNvSpPr>
            <a:spLocks noChangeArrowheads="1"/>
          </p:cNvSpPr>
          <p:nvPr/>
        </p:nvSpPr>
        <p:spPr bwMode="gray">
          <a:xfrm>
            <a:off x="38862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6" name="AutoShape 6"/>
          <p:cNvSpPr>
            <a:spLocks noChangeArrowheads="1"/>
          </p:cNvSpPr>
          <p:nvPr/>
        </p:nvSpPr>
        <p:spPr bwMode="gray">
          <a:xfrm>
            <a:off x="43434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7" name="AutoShape 6"/>
          <p:cNvSpPr>
            <a:spLocks noChangeArrowheads="1"/>
          </p:cNvSpPr>
          <p:nvPr/>
        </p:nvSpPr>
        <p:spPr bwMode="gray">
          <a:xfrm>
            <a:off x="48006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203" name="AutoShape 6"/>
          <p:cNvSpPr>
            <a:spLocks noChangeArrowheads="1"/>
          </p:cNvSpPr>
          <p:nvPr/>
        </p:nvSpPr>
        <p:spPr bwMode="gray">
          <a:xfrm>
            <a:off x="1600200" y="21336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04" name="AutoShape 6"/>
          <p:cNvSpPr>
            <a:spLocks noChangeArrowheads="1"/>
          </p:cNvSpPr>
          <p:nvPr/>
        </p:nvSpPr>
        <p:spPr bwMode="gray">
          <a:xfrm>
            <a:off x="3429000" y="21336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0750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 nodeType="clickPar">
                      <p:stCondLst>
                        <p:cond delay="indefinite"/>
                      </p:stCondLst>
                      <p:childTnLst>
                        <p:par>
                          <p:cTn id="3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" dur="500" tmFilter="0, 0; .2, .5; .8, .5; 1, 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3" dur="250" autoRev="1" fill="hold"/>
                                        <p:tgtEl>
                                          <p:spTgt spid="2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500" tmFilter="0, 0; .2, .5; .8, .5; 1, 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6" dur="250" autoRev="1" fill="hold"/>
                                        <p:tgtEl>
                                          <p:spTgt spid="1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7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500" tmFilter="0, 0; .2, .5; .8, .5; 1, 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9" dur="250" autoRev="1" fill="hold"/>
                                        <p:tgtEl>
                                          <p:spTgt spid="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0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50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2" dur="250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3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500" tmFilter="0, 0; .2, .5; .8, .5; 1, 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5" dur="250" autoRev="1" fill="hold"/>
                                        <p:tgtEl>
                                          <p:spTgt spid="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6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8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500" tmFilter="0, 0; .2, .5; .8, .5; 1, 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1" dur="250" autoRev="1" fill="hold"/>
                                        <p:tgtEl>
                                          <p:spTgt spid="2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2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4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5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7" dur="2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8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500" tmFilter="0, 0; .2, .5; .8, .5; 1, 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0" dur="250" autoRev="1" fill="hold"/>
                                        <p:tgtEl>
                                          <p:spTgt spid="9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1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2" dur="500" tmFilter="0, 0; .2, .5; .8, .5; 1, 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3" dur="25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5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44444E-6 L 0.41667 0.17777 " pathEditMode="relative" rAng="0" ptsTypes="AA">
                                      <p:cBhvr>
                                        <p:cTn id="336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0" y="8900"/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44444E-6 L 0.41667 0.17777 " pathEditMode="relative" rAng="0" ptsTypes="AA">
                                      <p:cBhvr>
                                        <p:cTn id="338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0" y="8900"/>
                                    </p:animMotion>
                                  </p:childTnLst>
                                </p:cTn>
                              </p:par>
                              <p:par>
                                <p:cTn id="339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4.44444E-6 L 0.41667 0.17777 " pathEditMode="relative" rAng="0" ptsTypes="AA">
                                      <p:cBhvr>
                                        <p:cTn id="340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0" y="8900"/>
                                    </p:animMotion>
                                  </p:childTnLst>
                                </p:cTn>
                              </p:par>
                              <p:par>
                                <p:cTn id="341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44444E-6 L 0.41667 0.17777 " pathEditMode="relative" rAng="0" ptsTypes="AA">
                                      <p:cBhvr>
                                        <p:cTn id="342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0" y="8900"/>
                                    </p:animMotion>
                                  </p:childTnLst>
                                </p:cTn>
                              </p:par>
                              <p:par>
                                <p:cTn id="343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58E-6 L 0.21667 0.26642 " pathEditMode="relative" rAng="0" ptsTypes="AA">
                                      <p:cBhvr>
                                        <p:cTn id="344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13300"/>
                                    </p:animMotion>
                                  </p:childTnLst>
                                </p:cTn>
                              </p:par>
                              <p:par>
                                <p:cTn id="345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58E-6 L 0.21667 0.26642 " pathEditMode="relative" rAng="0" ptsTypes="AA">
                                      <p:cBhvr>
                                        <p:cTn id="346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13300"/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58E-6 L 0.21667 0.26642 " pathEditMode="relative" rAng="0" ptsTypes="AA">
                                      <p:cBhvr>
                                        <p:cTn id="348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13300"/>
                                    </p:animMotion>
                                  </p:childTnLst>
                                </p:cTn>
                              </p:par>
                              <p:par>
                                <p:cTn id="349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58E-6 L 0.21667 0.26642 " pathEditMode="relative" rAng="0" ptsTypes="AA">
                                      <p:cBhvr>
                                        <p:cTn id="350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13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2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500" tmFilter="0, 0; .2, .5; .8, .5; 1, 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4" dur="250" autoRev="1" fill="hold"/>
                                        <p:tgtEl>
                                          <p:spTgt spid="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5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6" dur="50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7" dur="250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8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500" tmFilter="0, 0; .2, .5; .8, .5; 1, 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0" dur="250" autoRev="1" fill="hold"/>
                                        <p:tgtEl>
                                          <p:spTgt spid="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1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2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3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4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6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8" dur="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9" dur="2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0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500" tmFilter="0, 0; .2, .5; .8, .5; 1, 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2" dur="250" autoRev="1" fill="hold"/>
                                        <p:tgtEl>
                                          <p:spTgt spid="9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3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 tmFilter="0, 0; .2, .5; .8, .5; 1, 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5" dur="25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7" presetID="49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0.17761 L 0.2 3.358E-6 " pathEditMode="relative" rAng="0" ptsTypes="AA">
                                      <p:cBhvr>
                                        <p:cTn id="378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-8900"/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49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0.17761 L 0.2 3.358E-6 " pathEditMode="relative" rAng="0" ptsTypes="AA">
                                      <p:cBhvr>
                                        <p:cTn id="380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-8900"/>
                                    </p:animMotion>
                                  </p:childTnLst>
                                </p:cTn>
                              </p:par>
                              <p:par>
                                <p:cTn id="381" presetID="49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0.17761 L 0.2 3.358E-6 " pathEditMode="relative" rAng="0" ptsTypes="AA">
                                      <p:cBhvr>
                                        <p:cTn id="382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-8900"/>
                                    </p:animMotion>
                                  </p:childTnLst>
                                </p:cTn>
                              </p:par>
                              <p:par>
                                <p:cTn id="383" presetID="49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0.17761 L 0.2 3.358E-6 " pathEditMode="relative" rAng="0" ptsTypes="AA">
                                      <p:cBhvr>
                                        <p:cTn id="384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-8900"/>
                                    </p:animMotion>
                                  </p:childTnLst>
                                </p:cTn>
                              </p:par>
                              <p:par>
                                <p:cTn id="385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0.26642 L -0.2 3.358E-6 " pathEditMode="relative" rAng="0" ptsTypes="AA">
                                      <p:cBhvr>
                                        <p:cTn id="386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00" y="-13300"/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0.26642 L -0.2 3.358E-6 " pathEditMode="relative" rAng="0" ptsTypes="AA">
                                      <p:cBhvr>
                                        <p:cTn id="388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00" y="-13300"/>
                                    </p:animMotion>
                                  </p:childTnLst>
                                </p:cTn>
                              </p:par>
                              <p:par>
                                <p:cTn id="389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0.26642 L -0.2 3.358E-6 " pathEditMode="relative" rAng="0" ptsTypes="AA">
                                      <p:cBhvr>
                                        <p:cTn id="390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00" y="-13300"/>
                                    </p:animMotion>
                                  </p:childTnLst>
                                </p:cTn>
                              </p:par>
                              <p:par>
                                <p:cTn id="391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0.26642 L -0.2 3.358E-6 " pathEditMode="relative" rAng="0" ptsTypes="AA">
                                      <p:cBhvr>
                                        <p:cTn id="392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00" y="-13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73" grpId="0" animBg="1"/>
      <p:bldP spid="74" grpId="0" animBg="1"/>
      <p:bldP spid="75" grpId="0" animBg="1"/>
      <p:bldP spid="76" grpId="0" animBg="1"/>
      <p:bldP spid="81" grpId="0" animBg="1"/>
      <p:bldP spid="82" grpId="0" animBg="1"/>
      <p:bldP spid="83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104" grpId="0" animBg="1"/>
      <p:bldP spid="105" grpId="0" animBg="1"/>
      <p:bldP spid="107" grpId="0" animBg="1"/>
      <p:bldP spid="108" grpId="0" animBg="1"/>
      <p:bldP spid="109" grpId="0" animBg="1"/>
      <p:bldP spid="111" grpId="0"/>
      <p:bldP spid="112" grpId="0"/>
      <p:bldP spid="113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9" grpId="0" animBg="1"/>
      <p:bldP spid="130" grpId="0" animBg="1"/>
      <p:bldP spid="132" grpId="0" animBg="1"/>
      <p:bldP spid="134" grpId="0" animBg="1"/>
      <p:bldP spid="135" grpId="0" animBg="1"/>
      <p:bldP spid="137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/>
      <p:bldP spid="188" grpId="0"/>
      <p:bldP spid="189" grpId="0"/>
      <p:bldP spid="189" grpId="1"/>
      <p:bldP spid="190" grpId="0"/>
      <p:bldP spid="191" grpId="0"/>
      <p:bldP spid="192" grpId="0"/>
      <p:bldP spid="193" grpId="0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 animBg="1"/>
      <p:bldP spid="205" grpId="0" animBg="1"/>
      <p:bldP spid="98" grpId="0" animBg="1"/>
      <p:bldP spid="90" grpId="0" animBg="1"/>
      <p:bldP spid="90" grpId="1" animBg="1"/>
      <p:bldP spid="90" grpId="2" animBg="1"/>
      <p:bldP spid="90" grpId="3" animBg="1"/>
      <p:bldP spid="90" grpId="4" animBg="1"/>
      <p:bldP spid="91" grpId="0" animBg="1"/>
      <p:bldP spid="91" grpId="1" animBg="1"/>
      <p:bldP spid="91" grpId="2" animBg="1"/>
      <p:bldP spid="91" grpId="3" animBg="1"/>
      <p:bldP spid="91" grpId="4" animBg="1"/>
      <p:bldP spid="92" grpId="0" animBg="1"/>
      <p:bldP spid="92" grpId="1" animBg="1"/>
      <p:bldP spid="92" grpId="2" animBg="1"/>
      <p:bldP spid="92" grpId="3" animBg="1"/>
      <p:bldP spid="92" grpId="4" animBg="1"/>
      <p:bldP spid="93" grpId="0" animBg="1"/>
      <p:bldP spid="93" grpId="1" animBg="1"/>
      <p:bldP spid="93" grpId="2" animBg="1"/>
      <p:bldP spid="93" grpId="3" animBg="1"/>
      <p:bldP spid="93" grpId="4" animBg="1"/>
      <p:bldP spid="94" grpId="0" animBg="1"/>
      <p:bldP spid="94" grpId="1" animBg="1"/>
      <p:bldP spid="94" grpId="2" animBg="1"/>
      <p:bldP spid="94" grpId="3" animBg="1"/>
      <p:bldP spid="94" grpId="4" animBg="1"/>
      <p:bldP spid="95" grpId="0" animBg="1"/>
      <p:bldP spid="95" grpId="1" animBg="1"/>
      <p:bldP spid="95" grpId="2" animBg="1"/>
      <p:bldP spid="95" grpId="3" animBg="1"/>
      <p:bldP spid="95" grpId="4" animBg="1"/>
      <p:bldP spid="96" grpId="0" animBg="1"/>
      <p:bldP spid="96" grpId="1" animBg="1"/>
      <p:bldP spid="96" grpId="2" animBg="1"/>
      <p:bldP spid="96" grpId="3" animBg="1"/>
      <p:bldP spid="96" grpId="4" animBg="1"/>
      <p:bldP spid="97" grpId="0" animBg="1"/>
      <p:bldP spid="97" grpId="1" animBg="1"/>
      <p:bldP spid="97" grpId="2" animBg="1"/>
      <p:bldP spid="97" grpId="3" animBg="1"/>
      <p:bldP spid="97" grpId="4" animBg="1"/>
      <p:bldP spid="203" grpId="0" animBg="1"/>
      <p:bldP spid="203" grpId="1" animBg="1"/>
      <p:bldP spid="204" grpId="0" animBg="1"/>
      <p:bldP spid="20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cách truyền </a:t>
            </a:r>
            <a:r>
              <a:rPr lang="vi-VN" smtClean="0"/>
              <a:t>đố</a:t>
            </a:r>
            <a:r>
              <a:rPr lang="en-US" smtClean="0"/>
              <a:t>i số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Truyền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đị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a chỉ (con trỏ)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4419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hoanvi(int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x, 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y);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 = 2912; b = 1706;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hoanvi(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a,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b);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printf(“a = %d, b = %d”, a, b);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hoanvi(int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x, 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y)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t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x;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x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y;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y = 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2743200" y="5105400"/>
            <a:ext cx="2133600" cy="381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438400" y="5715000"/>
            <a:ext cx="3657600" cy="381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AutoShape 6"/>
          <p:cNvSpPr>
            <a:spLocks noChangeArrowheads="1"/>
          </p:cNvSpPr>
          <p:nvPr/>
        </p:nvSpPr>
        <p:spPr bwMode="gray">
          <a:xfrm>
            <a:off x="5410200" y="3505200"/>
            <a:ext cx="1828800" cy="91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int t = *x;</a:t>
            </a:r>
          </a:p>
          <a:p>
            <a:pPr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*x = *y;</a:t>
            </a:r>
          </a:p>
          <a:p>
            <a:pPr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*y = *t;</a:t>
            </a:r>
          </a:p>
        </p:txBody>
      </p:sp>
      <p:sp>
        <p:nvSpPr>
          <p:cNvPr id="148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9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3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4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5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6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7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8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97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Truyền </a:t>
            </a:r>
            <a:r>
              <a:rPr lang="vi-VN" smtClean="0"/>
              <a:t>đị</a:t>
            </a:r>
            <a:r>
              <a:rPr lang="en-US" smtClean="0"/>
              <a:t>a chỉ (con trỏ)</a:t>
            </a:r>
          </a:p>
        </p:txBody>
      </p:sp>
      <p:sp>
        <p:nvSpPr>
          <p:cNvPr id="297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73" name="AutoShape 6"/>
          <p:cNvSpPr>
            <a:spLocks noChangeArrowheads="1"/>
          </p:cNvSpPr>
          <p:nvPr/>
        </p:nvSpPr>
        <p:spPr bwMode="gray">
          <a:xfrm>
            <a:off x="7543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75" name="AutoShape 6"/>
          <p:cNvSpPr>
            <a:spLocks noChangeArrowheads="1"/>
          </p:cNvSpPr>
          <p:nvPr/>
        </p:nvSpPr>
        <p:spPr bwMode="gray">
          <a:xfrm>
            <a:off x="1143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9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4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5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7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8" name="AutoShape 6"/>
          <p:cNvSpPr>
            <a:spLocks noChangeArrowheads="1"/>
          </p:cNvSpPr>
          <p:nvPr/>
        </p:nvSpPr>
        <p:spPr bwMode="gray">
          <a:xfrm>
            <a:off x="7086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9" name="AutoShape 6"/>
          <p:cNvSpPr>
            <a:spLocks noChangeArrowheads="1"/>
          </p:cNvSpPr>
          <p:nvPr/>
        </p:nvSpPr>
        <p:spPr bwMode="gray">
          <a:xfrm>
            <a:off x="16002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/>
              <a:t> = 5</a:t>
            </a:r>
          </a:p>
        </p:txBody>
      </p:sp>
      <p:sp>
        <p:nvSpPr>
          <p:cNvPr id="111" name="AutoShape 6"/>
          <p:cNvSpPr>
            <a:spLocks noChangeArrowheads="1"/>
          </p:cNvSpPr>
          <p:nvPr/>
        </p:nvSpPr>
        <p:spPr bwMode="gray">
          <a:xfrm>
            <a:off x="1143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0A</a:t>
            </a:r>
            <a:endParaRPr lang="en-US" baseline="30000"/>
          </a:p>
        </p:txBody>
      </p:sp>
      <p:sp>
        <p:nvSpPr>
          <p:cNvPr id="112" name="AutoShape 6"/>
          <p:cNvSpPr>
            <a:spLocks noChangeArrowheads="1"/>
          </p:cNvSpPr>
          <p:nvPr/>
        </p:nvSpPr>
        <p:spPr bwMode="gray">
          <a:xfrm>
            <a:off x="1600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0B</a:t>
            </a:r>
            <a:endParaRPr lang="en-US" baseline="30000"/>
          </a:p>
        </p:txBody>
      </p:sp>
      <p:sp>
        <p:nvSpPr>
          <p:cNvPr id="113" name="AutoShape 6"/>
          <p:cNvSpPr>
            <a:spLocks noChangeArrowheads="1"/>
          </p:cNvSpPr>
          <p:nvPr/>
        </p:nvSpPr>
        <p:spPr bwMode="gray">
          <a:xfrm>
            <a:off x="2057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0C</a:t>
            </a:r>
            <a:endParaRPr lang="en-US" baseline="30000"/>
          </a:p>
        </p:txBody>
      </p:sp>
      <p:sp>
        <p:nvSpPr>
          <p:cNvPr id="117" name="AutoShape 6"/>
          <p:cNvSpPr>
            <a:spLocks noChangeArrowheads="1"/>
          </p:cNvSpPr>
          <p:nvPr/>
        </p:nvSpPr>
        <p:spPr bwMode="gray">
          <a:xfrm>
            <a:off x="2514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0D</a:t>
            </a:r>
            <a:endParaRPr lang="en-US" baseline="30000"/>
          </a:p>
        </p:txBody>
      </p:sp>
      <p:sp>
        <p:nvSpPr>
          <p:cNvPr id="118" name="AutoShape 6"/>
          <p:cNvSpPr>
            <a:spLocks noChangeArrowheads="1"/>
          </p:cNvSpPr>
          <p:nvPr/>
        </p:nvSpPr>
        <p:spPr bwMode="gray">
          <a:xfrm>
            <a:off x="2971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0E</a:t>
            </a:r>
            <a:endParaRPr lang="en-US" baseline="30000"/>
          </a:p>
        </p:txBody>
      </p:sp>
      <p:sp>
        <p:nvSpPr>
          <p:cNvPr id="119" name="AutoShape 6"/>
          <p:cNvSpPr>
            <a:spLocks noChangeArrowheads="1"/>
          </p:cNvSpPr>
          <p:nvPr/>
        </p:nvSpPr>
        <p:spPr bwMode="gray">
          <a:xfrm>
            <a:off x="3429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0F</a:t>
            </a:r>
            <a:endParaRPr lang="en-US" baseline="30000"/>
          </a:p>
        </p:txBody>
      </p:sp>
      <p:sp>
        <p:nvSpPr>
          <p:cNvPr id="120" name="AutoShape 6"/>
          <p:cNvSpPr>
            <a:spLocks noChangeArrowheads="1"/>
          </p:cNvSpPr>
          <p:nvPr/>
        </p:nvSpPr>
        <p:spPr bwMode="gray">
          <a:xfrm>
            <a:off x="3886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121" name="AutoShape 6"/>
          <p:cNvSpPr>
            <a:spLocks noChangeArrowheads="1"/>
          </p:cNvSpPr>
          <p:nvPr/>
        </p:nvSpPr>
        <p:spPr bwMode="gray">
          <a:xfrm>
            <a:off x="4343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122" name="AutoShape 6"/>
          <p:cNvSpPr>
            <a:spLocks noChangeArrowheads="1"/>
          </p:cNvSpPr>
          <p:nvPr/>
        </p:nvSpPr>
        <p:spPr bwMode="gray">
          <a:xfrm>
            <a:off x="4800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12</a:t>
            </a:r>
            <a:endParaRPr lang="en-US" baseline="30000"/>
          </a:p>
        </p:txBody>
      </p:sp>
      <p:sp>
        <p:nvSpPr>
          <p:cNvPr id="123" name="AutoShape 6"/>
          <p:cNvSpPr>
            <a:spLocks noChangeArrowheads="1"/>
          </p:cNvSpPr>
          <p:nvPr/>
        </p:nvSpPr>
        <p:spPr bwMode="gray">
          <a:xfrm>
            <a:off x="5257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124" name="AutoShape 6"/>
          <p:cNvSpPr>
            <a:spLocks noChangeArrowheads="1"/>
          </p:cNvSpPr>
          <p:nvPr/>
        </p:nvSpPr>
        <p:spPr bwMode="gray">
          <a:xfrm>
            <a:off x="5715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125" name="AutoShape 6"/>
          <p:cNvSpPr>
            <a:spLocks noChangeArrowheads="1"/>
          </p:cNvSpPr>
          <p:nvPr/>
        </p:nvSpPr>
        <p:spPr bwMode="gray">
          <a:xfrm>
            <a:off x="6172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126" name="AutoShape 6"/>
          <p:cNvSpPr>
            <a:spLocks noChangeArrowheads="1"/>
          </p:cNvSpPr>
          <p:nvPr/>
        </p:nvSpPr>
        <p:spPr bwMode="gray">
          <a:xfrm>
            <a:off x="6629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127" name="AutoShape 6"/>
          <p:cNvSpPr>
            <a:spLocks noChangeArrowheads="1"/>
          </p:cNvSpPr>
          <p:nvPr/>
        </p:nvSpPr>
        <p:spPr bwMode="gray">
          <a:xfrm>
            <a:off x="7086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cxnSp>
        <p:nvCxnSpPr>
          <p:cNvPr id="128" name="Straight Arrow Connector 127"/>
          <p:cNvCxnSpPr/>
          <p:nvPr/>
        </p:nvCxnSpPr>
        <p:spPr>
          <a:xfrm rot="5400000" flipH="1" flipV="1">
            <a:off x="16398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utoShape 6"/>
          <p:cNvSpPr>
            <a:spLocks noChangeArrowheads="1"/>
          </p:cNvSpPr>
          <p:nvPr/>
        </p:nvSpPr>
        <p:spPr bwMode="gray">
          <a:xfrm>
            <a:off x="34290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b</a:t>
            </a:r>
            <a:r>
              <a:rPr lang="en-US" sz="2400"/>
              <a:t> = 6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 rot="5400000" flipH="1" flipV="1">
            <a:off x="34686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AutoShape 6"/>
          <p:cNvSpPr>
            <a:spLocks noChangeArrowheads="1"/>
          </p:cNvSpPr>
          <p:nvPr/>
        </p:nvSpPr>
        <p:spPr bwMode="gray">
          <a:xfrm>
            <a:off x="2514600" y="3733800"/>
            <a:ext cx="1219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*x</a:t>
            </a:r>
          </a:p>
        </p:txBody>
      </p:sp>
      <p:sp>
        <p:nvSpPr>
          <p:cNvPr id="135" name="AutoShape 6"/>
          <p:cNvSpPr>
            <a:spLocks noChangeArrowheads="1"/>
          </p:cNvSpPr>
          <p:nvPr/>
        </p:nvSpPr>
        <p:spPr bwMode="gray">
          <a:xfrm>
            <a:off x="3886200" y="3733800"/>
            <a:ext cx="1295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*y</a:t>
            </a:r>
          </a:p>
        </p:txBody>
      </p:sp>
      <p:sp>
        <p:nvSpPr>
          <p:cNvPr id="136" name="AutoShape 6"/>
          <p:cNvSpPr>
            <a:spLocks noChangeArrowheads="1"/>
          </p:cNvSpPr>
          <p:nvPr/>
        </p:nvSpPr>
        <p:spPr bwMode="gray">
          <a:xfrm>
            <a:off x="1143000" y="3657600"/>
            <a:ext cx="4114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7" name="AutoShape 6"/>
          <p:cNvSpPr>
            <a:spLocks noChangeArrowheads="1"/>
          </p:cNvSpPr>
          <p:nvPr/>
        </p:nvSpPr>
        <p:spPr bwMode="gray">
          <a:xfrm>
            <a:off x="1295400" y="3733800"/>
            <a:ext cx="10668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hoanvi</a:t>
            </a:r>
          </a:p>
        </p:txBody>
      </p:sp>
      <p:cxnSp>
        <p:nvCxnSpPr>
          <p:cNvPr id="138" name="Straight Arrow Connector 137"/>
          <p:cNvCxnSpPr>
            <a:stCxn id="134" idx="2"/>
          </p:cNvCxnSpPr>
          <p:nvPr/>
        </p:nvCxnSpPr>
        <p:spPr>
          <a:xfrm rot="5400000">
            <a:off x="2857501" y="4457700"/>
            <a:ext cx="533400" cy="3175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/>
          <p:nvPr/>
        </p:nvCxnSpPr>
        <p:spPr>
          <a:xfrm rot="5400000">
            <a:off x="1639094" y="4914106"/>
            <a:ext cx="381000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>
            <a:off x="1828800" y="4724400"/>
            <a:ext cx="1295400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>
            <a:stCxn id="135" idx="2"/>
          </p:cNvCxnSpPr>
          <p:nvPr/>
        </p:nvCxnSpPr>
        <p:spPr>
          <a:xfrm rot="16200000" flipH="1">
            <a:off x="4264819" y="4460081"/>
            <a:ext cx="546100" cy="7938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 rot="5400000">
            <a:off x="3467894" y="4914106"/>
            <a:ext cx="381000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 flipV="1">
            <a:off x="3657600" y="4724400"/>
            <a:ext cx="884238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AutoShape 6"/>
          <p:cNvSpPr>
            <a:spLocks noChangeArrowheads="1"/>
          </p:cNvSpPr>
          <p:nvPr/>
        </p:nvSpPr>
        <p:spPr bwMode="gray">
          <a:xfrm>
            <a:off x="75438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172" name="AutoShape 6"/>
          <p:cNvSpPr>
            <a:spLocks noChangeArrowheads="1"/>
          </p:cNvSpPr>
          <p:nvPr/>
        </p:nvSpPr>
        <p:spPr bwMode="gray">
          <a:xfrm>
            <a:off x="6858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173" name="AutoShape 6"/>
          <p:cNvSpPr>
            <a:spLocks noChangeArrowheads="1"/>
          </p:cNvSpPr>
          <p:nvPr/>
        </p:nvSpPr>
        <p:spPr bwMode="gray">
          <a:xfrm>
            <a:off x="11430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4" name="AutoShape 6"/>
          <p:cNvSpPr>
            <a:spLocks noChangeArrowheads="1"/>
          </p:cNvSpPr>
          <p:nvPr/>
        </p:nvSpPr>
        <p:spPr bwMode="gray">
          <a:xfrm>
            <a:off x="16002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5" name="AutoShape 6"/>
          <p:cNvSpPr>
            <a:spLocks noChangeArrowheads="1"/>
          </p:cNvSpPr>
          <p:nvPr/>
        </p:nvSpPr>
        <p:spPr bwMode="gray">
          <a:xfrm>
            <a:off x="20574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6" name="AutoShape 6"/>
          <p:cNvSpPr>
            <a:spLocks noChangeArrowheads="1"/>
          </p:cNvSpPr>
          <p:nvPr/>
        </p:nvSpPr>
        <p:spPr bwMode="gray">
          <a:xfrm>
            <a:off x="25146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7" name="AutoShape 6"/>
          <p:cNvSpPr>
            <a:spLocks noChangeArrowheads="1"/>
          </p:cNvSpPr>
          <p:nvPr/>
        </p:nvSpPr>
        <p:spPr bwMode="gray">
          <a:xfrm>
            <a:off x="29718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8" name="AutoShape 6"/>
          <p:cNvSpPr>
            <a:spLocks noChangeArrowheads="1"/>
          </p:cNvSpPr>
          <p:nvPr/>
        </p:nvSpPr>
        <p:spPr bwMode="gray">
          <a:xfrm>
            <a:off x="34290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9" name="AutoShape 6"/>
          <p:cNvSpPr>
            <a:spLocks noChangeArrowheads="1"/>
          </p:cNvSpPr>
          <p:nvPr/>
        </p:nvSpPr>
        <p:spPr bwMode="gray">
          <a:xfrm>
            <a:off x="38862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0" name="AutoShape 6"/>
          <p:cNvSpPr>
            <a:spLocks noChangeArrowheads="1"/>
          </p:cNvSpPr>
          <p:nvPr/>
        </p:nvSpPr>
        <p:spPr bwMode="gray">
          <a:xfrm>
            <a:off x="43434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1" name="AutoShape 6"/>
          <p:cNvSpPr>
            <a:spLocks noChangeArrowheads="1"/>
          </p:cNvSpPr>
          <p:nvPr/>
        </p:nvSpPr>
        <p:spPr bwMode="gray">
          <a:xfrm>
            <a:off x="48006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2" name="AutoShape 6"/>
          <p:cNvSpPr>
            <a:spLocks noChangeArrowheads="1"/>
          </p:cNvSpPr>
          <p:nvPr/>
        </p:nvSpPr>
        <p:spPr bwMode="gray">
          <a:xfrm>
            <a:off x="52578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3" name="AutoShape 6"/>
          <p:cNvSpPr>
            <a:spLocks noChangeArrowheads="1"/>
          </p:cNvSpPr>
          <p:nvPr/>
        </p:nvSpPr>
        <p:spPr bwMode="gray">
          <a:xfrm>
            <a:off x="57150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4" name="AutoShape 6"/>
          <p:cNvSpPr>
            <a:spLocks noChangeArrowheads="1"/>
          </p:cNvSpPr>
          <p:nvPr/>
        </p:nvSpPr>
        <p:spPr bwMode="gray">
          <a:xfrm>
            <a:off x="61722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5" name="AutoShape 6"/>
          <p:cNvSpPr>
            <a:spLocks noChangeArrowheads="1"/>
          </p:cNvSpPr>
          <p:nvPr/>
        </p:nvSpPr>
        <p:spPr bwMode="gray">
          <a:xfrm>
            <a:off x="66294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6" name="AutoShape 6"/>
          <p:cNvSpPr>
            <a:spLocks noChangeArrowheads="1"/>
          </p:cNvSpPr>
          <p:nvPr/>
        </p:nvSpPr>
        <p:spPr bwMode="gray">
          <a:xfrm>
            <a:off x="70866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7" name="AutoShape 6"/>
          <p:cNvSpPr>
            <a:spLocks noChangeArrowheads="1"/>
          </p:cNvSpPr>
          <p:nvPr/>
        </p:nvSpPr>
        <p:spPr bwMode="gray">
          <a:xfrm>
            <a:off x="11430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18</a:t>
            </a:r>
            <a:endParaRPr lang="en-US" baseline="30000"/>
          </a:p>
        </p:txBody>
      </p:sp>
      <p:sp>
        <p:nvSpPr>
          <p:cNvPr id="188" name="AutoShape 6"/>
          <p:cNvSpPr>
            <a:spLocks noChangeArrowheads="1"/>
          </p:cNvSpPr>
          <p:nvPr/>
        </p:nvSpPr>
        <p:spPr bwMode="gray">
          <a:xfrm>
            <a:off x="16002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19</a:t>
            </a:r>
            <a:endParaRPr lang="en-US" baseline="30000"/>
          </a:p>
        </p:txBody>
      </p:sp>
      <p:sp>
        <p:nvSpPr>
          <p:cNvPr id="189" name="AutoShape 6"/>
          <p:cNvSpPr>
            <a:spLocks noChangeArrowheads="1"/>
          </p:cNvSpPr>
          <p:nvPr/>
        </p:nvSpPr>
        <p:spPr bwMode="gray">
          <a:xfrm>
            <a:off x="20574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1A</a:t>
            </a:r>
            <a:endParaRPr lang="en-US" baseline="30000"/>
          </a:p>
        </p:txBody>
      </p:sp>
      <p:sp>
        <p:nvSpPr>
          <p:cNvPr id="190" name="AutoShape 6"/>
          <p:cNvSpPr>
            <a:spLocks noChangeArrowheads="1"/>
          </p:cNvSpPr>
          <p:nvPr/>
        </p:nvSpPr>
        <p:spPr bwMode="gray">
          <a:xfrm>
            <a:off x="25146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1B</a:t>
            </a:r>
            <a:endParaRPr lang="en-US" baseline="30000"/>
          </a:p>
        </p:txBody>
      </p:sp>
      <p:sp>
        <p:nvSpPr>
          <p:cNvPr id="191" name="AutoShape 6"/>
          <p:cNvSpPr>
            <a:spLocks noChangeArrowheads="1"/>
          </p:cNvSpPr>
          <p:nvPr/>
        </p:nvSpPr>
        <p:spPr bwMode="gray">
          <a:xfrm>
            <a:off x="29718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1C</a:t>
            </a:r>
            <a:endParaRPr lang="en-US" baseline="30000"/>
          </a:p>
        </p:txBody>
      </p:sp>
      <p:sp>
        <p:nvSpPr>
          <p:cNvPr id="192" name="AutoShape 6"/>
          <p:cNvSpPr>
            <a:spLocks noChangeArrowheads="1"/>
          </p:cNvSpPr>
          <p:nvPr/>
        </p:nvSpPr>
        <p:spPr bwMode="gray">
          <a:xfrm>
            <a:off x="34290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1D</a:t>
            </a:r>
            <a:endParaRPr lang="en-US" baseline="30000"/>
          </a:p>
        </p:txBody>
      </p:sp>
      <p:sp>
        <p:nvSpPr>
          <p:cNvPr id="193" name="AutoShape 6"/>
          <p:cNvSpPr>
            <a:spLocks noChangeArrowheads="1"/>
          </p:cNvSpPr>
          <p:nvPr/>
        </p:nvSpPr>
        <p:spPr bwMode="gray">
          <a:xfrm>
            <a:off x="38862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1E</a:t>
            </a:r>
            <a:endParaRPr lang="en-US" baseline="30000"/>
          </a:p>
        </p:txBody>
      </p:sp>
      <p:sp>
        <p:nvSpPr>
          <p:cNvPr id="194" name="AutoShape 6"/>
          <p:cNvSpPr>
            <a:spLocks noChangeArrowheads="1"/>
          </p:cNvSpPr>
          <p:nvPr/>
        </p:nvSpPr>
        <p:spPr bwMode="gray">
          <a:xfrm>
            <a:off x="43434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1F</a:t>
            </a:r>
            <a:endParaRPr lang="en-US" baseline="30000"/>
          </a:p>
        </p:txBody>
      </p:sp>
      <p:sp>
        <p:nvSpPr>
          <p:cNvPr id="195" name="AutoShape 6"/>
          <p:cNvSpPr>
            <a:spLocks noChangeArrowheads="1"/>
          </p:cNvSpPr>
          <p:nvPr/>
        </p:nvSpPr>
        <p:spPr bwMode="gray">
          <a:xfrm>
            <a:off x="48006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20</a:t>
            </a:r>
            <a:endParaRPr lang="en-US" baseline="30000"/>
          </a:p>
        </p:txBody>
      </p:sp>
      <p:sp>
        <p:nvSpPr>
          <p:cNvPr id="196" name="AutoShape 6"/>
          <p:cNvSpPr>
            <a:spLocks noChangeArrowheads="1"/>
          </p:cNvSpPr>
          <p:nvPr/>
        </p:nvSpPr>
        <p:spPr bwMode="gray">
          <a:xfrm>
            <a:off x="52578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21</a:t>
            </a:r>
            <a:endParaRPr lang="en-US" baseline="30000"/>
          </a:p>
        </p:txBody>
      </p:sp>
      <p:sp>
        <p:nvSpPr>
          <p:cNvPr id="197" name="AutoShape 6"/>
          <p:cNvSpPr>
            <a:spLocks noChangeArrowheads="1"/>
          </p:cNvSpPr>
          <p:nvPr/>
        </p:nvSpPr>
        <p:spPr bwMode="gray">
          <a:xfrm>
            <a:off x="57150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22</a:t>
            </a:r>
            <a:endParaRPr lang="en-US" baseline="30000"/>
          </a:p>
        </p:txBody>
      </p:sp>
      <p:sp>
        <p:nvSpPr>
          <p:cNvPr id="198" name="AutoShape 6"/>
          <p:cNvSpPr>
            <a:spLocks noChangeArrowheads="1"/>
          </p:cNvSpPr>
          <p:nvPr/>
        </p:nvSpPr>
        <p:spPr bwMode="gray">
          <a:xfrm>
            <a:off x="61722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23</a:t>
            </a:r>
            <a:endParaRPr lang="en-US" baseline="30000"/>
          </a:p>
        </p:txBody>
      </p:sp>
      <p:sp>
        <p:nvSpPr>
          <p:cNvPr id="199" name="AutoShape 6"/>
          <p:cNvSpPr>
            <a:spLocks noChangeArrowheads="1"/>
          </p:cNvSpPr>
          <p:nvPr/>
        </p:nvSpPr>
        <p:spPr bwMode="gray">
          <a:xfrm>
            <a:off x="66294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24</a:t>
            </a:r>
            <a:endParaRPr lang="en-US" baseline="30000"/>
          </a:p>
        </p:txBody>
      </p:sp>
      <p:sp>
        <p:nvSpPr>
          <p:cNvPr id="200" name="AutoShape 6"/>
          <p:cNvSpPr>
            <a:spLocks noChangeArrowheads="1"/>
          </p:cNvSpPr>
          <p:nvPr/>
        </p:nvSpPr>
        <p:spPr bwMode="gray">
          <a:xfrm>
            <a:off x="7086600" y="1752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25</a:t>
            </a:r>
            <a:endParaRPr lang="en-US" baseline="30000"/>
          </a:p>
        </p:txBody>
      </p:sp>
      <p:sp>
        <p:nvSpPr>
          <p:cNvPr id="201" name="AutoShape 6"/>
          <p:cNvSpPr>
            <a:spLocks noChangeArrowheads="1"/>
          </p:cNvSpPr>
          <p:nvPr/>
        </p:nvSpPr>
        <p:spPr bwMode="gray">
          <a:xfrm>
            <a:off x="1600200" y="990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*x</a:t>
            </a:r>
          </a:p>
        </p:txBody>
      </p:sp>
      <p:cxnSp>
        <p:nvCxnSpPr>
          <p:cNvPr id="202" name="Straight Arrow Connector 201"/>
          <p:cNvCxnSpPr/>
          <p:nvPr/>
        </p:nvCxnSpPr>
        <p:spPr>
          <a:xfrm rot="5400000">
            <a:off x="1600994" y="1675606"/>
            <a:ext cx="4572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AutoShape 6"/>
          <p:cNvSpPr>
            <a:spLocks noChangeArrowheads="1"/>
          </p:cNvSpPr>
          <p:nvPr/>
        </p:nvSpPr>
        <p:spPr bwMode="gray">
          <a:xfrm>
            <a:off x="3429000" y="990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*y</a:t>
            </a:r>
          </a:p>
        </p:txBody>
      </p:sp>
      <p:cxnSp>
        <p:nvCxnSpPr>
          <p:cNvPr id="206" name="Straight Arrow Connector 205"/>
          <p:cNvCxnSpPr/>
          <p:nvPr/>
        </p:nvCxnSpPr>
        <p:spPr>
          <a:xfrm rot="5400000">
            <a:off x="3429794" y="1675606"/>
            <a:ext cx="4572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AutoShape 6"/>
          <p:cNvSpPr>
            <a:spLocks noChangeArrowheads="1"/>
          </p:cNvSpPr>
          <p:nvPr/>
        </p:nvSpPr>
        <p:spPr bwMode="gray">
          <a:xfrm>
            <a:off x="16002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0B</a:t>
            </a:r>
          </a:p>
        </p:txBody>
      </p:sp>
      <p:sp>
        <p:nvSpPr>
          <p:cNvPr id="91" name="AutoShape 6"/>
          <p:cNvSpPr>
            <a:spLocks noChangeArrowheads="1"/>
          </p:cNvSpPr>
          <p:nvPr/>
        </p:nvSpPr>
        <p:spPr bwMode="gray">
          <a:xfrm>
            <a:off x="20574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2" name="AutoShape 6"/>
          <p:cNvSpPr>
            <a:spLocks noChangeArrowheads="1"/>
          </p:cNvSpPr>
          <p:nvPr/>
        </p:nvSpPr>
        <p:spPr bwMode="gray">
          <a:xfrm>
            <a:off x="25146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3" name="AutoShape 6"/>
          <p:cNvSpPr>
            <a:spLocks noChangeArrowheads="1"/>
          </p:cNvSpPr>
          <p:nvPr/>
        </p:nvSpPr>
        <p:spPr bwMode="gray">
          <a:xfrm>
            <a:off x="29718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4" name="AutoShape 6"/>
          <p:cNvSpPr>
            <a:spLocks noChangeArrowheads="1"/>
          </p:cNvSpPr>
          <p:nvPr/>
        </p:nvSpPr>
        <p:spPr bwMode="gray">
          <a:xfrm>
            <a:off x="34290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0F</a:t>
            </a:r>
          </a:p>
        </p:txBody>
      </p:sp>
      <p:sp>
        <p:nvSpPr>
          <p:cNvPr id="95" name="AutoShape 6"/>
          <p:cNvSpPr>
            <a:spLocks noChangeArrowheads="1"/>
          </p:cNvSpPr>
          <p:nvPr/>
        </p:nvSpPr>
        <p:spPr bwMode="gray">
          <a:xfrm>
            <a:off x="38862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6" name="AutoShape 6"/>
          <p:cNvSpPr>
            <a:spLocks noChangeArrowheads="1"/>
          </p:cNvSpPr>
          <p:nvPr/>
        </p:nvSpPr>
        <p:spPr bwMode="gray">
          <a:xfrm>
            <a:off x="43434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7" name="AutoShape 6"/>
          <p:cNvSpPr>
            <a:spLocks noChangeArrowheads="1"/>
          </p:cNvSpPr>
          <p:nvPr/>
        </p:nvSpPr>
        <p:spPr bwMode="gray">
          <a:xfrm>
            <a:off x="4800600" y="2209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98" name="AutoShape 6"/>
          <p:cNvSpPr>
            <a:spLocks noChangeArrowheads="1"/>
          </p:cNvSpPr>
          <p:nvPr/>
        </p:nvSpPr>
        <p:spPr bwMode="gray">
          <a:xfrm>
            <a:off x="5257800" y="3276600"/>
            <a:ext cx="2133600" cy="1371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03" name="AutoShape 6"/>
          <p:cNvSpPr>
            <a:spLocks noChangeArrowheads="1"/>
          </p:cNvSpPr>
          <p:nvPr/>
        </p:nvSpPr>
        <p:spPr bwMode="gray">
          <a:xfrm>
            <a:off x="1600200" y="21336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04" name="AutoShape 6"/>
          <p:cNvSpPr>
            <a:spLocks noChangeArrowheads="1"/>
          </p:cNvSpPr>
          <p:nvPr/>
        </p:nvSpPr>
        <p:spPr bwMode="gray">
          <a:xfrm>
            <a:off x="3429000" y="21336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6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05</a:t>
            </a:r>
          </a:p>
        </p:txBody>
      </p:sp>
      <p:sp>
        <p:nvSpPr>
          <p:cNvPr id="81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2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3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5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06</a:t>
            </a:r>
          </a:p>
        </p:txBody>
      </p:sp>
      <p:sp>
        <p:nvSpPr>
          <p:cNvPr id="86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7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8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129" name="AutoShape 6"/>
          <p:cNvSpPr>
            <a:spLocks noChangeArrowheads="1"/>
          </p:cNvSpPr>
          <p:nvPr/>
        </p:nvSpPr>
        <p:spPr bwMode="gray">
          <a:xfrm>
            <a:off x="16002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0" name="AutoShape 6"/>
          <p:cNvSpPr>
            <a:spLocks noChangeArrowheads="1"/>
          </p:cNvSpPr>
          <p:nvPr/>
        </p:nvSpPr>
        <p:spPr bwMode="gray">
          <a:xfrm>
            <a:off x="34290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 nodeType="clickPar">
                      <p:stCondLst>
                        <p:cond delay="indefinite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0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 nodeType="clickPar">
                      <p:stCondLst>
                        <p:cond delay="indefinite"/>
                      </p:stCondLst>
                      <p:childTnLst>
                        <p:par>
                          <p:cTn id="3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500" tmFilter="0, 0; .2, .5; .8, .5; 1, 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7" dur="250" autoRev="1" fill="hold"/>
                                        <p:tgtEl>
                                          <p:spTgt spid="2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500" tmFilter="0, 0; .2, .5; .8, .5; 1, 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0" dur="250" autoRev="1" fill="hold"/>
                                        <p:tgtEl>
                                          <p:spTgt spid="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2" dur="50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3" dur="250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 tmFilter="0, 0; .2, .5; .8, .5; 1, 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6" dur="250" autoRev="1" fill="hold"/>
                                        <p:tgtEl>
                                          <p:spTgt spid="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9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500" tmFilter="0, 0; .2, .5; .8, .5; 1, 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2" dur="250" autoRev="1" fill="hold"/>
                                        <p:tgtEl>
                                          <p:spTgt spid="2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4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5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8" dur="2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0" dur="500" tmFilter="0, 0; .2, .5; .8, .5; 1, 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1" dur="250" autoRev="1" fill="hold"/>
                                        <p:tgtEl>
                                          <p:spTgt spid="9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500" tmFilter="0, 0; .2, .5; .8, .5; 1, 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4" dur="25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 nodeType="clickPar">
                      <p:stCondLst>
                        <p:cond delay="indefinite"/>
                      </p:stCondLst>
                      <p:childTnLst>
                        <p:par>
                          <p:cTn id="3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7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41667 -0.28862 " pathEditMode="relative" rAng="0" ptsTypes="AA">
                                      <p:cBhvr>
                                        <p:cTn id="358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0" y="-14400"/>
                                    </p:animMotion>
                                  </p:childTnLst>
                                </p:cTn>
                              </p:par>
                              <p:par>
                                <p:cTn id="359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41667 -0.28862 " pathEditMode="relative" rAng="0" ptsTypes="AA">
                                      <p:cBhvr>
                                        <p:cTn id="36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0" y="-14400"/>
                                    </p:animMotion>
                                  </p:childTnLst>
                                </p:cTn>
                              </p:par>
                              <p:par>
                                <p:cTn id="361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1.60962E-6 L 0.41667 -0.28862 " pathEditMode="relative" rAng="0" ptsTypes="AA">
                                      <p:cBhvr>
                                        <p:cTn id="362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0" y="-14400"/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41667 -0.28862 " pathEditMode="relative" rAng="0" ptsTypes="AA">
                                      <p:cBhvr>
                                        <p:cTn id="364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0" y="-14400"/>
                                    </p:animMotion>
                                  </p:childTnLst>
                                </p:cTn>
                              </p:par>
                              <p:par>
                                <p:cTn id="365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21667 -0.19981 " pathEditMode="relative" rAng="0" ptsTypes="AA">
                                      <p:cBhvr>
                                        <p:cTn id="366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-10000"/>
                                    </p:animMotion>
                                  </p:childTnLst>
                                </p:cTn>
                              </p:par>
                              <p:par>
                                <p:cTn id="367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21667 -0.19981 " pathEditMode="relative" rAng="0" ptsTypes="AA">
                                      <p:cBhvr>
                                        <p:cTn id="368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-10000"/>
                                    </p:animMotion>
                                  </p:childTnLst>
                                </p:cTn>
                              </p:par>
                              <p:par>
                                <p:cTn id="369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21667 -0.19981 " pathEditMode="relative" rAng="0" ptsTypes="AA">
                                      <p:cBhvr>
                                        <p:cTn id="370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-10000"/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73994E-6 L 0.21667 -0.19991 " pathEditMode="relative" rAng="0" ptsTypes="AA">
                                      <p:cBhvr>
                                        <p:cTn id="372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-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4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5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6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8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9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0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1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2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3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4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5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6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 tmFilter="0, 0; .2, .5; .8, .5; 1, 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8" dur="250" autoRev="1" fill="hold"/>
                                        <p:tgtEl>
                                          <p:spTgt spid="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9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 tmFilter="0, 0; .2, .5; .8, .5; 1, 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1" dur="250" autoRev="1" fill="hold"/>
                                        <p:tgtEl>
                                          <p:spTgt spid="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2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3" dur="500" tmFilter="0, 0; .2, .5; .8, .5; 1, 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4" dur="250" autoRev="1" fill="hold"/>
                                        <p:tgtEl>
                                          <p:spTgt spid="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5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6" dur="500" tmFilter="0, 0; .2, .5; .8, .5; 1, 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7" dur="250" autoRev="1" fill="hold"/>
                                        <p:tgtEl>
                                          <p:spTgt spid="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9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-0.28875 L 0.2 -1.73994E-6 " pathEditMode="relative" rAng="0" ptsTypes="AA">
                                      <p:cBhvr>
                                        <p:cTn id="400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14400"/>
                                    </p:animMotion>
                                  </p:childTnLst>
                                </p:cTn>
                              </p:par>
                              <p:par>
                                <p:cTn id="401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-0.28875 L 0.2 -1.73994E-6 " pathEditMode="relative" rAng="0" ptsTypes="AA">
                                      <p:cBhvr>
                                        <p:cTn id="40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14400"/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-0.28875 L 0.2 -1.73994E-6 " pathEditMode="relative" rAng="0" ptsTypes="AA">
                                      <p:cBhvr>
                                        <p:cTn id="404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14400"/>
                                    </p:animMotion>
                                  </p:childTnLst>
                                </p:cTn>
                              </p:par>
                              <p:par>
                                <p:cTn id="405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-0.28875 L 0.2 -1.73994E-6 " pathEditMode="relative" rAng="0" ptsTypes="AA">
                                      <p:cBhvr>
                                        <p:cTn id="406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14400"/>
                                    </p:animMotion>
                                  </p:childTnLst>
                                </p:cTn>
                              </p:par>
                              <p:par>
                                <p:cTn id="407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-0.19981 L -0.2 -1.60962E-6 " pathEditMode="relative" rAng="0" ptsTypes="AA">
                                      <p:cBhvr>
                                        <p:cTn id="408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00" y="10000"/>
                                    </p:animMotion>
                                  </p:childTnLst>
                                </p:cTn>
                              </p:par>
                              <p:par>
                                <p:cTn id="409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-0.19967 L -0.2 -1.73994E-6 " pathEditMode="relative" rAng="0" ptsTypes="AA">
                                      <p:cBhvr>
                                        <p:cTn id="410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00" y="10000"/>
                                    </p:animMotion>
                                  </p:childTnLst>
                                </p:cTn>
                              </p:par>
                              <p:par>
                                <p:cTn id="411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-0.19981 L -0.2 -1.60962E-6 " pathEditMode="relative" rAng="0" ptsTypes="AA">
                                      <p:cBhvr>
                                        <p:cTn id="412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00" y="10000"/>
                                    </p:animMotion>
                                  </p:childTnLst>
                                </p:cTn>
                              </p:par>
                              <p:par>
                                <p:cTn id="413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-0.19991 L -0.2 -1.73994E-6 " pathEditMode="relative" rAng="0" ptsTypes="AA">
                                      <p:cBhvr>
                                        <p:cTn id="414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00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/>
      <p:bldP spid="148" grpId="0" animBg="1"/>
      <p:bldP spid="149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73" grpId="0" animBg="1"/>
      <p:bldP spid="74" grpId="0" animBg="1"/>
      <p:bldP spid="75" grpId="0" animBg="1"/>
      <p:bldP spid="89" grpId="0" animBg="1"/>
      <p:bldP spid="104" grpId="0" animBg="1"/>
      <p:bldP spid="105" grpId="0" animBg="1"/>
      <p:bldP spid="107" grpId="0" animBg="1"/>
      <p:bldP spid="108" grpId="0" animBg="1"/>
      <p:bldP spid="109" grpId="0" animBg="1"/>
      <p:bldP spid="111" grpId="0"/>
      <p:bldP spid="112" grpId="0"/>
      <p:bldP spid="113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32" grpId="0" animBg="1"/>
      <p:bldP spid="134" grpId="0" animBg="1"/>
      <p:bldP spid="135" grpId="0" animBg="1"/>
      <p:bldP spid="137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/>
      <p:bldP spid="188" grpId="0"/>
      <p:bldP spid="189" grpId="0"/>
      <p:bldP spid="190" grpId="0"/>
      <p:bldP spid="191" grpId="0"/>
      <p:bldP spid="192" grpId="0"/>
      <p:bldP spid="193" grpId="0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 animBg="1"/>
      <p:bldP spid="205" grpId="0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203" grpId="0" animBg="1"/>
      <p:bldP spid="203" grpId="1" animBg="1"/>
      <p:bldP spid="204" grpId="0" animBg="1"/>
      <p:bldP spid="204" grpId="1" animBg="1"/>
      <p:bldP spid="76" grpId="0" animBg="1"/>
      <p:bldP spid="76" grpId="1" animBg="1"/>
      <p:bldP spid="76" grpId="2" animBg="1"/>
      <p:bldP spid="76" grpId="3" animBg="1"/>
      <p:bldP spid="81" grpId="0" animBg="1"/>
      <p:bldP spid="81" grpId="1" animBg="1"/>
      <p:bldP spid="81" grpId="2" animBg="1"/>
      <p:bldP spid="81" grpId="3" animBg="1"/>
      <p:bldP spid="82" grpId="0" animBg="1"/>
      <p:bldP spid="82" grpId="1" animBg="1"/>
      <p:bldP spid="82" grpId="2" animBg="1"/>
      <p:bldP spid="82" grpId="3" animBg="1"/>
      <p:bldP spid="83" grpId="0" animBg="1"/>
      <p:bldP spid="83" grpId="1" animBg="1"/>
      <p:bldP spid="83" grpId="2" animBg="1"/>
      <p:bldP spid="83" grpId="3" animBg="1"/>
      <p:bldP spid="85" grpId="0" animBg="1"/>
      <p:bldP spid="85" grpId="1" animBg="1"/>
      <p:bldP spid="85" grpId="2" animBg="1"/>
      <p:bldP spid="85" grpId="3" animBg="1"/>
      <p:bldP spid="86" grpId="0" animBg="1"/>
      <p:bldP spid="86" grpId="1" animBg="1"/>
      <p:bldP spid="86" grpId="2" animBg="1"/>
      <p:bldP spid="86" grpId="3" animBg="1"/>
      <p:bldP spid="87" grpId="0" animBg="1"/>
      <p:bldP spid="87" grpId="1" animBg="1"/>
      <p:bldP spid="87" grpId="2" animBg="1"/>
      <p:bldP spid="87" grpId="3" animBg="1"/>
      <p:bldP spid="88" grpId="0" animBg="1"/>
      <p:bldP spid="88" grpId="1" animBg="1"/>
      <p:bldP spid="88" grpId="2" animBg="1"/>
      <p:bldP spid="88" grpId="3" animBg="1"/>
      <p:bldP spid="129" grpId="0" animBg="1"/>
      <p:bldP spid="1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cách truyền </a:t>
            </a:r>
            <a:r>
              <a:rPr lang="vi-VN" smtClean="0"/>
              <a:t>đố</a:t>
            </a:r>
            <a:r>
              <a:rPr lang="en-US" smtClean="0"/>
              <a:t>i số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Truyền tham chiếu (C++)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4419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hoanvi(int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x, 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y);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 = 2912; b = 1706;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hoanvi(a, b);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printf(“a = %d, b = %d”, a, b);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hoanvi(int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x, 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y)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t = x; x = y; y = 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2743200" y="5105400"/>
            <a:ext cx="2133600" cy="381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438400" y="5715000"/>
            <a:ext cx="3048000" cy="381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AutoShape 6"/>
          <p:cNvSpPr>
            <a:spLocks noChangeArrowheads="1"/>
          </p:cNvSpPr>
          <p:nvPr/>
        </p:nvSpPr>
        <p:spPr bwMode="gray">
          <a:xfrm>
            <a:off x="5410200" y="3505200"/>
            <a:ext cx="1828800" cy="914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int t = x;</a:t>
            </a:r>
          </a:p>
          <a:p>
            <a:pPr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x = y;</a:t>
            </a:r>
          </a:p>
          <a:p>
            <a:pPr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y = t;</a:t>
            </a:r>
          </a:p>
        </p:txBody>
      </p:sp>
      <p:sp>
        <p:nvSpPr>
          <p:cNvPr id="148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9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3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4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5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6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7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8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17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Truyền tham chiếu (C++)</a:t>
            </a:r>
          </a:p>
        </p:txBody>
      </p:sp>
      <p:sp>
        <p:nvSpPr>
          <p:cNvPr id="317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73" name="AutoShape 6"/>
          <p:cNvSpPr>
            <a:spLocks noChangeArrowheads="1"/>
          </p:cNvSpPr>
          <p:nvPr/>
        </p:nvSpPr>
        <p:spPr bwMode="gray">
          <a:xfrm>
            <a:off x="7543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75" name="AutoShape 6"/>
          <p:cNvSpPr>
            <a:spLocks noChangeArrowheads="1"/>
          </p:cNvSpPr>
          <p:nvPr/>
        </p:nvSpPr>
        <p:spPr bwMode="gray">
          <a:xfrm>
            <a:off x="1143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9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4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5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7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8" name="AutoShape 6"/>
          <p:cNvSpPr>
            <a:spLocks noChangeArrowheads="1"/>
          </p:cNvSpPr>
          <p:nvPr/>
        </p:nvSpPr>
        <p:spPr bwMode="gray">
          <a:xfrm>
            <a:off x="7086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9" name="AutoShape 6"/>
          <p:cNvSpPr>
            <a:spLocks noChangeArrowheads="1"/>
          </p:cNvSpPr>
          <p:nvPr/>
        </p:nvSpPr>
        <p:spPr bwMode="gray">
          <a:xfrm>
            <a:off x="16002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/>
              <a:t> = 5</a:t>
            </a:r>
          </a:p>
        </p:txBody>
      </p:sp>
      <p:sp>
        <p:nvSpPr>
          <p:cNvPr id="111" name="AutoShape 6"/>
          <p:cNvSpPr>
            <a:spLocks noChangeArrowheads="1"/>
          </p:cNvSpPr>
          <p:nvPr/>
        </p:nvSpPr>
        <p:spPr bwMode="gray">
          <a:xfrm>
            <a:off x="1143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0A</a:t>
            </a:r>
            <a:endParaRPr lang="en-US" baseline="30000"/>
          </a:p>
        </p:txBody>
      </p:sp>
      <p:sp>
        <p:nvSpPr>
          <p:cNvPr id="112" name="AutoShape 6"/>
          <p:cNvSpPr>
            <a:spLocks noChangeArrowheads="1"/>
          </p:cNvSpPr>
          <p:nvPr/>
        </p:nvSpPr>
        <p:spPr bwMode="gray">
          <a:xfrm>
            <a:off x="1600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0B</a:t>
            </a:r>
            <a:endParaRPr lang="en-US" baseline="30000"/>
          </a:p>
        </p:txBody>
      </p:sp>
      <p:sp>
        <p:nvSpPr>
          <p:cNvPr id="113" name="AutoShape 6"/>
          <p:cNvSpPr>
            <a:spLocks noChangeArrowheads="1"/>
          </p:cNvSpPr>
          <p:nvPr/>
        </p:nvSpPr>
        <p:spPr bwMode="gray">
          <a:xfrm>
            <a:off x="2057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0C</a:t>
            </a:r>
            <a:endParaRPr lang="en-US" baseline="30000"/>
          </a:p>
        </p:txBody>
      </p:sp>
      <p:sp>
        <p:nvSpPr>
          <p:cNvPr id="117" name="AutoShape 6"/>
          <p:cNvSpPr>
            <a:spLocks noChangeArrowheads="1"/>
          </p:cNvSpPr>
          <p:nvPr/>
        </p:nvSpPr>
        <p:spPr bwMode="gray">
          <a:xfrm>
            <a:off x="2514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0D</a:t>
            </a:r>
            <a:endParaRPr lang="en-US" baseline="30000"/>
          </a:p>
        </p:txBody>
      </p:sp>
      <p:sp>
        <p:nvSpPr>
          <p:cNvPr id="118" name="AutoShape 6"/>
          <p:cNvSpPr>
            <a:spLocks noChangeArrowheads="1"/>
          </p:cNvSpPr>
          <p:nvPr/>
        </p:nvSpPr>
        <p:spPr bwMode="gray">
          <a:xfrm>
            <a:off x="2971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0E</a:t>
            </a:r>
            <a:endParaRPr lang="en-US" baseline="30000"/>
          </a:p>
        </p:txBody>
      </p:sp>
      <p:sp>
        <p:nvSpPr>
          <p:cNvPr id="119" name="AutoShape 6"/>
          <p:cNvSpPr>
            <a:spLocks noChangeArrowheads="1"/>
          </p:cNvSpPr>
          <p:nvPr/>
        </p:nvSpPr>
        <p:spPr bwMode="gray">
          <a:xfrm>
            <a:off x="3429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0F</a:t>
            </a:r>
            <a:endParaRPr lang="en-US" baseline="30000"/>
          </a:p>
        </p:txBody>
      </p:sp>
      <p:sp>
        <p:nvSpPr>
          <p:cNvPr id="120" name="AutoShape 6"/>
          <p:cNvSpPr>
            <a:spLocks noChangeArrowheads="1"/>
          </p:cNvSpPr>
          <p:nvPr/>
        </p:nvSpPr>
        <p:spPr bwMode="gray">
          <a:xfrm>
            <a:off x="3886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121" name="AutoShape 6"/>
          <p:cNvSpPr>
            <a:spLocks noChangeArrowheads="1"/>
          </p:cNvSpPr>
          <p:nvPr/>
        </p:nvSpPr>
        <p:spPr bwMode="gray">
          <a:xfrm>
            <a:off x="4343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122" name="AutoShape 6"/>
          <p:cNvSpPr>
            <a:spLocks noChangeArrowheads="1"/>
          </p:cNvSpPr>
          <p:nvPr/>
        </p:nvSpPr>
        <p:spPr bwMode="gray">
          <a:xfrm>
            <a:off x="4800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12</a:t>
            </a:r>
            <a:endParaRPr lang="en-US" baseline="30000"/>
          </a:p>
        </p:txBody>
      </p:sp>
      <p:sp>
        <p:nvSpPr>
          <p:cNvPr id="123" name="AutoShape 6"/>
          <p:cNvSpPr>
            <a:spLocks noChangeArrowheads="1"/>
          </p:cNvSpPr>
          <p:nvPr/>
        </p:nvSpPr>
        <p:spPr bwMode="gray">
          <a:xfrm>
            <a:off x="5257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124" name="AutoShape 6"/>
          <p:cNvSpPr>
            <a:spLocks noChangeArrowheads="1"/>
          </p:cNvSpPr>
          <p:nvPr/>
        </p:nvSpPr>
        <p:spPr bwMode="gray">
          <a:xfrm>
            <a:off x="5715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125" name="AutoShape 6"/>
          <p:cNvSpPr>
            <a:spLocks noChangeArrowheads="1"/>
          </p:cNvSpPr>
          <p:nvPr/>
        </p:nvSpPr>
        <p:spPr bwMode="gray">
          <a:xfrm>
            <a:off x="6172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126" name="AutoShape 6"/>
          <p:cNvSpPr>
            <a:spLocks noChangeArrowheads="1"/>
          </p:cNvSpPr>
          <p:nvPr/>
        </p:nvSpPr>
        <p:spPr bwMode="gray">
          <a:xfrm>
            <a:off x="6629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127" name="AutoShape 6"/>
          <p:cNvSpPr>
            <a:spLocks noChangeArrowheads="1"/>
          </p:cNvSpPr>
          <p:nvPr/>
        </p:nvSpPr>
        <p:spPr bwMode="gray">
          <a:xfrm>
            <a:off x="7086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cxnSp>
        <p:nvCxnSpPr>
          <p:cNvPr id="128" name="Straight Arrow Connector 127"/>
          <p:cNvCxnSpPr/>
          <p:nvPr/>
        </p:nvCxnSpPr>
        <p:spPr>
          <a:xfrm rot="5400000" flipH="1" flipV="1">
            <a:off x="16398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utoShape 6"/>
          <p:cNvSpPr>
            <a:spLocks noChangeArrowheads="1"/>
          </p:cNvSpPr>
          <p:nvPr/>
        </p:nvSpPr>
        <p:spPr bwMode="gray">
          <a:xfrm>
            <a:off x="34290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b</a:t>
            </a:r>
            <a:r>
              <a:rPr lang="en-US" sz="2400"/>
              <a:t> = 6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 rot="5400000" flipH="1" flipV="1">
            <a:off x="34686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AutoShape 6"/>
          <p:cNvSpPr>
            <a:spLocks noChangeArrowheads="1"/>
          </p:cNvSpPr>
          <p:nvPr/>
        </p:nvSpPr>
        <p:spPr bwMode="gray">
          <a:xfrm>
            <a:off x="2514600" y="3733800"/>
            <a:ext cx="1219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&amp;x</a:t>
            </a:r>
          </a:p>
        </p:txBody>
      </p:sp>
      <p:sp>
        <p:nvSpPr>
          <p:cNvPr id="135" name="AutoShape 6"/>
          <p:cNvSpPr>
            <a:spLocks noChangeArrowheads="1"/>
          </p:cNvSpPr>
          <p:nvPr/>
        </p:nvSpPr>
        <p:spPr bwMode="gray">
          <a:xfrm>
            <a:off x="3886200" y="3733800"/>
            <a:ext cx="1295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&amp;y</a:t>
            </a:r>
          </a:p>
        </p:txBody>
      </p:sp>
      <p:sp>
        <p:nvSpPr>
          <p:cNvPr id="136" name="AutoShape 6"/>
          <p:cNvSpPr>
            <a:spLocks noChangeArrowheads="1"/>
          </p:cNvSpPr>
          <p:nvPr/>
        </p:nvSpPr>
        <p:spPr bwMode="gray">
          <a:xfrm>
            <a:off x="1143000" y="3657600"/>
            <a:ext cx="4114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7" name="AutoShape 6"/>
          <p:cNvSpPr>
            <a:spLocks noChangeArrowheads="1"/>
          </p:cNvSpPr>
          <p:nvPr/>
        </p:nvSpPr>
        <p:spPr bwMode="gray">
          <a:xfrm>
            <a:off x="1295400" y="3733800"/>
            <a:ext cx="10668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hoanvi</a:t>
            </a:r>
          </a:p>
        </p:txBody>
      </p:sp>
      <p:cxnSp>
        <p:nvCxnSpPr>
          <p:cNvPr id="138" name="Straight Arrow Connector 137"/>
          <p:cNvCxnSpPr>
            <a:stCxn id="134" idx="2"/>
          </p:cNvCxnSpPr>
          <p:nvPr/>
        </p:nvCxnSpPr>
        <p:spPr>
          <a:xfrm rot="5400000">
            <a:off x="2857501" y="4457700"/>
            <a:ext cx="533400" cy="3175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/>
          <p:nvPr/>
        </p:nvCxnSpPr>
        <p:spPr>
          <a:xfrm rot="5400000">
            <a:off x="1639094" y="4914106"/>
            <a:ext cx="381000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>
            <a:off x="1828800" y="4724400"/>
            <a:ext cx="1295400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>
            <a:stCxn id="135" idx="2"/>
          </p:cNvCxnSpPr>
          <p:nvPr/>
        </p:nvCxnSpPr>
        <p:spPr>
          <a:xfrm rot="16200000" flipH="1">
            <a:off x="4264819" y="4460081"/>
            <a:ext cx="546100" cy="7938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 rot="5400000">
            <a:off x="3467894" y="4914106"/>
            <a:ext cx="381000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 flipV="1">
            <a:off x="3657600" y="4724400"/>
            <a:ext cx="884238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AutoShape 6"/>
          <p:cNvSpPr>
            <a:spLocks noChangeArrowheads="1"/>
          </p:cNvSpPr>
          <p:nvPr/>
        </p:nvSpPr>
        <p:spPr bwMode="gray">
          <a:xfrm>
            <a:off x="5257800" y="3276600"/>
            <a:ext cx="2133600" cy="1371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6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05</a:t>
            </a:r>
          </a:p>
        </p:txBody>
      </p:sp>
      <p:sp>
        <p:nvSpPr>
          <p:cNvPr id="81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2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3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5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06</a:t>
            </a:r>
          </a:p>
        </p:txBody>
      </p:sp>
      <p:sp>
        <p:nvSpPr>
          <p:cNvPr id="86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7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88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129" name="AutoShape 6"/>
          <p:cNvSpPr>
            <a:spLocks noChangeArrowheads="1"/>
          </p:cNvSpPr>
          <p:nvPr/>
        </p:nvSpPr>
        <p:spPr bwMode="gray">
          <a:xfrm>
            <a:off x="16002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0" name="AutoShape 6"/>
          <p:cNvSpPr>
            <a:spLocks noChangeArrowheads="1"/>
          </p:cNvSpPr>
          <p:nvPr/>
        </p:nvSpPr>
        <p:spPr bwMode="gray">
          <a:xfrm>
            <a:off x="34290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41667 -0.28862 " pathEditMode="relative" rAng="0" ptsTypes="AA">
                                      <p:cBhvr>
                                        <p:cTn id="185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0" y="-14400"/>
                                    </p:animMotion>
                                  </p:childTnLst>
                                </p:cTn>
                              </p:par>
                              <p:par>
                                <p:cTn id="18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41667 -0.28862 " pathEditMode="relative" rAng="0" ptsTypes="AA">
                                      <p:cBhvr>
                                        <p:cTn id="187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0" y="-14400"/>
                                    </p:animMotion>
                                  </p:childTnLst>
                                </p:cTn>
                              </p:par>
                              <p:par>
                                <p:cTn id="18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1.60962E-6 L 0.41667 -0.28862 " pathEditMode="relative" rAng="0" ptsTypes="AA">
                                      <p:cBhvr>
                                        <p:cTn id="189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0" y="-14400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41667 -0.28862 " pathEditMode="relative" rAng="0" ptsTypes="AA">
                                      <p:cBhvr>
                                        <p:cTn id="191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0" y="-14400"/>
                                    </p:animMotion>
                                  </p:childTnLst>
                                </p:cTn>
                              </p:par>
                              <p:par>
                                <p:cTn id="19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21667 -0.19981 " pathEditMode="relative" rAng="0" ptsTypes="AA">
                                      <p:cBhvr>
                                        <p:cTn id="193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-10000"/>
                                    </p:animMotion>
                                  </p:childTnLst>
                                </p:cTn>
                              </p:par>
                              <p:par>
                                <p:cTn id="19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21667 -0.19981 " pathEditMode="relative" rAng="0" ptsTypes="AA">
                                      <p:cBhvr>
                                        <p:cTn id="195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-10000"/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21667 -0.19981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-10000"/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73994E-6 L 0.21667 -0.19991 " pathEditMode="relative" rAng="0" ptsTypes="AA">
                                      <p:cBhvr>
                                        <p:cTn id="199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0" y="-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1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3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4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6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9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0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2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3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 tmFilter="0, 0; .2, .5; .8, .5; 1, 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5" dur="250" autoRev="1" fill="hold"/>
                                        <p:tgtEl>
                                          <p:spTgt spid="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6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 tmFilter="0, 0; .2, .5; .8, .5; 1, 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8" dur="250" autoRev="1" fill="hold"/>
                                        <p:tgtEl>
                                          <p:spTgt spid="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9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500" tmFilter="0, 0; .2, .5; .8, .5; 1, 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1" dur="250" autoRev="1" fill="hold"/>
                                        <p:tgtEl>
                                          <p:spTgt spid="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2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 tmFilter="0, 0; .2, .5; .8, .5; 1, 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4" dur="250" autoRev="1" fill="hold"/>
                                        <p:tgtEl>
                                          <p:spTgt spid="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6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-0.28875 L 0.2 -1.73994E-6 " pathEditMode="relative" rAng="0" ptsTypes="AA">
                                      <p:cBhvr>
                                        <p:cTn id="227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14400"/>
                                    </p:animMotion>
                                  </p:childTnLst>
                                </p:cTn>
                              </p:par>
                              <p:par>
                                <p:cTn id="228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-0.28875 L 0.2 -1.73994E-6 " pathEditMode="relative" rAng="0" ptsTypes="AA">
                                      <p:cBhvr>
                                        <p:cTn id="229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14400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-0.28875 L 0.2 -1.73994E-6 " pathEditMode="relative" rAng="0" ptsTypes="AA">
                                      <p:cBhvr>
                                        <p:cTn id="231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14400"/>
                                    </p:animMotion>
                                  </p:childTnLst>
                                </p:cTn>
                              </p:par>
                              <p:par>
                                <p:cTn id="232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-0.28875 L 0.2 -1.73994E-6 " pathEditMode="relative" rAng="0" ptsTypes="AA">
                                      <p:cBhvr>
                                        <p:cTn id="233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14400"/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-0.19981 L -0.2 -1.60962E-6 " pathEditMode="relative" rAng="0" ptsTypes="AA">
                                      <p:cBhvr>
                                        <p:cTn id="235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00" y="10000"/>
                                    </p:animMotion>
                                  </p:childTnLst>
                                </p:cTn>
                              </p:par>
                              <p:par>
                                <p:cTn id="236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-0.19967 L -0.2 -1.73994E-6 " pathEditMode="relative" rAng="0" ptsTypes="AA">
                                      <p:cBhvr>
                                        <p:cTn id="237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00" y="10000"/>
                                    </p:animMotion>
                                  </p:childTnLst>
                                </p:cTn>
                              </p:par>
                              <p:par>
                                <p:cTn id="238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-0.19981 L -0.2 -1.60962E-6 " pathEditMode="relative" rAng="0" ptsTypes="AA">
                                      <p:cBhvr>
                                        <p:cTn id="239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00" y="10000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-0.19991 L -0.2 -1.73994E-6 " pathEditMode="relative" rAng="0" ptsTypes="AA">
                                      <p:cBhvr>
                                        <p:cTn id="241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00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/>
      <p:bldP spid="148" grpId="0" animBg="1"/>
      <p:bldP spid="149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73" grpId="0" animBg="1"/>
      <p:bldP spid="74" grpId="0" animBg="1"/>
      <p:bldP spid="75" grpId="0" animBg="1"/>
      <p:bldP spid="89" grpId="0" animBg="1"/>
      <p:bldP spid="104" grpId="0" animBg="1"/>
      <p:bldP spid="105" grpId="0" animBg="1"/>
      <p:bldP spid="107" grpId="0" animBg="1"/>
      <p:bldP spid="108" grpId="0" animBg="1"/>
      <p:bldP spid="109" grpId="0" animBg="1"/>
      <p:bldP spid="111" grpId="0"/>
      <p:bldP spid="112" grpId="0"/>
      <p:bldP spid="113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32" grpId="0" animBg="1"/>
      <p:bldP spid="134" grpId="0" animBg="1"/>
      <p:bldP spid="135" grpId="0" animBg="1"/>
      <p:bldP spid="137" grpId="0" animBg="1"/>
      <p:bldP spid="98" grpId="0" animBg="1"/>
      <p:bldP spid="76" grpId="0" animBg="1"/>
      <p:bldP spid="76" grpId="1" animBg="1"/>
      <p:bldP spid="76" grpId="2" animBg="1"/>
      <p:bldP spid="76" grpId="3" animBg="1"/>
      <p:bldP spid="81" grpId="0" animBg="1"/>
      <p:bldP spid="81" grpId="1" animBg="1"/>
      <p:bldP spid="81" grpId="2" animBg="1"/>
      <p:bldP spid="81" grpId="3" animBg="1"/>
      <p:bldP spid="82" grpId="0" animBg="1"/>
      <p:bldP spid="82" grpId="1" animBg="1"/>
      <p:bldP spid="82" grpId="2" animBg="1"/>
      <p:bldP spid="82" grpId="3" animBg="1"/>
      <p:bldP spid="83" grpId="0" animBg="1"/>
      <p:bldP spid="83" grpId="1" animBg="1"/>
      <p:bldP spid="83" grpId="2" animBg="1"/>
      <p:bldP spid="83" grpId="3" animBg="1"/>
      <p:bldP spid="85" grpId="0" animBg="1"/>
      <p:bldP spid="85" grpId="1" animBg="1"/>
      <p:bldP spid="85" grpId="2" animBg="1"/>
      <p:bldP spid="85" grpId="3" animBg="1"/>
      <p:bldP spid="86" grpId="0" animBg="1"/>
      <p:bldP spid="86" grpId="1" animBg="1"/>
      <p:bldP spid="86" grpId="2" animBg="1"/>
      <p:bldP spid="86" grpId="3" animBg="1"/>
      <p:bldP spid="87" grpId="0" animBg="1"/>
      <p:bldP spid="87" grpId="1" animBg="1"/>
      <p:bldP spid="87" grpId="2" animBg="1"/>
      <p:bldP spid="87" grpId="3" animBg="1"/>
      <p:bldP spid="88" grpId="0" animBg="1"/>
      <p:bldP spid="88" grpId="1" animBg="1"/>
      <p:bldP spid="88" grpId="2" animBg="1"/>
      <p:bldP spid="88" grpId="3" animBg="1"/>
      <p:bldP spid="129" grpId="0" animBg="1"/>
      <p:bldP spid="1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Một số l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u ý</a:t>
            </a:r>
          </a:p>
          <a:p>
            <a:pPr lvl="1">
              <a:defRPr/>
            </a:pPr>
            <a:r>
              <a:rPr lang="en-US" smtClean="0"/>
              <a:t>Con trỏ là khái niệm quan trọng và khó nhất trong C. Mức </a:t>
            </a:r>
            <a:r>
              <a:rPr lang="vi-VN" smtClean="0"/>
              <a:t>độ</a:t>
            </a:r>
            <a:r>
              <a:rPr lang="en-US" smtClean="0"/>
              <a:t> thành thạo C </a:t>
            </a:r>
            <a:r>
              <a:rPr lang="vi-VN" smtClean="0"/>
              <a:t>đượ</a:t>
            </a:r>
            <a:r>
              <a:rPr lang="en-US" smtClean="0"/>
              <a:t>c </a:t>
            </a:r>
            <a:r>
              <a:rPr lang="vi-VN" smtClean="0"/>
              <a:t>đá</a:t>
            </a:r>
            <a:r>
              <a:rPr lang="en-US" smtClean="0"/>
              <a:t>nh giá qua mức </a:t>
            </a:r>
            <a:r>
              <a:rPr lang="vi-VN" smtClean="0"/>
              <a:t>độ</a:t>
            </a:r>
            <a:r>
              <a:rPr lang="en-US" smtClean="0"/>
              <a:t> sử dụng con trỏ.</a:t>
            </a:r>
          </a:p>
          <a:p>
            <a:pPr lvl="1">
              <a:defRPr/>
            </a:pPr>
            <a:r>
              <a:rPr lang="en-US" smtClean="0"/>
              <a:t>Nắm rõ quy tắc sau, ví dụ </a:t>
            </a:r>
            <a:r>
              <a:rPr lang="en-US" smtClean="0">
                <a:solidFill>
                  <a:srgbClr val="FF0000"/>
                </a:solidFill>
              </a:rPr>
              <a:t>int a, *pa = &amp;a;</a:t>
            </a:r>
          </a:p>
          <a:p>
            <a:pPr lvl="2">
              <a:defRPr/>
            </a:pPr>
            <a:r>
              <a:rPr lang="en-US" smtClean="0">
                <a:solidFill>
                  <a:srgbClr val="FF0000"/>
                </a:solidFill>
              </a:rPr>
              <a:t>*pa</a:t>
            </a:r>
            <a:r>
              <a:rPr lang="en-US" smtClean="0"/>
              <a:t> và </a:t>
            </a:r>
            <a:r>
              <a:rPr lang="en-US" smtClean="0">
                <a:solidFill>
                  <a:srgbClr val="FF0000"/>
                </a:solidFill>
              </a:rPr>
              <a:t>a</a:t>
            </a:r>
            <a:r>
              <a:rPr lang="en-US" smtClean="0"/>
              <a:t> </a:t>
            </a:r>
            <a:r>
              <a:rPr lang="vi-VN" smtClean="0"/>
              <a:t>đề</a:t>
            </a:r>
            <a:r>
              <a:rPr lang="en-US" smtClean="0"/>
              <a:t>u chỉ </a:t>
            </a:r>
            <a:r>
              <a:rPr lang="en-US" smtClean="0">
                <a:solidFill>
                  <a:srgbClr val="FF0000"/>
                </a:solidFill>
              </a:rPr>
              <a:t>nội dung</a:t>
            </a:r>
            <a:r>
              <a:rPr lang="en-US" smtClean="0"/>
              <a:t> của biến a.</a:t>
            </a:r>
          </a:p>
          <a:p>
            <a:pPr lvl="2">
              <a:defRPr/>
            </a:pPr>
            <a:r>
              <a:rPr lang="en-US" smtClean="0">
                <a:solidFill>
                  <a:srgbClr val="FF0000"/>
                </a:solidFill>
              </a:rPr>
              <a:t>pa</a:t>
            </a:r>
            <a:r>
              <a:rPr lang="en-US" smtClean="0"/>
              <a:t> và </a:t>
            </a:r>
            <a:r>
              <a:rPr lang="en-US" smtClean="0">
                <a:solidFill>
                  <a:srgbClr val="FF0000"/>
                </a:solidFill>
              </a:rPr>
              <a:t>&amp;a</a:t>
            </a:r>
            <a:r>
              <a:rPr lang="en-US" smtClean="0"/>
              <a:t> </a:t>
            </a:r>
            <a:r>
              <a:rPr lang="vi-VN" smtClean="0"/>
              <a:t>đề</a:t>
            </a:r>
            <a:r>
              <a:rPr lang="en-US" smtClean="0"/>
              <a:t>u chỉ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a chỉ</a:t>
            </a:r>
            <a:r>
              <a:rPr lang="en-US" smtClean="0"/>
              <a:t> của biến a.</a:t>
            </a:r>
          </a:p>
          <a:p>
            <a:pPr lvl="1">
              <a:defRPr/>
            </a:pPr>
            <a:r>
              <a:rPr lang="en-US" smtClean="0">
                <a:solidFill>
                  <a:srgbClr val="FF0000"/>
                </a:solidFill>
              </a:rPr>
              <a:t>Không nên</a:t>
            </a:r>
            <a:r>
              <a:rPr lang="en-US" smtClean="0"/>
              <a:t> sử dụng con trỏ khi ch</a:t>
            </a:r>
            <a:r>
              <a:rPr lang="vi-VN" smtClean="0"/>
              <a:t>ư</a:t>
            </a:r>
            <a:r>
              <a:rPr lang="en-US" smtClean="0"/>
              <a:t>a </a:t>
            </a:r>
            <a:r>
              <a:rPr lang="vi-VN" smtClean="0"/>
              <a:t>đượ</a:t>
            </a:r>
            <a:r>
              <a:rPr lang="en-US" smtClean="0"/>
              <a:t>c khởi tạo. Kết quả sẽ không l</a:t>
            </a:r>
            <a:r>
              <a:rPr lang="vi-VN" smtClean="0"/>
              <a:t>ườ</a:t>
            </a:r>
            <a:r>
              <a:rPr lang="en-US" smtClean="0"/>
              <a:t>ng tr</a:t>
            </a:r>
            <a:r>
              <a:rPr lang="vi-VN" smtClean="0"/>
              <a:t>ướ</a:t>
            </a:r>
            <a:r>
              <a:rPr lang="en-US" smtClean="0"/>
              <a:t>c </a:t>
            </a:r>
            <a:r>
              <a:rPr lang="vi-VN" smtClean="0"/>
              <a:t>đượ</a:t>
            </a:r>
            <a:r>
              <a:rPr lang="en-US" smtClean="0"/>
              <a:t>c.</a:t>
            </a:r>
            <a:endParaRPr lang="en-US"/>
          </a:p>
        </p:txBody>
      </p:sp>
      <p:sp>
        <p:nvSpPr>
          <p:cNvPr id="327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6076950"/>
            <a:ext cx="152400" cy="381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6076950"/>
            <a:ext cx="701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*pa;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*pa = 1904;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 trỏ và mảng một chiều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Mảng một chiều</a:t>
            </a:r>
          </a:p>
          <a:p>
            <a:pPr>
              <a:defRPr/>
            </a:pPr>
            <a:endParaRPr lang="en-US" smtClean="0"/>
          </a:p>
          <a:p>
            <a:pPr lvl="1">
              <a:defRPr/>
            </a:pPr>
            <a:r>
              <a:rPr lang="en-US" smtClean="0"/>
              <a:t>Tên mảng array là một </a:t>
            </a:r>
            <a:r>
              <a:rPr lang="en-US" smtClean="0">
                <a:solidFill>
                  <a:srgbClr val="FF0000"/>
                </a:solidFill>
              </a:rPr>
              <a:t>hằng con trỏ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không thể</a:t>
            </a:r>
            <a:r>
              <a:rPr lang="en-US" smtClean="0">
                <a:solidFill>
                  <a:srgbClr val="FF0000"/>
                </a:solidFill>
              </a:rPr>
              <a:t> thay </a:t>
            </a:r>
            <a:r>
              <a:rPr lang="vi-VN" smtClean="0">
                <a:solidFill>
                  <a:srgbClr val="FF0000"/>
                </a:solidFill>
              </a:rPr>
              <a:t>đổ</a:t>
            </a:r>
            <a:r>
              <a:rPr lang="en-US" smtClean="0">
                <a:solidFill>
                  <a:srgbClr val="FF0000"/>
                </a:solidFill>
              </a:rPr>
              <a:t>i</a:t>
            </a:r>
            <a:r>
              <a:rPr lang="en-US" smtClean="0"/>
              <a:t> giá trị của hằng này.</a:t>
            </a:r>
          </a:p>
          <a:p>
            <a:pPr lvl="1">
              <a:defRPr/>
            </a:pPr>
            <a:r>
              <a:rPr lang="en-US" smtClean="0"/>
              <a:t>array là </a:t>
            </a:r>
            <a:r>
              <a:rPr lang="vi-VN" smtClean="0"/>
              <a:t>địa</a:t>
            </a:r>
            <a:r>
              <a:rPr lang="en-US" smtClean="0"/>
              <a:t> chỉ </a:t>
            </a:r>
            <a:r>
              <a:rPr lang="vi-VN" smtClean="0"/>
              <a:t>đầ</a:t>
            </a:r>
            <a:r>
              <a:rPr lang="en-US" smtClean="0"/>
              <a:t>u tiên của mảng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</a:t>
            </a:r>
            <a:r>
              <a:rPr lang="en-US" smtClean="0">
                <a:solidFill>
                  <a:srgbClr val="FF0000"/>
                </a:solidFill>
              </a:rPr>
              <a:t>array</a:t>
            </a:r>
            <a:r>
              <a:rPr lang="en-US" smtClean="0"/>
              <a:t> == </a:t>
            </a:r>
            <a:r>
              <a:rPr lang="en-US" smtClean="0">
                <a:solidFill>
                  <a:srgbClr val="FF0000"/>
                </a:solidFill>
              </a:rPr>
              <a:t>&amp;array[0]</a:t>
            </a:r>
            <a:endParaRPr lang="en-US"/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133600"/>
            <a:ext cx="152400" cy="381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13360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array[3];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7543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1143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7086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16002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array</a:t>
            </a:r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1143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0A</a:t>
            </a:r>
            <a:endParaRPr lang="en-US" baseline="300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1600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0B</a:t>
            </a:r>
            <a:endParaRPr lang="en-US" baseline="300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2057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0C</a:t>
            </a:r>
            <a:endParaRPr lang="en-US" baseline="300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2514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0D</a:t>
            </a:r>
            <a:endParaRPr lang="en-US" baseline="300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2971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0E</a:t>
            </a:r>
            <a:endParaRPr lang="en-US" baseline="30000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3429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0F</a:t>
            </a:r>
            <a:endParaRPr lang="en-US" baseline="3000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3886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4343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4800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12</a:t>
            </a:r>
            <a:endParaRPr lang="en-US" baseline="30000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5257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5715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6172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6629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7086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9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2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3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16002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34290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52578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cxnSp>
        <p:nvCxnSpPr>
          <p:cNvPr id="54" name="Straight Arrow Connector 53"/>
          <p:cNvCxnSpPr/>
          <p:nvPr/>
        </p:nvCxnSpPr>
        <p:spPr>
          <a:xfrm rot="5400000" flipH="1" flipV="1">
            <a:off x="16398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39" grpId="0" animBg="1"/>
      <p:bldP spid="40" grpId="0" animBg="1"/>
      <p:bldP spid="4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Con trỏ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đế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 mảng một chiều</a:t>
            </a:r>
          </a:p>
          <a:p>
            <a:pPr>
              <a:defRPr/>
            </a:pPr>
            <a:endParaRPr lang="en-US" smtClean="0"/>
          </a:p>
          <a:p>
            <a:pPr lvl="1">
              <a:defRPr/>
            </a:pPr>
            <a:endParaRPr lang="en-US"/>
          </a:p>
        </p:txBody>
      </p:sp>
      <p:sp>
        <p:nvSpPr>
          <p:cNvPr id="57" name="AutoShape 6"/>
          <p:cNvSpPr>
            <a:spLocks noChangeArrowheads="1"/>
          </p:cNvSpPr>
          <p:nvPr/>
        </p:nvSpPr>
        <p:spPr bwMode="gray">
          <a:xfrm>
            <a:off x="75438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348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 trỏ và mảng một chiều</a:t>
            </a:r>
          </a:p>
        </p:txBody>
      </p:sp>
      <p:sp>
        <p:nvSpPr>
          <p:cNvPr id="3482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133600"/>
            <a:ext cx="152400" cy="1295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133600"/>
            <a:ext cx="8305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array[3],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parray;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parray = array;		// Cách 1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parray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&amp;array[0]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	// Cách 2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7543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1143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7086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16002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array</a:t>
            </a:r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1143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0A</a:t>
            </a:r>
            <a:endParaRPr lang="en-US" baseline="300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1600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0B</a:t>
            </a:r>
            <a:endParaRPr lang="en-US" baseline="300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2057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0C</a:t>
            </a:r>
            <a:endParaRPr lang="en-US" baseline="300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2514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0D</a:t>
            </a:r>
            <a:endParaRPr lang="en-US" baseline="300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2971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0E</a:t>
            </a:r>
            <a:endParaRPr lang="en-US" baseline="30000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3429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0F</a:t>
            </a:r>
            <a:endParaRPr lang="en-US" baseline="3000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3886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4343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4800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12</a:t>
            </a:r>
            <a:endParaRPr lang="en-US" baseline="30000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5257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5715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6172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6629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7086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34290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38862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43434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48006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52578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57150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61722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66294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70866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gray">
          <a:xfrm>
            <a:off x="3886200" y="3429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18</a:t>
            </a:r>
            <a:endParaRPr lang="en-US" baseline="30000"/>
          </a:p>
        </p:txBody>
      </p:sp>
      <p:sp>
        <p:nvSpPr>
          <p:cNvPr id="49" name="AutoShape 6"/>
          <p:cNvSpPr>
            <a:spLocks noChangeArrowheads="1"/>
          </p:cNvSpPr>
          <p:nvPr/>
        </p:nvSpPr>
        <p:spPr bwMode="gray">
          <a:xfrm>
            <a:off x="4343400" y="3429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19</a:t>
            </a:r>
            <a:endParaRPr lang="en-US" baseline="30000"/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4800600" y="3429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1A</a:t>
            </a:r>
            <a:endParaRPr lang="en-US" baseline="30000"/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5257800" y="3429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1B</a:t>
            </a:r>
            <a:endParaRPr lang="en-US" baseline="30000"/>
          </a:p>
        </p:txBody>
      </p:sp>
      <p:sp>
        <p:nvSpPr>
          <p:cNvPr id="52" name="AutoShape 6"/>
          <p:cNvSpPr>
            <a:spLocks noChangeArrowheads="1"/>
          </p:cNvSpPr>
          <p:nvPr/>
        </p:nvSpPr>
        <p:spPr bwMode="gray">
          <a:xfrm>
            <a:off x="5715000" y="3429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1C</a:t>
            </a:r>
            <a:endParaRPr lang="en-US" baseline="30000"/>
          </a:p>
        </p:txBody>
      </p:sp>
      <p:sp>
        <p:nvSpPr>
          <p:cNvPr id="53" name="AutoShape 6"/>
          <p:cNvSpPr>
            <a:spLocks noChangeArrowheads="1"/>
          </p:cNvSpPr>
          <p:nvPr/>
        </p:nvSpPr>
        <p:spPr bwMode="gray">
          <a:xfrm>
            <a:off x="6172200" y="3429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1D</a:t>
            </a:r>
            <a:endParaRPr lang="en-US" baseline="30000"/>
          </a:p>
        </p:txBody>
      </p:sp>
      <p:sp>
        <p:nvSpPr>
          <p:cNvPr id="54" name="AutoShape 6"/>
          <p:cNvSpPr>
            <a:spLocks noChangeArrowheads="1"/>
          </p:cNvSpPr>
          <p:nvPr/>
        </p:nvSpPr>
        <p:spPr bwMode="gray">
          <a:xfrm>
            <a:off x="6629400" y="3429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1E</a:t>
            </a:r>
            <a:endParaRPr lang="en-US" baseline="30000"/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gray">
          <a:xfrm>
            <a:off x="7086600" y="3429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1F</a:t>
            </a:r>
            <a:endParaRPr lang="en-US" baseline="30000"/>
          </a:p>
        </p:txBody>
      </p:sp>
      <p:cxnSp>
        <p:nvCxnSpPr>
          <p:cNvPr id="61" name="Straight Arrow Connector 60"/>
          <p:cNvCxnSpPr/>
          <p:nvPr/>
        </p:nvCxnSpPr>
        <p:spPr>
          <a:xfrm rot="5400000" flipH="1" flipV="1">
            <a:off x="4383087" y="4532313"/>
            <a:ext cx="379413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rot="5400000">
            <a:off x="1638300" y="4914900"/>
            <a:ext cx="3825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rot="10800000">
            <a:off x="1828800" y="4724400"/>
            <a:ext cx="2743200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AutoShape 6"/>
          <p:cNvSpPr>
            <a:spLocks noChangeArrowheads="1"/>
          </p:cNvSpPr>
          <p:nvPr/>
        </p:nvSpPr>
        <p:spPr bwMode="gray">
          <a:xfrm>
            <a:off x="5029200" y="4419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parray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 rot="5400000" flipH="1" flipV="1">
            <a:off x="16398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AutoShape 6"/>
          <p:cNvSpPr>
            <a:spLocks noChangeArrowheads="1"/>
          </p:cNvSpPr>
          <p:nvPr/>
        </p:nvSpPr>
        <p:spPr bwMode="gray">
          <a:xfrm>
            <a:off x="16002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9" name="AutoShape 6"/>
          <p:cNvSpPr>
            <a:spLocks noChangeArrowheads="1"/>
          </p:cNvSpPr>
          <p:nvPr/>
        </p:nvSpPr>
        <p:spPr bwMode="gray">
          <a:xfrm>
            <a:off x="34290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0" name="AutoShape 6"/>
          <p:cNvSpPr>
            <a:spLocks noChangeArrowheads="1"/>
          </p:cNvSpPr>
          <p:nvPr/>
        </p:nvSpPr>
        <p:spPr bwMode="gray">
          <a:xfrm>
            <a:off x="52578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4" name="AutoShape 6"/>
          <p:cNvSpPr>
            <a:spLocks noChangeArrowheads="1"/>
          </p:cNvSpPr>
          <p:nvPr/>
        </p:nvSpPr>
        <p:spPr bwMode="gray">
          <a:xfrm>
            <a:off x="43434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0B</a:t>
            </a:r>
          </a:p>
        </p:txBody>
      </p:sp>
      <p:sp>
        <p:nvSpPr>
          <p:cNvPr id="65" name="AutoShape 6"/>
          <p:cNvSpPr>
            <a:spLocks noChangeArrowheads="1"/>
          </p:cNvSpPr>
          <p:nvPr/>
        </p:nvSpPr>
        <p:spPr bwMode="gray">
          <a:xfrm>
            <a:off x="48006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66" name="AutoShape 6"/>
          <p:cNvSpPr>
            <a:spLocks noChangeArrowheads="1"/>
          </p:cNvSpPr>
          <p:nvPr/>
        </p:nvSpPr>
        <p:spPr bwMode="gray">
          <a:xfrm>
            <a:off x="52578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71" name="AutoShape 6"/>
          <p:cNvSpPr>
            <a:spLocks noChangeArrowheads="1"/>
          </p:cNvSpPr>
          <p:nvPr/>
        </p:nvSpPr>
        <p:spPr bwMode="gray">
          <a:xfrm>
            <a:off x="57150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73" name="AutoShape 6"/>
          <p:cNvSpPr>
            <a:spLocks noChangeArrowheads="1"/>
          </p:cNvSpPr>
          <p:nvPr/>
        </p:nvSpPr>
        <p:spPr bwMode="gray">
          <a:xfrm>
            <a:off x="4343400" y="3810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67" grpId="0" animBg="1"/>
      <p:bldP spid="68" grpId="0" animBg="1"/>
      <p:bldP spid="69" grpId="0" animBg="1"/>
      <p:bldP spid="70" grpId="0" animBg="1"/>
      <p:bldP spid="64" grpId="0" animBg="1"/>
      <p:bldP spid="65" grpId="0" animBg="1"/>
      <p:bldP spid="66" grpId="0" animBg="1"/>
      <p:bldP spid="71" grpId="0" animBg="1"/>
      <p:bldP spid="7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Phép cộng (t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ă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ng)</a:t>
            </a:r>
          </a:p>
          <a:p>
            <a:pPr lvl="1">
              <a:defRPr/>
            </a:pPr>
            <a:r>
              <a:rPr lang="en-US" smtClean="0"/>
              <a:t>+ n </a:t>
            </a:r>
            <a:r>
              <a:rPr lang="en-US" smtClean="0">
                <a:sym typeface="Wingdings" pitchFamily="2" charset="2"/>
              </a:rPr>
              <a:t> + n * sizeof(&lt;kiểu dữ liệu&gt;)</a:t>
            </a:r>
          </a:p>
          <a:p>
            <a:pPr lvl="1">
              <a:defRPr/>
            </a:pPr>
            <a:r>
              <a:rPr lang="en-US" smtClean="0">
                <a:sym typeface="Wingdings" pitchFamily="2" charset="2"/>
              </a:rPr>
              <a:t>Có thể sử dụng toán tử gộp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+=</a:t>
            </a:r>
            <a:r>
              <a:rPr lang="en-US" smtClean="0">
                <a:sym typeface="Wingdings" pitchFamily="2" charset="2"/>
              </a:rPr>
              <a:t> hoặc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++</a:t>
            </a:r>
            <a:r>
              <a:rPr lang="en-US" smtClean="0">
                <a:sym typeface="Wingdings" pitchFamily="2" charset="2"/>
              </a:rPr>
              <a:t> </a:t>
            </a:r>
            <a:endParaRPr lang="en-US" smtClean="0"/>
          </a:p>
        </p:txBody>
      </p:sp>
      <p:sp>
        <p:nvSpPr>
          <p:cNvPr id="56" name="AutoShape 6"/>
          <p:cNvSpPr>
            <a:spLocks noChangeArrowheads="1"/>
          </p:cNvSpPr>
          <p:nvPr/>
        </p:nvSpPr>
        <p:spPr bwMode="gray">
          <a:xfrm>
            <a:off x="3429000" y="3581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+2</a:t>
            </a:r>
          </a:p>
        </p:txBody>
      </p:sp>
      <p:sp>
        <p:nvSpPr>
          <p:cNvPr id="358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Phép toán số học trên con trỏ</a:t>
            </a:r>
          </a:p>
        </p:txBody>
      </p:sp>
      <p:sp>
        <p:nvSpPr>
          <p:cNvPr id="3584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gray">
          <a:xfrm>
            <a:off x="7543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1143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7086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cxnSp>
        <p:nvCxnSpPr>
          <p:cNvPr id="21" name="Straight Arrow Connector 20"/>
          <p:cNvCxnSpPr>
            <a:stCxn id="22" idx="2"/>
            <a:endCxn id="24" idx="0"/>
          </p:cNvCxnSpPr>
          <p:nvPr/>
        </p:nvCxnSpPr>
        <p:spPr>
          <a:xfrm rot="5400000">
            <a:off x="1219201" y="4343400"/>
            <a:ext cx="12192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1600200" y="3276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p = array</a:t>
            </a:r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1143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0A</a:t>
            </a:r>
            <a:endParaRPr lang="en-US" baseline="300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1600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0B</a:t>
            </a:r>
            <a:endParaRPr lang="en-US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2057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0C</a:t>
            </a:r>
            <a:endParaRPr lang="en-US" baseline="300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2514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0D</a:t>
            </a:r>
            <a:endParaRPr lang="en-US" baseline="300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2971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0E</a:t>
            </a:r>
            <a:endParaRPr lang="en-US" baseline="300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3429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0F</a:t>
            </a:r>
            <a:endParaRPr lang="en-US" baseline="300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3886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4343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4800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12</a:t>
            </a:r>
            <a:endParaRPr lang="en-US" baseline="30000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5257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5715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6172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6629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7086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cxnSp>
        <p:nvCxnSpPr>
          <p:cNvPr id="43" name="Straight Arrow Connector 42"/>
          <p:cNvCxnSpPr>
            <a:endCxn id="32" idx="0"/>
          </p:cNvCxnSpPr>
          <p:nvPr/>
        </p:nvCxnSpPr>
        <p:spPr>
          <a:xfrm rot="5400000">
            <a:off x="5219701" y="4686300"/>
            <a:ext cx="5334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22" idx="2"/>
          </p:cNvCxnSpPr>
          <p:nvPr/>
        </p:nvCxnSpPr>
        <p:spPr>
          <a:xfrm rot="16200000" flipH="1">
            <a:off x="3314700" y="2247900"/>
            <a:ext cx="685800" cy="365760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endCxn id="28" idx="0"/>
          </p:cNvCxnSpPr>
          <p:nvPr/>
        </p:nvCxnSpPr>
        <p:spPr>
          <a:xfrm rot="5400000">
            <a:off x="3467894" y="4761706"/>
            <a:ext cx="3810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AutoShape 6"/>
          <p:cNvSpPr>
            <a:spLocks noChangeArrowheads="1"/>
          </p:cNvSpPr>
          <p:nvPr/>
        </p:nvSpPr>
        <p:spPr bwMode="gray">
          <a:xfrm>
            <a:off x="2514600" y="4267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+1</a:t>
            </a:r>
          </a:p>
        </p:txBody>
      </p:sp>
      <p:cxnSp>
        <p:nvCxnSpPr>
          <p:cNvPr id="58" name="Straight Arrow Connector 57"/>
          <p:cNvCxnSpPr>
            <a:stCxn id="22" idx="2"/>
          </p:cNvCxnSpPr>
          <p:nvPr/>
        </p:nvCxnSpPr>
        <p:spPr>
          <a:xfrm rot="16200000" flipH="1">
            <a:off x="2324100" y="3238500"/>
            <a:ext cx="838200" cy="182880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AutoShape 6"/>
          <p:cNvSpPr>
            <a:spLocks noChangeArrowheads="1"/>
          </p:cNvSpPr>
          <p:nvPr/>
        </p:nvSpPr>
        <p:spPr bwMode="gray">
          <a:xfrm>
            <a:off x="16002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array</a:t>
            </a:r>
            <a:r>
              <a:rPr lang="en-US" sz="2400"/>
              <a:t>[3];</a:t>
            </a:r>
          </a:p>
        </p:txBody>
      </p:sp>
      <p:cxnSp>
        <p:nvCxnSpPr>
          <p:cNvPr id="67" name="Straight Arrow Connector 66"/>
          <p:cNvCxnSpPr/>
          <p:nvPr/>
        </p:nvCxnSpPr>
        <p:spPr>
          <a:xfrm rot="5400000" flipH="1" flipV="1">
            <a:off x="16398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16002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34290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52578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65" grpId="0" animBg="1"/>
      <p:bldP spid="66" grpId="0" animBg="1"/>
      <p:bldP spid="37" grpId="0" animBg="1"/>
      <p:bldP spid="38" grpId="0" animBg="1"/>
      <p:bldP spid="3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Phép trừ (giảm)</a:t>
            </a:r>
          </a:p>
          <a:p>
            <a:pPr lvl="1">
              <a:defRPr/>
            </a:pPr>
            <a:r>
              <a:rPr lang="en-US" smtClean="0">
                <a:sym typeface="Wingdings" pitchFamily="2" charset="2"/>
              </a:rPr>
              <a:t>–</a:t>
            </a:r>
            <a:r>
              <a:rPr lang="en-US" smtClean="0"/>
              <a:t> n  </a:t>
            </a:r>
            <a:r>
              <a:rPr lang="en-US" smtClean="0">
                <a:sym typeface="Wingdings" pitchFamily="2" charset="2"/>
              </a:rPr>
              <a:t> – n * sizeof(&lt;kiểu dữ liệu&gt;)</a:t>
            </a:r>
          </a:p>
          <a:p>
            <a:pPr lvl="1">
              <a:defRPr/>
            </a:pPr>
            <a:r>
              <a:rPr lang="en-US" smtClean="0">
                <a:sym typeface="Wingdings" pitchFamily="2" charset="2"/>
              </a:rPr>
              <a:t>Có thể sử dụng toán tử gộp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–=</a:t>
            </a:r>
            <a:r>
              <a:rPr lang="en-US" smtClean="0">
                <a:sym typeface="Wingdings" pitchFamily="2" charset="2"/>
              </a:rPr>
              <a:t> hoặc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– –</a:t>
            </a:r>
            <a:r>
              <a:rPr lang="en-US" smtClean="0">
                <a:sym typeface="Wingdings" pitchFamily="2" charset="2"/>
              </a:rPr>
              <a:t> </a:t>
            </a:r>
            <a:endParaRPr lang="en-US" smtClean="0"/>
          </a:p>
        </p:txBody>
      </p:sp>
      <p:sp>
        <p:nvSpPr>
          <p:cNvPr id="368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Phép toán số học trên con trỏ</a:t>
            </a:r>
          </a:p>
        </p:txBody>
      </p:sp>
      <p:sp>
        <p:nvSpPr>
          <p:cNvPr id="368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cxnSp>
        <p:nvCxnSpPr>
          <p:cNvPr id="21" name="Straight Arrow Connector 20"/>
          <p:cNvCxnSpPr>
            <a:stCxn id="22" idx="2"/>
          </p:cNvCxnSpPr>
          <p:nvPr/>
        </p:nvCxnSpPr>
        <p:spPr>
          <a:xfrm rot="5400000">
            <a:off x="4876007" y="4342606"/>
            <a:ext cx="1220788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5257800" y="3275013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p = &amp;array[2]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 rot="5400000">
            <a:off x="1562894" y="4685506"/>
            <a:ext cx="5334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AutoShape 6"/>
          <p:cNvSpPr>
            <a:spLocks noChangeArrowheads="1"/>
          </p:cNvSpPr>
          <p:nvPr/>
        </p:nvSpPr>
        <p:spPr bwMode="gray">
          <a:xfrm>
            <a:off x="4419600" y="4267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>
                <a:sym typeface="Wingdings" pitchFamily="2" charset="2"/>
              </a:rPr>
              <a:t>–</a:t>
            </a:r>
            <a:r>
              <a:rPr lang="en-US" sz="2400"/>
              <a:t>1</a:t>
            </a:r>
          </a:p>
        </p:txBody>
      </p:sp>
      <p:cxnSp>
        <p:nvCxnSpPr>
          <p:cNvPr id="58" name="Straight Arrow Connector 57"/>
          <p:cNvCxnSpPr>
            <a:stCxn id="22" idx="2"/>
          </p:cNvCxnSpPr>
          <p:nvPr/>
        </p:nvCxnSpPr>
        <p:spPr>
          <a:xfrm rot="5400000">
            <a:off x="4152106" y="3237707"/>
            <a:ext cx="839787" cy="182880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utoShape 6"/>
          <p:cNvSpPr>
            <a:spLocks noChangeArrowheads="1"/>
          </p:cNvSpPr>
          <p:nvPr/>
        </p:nvSpPr>
        <p:spPr bwMode="gray">
          <a:xfrm>
            <a:off x="3429000" y="3581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>
                <a:sym typeface="Wingdings" pitchFamily="2" charset="2"/>
              </a:rPr>
              <a:t>–</a:t>
            </a:r>
            <a:r>
              <a:rPr lang="en-US" sz="2400"/>
              <a:t>2</a:t>
            </a:r>
          </a:p>
        </p:txBody>
      </p:sp>
      <p:cxnSp>
        <p:nvCxnSpPr>
          <p:cNvPr id="53" name="Straight Arrow Connector 52"/>
          <p:cNvCxnSpPr>
            <a:stCxn id="22" idx="2"/>
          </p:cNvCxnSpPr>
          <p:nvPr/>
        </p:nvCxnSpPr>
        <p:spPr>
          <a:xfrm rot="5400000">
            <a:off x="3313906" y="2247107"/>
            <a:ext cx="687387" cy="365760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AutoShape 6"/>
          <p:cNvSpPr>
            <a:spLocks noChangeArrowheads="1"/>
          </p:cNvSpPr>
          <p:nvPr/>
        </p:nvSpPr>
        <p:spPr bwMode="gray">
          <a:xfrm>
            <a:off x="7543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49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1143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2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6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9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0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1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2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3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4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8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69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0" name="AutoShape 6"/>
          <p:cNvSpPr>
            <a:spLocks noChangeArrowheads="1"/>
          </p:cNvSpPr>
          <p:nvPr/>
        </p:nvSpPr>
        <p:spPr bwMode="gray">
          <a:xfrm>
            <a:off x="7086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71" name="AutoShape 6"/>
          <p:cNvSpPr>
            <a:spLocks noChangeArrowheads="1"/>
          </p:cNvSpPr>
          <p:nvPr/>
        </p:nvSpPr>
        <p:spPr bwMode="gray">
          <a:xfrm>
            <a:off x="1143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0A</a:t>
            </a:r>
            <a:endParaRPr lang="en-US" baseline="30000"/>
          </a:p>
        </p:txBody>
      </p:sp>
      <p:sp>
        <p:nvSpPr>
          <p:cNvPr id="72" name="AutoShape 6"/>
          <p:cNvSpPr>
            <a:spLocks noChangeArrowheads="1"/>
          </p:cNvSpPr>
          <p:nvPr/>
        </p:nvSpPr>
        <p:spPr bwMode="gray">
          <a:xfrm>
            <a:off x="1600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0B</a:t>
            </a:r>
            <a:endParaRPr lang="en-US" baseline="30000"/>
          </a:p>
        </p:txBody>
      </p:sp>
      <p:sp>
        <p:nvSpPr>
          <p:cNvPr id="73" name="AutoShape 6"/>
          <p:cNvSpPr>
            <a:spLocks noChangeArrowheads="1"/>
          </p:cNvSpPr>
          <p:nvPr/>
        </p:nvSpPr>
        <p:spPr bwMode="gray">
          <a:xfrm>
            <a:off x="2057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0C</a:t>
            </a:r>
            <a:endParaRPr lang="en-US" baseline="30000"/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gray">
          <a:xfrm>
            <a:off x="2514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0D</a:t>
            </a:r>
            <a:endParaRPr lang="en-US" baseline="30000"/>
          </a:p>
        </p:txBody>
      </p:sp>
      <p:sp>
        <p:nvSpPr>
          <p:cNvPr id="75" name="AutoShape 6"/>
          <p:cNvSpPr>
            <a:spLocks noChangeArrowheads="1"/>
          </p:cNvSpPr>
          <p:nvPr/>
        </p:nvSpPr>
        <p:spPr bwMode="gray">
          <a:xfrm>
            <a:off x="2971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0E</a:t>
            </a:r>
            <a:endParaRPr lang="en-US" baseline="30000"/>
          </a:p>
        </p:txBody>
      </p:sp>
      <p:sp>
        <p:nvSpPr>
          <p:cNvPr id="76" name="AutoShape 6"/>
          <p:cNvSpPr>
            <a:spLocks noChangeArrowheads="1"/>
          </p:cNvSpPr>
          <p:nvPr/>
        </p:nvSpPr>
        <p:spPr bwMode="gray">
          <a:xfrm>
            <a:off x="3429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0F</a:t>
            </a:r>
            <a:endParaRPr lang="en-US" baseline="30000"/>
          </a:p>
        </p:txBody>
      </p:sp>
      <p:sp>
        <p:nvSpPr>
          <p:cNvPr id="77" name="AutoShape 6"/>
          <p:cNvSpPr>
            <a:spLocks noChangeArrowheads="1"/>
          </p:cNvSpPr>
          <p:nvPr/>
        </p:nvSpPr>
        <p:spPr bwMode="gray">
          <a:xfrm>
            <a:off x="3886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78" name="AutoShape 6"/>
          <p:cNvSpPr>
            <a:spLocks noChangeArrowheads="1"/>
          </p:cNvSpPr>
          <p:nvPr/>
        </p:nvSpPr>
        <p:spPr bwMode="gray">
          <a:xfrm>
            <a:off x="4343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79" name="AutoShape 6"/>
          <p:cNvSpPr>
            <a:spLocks noChangeArrowheads="1"/>
          </p:cNvSpPr>
          <p:nvPr/>
        </p:nvSpPr>
        <p:spPr bwMode="gray">
          <a:xfrm>
            <a:off x="4800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12</a:t>
            </a:r>
            <a:endParaRPr lang="en-US" baseline="30000"/>
          </a:p>
        </p:txBody>
      </p:sp>
      <p:sp>
        <p:nvSpPr>
          <p:cNvPr id="80" name="AutoShape 6"/>
          <p:cNvSpPr>
            <a:spLocks noChangeArrowheads="1"/>
          </p:cNvSpPr>
          <p:nvPr/>
        </p:nvSpPr>
        <p:spPr bwMode="gray">
          <a:xfrm>
            <a:off x="5257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81" name="AutoShape 6"/>
          <p:cNvSpPr>
            <a:spLocks noChangeArrowheads="1"/>
          </p:cNvSpPr>
          <p:nvPr/>
        </p:nvSpPr>
        <p:spPr bwMode="gray">
          <a:xfrm>
            <a:off x="5715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82" name="AutoShape 6"/>
          <p:cNvSpPr>
            <a:spLocks noChangeArrowheads="1"/>
          </p:cNvSpPr>
          <p:nvPr/>
        </p:nvSpPr>
        <p:spPr bwMode="gray">
          <a:xfrm>
            <a:off x="6172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83" name="AutoShape 6"/>
          <p:cNvSpPr>
            <a:spLocks noChangeArrowheads="1"/>
          </p:cNvSpPr>
          <p:nvPr/>
        </p:nvSpPr>
        <p:spPr bwMode="gray">
          <a:xfrm>
            <a:off x="6629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84" name="AutoShape 6"/>
          <p:cNvSpPr>
            <a:spLocks noChangeArrowheads="1"/>
          </p:cNvSpPr>
          <p:nvPr/>
        </p:nvSpPr>
        <p:spPr bwMode="gray">
          <a:xfrm>
            <a:off x="7086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3466307" y="4761706"/>
            <a:ext cx="381000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AutoShape 6"/>
          <p:cNvSpPr>
            <a:spLocks noChangeArrowheads="1"/>
          </p:cNvSpPr>
          <p:nvPr/>
        </p:nvSpPr>
        <p:spPr bwMode="gray">
          <a:xfrm>
            <a:off x="16002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array</a:t>
            </a:r>
            <a:r>
              <a:rPr lang="en-US" sz="2400"/>
              <a:t>[3];</a:t>
            </a:r>
          </a:p>
        </p:txBody>
      </p:sp>
      <p:cxnSp>
        <p:nvCxnSpPr>
          <p:cNvPr id="87" name="Straight Arrow Connector 86"/>
          <p:cNvCxnSpPr/>
          <p:nvPr/>
        </p:nvCxnSpPr>
        <p:spPr>
          <a:xfrm rot="5400000" flipH="1" flipV="1">
            <a:off x="16398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AutoShape 6"/>
          <p:cNvSpPr>
            <a:spLocks noChangeArrowheads="1"/>
          </p:cNvSpPr>
          <p:nvPr/>
        </p:nvSpPr>
        <p:spPr bwMode="gray">
          <a:xfrm>
            <a:off x="16002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9" name="AutoShape 6"/>
          <p:cNvSpPr>
            <a:spLocks noChangeArrowheads="1"/>
          </p:cNvSpPr>
          <p:nvPr/>
        </p:nvSpPr>
        <p:spPr bwMode="gray">
          <a:xfrm>
            <a:off x="34290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0" name="AutoShape 6"/>
          <p:cNvSpPr>
            <a:spLocks noChangeArrowheads="1"/>
          </p:cNvSpPr>
          <p:nvPr/>
        </p:nvSpPr>
        <p:spPr bwMode="gray">
          <a:xfrm>
            <a:off x="52578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5" grpId="0" animBg="1"/>
      <p:bldP spid="54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5" grpId="0" animBg="1"/>
      <p:bldP spid="56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8" grpId="0" animBg="1"/>
      <p:bldP spid="69" grpId="0" animBg="1"/>
      <p:bldP spid="70" grpId="0" animBg="1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6" grpId="0" animBg="1"/>
      <p:bldP spid="88" grpId="0" animBg="1"/>
      <p:bldP spid="89" grpId="0" animBg="1"/>
      <p:bldP spid="9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5257800" y="3275013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p2 = &amp;array[2]</a:t>
            </a:r>
          </a:p>
        </p:txBody>
      </p:sp>
      <p:sp>
        <p:nvSpPr>
          <p:cNvPr id="49" name="AutoShape 6"/>
          <p:cNvSpPr>
            <a:spLocks noChangeArrowheads="1"/>
          </p:cNvSpPr>
          <p:nvPr/>
        </p:nvSpPr>
        <p:spPr bwMode="gray">
          <a:xfrm>
            <a:off x="1600200" y="3276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p1 =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Phép toán tính khoảng cách giữa 2 con trỏ</a:t>
            </a:r>
          </a:p>
          <a:p>
            <a:pPr lvl="1">
              <a:defRPr/>
            </a:pP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&lt;kiểu dữ liệu&gt;</a:t>
            </a:r>
            <a:r>
              <a:rPr lang="en-US" smtClean="0">
                <a:sym typeface="Wingdings" pitchFamily="2" charset="2"/>
              </a:rPr>
              <a:t> *p1, *p2;</a:t>
            </a:r>
          </a:p>
          <a:p>
            <a:pPr lvl="1">
              <a:defRPr/>
            </a:pPr>
            <a:r>
              <a:rPr lang="en-US" smtClean="0">
                <a:sym typeface="Wingdings" pitchFamily="2" charset="2"/>
              </a:rPr>
              <a:t>p1 – p2 cho ta khoảng cách (theo số phần tử) giữa hai con trỏ (cùng kiểu)</a:t>
            </a:r>
            <a:endParaRPr lang="en-US" smtClean="0"/>
          </a:p>
        </p:txBody>
      </p:sp>
      <p:sp>
        <p:nvSpPr>
          <p:cNvPr id="378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Phép toán số học trên con trỏ</a:t>
            </a:r>
          </a:p>
        </p:txBody>
      </p:sp>
      <p:sp>
        <p:nvSpPr>
          <p:cNvPr id="3789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gray">
          <a:xfrm>
            <a:off x="7543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1143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7086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cxnSp>
        <p:nvCxnSpPr>
          <p:cNvPr id="21" name="Straight Arrow Connector 20"/>
          <p:cNvCxnSpPr>
            <a:stCxn id="22" idx="2"/>
            <a:endCxn id="32" idx="0"/>
          </p:cNvCxnSpPr>
          <p:nvPr/>
        </p:nvCxnSpPr>
        <p:spPr>
          <a:xfrm rot="5400000">
            <a:off x="4876007" y="4342606"/>
            <a:ext cx="1220788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1143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0A</a:t>
            </a:r>
            <a:endParaRPr lang="en-US" baseline="300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1600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0B</a:t>
            </a:r>
            <a:endParaRPr lang="en-US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2057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0C</a:t>
            </a:r>
            <a:endParaRPr lang="en-US" baseline="300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2514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0D</a:t>
            </a:r>
            <a:endParaRPr lang="en-US" baseline="300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2971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0E</a:t>
            </a:r>
            <a:endParaRPr lang="en-US" baseline="300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3429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0F</a:t>
            </a:r>
            <a:endParaRPr lang="en-US" baseline="300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3886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4343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4800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12</a:t>
            </a:r>
            <a:endParaRPr lang="en-US" baseline="30000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5257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5715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6172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6629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7086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sp>
        <p:nvSpPr>
          <p:cNvPr id="66" name="AutoShape 6"/>
          <p:cNvSpPr>
            <a:spLocks noChangeArrowheads="1"/>
          </p:cNvSpPr>
          <p:nvPr/>
        </p:nvSpPr>
        <p:spPr bwMode="gray">
          <a:xfrm>
            <a:off x="16002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array</a:t>
            </a:r>
            <a:r>
              <a:rPr lang="en-US" sz="2400"/>
              <a:t>[3];</a:t>
            </a:r>
          </a:p>
        </p:txBody>
      </p:sp>
      <p:cxnSp>
        <p:nvCxnSpPr>
          <p:cNvPr id="67" name="Straight Arrow Connector 66"/>
          <p:cNvCxnSpPr/>
          <p:nvPr/>
        </p:nvCxnSpPr>
        <p:spPr>
          <a:xfrm rot="5400000" flipH="1" flipV="1">
            <a:off x="16398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9" idx="2"/>
          </p:cNvCxnSpPr>
          <p:nvPr/>
        </p:nvCxnSpPr>
        <p:spPr>
          <a:xfrm rot="5400000">
            <a:off x="1219201" y="4343400"/>
            <a:ext cx="12192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rot="10800000">
            <a:off x="1828800" y="4343400"/>
            <a:ext cx="3657600" cy="1588"/>
          </a:xfrm>
          <a:prstGeom prst="straightConnector1">
            <a:avLst/>
          </a:prstGeom>
          <a:ln>
            <a:prstDash val="sysDash"/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" name="AutoShape 6"/>
          <p:cNvSpPr>
            <a:spLocks noChangeArrowheads="1"/>
          </p:cNvSpPr>
          <p:nvPr/>
        </p:nvSpPr>
        <p:spPr bwMode="gray">
          <a:xfrm>
            <a:off x="3429000" y="3810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300" b="1">
                <a:solidFill>
                  <a:srgbClr val="FF0000"/>
                </a:solidFill>
              </a:rPr>
              <a:t>p1 – p2= (0B – 13)/sizeof(int) = –2</a:t>
            </a:r>
          </a:p>
        </p:txBody>
      </p:sp>
      <p:sp>
        <p:nvSpPr>
          <p:cNvPr id="60" name="AutoShape 6"/>
          <p:cNvSpPr>
            <a:spLocks noChangeArrowheads="1"/>
          </p:cNvSpPr>
          <p:nvPr/>
        </p:nvSpPr>
        <p:spPr bwMode="gray">
          <a:xfrm>
            <a:off x="3429000" y="4419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300" b="1">
                <a:solidFill>
                  <a:srgbClr val="FF0000"/>
                </a:solidFill>
              </a:rPr>
              <a:t>p2 – p1= (13 – 0B)/sizeof(int) = +2</a:t>
            </a:r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16002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34290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52578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9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66" grpId="0" animBg="1"/>
      <p:bldP spid="56" grpId="0" animBg="1"/>
      <p:bldP spid="60" grpId="0" animBg="1"/>
      <p:bldP spid="37" grpId="0" animBg="1"/>
      <p:bldP spid="38" grpId="0" animBg="1"/>
      <p:bldP spid="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phép toán khác</a:t>
            </a:r>
          </a:p>
          <a:p>
            <a:pPr lvl="1">
              <a:defRPr/>
            </a:pPr>
            <a:r>
              <a:rPr lang="en-US" smtClean="0">
                <a:sym typeface="Wingdings" pitchFamily="2" charset="2"/>
              </a:rPr>
              <a:t>Phép so sánh: So sánh </a:t>
            </a:r>
            <a:r>
              <a:rPr lang="vi-VN" smtClean="0">
                <a:sym typeface="Wingdings" pitchFamily="2" charset="2"/>
              </a:rPr>
              <a:t>đị</a:t>
            </a:r>
            <a:r>
              <a:rPr lang="en-US" smtClean="0">
                <a:sym typeface="Wingdings" pitchFamily="2" charset="2"/>
              </a:rPr>
              <a:t>a chỉ giữa hai con trỏ (thứ tự ô nhớ)</a:t>
            </a:r>
          </a:p>
          <a:p>
            <a:pPr lvl="2">
              <a:defRPr/>
            </a:pPr>
            <a:r>
              <a:rPr lang="en-US" smtClean="0">
                <a:sym typeface="Wingdings" pitchFamily="2" charset="2"/>
              </a:rPr>
              <a:t>==	!=</a:t>
            </a:r>
          </a:p>
          <a:p>
            <a:pPr lvl="2">
              <a:defRPr/>
            </a:pPr>
            <a:r>
              <a:rPr lang="en-US" smtClean="0">
                <a:sym typeface="Wingdings" pitchFamily="2" charset="2"/>
              </a:rPr>
              <a:t>&gt;	&gt;=</a:t>
            </a:r>
          </a:p>
          <a:p>
            <a:pPr lvl="2">
              <a:defRPr/>
            </a:pPr>
            <a:r>
              <a:rPr lang="en-US" smtClean="0">
                <a:sym typeface="Wingdings" pitchFamily="2" charset="2"/>
              </a:rPr>
              <a:t>&lt;	&lt;=</a:t>
            </a:r>
          </a:p>
          <a:p>
            <a:pPr lvl="1">
              <a:defRPr/>
            </a:pPr>
            <a:r>
              <a:rPr lang="en-US" smtClean="0">
                <a:sym typeface="Wingdings" pitchFamily="2" charset="2"/>
              </a:rPr>
              <a:t>Không thể thực hiện các phép toán: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* / %</a:t>
            </a:r>
            <a:endParaRPr lang="en-US" smtClean="0">
              <a:solidFill>
                <a:srgbClr val="FF0000"/>
              </a:solidFill>
            </a:endParaRPr>
          </a:p>
        </p:txBody>
      </p:sp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Phép toán số học trên con trỏ</a:t>
            </a:r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 xuất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đế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 phần tử thứ n của mảng (không sử dụng biến mảng)</a:t>
            </a:r>
          </a:p>
          <a:p>
            <a:pPr lvl="1">
              <a:defRPr/>
            </a:pPr>
            <a:r>
              <a:rPr lang="en-US" smtClean="0"/>
              <a:t>array[n] == p[n] == *(p + n)</a:t>
            </a:r>
          </a:p>
        </p:txBody>
      </p:sp>
      <p:sp>
        <p:nvSpPr>
          <p:cNvPr id="399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 trỏ và mảng một chiều</a:t>
            </a:r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gray">
          <a:xfrm>
            <a:off x="7543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gray">
          <a:xfrm>
            <a:off x="1143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7086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cxnSp>
        <p:nvCxnSpPr>
          <p:cNvPr id="22" name="Straight Arrow Connector 21"/>
          <p:cNvCxnSpPr>
            <a:stCxn id="23" idx="2"/>
            <a:endCxn id="25" idx="0"/>
          </p:cNvCxnSpPr>
          <p:nvPr/>
        </p:nvCxnSpPr>
        <p:spPr>
          <a:xfrm rot="5400000">
            <a:off x="1219201" y="4343400"/>
            <a:ext cx="12192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1600200" y="3276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1143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0A</a:t>
            </a:r>
            <a:endParaRPr lang="en-US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1600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0B</a:t>
            </a:r>
            <a:endParaRPr lang="en-US" baseline="300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2057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0C</a:t>
            </a:r>
            <a:endParaRPr lang="en-US" baseline="300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2514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0D</a:t>
            </a:r>
            <a:endParaRPr lang="en-US" baseline="300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2971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0E</a:t>
            </a:r>
            <a:endParaRPr lang="en-US" baseline="300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3429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0F</a:t>
            </a:r>
            <a:endParaRPr lang="en-US" baseline="30000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3886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4343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4800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12</a:t>
            </a:r>
            <a:endParaRPr lang="en-US" baseline="30000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5257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5715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6172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6629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7086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cxnSp>
        <p:nvCxnSpPr>
          <p:cNvPr id="41" name="Straight Arrow Connector 40"/>
          <p:cNvCxnSpPr>
            <a:endCxn id="33" idx="0"/>
          </p:cNvCxnSpPr>
          <p:nvPr/>
        </p:nvCxnSpPr>
        <p:spPr>
          <a:xfrm rot="5400000">
            <a:off x="5219701" y="4686300"/>
            <a:ext cx="5334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3" idx="2"/>
          </p:cNvCxnSpPr>
          <p:nvPr/>
        </p:nvCxnSpPr>
        <p:spPr>
          <a:xfrm rot="16200000" flipH="1">
            <a:off x="3314700" y="2247900"/>
            <a:ext cx="685800" cy="365760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16002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array</a:t>
            </a:r>
            <a:r>
              <a:rPr lang="en-US" sz="2400"/>
              <a:t>[3];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5400000" flipH="1" flipV="1">
            <a:off x="16398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utoShape 6"/>
          <p:cNvSpPr>
            <a:spLocks noChangeArrowheads="1"/>
          </p:cNvSpPr>
          <p:nvPr/>
        </p:nvSpPr>
        <p:spPr bwMode="gray">
          <a:xfrm>
            <a:off x="2057400" y="3276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2514600" y="3276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2971800" y="3276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2" name="AutoShape 6"/>
          <p:cNvSpPr>
            <a:spLocks noChangeArrowheads="1"/>
          </p:cNvSpPr>
          <p:nvPr/>
        </p:nvSpPr>
        <p:spPr bwMode="gray">
          <a:xfrm>
            <a:off x="1143000" y="3276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 b="1">
                <a:solidFill>
                  <a:srgbClr val="FF0000"/>
                </a:solidFill>
              </a:rPr>
              <a:t>(</a:t>
            </a:r>
          </a:p>
        </p:txBody>
      </p:sp>
      <p:sp>
        <p:nvSpPr>
          <p:cNvPr id="53" name="AutoShape 6"/>
          <p:cNvSpPr>
            <a:spLocks noChangeArrowheads="1"/>
          </p:cNvSpPr>
          <p:nvPr/>
        </p:nvSpPr>
        <p:spPr bwMode="gray">
          <a:xfrm>
            <a:off x="685800" y="3276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400" b="1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16002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34290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52578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4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6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7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46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38" grpId="0" animBg="1"/>
      <p:bldP spid="39" grpId="0" animBg="1"/>
      <p:bldP spid="4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 trỏ và mảng một chiều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 nh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ậ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 mảng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9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4419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a[10], n = 10, *pa;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pa = a;	// hoặc pa = &amp;a[0];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0; i&lt;n;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scanf(“%d”, &amp;a[i]);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scanf(“%d”, &amp;p[i]);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scanf(“%d”, a + 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scanf(“%d”, p + 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scanf(“%d”,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scanf(“%d”, p++);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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&amp;a[i]  (a + i)  (p + i)  &amp;p[i]</a:t>
            </a:r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743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048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3886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4191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495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800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105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0" y="541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0" y="601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 trỏ và mảng một chiều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 xuất mảng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9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4419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a[10], n = 10, *pa;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pa = a;	// hoặc pa = &amp;a[0];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0; i&lt;n;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a[i]);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p[i]);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*(a + i));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*(p + i));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*(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a++)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*(p++));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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a[i]  *(a + i)  *(p + i)  p[i]</a:t>
            </a:r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743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048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3886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4191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495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800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105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541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601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Truyền mảng 1 chiều cho hàm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Chú ý!</a:t>
            </a:r>
          </a:p>
          <a:p>
            <a:pPr lvl="1">
              <a:defRPr/>
            </a:pPr>
            <a:r>
              <a:rPr lang="en-US" smtClean="0"/>
              <a:t>Mảng một chiều truyền cho hàm là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a chỉ của phần tử </a:t>
            </a:r>
            <a:r>
              <a:rPr lang="vi-VN" smtClean="0">
                <a:solidFill>
                  <a:srgbClr val="FF0000"/>
                </a:solidFill>
              </a:rPr>
              <a:t>đầ</a:t>
            </a:r>
            <a:r>
              <a:rPr lang="en-US" smtClean="0">
                <a:solidFill>
                  <a:srgbClr val="FF0000"/>
                </a:solidFill>
              </a:rPr>
              <a:t>u tiên</a:t>
            </a:r>
            <a:r>
              <a:rPr lang="en-US" smtClean="0"/>
              <a:t> chứ không phải toàn mảng.</a:t>
            </a:r>
            <a:endParaRPr lang="en-US"/>
          </a:p>
        </p:txBody>
      </p:sp>
      <p:sp>
        <p:nvSpPr>
          <p:cNvPr id="430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gray">
          <a:xfrm>
            <a:off x="7543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1143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gray">
          <a:xfrm>
            <a:off x="1600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2057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2514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2971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3429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3886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4343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4800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52578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57150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61722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66294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7086600" y="5410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1143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10</a:t>
            </a:r>
            <a:endParaRPr lang="en-US" baseline="300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1600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11</a:t>
            </a:r>
            <a:endParaRPr lang="en-US" baseline="300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2057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13</a:t>
            </a:r>
            <a:endParaRPr lang="en-US" baseline="300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2514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14</a:t>
            </a:r>
            <a:endParaRPr lang="en-US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2971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15</a:t>
            </a:r>
            <a:endParaRPr lang="en-US" baseline="300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3429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16</a:t>
            </a:r>
            <a:endParaRPr lang="en-US" baseline="300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3886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17</a:t>
            </a:r>
            <a:endParaRPr lang="en-US" baseline="300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4343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18</a:t>
            </a:r>
            <a:endParaRPr lang="en-US" baseline="300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4800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19</a:t>
            </a:r>
            <a:endParaRPr lang="en-US" baseline="30000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52578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20</a:t>
            </a:r>
            <a:endParaRPr lang="en-US" baseline="3000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57150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21</a:t>
            </a:r>
            <a:endParaRPr lang="en-US" baseline="30000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61722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22</a:t>
            </a:r>
            <a:endParaRPr lang="en-US" baseline="30000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66294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23</a:t>
            </a:r>
            <a:endParaRPr lang="en-US" baseline="30000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7086600" y="49530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24</a:t>
            </a:r>
            <a:endParaRPr lang="en-US" baseline="30000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1600200" y="62484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</a:t>
            </a:r>
            <a:r>
              <a:rPr lang="en-US" sz="2400">
                <a:solidFill>
                  <a:srgbClr val="FF0000"/>
                </a:solidFill>
              </a:rPr>
              <a:t>array</a:t>
            </a:r>
            <a:r>
              <a:rPr lang="en-US" sz="2400"/>
              <a:t>[3];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rot="5400000" flipH="1" flipV="1">
            <a:off x="1639887" y="6132513"/>
            <a:ext cx="3794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16002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34290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5257800" y="5334000"/>
            <a:ext cx="18288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4876800" y="3429000"/>
            <a:ext cx="1219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a[3]</a:t>
            </a:r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6248400" y="3429000"/>
            <a:ext cx="1295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n</a:t>
            </a:r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3886200" y="3352800"/>
            <a:ext cx="3810000" cy="609600"/>
          </a:xfrm>
          <a:prstGeom prst="roundRect">
            <a:avLst>
              <a:gd name="adj" fmla="val 16667"/>
            </a:avLst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3962400" y="3429000"/>
            <a:ext cx="838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xuất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rot="5400000" flipH="1" flipV="1">
            <a:off x="5295901" y="3238500"/>
            <a:ext cx="381000" cy="3175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2" idx="0"/>
          </p:cNvCxnSpPr>
          <p:nvPr/>
        </p:nvCxnSpPr>
        <p:spPr>
          <a:xfrm rot="5400000">
            <a:off x="876301" y="4000500"/>
            <a:ext cx="1905000" cy="317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1828800" y="3048000"/>
            <a:ext cx="3657600" cy="15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utoShape 6"/>
          <p:cNvSpPr>
            <a:spLocks noChangeArrowheads="1"/>
          </p:cNvSpPr>
          <p:nvPr/>
        </p:nvSpPr>
        <p:spPr bwMode="gray">
          <a:xfrm>
            <a:off x="4191000" y="4267200"/>
            <a:ext cx="1219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a[]</a:t>
            </a:r>
          </a:p>
        </p:txBody>
      </p:sp>
      <p:sp>
        <p:nvSpPr>
          <p:cNvPr id="58" name="AutoShape 6"/>
          <p:cNvSpPr>
            <a:spLocks noChangeArrowheads="1"/>
          </p:cNvSpPr>
          <p:nvPr/>
        </p:nvSpPr>
        <p:spPr bwMode="gray">
          <a:xfrm>
            <a:off x="5562600" y="4267200"/>
            <a:ext cx="1219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int *a</a:t>
            </a:r>
          </a:p>
        </p:txBody>
      </p:sp>
      <p:cxnSp>
        <p:nvCxnSpPr>
          <p:cNvPr id="61" name="Straight Arrow Connector 60"/>
          <p:cNvCxnSpPr>
            <a:stCxn id="57" idx="0"/>
            <a:endCxn id="40" idx="2"/>
          </p:cNvCxnSpPr>
          <p:nvPr/>
        </p:nvCxnSpPr>
        <p:spPr>
          <a:xfrm rot="5400000" flipH="1" flipV="1">
            <a:off x="4953000" y="3733800"/>
            <a:ext cx="381000" cy="685800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58" idx="0"/>
            <a:endCxn id="40" idx="2"/>
          </p:cNvCxnSpPr>
          <p:nvPr/>
        </p:nvCxnSpPr>
        <p:spPr>
          <a:xfrm rot="16200000" flipV="1">
            <a:off x="5638800" y="3733800"/>
            <a:ext cx="381000" cy="685800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57" grpId="0" animBg="1"/>
      <p:bldP spid="5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 trỏ và mảng một chiều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0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464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70104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xuat(int a[10],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0; i&lt;n;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*(a++));	// OK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a[10], n = 10;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0; i&lt;n;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*(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));	// Lỗi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 Đối số mảng truyền cho hàm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không phải hằng con trỏ</a:t>
            </a:r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.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4724400" y="2971800"/>
            <a:ext cx="914400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4724400" y="5410200"/>
            <a:ext cx="914400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0" y="6096000"/>
            <a:ext cx="9144000" cy="533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u ý</a:t>
            </a:r>
          </a:p>
          <a:p>
            <a:pPr lvl="1">
              <a:defRPr/>
            </a:pP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Không</a:t>
            </a:r>
            <a:r>
              <a:rPr lang="en-US" smtClean="0">
                <a:sym typeface="Wingdings" pitchFamily="2" charset="2"/>
              </a:rPr>
              <a:t> thực hiện các phép toán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nhân, chia, lấy phần d</a:t>
            </a:r>
            <a:r>
              <a:rPr lang="vi-VN" smtClean="0">
                <a:solidFill>
                  <a:srgbClr val="FF0000"/>
                </a:solidFill>
                <a:sym typeface="Wingdings" pitchFamily="2" charset="2"/>
              </a:rPr>
              <a:t>ư</a:t>
            </a:r>
            <a:r>
              <a:rPr lang="en-US" smtClean="0">
                <a:sym typeface="Wingdings" pitchFamily="2" charset="2"/>
              </a:rPr>
              <a:t>.</a:t>
            </a:r>
          </a:p>
          <a:p>
            <a:pPr lvl="1">
              <a:defRPr/>
            </a:pPr>
            <a:r>
              <a:rPr lang="en-US" smtClean="0">
                <a:sym typeface="Wingdings" pitchFamily="2" charset="2"/>
              </a:rPr>
              <a:t>T</a:t>
            </a:r>
            <a:r>
              <a:rPr lang="vi-VN" smtClean="0">
                <a:sym typeface="Wingdings" pitchFamily="2" charset="2"/>
              </a:rPr>
              <a:t>ă</a:t>
            </a:r>
            <a:r>
              <a:rPr lang="en-US" smtClean="0">
                <a:sym typeface="Wingdings" pitchFamily="2" charset="2"/>
              </a:rPr>
              <a:t>ng/giảm con trỏ n </a:t>
            </a:r>
            <a:r>
              <a:rPr lang="vi-VN" smtClean="0">
                <a:sym typeface="Wingdings" pitchFamily="2" charset="2"/>
              </a:rPr>
              <a:t>đơ</a:t>
            </a:r>
            <a:r>
              <a:rPr lang="en-US" smtClean="0">
                <a:sym typeface="Wingdings" pitchFamily="2" charset="2"/>
              </a:rPr>
              <a:t>n vị có nghĩa là t</a:t>
            </a:r>
            <a:r>
              <a:rPr lang="vi-VN" smtClean="0">
                <a:sym typeface="Wingdings" pitchFamily="2" charset="2"/>
              </a:rPr>
              <a:t>ă</a:t>
            </a:r>
            <a:r>
              <a:rPr lang="en-US" smtClean="0">
                <a:sym typeface="Wingdings" pitchFamily="2" charset="2"/>
              </a:rPr>
              <a:t>ng/giảm giá trị của nó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n*sizeof(&lt;kiểu dữ liệu mà nó trỏ </a:t>
            </a:r>
            <a:r>
              <a:rPr lang="vi-VN" smtClean="0">
                <a:solidFill>
                  <a:srgbClr val="FF0000"/>
                </a:solidFill>
                <a:sym typeface="Wingdings" pitchFamily="2" charset="2"/>
              </a:rPr>
              <a:t>đế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n&gt;)</a:t>
            </a:r>
          </a:p>
          <a:p>
            <a:pPr lvl="1">
              <a:defRPr/>
            </a:pP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Không thể</a:t>
            </a:r>
            <a:r>
              <a:rPr lang="en-US" smtClean="0">
                <a:sym typeface="Wingdings" pitchFamily="2" charset="2"/>
              </a:rPr>
              <a:t> t</a:t>
            </a:r>
            <a:r>
              <a:rPr lang="vi-VN" smtClean="0">
                <a:sym typeface="Wingdings" pitchFamily="2" charset="2"/>
              </a:rPr>
              <a:t>ă</a:t>
            </a:r>
            <a:r>
              <a:rPr lang="en-US" smtClean="0">
                <a:sym typeface="Wingdings" pitchFamily="2" charset="2"/>
              </a:rPr>
              <a:t>ng/giảm biến mảng. Hãy gán một con trỏ </a:t>
            </a:r>
            <a:r>
              <a:rPr lang="vi-VN" smtClean="0">
                <a:sym typeface="Wingdings" pitchFamily="2" charset="2"/>
              </a:rPr>
              <a:t>đế</a:t>
            </a:r>
            <a:r>
              <a:rPr lang="en-US" smtClean="0">
                <a:sym typeface="Wingdings" pitchFamily="2" charset="2"/>
              </a:rPr>
              <a:t>n </a:t>
            </a:r>
            <a:r>
              <a:rPr lang="vi-VN" smtClean="0">
                <a:sym typeface="Wingdings" pitchFamily="2" charset="2"/>
              </a:rPr>
              <a:t>đị</a:t>
            </a:r>
            <a:r>
              <a:rPr lang="en-US" smtClean="0">
                <a:sym typeface="Wingdings" pitchFamily="2" charset="2"/>
              </a:rPr>
              <a:t>a chỉ </a:t>
            </a:r>
            <a:r>
              <a:rPr lang="vi-VN" smtClean="0">
                <a:sym typeface="Wingdings" pitchFamily="2" charset="2"/>
              </a:rPr>
              <a:t>đầ</a:t>
            </a:r>
            <a:r>
              <a:rPr lang="en-US" smtClean="0">
                <a:sym typeface="Wingdings" pitchFamily="2" charset="2"/>
              </a:rPr>
              <a:t>u của mảng và t</a:t>
            </a:r>
            <a:r>
              <a:rPr lang="vi-VN" smtClean="0">
                <a:sym typeface="Wingdings" pitchFamily="2" charset="2"/>
              </a:rPr>
              <a:t>ă</a:t>
            </a:r>
            <a:r>
              <a:rPr lang="en-US" smtClean="0">
                <a:sym typeface="Wingdings" pitchFamily="2" charset="2"/>
              </a:rPr>
              <a:t>ng/giảm nó.</a:t>
            </a:r>
          </a:p>
          <a:p>
            <a:pPr lvl="1">
              <a:defRPr/>
            </a:pPr>
            <a:r>
              <a:rPr lang="en-US" smtClean="0">
                <a:sym typeface="Wingdings" pitchFamily="2" charset="2"/>
              </a:rPr>
              <a:t>Đối số mảng một chiều truyền cho hàm là </a:t>
            </a:r>
            <a:r>
              <a:rPr lang="vi-VN" smtClean="0">
                <a:sym typeface="Wingdings" pitchFamily="2" charset="2"/>
              </a:rPr>
              <a:t>đị</a:t>
            </a:r>
            <a:r>
              <a:rPr lang="en-US" smtClean="0">
                <a:sym typeface="Wingdings" pitchFamily="2" charset="2"/>
              </a:rPr>
              <a:t>a chỉ phần tử </a:t>
            </a:r>
            <a:r>
              <a:rPr lang="vi-VN" smtClean="0">
                <a:sym typeface="Wingdings" pitchFamily="2" charset="2"/>
              </a:rPr>
              <a:t>đầ</a:t>
            </a:r>
            <a:r>
              <a:rPr lang="en-US" smtClean="0">
                <a:sym typeface="Wingdings" pitchFamily="2" charset="2"/>
              </a:rPr>
              <a:t>u tiên của mảng.</a:t>
            </a:r>
          </a:p>
          <a:p>
            <a:pPr lvl="1">
              <a:defRPr/>
            </a:pPr>
            <a:endParaRPr lang="en-US" smtClean="0"/>
          </a:p>
        </p:txBody>
      </p:sp>
      <p:sp>
        <p:nvSpPr>
          <p:cNvPr id="450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 trỏ và mảng một chiều</a:t>
            </a:r>
          </a:p>
        </p:txBody>
      </p:sp>
      <p:sp>
        <p:nvSpPr>
          <p:cNvPr id="450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 trỏ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 xuất bằng 2 cách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>
              <a:defRPr/>
            </a:pPr>
            <a:endParaRPr lang="en-US" smtClean="0"/>
          </a:p>
        </p:txBody>
      </p:sp>
      <p:sp>
        <p:nvSpPr>
          <p:cNvPr id="460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3614738"/>
            <a:ext cx="152400" cy="278606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3614738"/>
            <a:ext cx="70104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PHANSO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tu, mau;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PHANSO ps1,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ps2 = &amp;p1;	// ps2 là con trỏ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ps1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tu = 1; ps1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mau = 2;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ps2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tu = 1; ps2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mau = 2;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ps2)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tu = 1;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ps2)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mau = 2;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33600"/>
            <a:ext cx="152400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2133600"/>
            <a:ext cx="8305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&lt;tên biến con trỏ cấu trúc&gt;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&lt;tên thành phần&gt;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&lt;tên biến con trỏ cấu trúc&gt;)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&lt;tên thành phần&gt;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133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5791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438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6096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 trỏ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Gán hai cấu trúc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vi-VN" smtClean="0">
                <a:latin typeface="Tahoma" pitchFamily="34" charset="0"/>
              </a:rPr>
              <a:t>NMLT - Con trỏ cơ bản</a:t>
            </a:r>
            <a:endParaRPr lang="en-US" smtClean="0">
              <a:latin typeface="Tahoma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133600"/>
            <a:ext cx="152400" cy="3200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133600"/>
            <a:ext cx="83058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PHANSO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tu, mau;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PHANSO ps1,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ps2;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ps1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tu = 1; ps1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mau = 2;	// ps1 = 1/2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ps2 = &amp;ps1;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ps2-&gt;tu = 3; ps2-&gt;mau = 4;	// ps1 = 3/4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3962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Bài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:</a:t>
            </a:r>
            <a:r>
              <a:rPr lang="vi-VN" smtClean="0"/>
              <a:t> Cho đoạn chương trình sau: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float pay;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float *ptr_pay;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pay=2313.54;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ptr_pay = &amp;pay;</a:t>
            </a:r>
          </a:p>
          <a:p>
            <a:pPr>
              <a:defRPr/>
            </a:pPr>
            <a:r>
              <a:rPr lang="en-US" smtClean="0"/>
              <a:t>Hãy cho biết giá trị của: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a. pay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b. *ptr_pay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c. *pay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d. &amp;pay</a:t>
            </a:r>
          </a:p>
          <a:p>
            <a:pPr>
              <a:defRPr/>
            </a:pPr>
            <a:endParaRPr lang="en-US"/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Tin học c</a:t>
            </a:r>
            <a:r>
              <a:rPr lang="vi-VN" smtClean="0">
                <a:latin typeface="Tahoma" pitchFamily="34" charset="0"/>
              </a:rPr>
              <a:t>ơ</a:t>
            </a:r>
            <a:r>
              <a:rPr lang="en-US" smtClean="0">
                <a:latin typeface="Tahoma" pitchFamily="34" charset="0"/>
              </a:rPr>
              <a:t> sở 2 - </a:t>
            </a:r>
            <a:r>
              <a:rPr lang="vi-VN" smtClean="0">
                <a:latin typeface="Tahoma" pitchFamily="34" charset="0"/>
              </a:rPr>
              <a:t>Đặ</a:t>
            </a:r>
            <a:r>
              <a:rPr lang="en-US" smtClean="0">
                <a:latin typeface="Tahoma" pitchFamily="34" charset="0"/>
              </a:rPr>
              <a:t>ng Bình Ph</a:t>
            </a:r>
            <a:r>
              <a:rPr lang="vi-VN" smtClean="0">
                <a:latin typeface="Tahoma" pitchFamily="34" charset="0"/>
              </a:rPr>
              <a:t>ươ</a:t>
            </a:r>
            <a:r>
              <a:rPr lang="en-US" smtClean="0">
                <a:latin typeface="Tahoma" pitchFamily="34" charset="0"/>
              </a:rPr>
              <a:t>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Bài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2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: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mtClean="0"/>
              <a:t>Tìm lỗi</a:t>
            </a:r>
            <a:endParaRPr lang="vi-VN" smtClean="0"/>
          </a:p>
          <a:p>
            <a:pPr>
              <a:defRPr/>
            </a:pPr>
            <a:endParaRPr lang="en-US"/>
          </a:p>
        </p:txBody>
      </p:sp>
      <p:sp>
        <p:nvSpPr>
          <p:cNvPr id="491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Tin học c</a:t>
            </a:r>
            <a:r>
              <a:rPr lang="vi-VN" smtClean="0">
                <a:latin typeface="Tahoma" pitchFamily="34" charset="0"/>
              </a:rPr>
              <a:t>ơ</a:t>
            </a:r>
            <a:r>
              <a:rPr lang="en-US" smtClean="0">
                <a:latin typeface="Tahoma" pitchFamily="34" charset="0"/>
              </a:rPr>
              <a:t> sở 2 - </a:t>
            </a:r>
            <a:r>
              <a:rPr lang="vi-VN" smtClean="0">
                <a:latin typeface="Tahoma" pitchFamily="34" charset="0"/>
              </a:rPr>
              <a:t>Đặ</a:t>
            </a:r>
            <a:r>
              <a:rPr lang="en-US" smtClean="0">
                <a:latin typeface="Tahoma" pitchFamily="34" charset="0"/>
              </a:rPr>
              <a:t>ng Bình Ph</a:t>
            </a:r>
            <a:r>
              <a:rPr lang="vi-VN" smtClean="0">
                <a:latin typeface="Tahoma" pitchFamily="34" charset="0"/>
              </a:rPr>
              <a:t>ươ</a:t>
            </a:r>
            <a:r>
              <a:rPr lang="en-US" smtClean="0">
                <a:latin typeface="Tahoma" pitchFamily="34" charset="0"/>
              </a:rPr>
              <a:t>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70104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#include&lt;stdio.h&gt; 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#include&lt;conio.h&gt;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 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*x, y = 2;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*x = y;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*x += y++;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printf("%d %d",*x,y);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getch();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1:</a:t>
            </a:r>
            <a:r>
              <a:rPr lang="en-US" smtClean="0"/>
              <a:t> Toán tử nào dùng </a:t>
            </a:r>
            <a:r>
              <a:rPr lang="vi-VN" smtClean="0"/>
              <a:t>để</a:t>
            </a:r>
            <a:r>
              <a:rPr lang="en-US" smtClean="0"/>
              <a:t> xác </a:t>
            </a:r>
            <a:r>
              <a:rPr lang="vi-VN" smtClean="0"/>
              <a:t>đị</a:t>
            </a:r>
            <a:r>
              <a:rPr lang="en-US" smtClean="0"/>
              <a:t>nh </a:t>
            </a:r>
            <a:r>
              <a:rPr lang="vi-VN" smtClean="0"/>
              <a:t>đị</a:t>
            </a:r>
            <a:r>
              <a:rPr lang="en-US" smtClean="0"/>
              <a:t>a chỉ của một biến?</a:t>
            </a:r>
          </a:p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2:</a:t>
            </a:r>
            <a:r>
              <a:rPr lang="en-US" smtClean="0"/>
              <a:t> Toán tử nào dùng </a:t>
            </a:r>
            <a:r>
              <a:rPr lang="vi-VN" smtClean="0"/>
              <a:t>để</a:t>
            </a:r>
            <a:r>
              <a:rPr lang="en-US" smtClean="0"/>
              <a:t> xác </a:t>
            </a:r>
            <a:r>
              <a:rPr lang="vi-VN" smtClean="0"/>
              <a:t>đị</a:t>
            </a:r>
            <a:r>
              <a:rPr lang="en-US" smtClean="0"/>
              <a:t>nh giá trị của biến do con trỏ trỏ </a:t>
            </a:r>
            <a:r>
              <a:rPr lang="vi-VN" smtClean="0"/>
              <a:t>đế</a:t>
            </a:r>
            <a:r>
              <a:rPr lang="en-US" smtClean="0"/>
              <a:t>n?</a:t>
            </a:r>
          </a:p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3:</a:t>
            </a:r>
            <a:r>
              <a:rPr lang="en-US" smtClean="0"/>
              <a:t> Phép lấy giá trị gián tiếp là gì?</a:t>
            </a:r>
          </a:p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4:</a:t>
            </a:r>
            <a:r>
              <a:rPr lang="en-US" smtClean="0"/>
              <a:t> Các phần tử trong mảng </a:t>
            </a:r>
            <a:r>
              <a:rPr lang="vi-VN" smtClean="0"/>
              <a:t>đượ</a:t>
            </a:r>
            <a:r>
              <a:rPr lang="en-US" smtClean="0"/>
              <a:t>c sắp xếp trong bộ nhớ nh</a:t>
            </a:r>
            <a:r>
              <a:rPr lang="vi-VN" smtClean="0"/>
              <a:t>ư</a:t>
            </a:r>
            <a:r>
              <a:rPr lang="en-US" smtClean="0"/>
              <a:t> thế nào?</a:t>
            </a:r>
          </a:p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5:</a:t>
            </a:r>
            <a:r>
              <a:rPr lang="en-US" smtClean="0"/>
              <a:t> Cho mảng một chiều data. Trình bày 2 cách lấy </a:t>
            </a:r>
            <a:r>
              <a:rPr lang="vi-VN" smtClean="0"/>
              <a:t>đị</a:t>
            </a:r>
            <a:r>
              <a:rPr lang="en-US" smtClean="0"/>
              <a:t>a chỉ phần tử </a:t>
            </a:r>
            <a:r>
              <a:rPr lang="vi-VN" smtClean="0"/>
              <a:t>đầ</a:t>
            </a:r>
            <a:r>
              <a:rPr lang="en-US" smtClean="0"/>
              <a:t>u tiên của mảng này.</a:t>
            </a:r>
            <a:endParaRPr lang="en-US"/>
          </a:p>
        </p:txBody>
      </p:sp>
      <p:sp>
        <p:nvSpPr>
          <p:cNvPr id="501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Tin học c</a:t>
            </a:r>
            <a:r>
              <a:rPr lang="vi-VN" smtClean="0">
                <a:latin typeface="Tahoma" pitchFamily="34" charset="0"/>
              </a:rPr>
              <a:t>ơ</a:t>
            </a:r>
            <a:r>
              <a:rPr lang="en-US" smtClean="0">
                <a:latin typeface="Tahoma" pitchFamily="34" charset="0"/>
              </a:rPr>
              <a:t> sở 2 - </a:t>
            </a:r>
            <a:r>
              <a:rPr lang="vi-VN" smtClean="0">
                <a:latin typeface="Tahoma" pitchFamily="34" charset="0"/>
              </a:rPr>
              <a:t>Đặ</a:t>
            </a:r>
            <a:r>
              <a:rPr lang="en-US" smtClean="0">
                <a:latin typeface="Tahoma" pitchFamily="34" charset="0"/>
              </a:rPr>
              <a:t>ng Bình Ph</a:t>
            </a:r>
            <a:r>
              <a:rPr lang="vi-VN" smtClean="0">
                <a:latin typeface="Tahoma" pitchFamily="34" charset="0"/>
              </a:rPr>
              <a:t>ươ</a:t>
            </a:r>
            <a:r>
              <a:rPr lang="en-US" smtClean="0">
                <a:latin typeface="Tahoma" pitchFamily="34" charset="0"/>
              </a:rPr>
              <a:t>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6:</a:t>
            </a:r>
            <a:r>
              <a:rPr lang="en-US" smtClean="0"/>
              <a:t> Nếu ta truyền cho hàm </a:t>
            </a:r>
            <a:r>
              <a:rPr lang="vi-VN" smtClean="0"/>
              <a:t>đố</a:t>
            </a:r>
            <a:r>
              <a:rPr lang="en-US" smtClean="0"/>
              <a:t>i số là mảng một chiều. Trình bày hai cách nhận biết phần tử cuối của mảng?</a:t>
            </a:r>
          </a:p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7:</a:t>
            </a:r>
            <a:r>
              <a:rPr lang="en-US" smtClean="0"/>
              <a:t> Trình bày 6 phép toán có thể thực hiện trên con trỏ?</a:t>
            </a:r>
          </a:p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8:</a:t>
            </a:r>
            <a:r>
              <a:rPr lang="en-US" smtClean="0"/>
              <a:t> Cho con trỏ p1 trỏ </a:t>
            </a:r>
            <a:r>
              <a:rPr lang="vi-VN" smtClean="0"/>
              <a:t>đến</a:t>
            </a:r>
            <a:r>
              <a:rPr lang="en-US" smtClean="0"/>
              <a:t> phần tử thứ 3 còn con trỏ p2 trỏ </a:t>
            </a:r>
            <a:r>
              <a:rPr lang="vi-VN" smtClean="0"/>
              <a:t>đế</a:t>
            </a:r>
            <a:r>
              <a:rPr lang="en-US" smtClean="0"/>
              <a:t>n phần tử thứ 4 của mảng int. p2 – p1 = ?</a:t>
            </a:r>
          </a:p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9:</a:t>
            </a:r>
            <a:r>
              <a:rPr lang="en-US" smtClean="0"/>
              <a:t> Giống nh</a:t>
            </a:r>
            <a:r>
              <a:rPr lang="vi-VN" smtClean="0"/>
              <a:t>ư</a:t>
            </a:r>
            <a:r>
              <a:rPr lang="en-US" smtClean="0"/>
              <a:t> câu trên nh</a:t>
            </a:r>
            <a:r>
              <a:rPr lang="vi-VN" smtClean="0"/>
              <a:t>ư</a:t>
            </a:r>
            <a:r>
              <a:rPr lang="en-US" smtClean="0"/>
              <a:t>ng </a:t>
            </a:r>
            <a:r>
              <a:rPr lang="vi-VN" smtClean="0"/>
              <a:t>đố</a:t>
            </a:r>
            <a:r>
              <a:rPr lang="en-US" smtClean="0"/>
              <a:t>i với mảng float?</a:t>
            </a:r>
            <a:endParaRPr lang="en-US"/>
          </a:p>
        </p:txBody>
      </p:sp>
      <p:sp>
        <p:nvSpPr>
          <p:cNvPr id="512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Tin học c</a:t>
            </a:r>
            <a:r>
              <a:rPr lang="vi-VN" smtClean="0">
                <a:latin typeface="Tahoma" pitchFamily="34" charset="0"/>
              </a:rPr>
              <a:t>ơ</a:t>
            </a:r>
            <a:r>
              <a:rPr lang="en-US" smtClean="0">
                <a:latin typeface="Tahoma" pitchFamily="34" charset="0"/>
              </a:rPr>
              <a:t> sở 2 - </a:t>
            </a:r>
            <a:r>
              <a:rPr lang="vi-VN" smtClean="0">
                <a:latin typeface="Tahoma" pitchFamily="34" charset="0"/>
              </a:rPr>
              <a:t>Đặ</a:t>
            </a:r>
            <a:r>
              <a:rPr lang="en-US" smtClean="0">
                <a:latin typeface="Tahoma" pitchFamily="34" charset="0"/>
              </a:rPr>
              <a:t>ng Bình Ph</a:t>
            </a:r>
            <a:r>
              <a:rPr lang="vi-VN" smtClean="0">
                <a:latin typeface="Tahoma" pitchFamily="34" charset="0"/>
              </a:rPr>
              <a:t>ươ</a:t>
            </a:r>
            <a:r>
              <a:rPr lang="en-US" smtClean="0">
                <a:latin typeface="Tahoma" pitchFamily="34" charset="0"/>
              </a:rPr>
              <a:t>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10:</a:t>
            </a:r>
            <a:r>
              <a:rPr lang="en-US" smtClean="0"/>
              <a:t> Trình bày khai báo con trỏ pchar trỏ </a:t>
            </a:r>
            <a:r>
              <a:rPr lang="vi-VN" smtClean="0"/>
              <a:t>đế</a:t>
            </a:r>
            <a:r>
              <a:rPr lang="en-US" smtClean="0"/>
              <a:t>n kiểu char.</a:t>
            </a:r>
          </a:p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11:</a:t>
            </a:r>
            <a:r>
              <a:rPr lang="en-US" smtClean="0"/>
              <a:t> Cho biến cost kiểu int. Khai báo và khởi tạo con trỏ pcost trỏ </a:t>
            </a:r>
            <a:r>
              <a:rPr lang="vi-VN" smtClean="0"/>
              <a:t>đế</a:t>
            </a:r>
            <a:r>
              <a:rPr lang="en-US" smtClean="0"/>
              <a:t>n biến này.</a:t>
            </a:r>
          </a:p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12:</a:t>
            </a:r>
            <a:r>
              <a:rPr lang="en-US" smtClean="0"/>
              <a:t> Gán giá trị 100 cho biến cost sử dụng  hai cách trực tiếp và gián tiếp.</a:t>
            </a:r>
          </a:p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13:</a:t>
            </a:r>
            <a:r>
              <a:rPr lang="en-US" smtClean="0"/>
              <a:t> In giá trị của con trỏ và giá trị của biến mà nó trỏ tới.</a:t>
            </a:r>
          </a:p>
          <a:p>
            <a:pPr marL="514350" indent="-514350">
              <a:defRPr/>
            </a:pPr>
            <a:r>
              <a:rPr lang="en-US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 14:</a:t>
            </a:r>
            <a:r>
              <a:rPr lang="en-US" smtClean="0"/>
              <a:t> Sử dụng con trỏ </a:t>
            </a:r>
            <a:r>
              <a:rPr lang="vi-VN" smtClean="0"/>
              <a:t>để</a:t>
            </a:r>
            <a:r>
              <a:rPr lang="en-US" smtClean="0"/>
              <a:t> làm lại các bài tập về mảng một chiều.</a:t>
            </a:r>
            <a:endParaRPr lang="en-US"/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Tin học c</a:t>
            </a:r>
            <a:r>
              <a:rPr lang="vi-VN" smtClean="0">
                <a:latin typeface="Tahoma" pitchFamily="34" charset="0"/>
              </a:rPr>
              <a:t>ơ</a:t>
            </a:r>
            <a:r>
              <a:rPr lang="en-US" smtClean="0">
                <a:latin typeface="Tahoma" pitchFamily="34" charset="0"/>
              </a:rPr>
              <a:t> sở 2 - </a:t>
            </a:r>
            <a:r>
              <a:rPr lang="vi-VN" smtClean="0">
                <a:latin typeface="Tahoma" pitchFamily="34" charset="0"/>
              </a:rPr>
              <a:t>Đặ</a:t>
            </a:r>
            <a:r>
              <a:rPr lang="en-US" smtClean="0">
                <a:latin typeface="Tahoma" pitchFamily="34" charset="0"/>
              </a:rPr>
              <a:t>ng Bình Ph</a:t>
            </a:r>
            <a:r>
              <a:rPr lang="vi-VN" smtClean="0">
                <a:latin typeface="Tahoma" pitchFamily="34" charset="0"/>
              </a:rPr>
              <a:t>ươ</a:t>
            </a:r>
            <a:r>
              <a:rPr lang="en-US" smtClean="0">
                <a:latin typeface="Tahoma" pitchFamily="34" charset="0"/>
              </a:rPr>
              <a:t>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Bài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15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:</a:t>
            </a:r>
            <a:r>
              <a:rPr lang="vi-VN" smtClean="0"/>
              <a:t> Cho đoạn chương trình sau: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int  *pint;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float a;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char c;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double *pd;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mtClean="0"/>
              <a:t>	Hãy chọn phát biểu sai cú pháp: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a. a = *pint;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b. c = *pd;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c. *pint = *pd;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smtClean="0"/>
              <a:t>	d. pd = a;</a:t>
            </a:r>
          </a:p>
          <a:p>
            <a:pPr>
              <a:defRPr/>
            </a:pPr>
            <a:endParaRPr lang="en-US"/>
          </a:p>
        </p:txBody>
      </p:sp>
      <p:sp>
        <p:nvSpPr>
          <p:cNvPr id="532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Tin học c</a:t>
            </a:r>
            <a:r>
              <a:rPr lang="vi-VN" smtClean="0">
                <a:latin typeface="Tahoma" pitchFamily="34" charset="0"/>
              </a:rPr>
              <a:t>ơ</a:t>
            </a:r>
            <a:r>
              <a:rPr lang="en-US" smtClean="0">
                <a:latin typeface="Tahoma" pitchFamily="34" charset="0"/>
              </a:rPr>
              <a:t> sở 2 - </a:t>
            </a:r>
            <a:r>
              <a:rPr lang="vi-VN" smtClean="0">
                <a:latin typeface="Tahoma" pitchFamily="34" charset="0"/>
              </a:rPr>
              <a:t>Đặ</a:t>
            </a:r>
            <a:r>
              <a:rPr lang="en-US" smtClean="0">
                <a:latin typeface="Tahoma" pitchFamily="34" charset="0"/>
              </a:rPr>
              <a:t>ng Bình Ph</a:t>
            </a:r>
            <a:r>
              <a:rPr lang="vi-VN" smtClean="0">
                <a:latin typeface="Tahoma" pitchFamily="34" charset="0"/>
              </a:rPr>
              <a:t>ươ</a:t>
            </a:r>
            <a:r>
              <a:rPr lang="en-US" smtClean="0">
                <a:latin typeface="Tahoma" pitchFamily="34" charset="0"/>
              </a:rPr>
              <a:t>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thực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Bài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16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:</a:t>
            </a:r>
            <a:r>
              <a:rPr lang="vi-VN" smtClean="0"/>
              <a:t> Viết chương trình nhập số nguyên dương n gồm k chữ số (0 &lt; k ≤ 5) , sắp xếp các chữ</a:t>
            </a:r>
            <a:r>
              <a:rPr lang="en-US" smtClean="0"/>
              <a:t> </a:t>
            </a:r>
            <a:r>
              <a:rPr lang="vi-VN" smtClean="0"/>
              <a:t>số của n theo thứ tự tăng dần.</a:t>
            </a:r>
          </a:p>
          <a:p>
            <a:pPr>
              <a:buFont typeface="Wingdings" pitchFamily="2" charset="2"/>
              <a:buNone/>
              <a:defRPr/>
            </a:pPr>
            <a:r>
              <a:rPr lang="pt-BR" smtClean="0"/>
              <a:t>	Ví dụ:</a:t>
            </a:r>
          </a:p>
          <a:p>
            <a:pPr lvl="1">
              <a:defRPr/>
            </a:pPr>
            <a:r>
              <a:rPr lang="pt-BR" smtClean="0"/>
              <a:t>Nhập n = 1536</a:t>
            </a:r>
          </a:p>
          <a:p>
            <a:pPr lvl="1">
              <a:defRPr/>
            </a:pPr>
            <a:r>
              <a:rPr lang="en-US" smtClean="0"/>
              <a:t>Kết quả sau khi sắp xếp: 1356.</a:t>
            </a:r>
            <a:endParaRPr lang="en-US"/>
          </a:p>
        </p:txBody>
      </p:sp>
      <p:sp>
        <p:nvSpPr>
          <p:cNvPr id="542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Tin học c</a:t>
            </a:r>
            <a:r>
              <a:rPr lang="vi-VN" smtClean="0">
                <a:latin typeface="Tahoma" pitchFamily="34" charset="0"/>
              </a:rPr>
              <a:t>ơ</a:t>
            </a:r>
            <a:r>
              <a:rPr lang="en-US" smtClean="0">
                <a:latin typeface="Tahoma" pitchFamily="34" charset="0"/>
              </a:rPr>
              <a:t> sở 2 - </a:t>
            </a:r>
            <a:r>
              <a:rPr lang="vi-VN" smtClean="0">
                <a:latin typeface="Tahoma" pitchFamily="34" charset="0"/>
              </a:rPr>
              <a:t>Đặ</a:t>
            </a:r>
            <a:r>
              <a:rPr lang="en-US" smtClean="0">
                <a:latin typeface="Tahoma" pitchFamily="34" charset="0"/>
              </a:rPr>
              <a:t>ng Bình Ph</a:t>
            </a:r>
            <a:r>
              <a:rPr lang="vi-VN" smtClean="0">
                <a:latin typeface="Tahoma" pitchFamily="34" charset="0"/>
              </a:rPr>
              <a:t>ươ</a:t>
            </a:r>
            <a:r>
              <a:rPr lang="en-US" smtClean="0">
                <a:latin typeface="Tahoma" pitchFamily="34" charset="0"/>
              </a:rPr>
              <a:t>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NHẬP MÔN LẬP TRÌNH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Giới thiệu chung&amp;quot;&quot;/&gt;&lt;property id=&quot;20307&quot; value=&quot;259&quot;/&gt;&lt;/object&gt;&lt;object type=&quot;3&quot; unique_id=&quot;10006&quot;&gt;&lt;property id=&quot;20148&quot; value=&quot;5&quot;/&gt;&lt;property id=&quot;20300&quot; value=&quot;Slide 3 - &amp;quot;Nội dung môn học&amp;quot;&quot;/&gt;&lt;property id=&quot;20307&quot; value=&quot;260&quot;/&gt;&lt;/object&gt;&lt;object type=&quot;3&quot; unique_id=&quot;10037&quot;&gt;&lt;property id=&quot;20148&quot; value=&quot;5&quot;/&gt;&lt;property id=&quot;20300&quot; value=&quot;Slide 4 - &amp;quot;Nội dung môn học&amp;quot;&quot;/&gt;&lt;property id=&quot;20307&quot; value=&quot;263&quot;/&gt;&lt;/object&gt;&lt;object type=&quot;3&quot; unique_id=&quot;10088&quot;&gt;&lt;property id=&quot;20148&quot; value=&quot;5&quot;/&gt;&lt;property id=&quot;20300&quot; value=&quot;Slide 5 - &amp;quot;Nội dung môn học&amp;quot;&quot;/&gt;&lt;property id=&quot;20307&quot; value=&quot;264&quot;/&gt;&lt;/object&gt;&lt;object type=&quot;3&quot; unique_id=&quot;10089&quot;&gt;&lt;property id=&quot;20148&quot; value=&quot;5&quot;/&gt;&lt;property id=&quot;20300&quot; value=&quot;Slide 6 - &amp;quot;Nội dung môn học&amp;quot;&quot;/&gt;&lt;property id=&quot;20307&quot; value=&quot;266&quot;/&gt;&lt;/object&gt;&lt;object type=&quot;3&quot; unique_id=&quot;10090&quot;&gt;&lt;property id=&quot;20148&quot; value=&quot;5&quot;/&gt;&lt;property id=&quot;20300&quot; value=&quot;Slide 7 - &amp;quot;Nội dung môn học&amp;quot;&quot;/&gt;&lt;property id=&quot;20307&quot; value=&quot;265&quot;/&gt;&lt;/object&gt;&lt;object type=&quot;3&quot; unique_id=&quot;10091&quot;&gt;&lt;property id=&quot;20148&quot; value=&quot;5&quot;/&gt;&lt;property id=&quot;20300&quot; value=&quot;Slide 8 - &amp;quot;Nội dung môn học&amp;quot;&quot;/&gt;&lt;property id=&quot;20307&quot; value=&quot;26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1026</TotalTime>
  <Words>2594</Words>
  <Application>Microsoft Office PowerPoint</Application>
  <PresentationFormat>On-screen Show (4:3)</PresentationFormat>
  <Paragraphs>784</Paragraphs>
  <Slides>39</Slides>
  <Notes>37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VCBB</vt:lpstr>
      <vt:lpstr>PowerPoint Presentation</vt:lpstr>
      <vt:lpstr>Nội dung</vt:lpstr>
      <vt:lpstr>Kiến trúc máy tính</vt:lpstr>
      <vt:lpstr>Khai báo biến trong C</vt:lpstr>
      <vt:lpstr>Khái niệm con trỏ</vt:lpstr>
      <vt:lpstr>Khai báo con trỏ</vt:lpstr>
      <vt:lpstr>Khai báo con trỏ</vt:lpstr>
      <vt:lpstr>Con trỏ NULL</vt:lpstr>
      <vt:lpstr>Khởi tạo kiểu con trỏ</vt:lpstr>
      <vt:lpstr>Sử dụng con trỏ</vt:lpstr>
      <vt:lpstr>Kích thước của con trỏ</vt:lpstr>
      <vt:lpstr>Các cách truyền đối số</vt:lpstr>
      <vt:lpstr>Truyền giá trị (tham trị)</vt:lpstr>
      <vt:lpstr>Các cách truyền đối số</vt:lpstr>
      <vt:lpstr>Truyền địa chỉ (con trỏ)</vt:lpstr>
      <vt:lpstr>Các cách truyền đối số</vt:lpstr>
      <vt:lpstr>Truyền tham chiếu (C++)</vt:lpstr>
      <vt:lpstr>Một số lưu ý</vt:lpstr>
      <vt:lpstr>Con trỏ và mảng một chiều</vt:lpstr>
      <vt:lpstr>Con trỏ và mảng một chiều</vt:lpstr>
      <vt:lpstr>Phép toán số học trên con trỏ</vt:lpstr>
      <vt:lpstr>Phép toán số học trên con trỏ</vt:lpstr>
      <vt:lpstr>Phép toán số học trên con trỏ</vt:lpstr>
      <vt:lpstr>Phép toán số học trên con trỏ</vt:lpstr>
      <vt:lpstr>Con trỏ và mảng một chiều</vt:lpstr>
      <vt:lpstr>Con trỏ và mảng một chiều</vt:lpstr>
      <vt:lpstr>Con trỏ và mảng một chiều</vt:lpstr>
      <vt:lpstr>Truyền mảng 1 chiều cho hàm</vt:lpstr>
      <vt:lpstr>Con trỏ và mảng một chiều</vt:lpstr>
      <vt:lpstr>Con trỏ và mảng một chiều</vt:lpstr>
      <vt:lpstr>Con trỏ cấu trúc</vt:lpstr>
      <vt:lpstr>Con trỏ cấu trúc</vt:lpstr>
      <vt:lpstr>Bài tập lý thuyết</vt:lpstr>
      <vt:lpstr>Bài tập lý thuyết</vt:lpstr>
      <vt:lpstr>Bài tập lý thuyết</vt:lpstr>
      <vt:lpstr>Bài tập lý thuyết</vt:lpstr>
      <vt:lpstr>Bài tập</vt:lpstr>
      <vt:lpstr>Bài tập lý thuyết</vt:lpstr>
      <vt:lpstr>Bài tập thực hành</vt:lpstr>
    </vt:vector>
  </TitlesOfParts>
  <Company>BABYDUCK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DANG BINH PHUONG</dc:creator>
  <cp:lastModifiedBy>LongHo</cp:lastModifiedBy>
  <cp:revision>301</cp:revision>
  <dcterms:created xsi:type="dcterms:W3CDTF">2007-09-05T08:24:33Z</dcterms:created>
  <dcterms:modified xsi:type="dcterms:W3CDTF">2015-12-11T07:20:06Z</dcterms:modified>
</cp:coreProperties>
</file>