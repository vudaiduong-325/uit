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1" r:id="rId6"/>
    <p:sldId id="262" r:id="rId7"/>
    <p:sldId id="270" r:id="rId8"/>
    <p:sldId id="271" r:id="rId9"/>
    <p:sldId id="263" r:id="rId10"/>
    <p:sldId id="272" r:id="rId11"/>
    <p:sldId id="273" r:id="rId12"/>
    <p:sldId id="264" r:id="rId13"/>
    <p:sldId id="275" r:id="rId14"/>
    <p:sldId id="276" r:id="rId15"/>
    <p:sldId id="277" r:id="rId16"/>
    <p:sldId id="278" r:id="rId17"/>
    <p:sldId id="265" r:id="rId18"/>
    <p:sldId id="279" r:id="rId19"/>
    <p:sldId id="280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8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3E332E-4B6C-4FED-89C1-87EA01BB02E8}" type="datetimeFigureOut">
              <a:rPr lang="en-US" smtClean="0"/>
              <a:pPr/>
              <a:t>10/1/2015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503439-6E41-4473-881B-3C521882BBB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055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BA1D61A-C718-4122-B799-9A2D90CC4AC9}" type="slidenum">
              <a:rPr lang="en-US"/>
              <a:pPr/>
              <a:t>5</a:t>
            </a:fld>
            <a:endParaRPr lang="en-US"/>
          </a:p>
        </p:txBody>
      </p:sp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C83A3C-8A74-4F6F-9A56-0C50BDC79710}" type="slidenum">
              <a:rPr lang="en-US"/>
              <a:pPr/>
              <a:t>6</a:t>
            </a:fld>
            <a:endParaRPr lang="en-US"/>
          </a:p>
        </p:txBody>
      </p:sp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392BA96B-8D17-4AF6-B059-937A48BD8C01}" type="slidenum">
              <a:rPr lang="en-US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908D331-3B3D-4740-9EB8-1AA8DD599224}" type="slidenum">
              <a:rPr lang="en-US"/>
              <a:pPr/>
              <a:t>9</a:t>
            </a:fld>
            <a:endParaRPr lang="en-US"/>
          </a:p>
        </p:txBody>
      </p:sp>
      <p:sp>
        <p:nvSpPr>
          <p:cNvPr id="267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7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F2242044-7498-4FF6-A00A-20A01289774D}" type="slidenum">
              <a:rPr lang="en-US" smtClean="0"/>
              <a:pPr eaLnBrk="1" hangingPunct="1">
                <a:defRPr/>
              </a:pPr>
              <a:t>11</a:t>
            </a:fld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3CDDC5B-12A9-46D3-AD81-699556DE36E0}" type="slidenum">
              <a:rPr lang="en-US"/>
              <a:pPr/>
              <a:t>12</a:t>
            </a:fld>
            <a:endParaRPr lang="en-US"/>
          </a:p>
        </p:txBody>
      </p:sp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3CDDC5B-12A9-46D3-AD81-699556DE36E0}" type="slidenum">
              <a:rPr lang="en-US"/>
              <a:pPr/>
              <a:t>13</a:t>
            </a:fld>
            <a:endParaRPr lang="en-US"/>
          </a:p>
        </p:txBody>
      </p:sp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23237130-95B8-4EA2-A9F6-8DCA00FAA484}" type="slidenum">
              <a:rPr lang="en-US" smtClean="0"/>
              <a:pPr eaLnBrk="1" hangingPunct="1">
                <a:defRPr/>
              </a:pPr>
              <a:t>14</a:t>
            </a:fld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C01CB47C-81CF-4CA7-9382-4AA63895CAF4}" type="slidenum">
              <a:rPr lang="en-US" smtClean="0"/>
              <a:pPr eaLnBrk="1" hangingPunct="1">
                <a:defRPr/>
              </a:pPr>
              <a:t>15</a:t>
            </a:fld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CB69D022-473D-4497-8C45-D4406B44A268}" type="slidenum">
              <a:rPr lang="en-US" smtClean="0"/>
              <a:pPr eaLnBrk="1" hangingPunct="1">
                <a:defRPr/>
              </a:pPr>
              <a:t>16</a:t>
            </a:fld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052E70F-8C5E-45C6-A38C-A9FACBD8C2D7}" type="slidenum">
              <a:rPr lang="en-US"/>
              <a:pPr/>
              <a:t>17</a:t>
            </a:fld>
            <a:endParaRPr lang="en-US"/>
          </a:p>
        </p:txBody>
      </p:sp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8855E91A-7B4C-49ED-BBA1-BAC014626BC6}" type="slidenum">
              <a:rPr lang="en-US" smtClean="0"/>
              <a:pPr eaLnBrk="1" hangingPunct="1">
                <a:defRPr/>
              </a:pPr>
              <a:t>18</a:t>
            </a:fld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079DC5B4-A800-4C60-9CA6-C533A9EE49AA}" type="slidenum">
              <a:rPr lang="en-US" smtClean="0"/>
              <a:pPr eaLnBrk="1" hangingPunct="1">
                <a:defRPr/>
              </a:pPr>
              <a:t>19</a:t>
            </a:fld>
            <a:endParaRPr 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87AB3BC7-B055-4EE4-8AAB-1021133B1EB8}" type="slidenum">
              <a:rPr lang="en-US" smtClean="0"/>
              <a:pPr eaLnBrk="1" hangingPunct="1">
                <a:defRPr/>
              </a:pPr>
              <a:t>20</a:t>
            </a:fld>
            <a:endParaRPr 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B1D467F4-C194-4AFA-8B6F-1B1ED7BB23F6}" type="slidenum">
              <a:rPr lang="en-US" smtClean="0"/>
              <a:pPr eaLnBrk="1" hangingPunct="1">
                <a:defRPr/>
              </a:pPr>
              <a:t>21</a:t>
            </a:fld>
            <a:endParaRPr 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7FDBA709-E2BE-4DA5-A941-DA381E8E2818}" type="slidenum">
              <a:rPr lang="en-US" smtClean="0"/>
              <a:pPr eaLnBrk="1" hangingPunct="1">
                <a:defRPr/>
              </a:pPr>
              <a:t>22</a:t>
            </a:fld>
            <a:endParaRPr 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457EC8B4-7EAE-40DE-8B4A-9EA167BCE0E8}" type="slidenum">
              <a:rPr lang="en-US" smtClean="0"/>
              <a:pPr eaLnBrk="1" hangingPunct="1">
                <a:defRPr/>
              </a:pPr>
              <a:t>23</a:t>
            </a:fld>
            <a:endParaRPr 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4778F1A0-767F-45EE-B197-D487161353C8}" type="slidenum">
              <a:rPr lang="en-US" smtClean="0"/>
              <a:pPr eaLnBrk="1" hangingPunct="1">
                <a:defRPr/>
              </a:pPr>
              <a:t>24</a:t>
            </a:fld>
            <a:endParaRPr 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020A6C4B-C807-4A4F-80BE-5FE1416FC230}" type="slidenum">
              <a:rPr lang="en-US" smtClean="0"/>
              <a:pPr eaLnBrk="1" hangingPunct="1">
                <a:defRPr/>
              </a:pPr>
              <a:t>25</a:t>
            </a:fld>
            <a:endParaRPr lang="en-US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0D2546B4-1FFC-43DF-8799-A8FA10A97AD8}" type="slidenum">
              <a:rPr lang="en-US" smtClean="0"/>
              <a:pPr eaLnBrk="1" hangingPunct="1">
                <a:defRPr/>
              </a:pPr>
              <a:t>26</a:t>
            </a:fld>
            <a:endParaRPr lang="en-US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B03A3893-7F56-4447-B6BB-87F63075AB6A}" type="slidenum">
              <a:rPr lang="en-US" smtClean="0"/>
              <a:pPr eaLnBrk="1" hangingPunct="1">
                <a:defRPr/>
              </a:pPr>
              <a:t>27</a:t>
            </a:fld>
            <a:endParaRPr lang="en-US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759599AF-5213-42B7-9887-985D290848E5}" type="slidenum">
              <a:rPr lang="en-US" smtClean="0"/>
              <a:pPr eaLnBrk="1" hangingPunct="1">
                <a:defRPr/>
              </a:pPr>
              <a:t>28</a:t>
            </a:fld>
            <a:endParaRPr lang="en-US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FCB5A361-EF3E-463C-B6BE-DE23C5AA11FC}" type="slidenum">
              <a:rPr lang="en-US" smtClean="0"/>
              <a:pPr eaLnBrk="1" hangingPunct="1">
                <a:defRPr/>
              </a:pPr>
              <a:t>29</a:t>
            </a:fld>
            <a:endParaRPr lang="en-US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2B22C944-88FE-4857-ABC2-A95D2CD80859}" type="slidenum">
              <a:rPr lang="en-US" smtClean="0"/>
              <a:pPr eaLnBrk="1" hangingPunct="1">
                <a:defRPr/>
              </a:pPr>
              <a:t>30</a:t>
            </a:fld>
            <a:endParaRPr lang="en-US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C61B5624-3D78-4B02-AC2E-4560CDAD1604}" type="slidenum">
              <a:rPr lang="en-US" smtClean="0"/>
              <a:pPr eaLnBrk="1" hangingPunct="1">
                <a:defRPr/>
              </a:pPr>
              <a:t>31</a:t>
            </a:fld>
            <a:endParaRPr lang="en-US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00AF970D-AA72-4ABE-9EFF-7207DECFC83A}" type="slidenum">
              <a:rPr lang="en-US" smtClean="0"/>
              <a:pPr eaLnBrk="1" hangingPunct="1">
                <a:defRPr/>
              </a:pPr>
              <a:t>32</a:t>
            </a:fld>
            <a:endParaRPr lang="en-US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1861C67D-132C-4773-A038-6C69CE31B5D1}" type="slidenum">
              <a:rPr lang="en-US" smtClean="0"/>
              <a:pPr eaLnBrk="1" hangingPunct="1">
                <a:defRPr/>
              </a:pPr>
              <a:t>33</a:t>
            </a:fld>
            <a:endParaRPr lang="en-US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EDC08647-F1C9-45D4-92D2-1047AA14A6CF}" type="slidenum">
              <a:rPr lang="en-US" smtClean="0"/>
              <a:pPr eaLnBrk="1" hangingPunct="1">
                <a:defRPr/>
              </a:pPr>
              <a:t>34</a:t>
            </a:fld>
            <a:endParaRPr lang="en-US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E491AE61-001F-4067-B675-F8B4E3E31FBB}" type="slidenum">
              <a:rPr lang="en-US" smtClean="0"/>
              <a:pPr eaLnBrk="1" hangingPunct="1">
                <a:defRPr/>
              </a:pPr>
              <a:t>35</a:t>
            </a:fld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57200" y="1447800"/>
            <a:ext cx="8229600" cy="158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457200" y="6172200"/>
            <a:ext cx="8229600" cy="158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9" name="Picture 8" descr="Logo.png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286000" y="1905000"/>
            <a:ext cx="4614677" cy="3818534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logo186x150.png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8458200" y="1"/>
            <a:ext cx="685800" cy="55306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" Target="slide21.xml"/><Relationship Id="rId3" Type="http://schemas.openxmlformats.org/officeDocument/2006/relationships/image" Target="../media/image3.gif"/><Relationship Id="rId7" Type="http://schemas.openxmlformats.org/officeDocument/2006/relationships/slide" Target="slide20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7.xml"/><Relationship Id="rId5" Type="http://schemas.openxmlformats.org/officeDocument/2006/relationships/image" Target="../media/image4.png"/><Relationship Id="rId4" Type="http://schemas.openxmlformats.org/officeDocument/2006/relationships/slide" Target="slide1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7" Type="http://schemas.openxmlformats.org/officeDocument/2006/relationships/slide" Target="slide24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2.xml"/><Relationship Id="rId5" Type="http://schemas.openxmlformats.org/officeDocument/2006/relationships/image" Target="../media/image4.png"/><Relationship Id="rId4" Type="http://schemas.openxmlformats.org/officeDocument/2006/relationships/slide" Target="slide2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slide" Target="slide2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Nhập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Lập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– IT001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err="1" smtClean="0"/>
              <a:t>Buổi</a:t>
            </a:r>
            <a:r>
              <a:rPr lang="en-US" smtClean="0"/>
              <a:t> 04 – </a:t>
            </a:r>
            <a:r>
              <a:rPr lang="en-US" smtClean="0"/>
              <a:t>Cấu </a:t>
            </a:r>
            <a:r>
              <a:rPr lang="en-US" dirty="0" err="1" smtClean="0"/>
              <a:t>trúc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khiển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tiêu</a:t>
            </a:r>
            <a:r>
              <a:rPr lang="en-US" dirty="0" smtClean="0"/>
              <a:t> </a:t>
            </a:r>
            <a:r>
              <a:rPr lang="en-US" dirty="0" err="1" smtClean="0"/>
              <a:t>buổi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– CĐR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 smtClean="0"/>
              <a:t>Hiểu và vận dụng được các cấu trúc điều khiển</a:t>
            </a:r>
            <a:r>
              <a:rPr lang="en-US" dirty="0" smtClean="0"/>
              <a:t> </a:t>
            </a:r>
            <a:r>
              <a:rPr lang="vi-VN" dirty="0" smtClean="0"/>
              <a:t>để viết chương trình trên máy tính.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/>
              <a:t>Nội</a:t>
            </a:r>
            <a:r>
              <a:rPr lang="en-US" dirty="0" smtClean="0"/>
              <a:t> dung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 smtClean="0"/>
              <a:t>Khối lệnh trong lập trình</a:t>
            </a:r>
          </a:p>
          <a:p>
            <a:r>
              <a:rPr lang="vi-VN" dirty="0" smtClean="0"/>
              <a:t>Dùng cấu trúc rẽ nhánh trong lập trình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mtClean="0"/>
              <a:t>Câu </a:t>
            </a:r>
            <a:r>
              <a:rPr lang="en-US" dirty="0" err="1" smtClean="0"/>
              <a:t>lệnh</a:t>
            </a:r>
            <a:r>
              <a:rPr lang="en-US" dirty="0" smtClean="0"/>
              <a:t>, </a:t>
            </a:r>
            <a:r>
              <a:rPr lang="en-US" dirty="0" err="1" smtClean="0"/>
              <a:t>khối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lnSpc>
                <a:spcPct val="150000"/>
              </a:lnSpc>
              <a:buFont typeface="Wingdings" pitchFamily="2" charset="2"/>
              <a:buNone/>
            </a:pP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Khái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niệm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câu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lệnh</a:t>
            </a:r>
            <a:endParaRPr lang="en-US" sz="2400" b="1" i="1" u="sng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Wingdings" pitchFamily="2" charset="2"/>
              <a:buNone/>
            </a:pPr>
            <a:r>
              <a:rPr lang="en-US" sz="2000" dirty="0" smtClean="0">
                <a:solidFill>
                  <a:srgbClr val="00FFFF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Mỗi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câu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lệnh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hiện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chức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năng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nào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đó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như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lệnh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gán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lệnh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xuất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màn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).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âu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lệnh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viết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trên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hoặc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nhiều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dòng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thúc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bằng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dấu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chấm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phẩy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(;).</a:t>
            </a:r>
            <a:endParaRPr lang="en-US" sz="2400" dirty="0" smtClean="0">
              <a:solidFill>
                <a:srgbClr val="CCECFF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sz="2000" i="1" dirty="0" smtClean="0">
                <a:latin typeface="Arial" charset="0"/>
              </a:rPr>
              <a:t>	</a:t>
            </a:r>
            <a:r>
              <a:rPr lang="en-US" sz="2000" i="1" u="sng" dirty="0" err="1" smtClean="0">
                <a:latin typeface="Arial" charset="0"/>
              </a:rPr>
              <a:t>Ví</a:t>
            </a:r>
            <a:r>
              <a:rPr lang="en-US" sz="2000" i="1" u="sng" dirty="0" smtClean="0">
                <a:latin typeface="Arial" charset="0"/>
              </a:rPr>
              <a:t> </a:t>
            </a:r>
            <a:r>
              <a:rPr lang="en-US" sz="2000" i="1" u="sng" dirty="0" err="1" smtClean="0">
                <a:latin typeface="Arial" charset="0"/>
              </a:rPr>
              <a:t>dụ</a:t>
            </a:r>
            <a:r>
              <a:rPr lang="en-US" sz="2000" i="1" u="sng" dirty="0" smtClean="0">
                <a:latin typeface="Arial" charset="0"/>
              </a:rPr>
              <a:t>:</a:t>
            </a:r>
            <a:endParaRPr lang="en-US" sz="2000" dirty="0" smtClean="0">
              <a:latin typeface="Arial" charset="0"/>
            </a:endParaRPr>
          </a:p>
          <a:p>
            <a:pPr>
              <a:buFont typeface="Wingdings" pitchFamily="2" charset="2"/>
              <a:buNone/>
            </a:pPr>
            <a:r>
              <a:rPr lang="en-US" sz="2000" dirty="0" smtClean="0">
                <a:latin typeface="Arial" charset="0"/>
              </a:rPr>
              <a:t>	         </a:t>
            </a:r>
            <a:r>
              <a:rPr lang="en-US" sz="2000" dirty="0" err="1" smtClean="0">
                <a:solidFill>
                  <a:schemeClr val="tx2"/>
                </a:solidFill>
                <a:latin typeface="Arial" charset="0"/>
              </a:rPr>
              <a:t>cv</a:t>
            </a:r>
            <a:r>
              <a:rPr lang="en-US" sz="2000" dirty="0" smtClean="0">
                <a:latin typeface="Arial" charset="0"/>
              </a:rPr>
              <a:t>=</a:t>
            </a:r>
            <a:r>
              <a:rPr lang="en-US" sz="2000" dirty="0" smtClean="0">
                <a:solidFill>
                  <a:schemeClr val="tx2"/>
                </a:solidFill>
                <a:latin typeface="Arial" charset="0"/>
              </a:rPr>
              <a:t>2</a:t>
            </a:r>
            <a:r>
              <a:rPr lang="en-US" sz="2000" dirty="0" smtClean="0">
                <a:latin typeface="Arial" charset="0"/>
              </a:rPr>
              <a:t>*</a:t>
            </a:r>
            <a:r>
              <a:rPr lang="en-US" sz="2000" dirty="0" smtClean="0">
                <a:solidFill>
                  <a:schemeClr val="tx2"/>
                </a:solidFill>
                <a:latin typeface="Arial" charset="0"/>
              </a:rPr>
              <a:t>r</a:t>
            </a:r>
            <a:r>
              <a:rPr lang="en-US" sz="2000" dirty="0" smtClean="0">
                <a:latin typeface="Arial" charset="0"/>
              </a:rPr>
              <a:t>*</a:t>
            </a:r>
            <a:r>
              <a:rPr lang="en-US" sz="2000" dirty="0" smtClean="0">
                <a:solidFill>
                  <a:schemeClr val="tx2"/>
                </a:solidFill>
                <a:latin typeface="Arial" charset="0"/>
              </a:rPr>
              <a:t>M_PI</a:t>
            </a:r>
            <a:r>
              <a:rPr lang="en-US" sz="2000" dirty="0" smtClean="0">
                <a:latin typeface="Arial" charset="0"/>
              </a:rPr>
              <a:t>; </a:t>
            </a:r>
          </a:p>
          <a:p>
            <a:pPr lvl="2">
              <a:lnSpc>
                <a:spcPct val="75000"/>
              </a:lnSpc>
              <a:buFontTx/>
              <a:buNone/>
            </a:pPr>
            <a:r>
              <a:rPr lang="en-US" i="1" dirty="0" err="1" smtClean="0">
                <a:solidFill>
                  <a:schemeClr val="tx2"/>
                </a:solidFill>
              </a:rPr>
              <a:t>printf</a:t>
            </a:r>
            <a:r>
              <a:rPr lang="en-US" i="1" dirty="0" smtClean="0">
                <a:solidFill>
                  <a:srgbClr val="2222B2"/>
                </a:solidFill>
              </a:rPr>
              <a:t>("\</a:t>
            </a:r>
            <a:r>
              <a:rPr lang="en-US" i="1" dirty="0" err="1" smtClean="0">
                <a:solidFill>
                  <a:srgbClr val="2222B2"/>
                </a:solidFill>
              </a:rPr>
              <a:t>nChu</a:t>
            </a:r>
            <a:r>
              <a:rPr lang="en-US" i="1" dirty="0" smtClean="0">
                <a:solidFill>
                  <a:srgbClr val="2222B2"/>
                </a:solidFill>
              </a:rPr>
              <a:t> vi     = %10.2f \</a:t>
            </a:r>
          </a:p>
          <a:p>
            <a:pPr lvl="3">
              <a:lnSpc>
                <a:spcPct val="75000"/>
              </a:lnSpc>
              <a:buFontTx/>
              <a:buNone/>
            </a:pPr>
            <a:r>
              <a:rPr lang="en-US" sz="2400" i="1" dirty="0" smtClean="0">
                <a:solidFill>
                  <a:srgbClr val="99CCFF"/>
                </a:solidFill>
              </a:rPr>
              <a:t>       </a:t>
            </a:r>
            <a:r>
              <a:rPr lang="en-US" sz="2400" i="1" dirty="0" smtClean="0">
                <a:solidFill>
                  <a:srgbClr val="2222B2"/>
                </a:solidFill>
              </a:rPr>
              <a:t>\</a:t>
            </a:r>
            <a:r>
              <a:rPr lang="en-US" sz="2400" i="1" dirty="0" err="1" smtClean="0">
                <a:solidFill>
                  <a:srgbClr val="2222B2"/>
                </a:solidFill>
              </a:rPr>
              <a:t>nDien</a:t>
            </a:r>
            <a:r>
              <a:rPr lang="en-US" sz="2400" i="1" dirty="0" smtClean="0">
                <a:solidFill>
                  <a:srgbClr val="2222B2"/>
                </a:solidFill>
              </a:rPr>
              <a:t> </a:t>
            </a:r>
            <a:r>
              <a:rPr lang="en-US" sz="2400" i="1" dirty="0" err="1" smtClean="0">
                <a:solidFill>
                  <a:srgbClr val="2222B2"/>
                </a:solidFill>
              </a:rPr>
              <a:t>tich</a:t>
            </a:r>
            <a:r>
              <a:rPr lang="en-US" sz="2400" i="1" dirty="0" smtClean="0">
                <a:solidFill>
                  <a:srgbClr val="2222B2"/>
                </a:solidFill>
              </a:rPr>
              <a:t> = %10.2f"</a:t>
            </a:r>
            <a:r>
              <a:rPr lang="en-US" sz="2400" i="1" dirty="0" smtClean="0"/>
              <a:t>,</a:t>
            </a:r>
            <a:r>
              <a:rPr lang="en-US" sz="2400" i="1" dirty="0" smtClean="0">
                <a:solidFill>
                  <a:schemeClr val="tx2"/>
                </a:solidFill>
              </a:rPr>
              <a:t>cv</a:t>
            </a:r>
            <a:r>
              <a:rPr lang="en-US" sz="2400" i="1" dirty="0" smtClean="0"/>
              <a:t>,</a:t>
            </a:r>
            <a:r>
              <a:rPr lang="en-US" sz="2400" i="1" dirty="0" smtClean="0">
                <a:solidFill>
                  <a:schemeClr val="tx2"/>
                </a:solidFill>
              </a:rPr>
              <a:t>dt</a:t>
            </a:r>
            <a:r>
              <a:rPr lang="en-US" sz="2400" i="1" dirty="0" smtClean="0"/>
              <a:t>);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7924800" cy="4648200"/>
          </a:xfrm>
          <a:noFill/>
        </p:spPr>
        <p:txBody>
          <a:bodyPr>
            <a:normAutofit fontScale="92500" lnSpcReduction="10000"/>
          </a:bodyPr>
          <a:lstStyle/>
          <a:p>
            <a:pPr lvl="1">
              <a:buFont typeface="Wingdings" pitchFamily="2" charset="2"/>
              <a:buNone/>
            </a:pPr>
            <a:r>
              <a:rPr lang="en-US" b="1" dirty="0" err="1">
                <a:latin typeface="Times New Roman" pitchFamily="18" charset="0"/>
              </a:rPr>
              <a:t>Khái</a:t>
            </a:r>
            <a:r>
              <a:rPr lang="en-US" b="1" dirty="0">
                <a:latin typeface="VNI-Times" pitchFamily="2" charset="0"/>
              </a:rPr>
              <a:t> </a:t>
            </a:r>
            <a:r>
              <a:rPr lang="en-US" b="1" dirty="0" err="1">
                <a:latin typeface="Times New Roman" pitchFamily="18" charset="0"/>
              </a:rPr>
              <a:t>niệm</a:t>
            </a:r>
            <a:r>
              <a:rPr lang="en-US" b="1" dirty="0">
                <a:latin typeface="VNI-Times" pitchFamily="2" charset="0"/>
              </a:rPr>
              <a:t> </a:t>
            </a:r>
            <a:r>
              <a:rPr lang="en-US" b="1" dirty="0" err="1">
                <a:latin typeface="Times New Roman" pitchFamily="18" charset="0"/>
              </a:rPr>
              <a:t>về</a:t>
            </a:r>
            <a:r>
              <a:rPr lang="en-US" b="1" dirty="0">
                <a:latin typeface="VNI-Times" pitchFamily="2" charset="0"/>
              </a:rPr>
              <a:t> </a:t>
            </a:r>
            <a:r>
              <a:rPr lang="en-US" b="1" dirty="0" err="1">
                <a:latin typeface="Times New Roman" pitchFamily="18" charset="0"/>
              </a:rPr>
              <a:t>khối</a:t>
            </a:r>
            <a:r>
              <a:rPr lang="en-US" b="1" dirty="0">
                <a:latin typeface="VNI-Times" pitchFamily="2" charset="0"/>
              </a:rPr>
              <a:t> </a:t>
            </a:r>
            <a:r>
              <a:rPr lang="en-US" b="1" dirty="0" err="1">
                <a:latin typeface="Times New Roman" pitchFamily="18" charset="0"/>
              </a:rPr>
              <a:t>lệnh</a:t>
            </a:r>
            <a:r>
              <a:rPr lang="en-US" b="1" i="1" u="sng" dirty="0">
                <a:latin typeface="VNI-Times" pitchFamily="2" charset="0"/>
              </a:rPr>
              <a:t> </a:t>
            </a:r>
          </a:p>
          <a:p>
            <a:pPr lvl="2">
              <a:buFontTx/>
              <a:buNone/>
            </a:pPr>
            <a:r>
              <a:rPr lang="en-US" sz="2800" i="1" dirty="0" err="1">
                <a:latin typeface="Times New Roman" pitchFamily="18" charset="0"/>
              </a:rPr>
              <a:t>Một</a:t>
            </a:r>
            <a:r>
              <a:rPr lang="en-US" sz="2800" i="1" dirty="0">
                <a:latin typeface="VNI-Times" pitchFamily="2" charset="0"/>
              </a:rPr>
              <a:t> </a:t>
            </a:r>
            <a:r>
              <a:rPr lang="en-US" sz="2800" i="1" dirty="0" err="1">
                <a:latin typeface="Times New Roman" pitchFamily="18" charset="0"/>
              </a:rPr>
              <a:t>dãy</a:t>
            </a:r>
            <a:r>
              <a:rPr lang="en-US" sz="2800" i="1" dirty="0">
                <a:latin typeface="VNI-Times" pitchFamily="2" charset="0"/>
              </a:rPr>
              <a:t> </a:t>
            </a:r>
            <a:r>
              <a:rPr lang="en-US" sz="2800" i="1" dirty="0" err="1">
                <a:latin typeface="Times New Roman" pitchFamily="18" charset="0"/>
              </a:rPr>
              <a:t>các</a:t>
            </a:r>
            <a:r>
              <a:rPr lang="en-US" sz="2800" i="1" dirty="0">
                <a:latin typeface="VNI-Times" pitchFamily="2" charset="0"/>
              </a:rPr>
              <a:t> </a:t>
            </a:r>
            <a:r>
              <a:rPr lang="en-US" sz="2800" i="1" dirty="0" err="1">
                <a:latin typeface="Times New Roman" pitchFamily="18" charset="0"/>
              </a:rPr>
              <a:t>câu</a:t>
            </a:r>
            <a:r>
              <a:rPr lang="en-US" sz="2800" i="1" dirty="0">
                <a:latin typeface="VNI-Times" pitchFamily="2" charset="0"/>
              </a:rPr>
              <a:t> </a:t>
            </a:r>
            <a:r>
              <a:rPr lang="en-US" sz="2800" i="1" dirty="0" err="1">
                <a:latin typeface="Times New Roman" pitchFamily="18" charset="0"/>
              </a:rPr>
              <a:t>lệnh</a:t>
            </a:r>
            <a:r>
              <a:rPr lang="en-US" sz="2800" i="1" dirty="0">
                <a:latin typeface="VNI-Times" pitchFamily="2" charset="0"/>
              </a:rPr>
              <a:t> </a:t>
            </a:r>
            <a:r>
              <a:rPr lang="en-US" sz="2800" i="1" dirty="0" err="1">
                <a:latin typeface="Times New Roman" pitchFamily="18" charset="0"/>
              </a:rPr>
              <a:t>được</a:t>
            </a:r>
            <a:r>
              <a:rPr lang="en-US" sz="2800" i="1" dirty="0">
                <a:latin typeface="VNI-Times" pitchFamily="2" charset="0"/>
              </a:rPr>
              <a:t> </a:t>
            </a:r>
            <a:r>
              <a:rPr lang="en-US" sz="2800" i="1" dirty="0" err="1">
                <a:latin typeface="Times New Roman" pitchFamily="18" charset="0"/>
              </a:rPr>
              <a:t>đặt</a:t>
            </a:r>
            <a:r>
              <a:rPr lang="en-US" sz="2800" i="1" dirty="0">
                <a:latin typeface="VNI-Times" pitchFamily="2" charset="0"/>
              </a:rPr>
              <a:t> </a:t>
            </a:r>
            <a:r>
              <a:rPr lang="en-US" sz="2800" i="1" dirty="0" err="1">
                <a:latin typeface="Times New Roman" pitchFamily="18" charset="0"/>
              </a:rPr>
              <a:t>trong</a:t>
            </a:r>
            <a:r>
              <a:rPr lang="en-US" sz="2800" i="1" dirty="0">
                <a:latin typeface="VNI-Times" pitchFamily="2" charset="0"/>
              </a:rPr>
              <a:t> </a:t>
            </a:r>
            <a:r>
              <a:rPr lang="en-US" sz="2800" i="1" dirty="0" err="1">
                <a:latin typeface="Times New Roman" pitchFamily="18" charset="0"/>
              </a:rPr>
              <a:t>một</a:t>
            </a:r>
            <a:r>
              <a:rPr lang="en-US" sz="2800" i="1" dirty="0">
                <a:latin typeface="VNI-Times" pitchFamily="2" charset="0"/>
              </a:rPr>
              <a:t> </a:t>
            </a:r>
            <a:r>
              <a:rPr lang="en-US" sz="2800" i="1" dirty="0" err="1">
                <a:latin typeface="Times New Roman" pitchFamily="18" charset="0"/>
              </a:rPr>
              <a:t>cặp</a:t>
            </a:r>
            <a:r>
              <a:rPr lang="en-US" sz="2800" i="1" dirty="0">
                <a:latin typeface="VNI-Times" pitchFamily="2" charset="0"/>
              </a:rPr>
              <a:t> </a:t>
            </a:r>
            <a:r>
              <a:rPr lang="en-US" sz="2800" i="1" dirty="0" err="1">
                <a:latin typeface="Times New Roman" pitchFamily="18" charset="0"/>
              </a:rPr>
              <a:t>dấu</a:t>
            </a:r>
            <a:r>
              <a:rPr lang="en-US" sz="2800" i="1" dirty="0">
                <a:latin typeface="VNI-Times" pitchFamily="2" charset="0"/>
              </a:rPr>
              <a:t> { </a:t>
            </a:r>
            <a:r>
              <a:rPr lang="en-US" sz="2800" i="1" dirty="0" err="1">
                <a:latin typeface="Times New Roman" pitchFamily="18" charset="0"/>
              </a:rPr>
              <a:t>và</a:t>
            </a:r>
            <a:r>
              <a:rPr lang="en-US" sz="2800" i="1" dirty="0">
                <a:latin typeface="VNI-Times" pitchFamily="2" charset="0"/>
              </a:rPr>
              <a:t> } </a:t>
            </a:r>
            <a:r>
              <a:rPr lang="en-US" sz="2800" i="1" dirty="0" err="1">
                <a:latin typeface="Times New Roman" pitchFamily="18" charset="0"/>
              </a:rPr>
              <a:t>được</a:t>
            </a:r>
            <a:r>
              <a:rPr lang="en-US" sz="2800" i="1" dirty="0">
                <a:latin typeface="VNI-Times" pitchFamily="2" charset="0"/>
              </a:rPr>
              <a:t> </a:t>
            </a:r>
            <a:r>
              <a:rPr lang="en-US" sz="2800" i="1" dirty="0" err="1">
                <a:latin typeface="Times New Roman" pitchFamily="18" charset="0"/>
              </a:rPr>
              <a:t>gọi</a:t>
            </a:r>
            <a:r>
              <a:rPr lang="en-US" sz="2800" i="1" dirty="0">
                <a:latin typeface="VNI-Times" pitchFamily="2" charset="0"/>
              </a:rPr>
              <a:t> </a:t>
            </a:r>
            <a:r>
              <a:rPr lang="en-US" sz="2800" i="1" dirty="0" err="1">
                <a:latin typeface="Times New Roman" pitchFamily="18" charset="0"/>
              </a:rPr>
              <a:t>là</a:t>
            </a:r>
            <a:r>
              <a:rPr lang="en-US" sz="2800" i="1" dirty="0">
                <a:latin typeface="VNI-Times" pitchFamily="2" charset="0"/>
              </a:rPr>
              <a:t>  </a:t>
            </a:r>
            <a:r>
              <a:rPr lang="en-US" sz="2800" i="1" dirty="0" err="1">
                <a:latin typeface="Times New Roman" pitchFamily="18" charset="0"/>
              </a:rPr>
              <a:t>một</a:t>
            </a:r>
            <a:r>
              <a:rPr lang="en-US" sz="2800" i="1" dirty="0">
                <a:latin typeface="VNI-Times" pitchFamily="2" charset="0"/>
              </a:rPr>
              <a:t> </a:t>
            </a:r>
            <a:r>
              <a:rPr lang="en-US" sz="2800" i="1" dirty="0" err="1">
                <a:latin typeface="Times New Roman" pitchFamily="18" charset="0"/>
              </a:rPr>
              <a:t>khối</a:t>
            </a:r>
            <a:r>
              <a:rPr lang="en-US" sz="2800" i="1" dirty="0">
                <a:latin typeface="VNI-Times" pitchFamily="2" charset="0"/>
              </a:rPr>
              <a:t> </a:t>
            </a:r>
            <a:r>
              <a:rPr lang="en-US" sz="2800" i="1" dirty="0" err="1">
                <a:latin typeface="Times New Roman" pitchFamily="18" charset="0"/>
              </a:rPr>
              <a:t>lệnh</a:t>
            </a:r>
            <a:r>
              <a:rPr lang="en-US" sz="2800" i="1" dirty="0">
                <a:latin typeface="VNI-Times" pitchFamily="2" charset="0"/>
              </a:rPr>
              <a:t>.</a:t>
            </a:r>
            <a:r>
              <a:rPr lang="en-US" i="1" dirty="0">
                <a:latin typeface="VNI-Times" pitchFamily="2" charset="0"/>
              </a:rPr>
              <a:t> </a:t>
            </a:r>
          </a:p>
          <a:p>
            <a:pPr lvl="1">
              <a:lnSpc>
                <a:spcPct val="160000"/>
              </a:lnSpc>
              <a:buFont typeface="Wingdings" pitchFamily="2" charset="2"/>
              <a:buNone/>
            </a:pPr>
            <a:r>
              <a:rPr lang="en-US" i="1" u="sng" dirty="0" err="1">
                <a:latin typeface="Times New Roman" pitchFamily="18" charset="0"/>
              </a:rPr>
              <a:t>Ví</a:t>
            </a:r>
            <a:r>
              <a:rPr lang="en-US" i="1" u="sng" dirty="0">
                <a:latin typeface="VNI-Times" pitchFamily="2" charset="0"/>
              </a:rPr>
              <a:t> </a:t>
            </a:r>
            <a:r>
              <a:rPr lang="en-US" i="1" u="sng" dirty="0" err="1">
                <a:latin typeface="Times New Roman" pitchFamily="18" charset="0"/>
              </a:rPr>
              <a:t>dụ</a:t>
            </a:r>
            <a:r>
              <a:rPr lang="en-US" i="1" u="sng" dirty="0">
                <a:latin typeface="VNI-Times" pitchFamily="2" charset="0"/>
              </a:rPr>
              <a:t>:</a:t>
            </a:r>
            <a:endParaRPr lang="en-US" dirty="0">
              <a:latin typeface="VNI-Times" pitchFamily="2" charset="0"/>
            </a:endParaRPr>
          </a:p>
          <a:p>
            <a:pPr>
              <a:buFont typeface="Wingdings" pitchFamily="2" charset="2"/>
              <a:buNone/>
            </a:pPr>
            <a:r>
              <a:rPr lang="en-US" sz="2000" dirty="0">
                <a:latin typeface="VNI-Times" pitchFamily="2" charset="0"/>
              </a:rPr>
              <a:t>	</a:t>
            </a:r>
            <a:r>
              <a:rPr lang="en-US" sz="2400" dirty="0">
                <a:solidFill>
                  <a:srgbClr val="2222B2"/>
                </a:solidFill>
                <a:latin typeface="VNI-Times" pitchFamily="2" charset="0"/>
              </a:rPr>
              <a:t>	</a:t>
            </a:r>
            <a:r>
              <a:rPr lang="en-US" sz="2400">
                <a:solidFill>
                  <a:srgbClr val="2222B2"/>
                </a:solidFill>
                <a:latin typeface="VNI-Times" pitchFamily="2" charset="0"/>
              </a:rPr>
              <a:t>{  </a:t>
            </a:r>
            <a:endParaRPr lang="en-US" sz="2400" smtClean="0">
              <a:solidFill>
                <a:srgbClr val="2222B2"/>
              </a:solidFill>
              <a:latin typeface="VNI-Times" pitchFamily="2" charset="0"/>
            </a:endParaRPr>
          </a:p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2222B2"/>
                </a:solidFill>
                <a:latin typeface="VNI-Times" pitchFamily="2" charset="0"/>
              </a:rPr>
              <a:t>	</a:t>
            </a:r>
            <a:r>
              <a:rPr lang="en-US" sz="2400" smtClean="0">
                <a:solidFill>
                  <a:srgbClr val="2222B2"/>
                </a:solidFill>
                <a:latin typeface="VNI-Times" pitchFamily="2" charset="0"/>
              </a:rPr>
              <a:t>	    </a:t>
            </a:r>
            <a:r>
              <a:rPr lang="en-US" sz="2400" smtClean="0">
                <a:solidFill>
                  <a:srgbClr val="2222B2"/>
                </a:solidFill>
                <a:latin typeface="Times New Roman" pitchFamily="18" charset="0"/>
              </a:rPr>
              <a:t>float</a:t>
            </a:r>
            <a:r>
              <a:rPr lang="en-US" sz="2400" smtClean="0">
                <a:solidFill>
                  <a:srgbClr val="2222B2"/>
                </a:solidFill>
                <a:latin typeface="VNI-Times" pitchFamily="2" charset="0"/>
              </a:rPr>
              <a:t> </a:t>
            </a:r>
            <a:r>
              <a:rPr lang="en-US" sz="2400" dirty="0" err="1">
                <a:solidFill>
                  <a:srgbClr val="2222B2"/>
                </a:solidFill>
                <a:latin typeface="Times New Roman" pitchFamily="18" charset="0"/>
              </a:rPr>
              <a:t>cv</a:t>
            </a:r>
            <a:r>
              <a:rPr lang="en-US" sz="2400" dirty="0" err="1">
                <a:solidFill>
                  <a:srgbClr val="2222B2"/>
                </a:solidFill>
                <a:latin typeface="VNI-Times" pitchFamily="2" charset="0"/>
              </a:rPr>
              <a:t>,</a:t>
            </a:r>
            <a:r>
              <a:rPr lang="en-US" sz="2400" dirty="0" err="1">
                <a:solidFill>
                  <a:srgbClr val="2222B2"/>
                </a:solidFill>
                <a:latin typeface="Times New Roman" pitchFamily="18" charset="0"/>
              </a:rPr>
              <a:t>dt</a:t>
            </a:r>
            <a:r>
              <a:rPr lang="en-US" sz="2400" dirty="0">
                <a:solidFill>
                  <a:srgbClr val="2222B2"/>
                </a:solidFill>
                <a:latin typeface="VNI-Times" pitchFamily="2" charset="0"/>
              </a:rPr>
              <a:t>; </a:t>
            </a:r>
          </a:p>
          <a:p>
            <a:pPr>
              <a:buFont typeface="Wingdings" pitchFamily="2" charset="2"/>
              <a:buNone/>
            </a:pPr>
            <a:r>
              <a:rPr lang="en-US" sz="2400" dirty="0">
                <a:solidFill>
                  <a:srgbClr val="2222B2"/>
                </a:solidFill>
                <a:latin typeface="VNI-Times" pitchFamily="2" charset="0"/>
              </a:rPr>
              <a:t>		    </a:t>
            </a:r>
            <a:r>
              <a:rPr lang="en-US" sz="2400" dirty="0" err="1">
                <a:solidFill>
                  <a:srgbClr val="2222B2"/>
                </a:solidFill>
                <a:latin typeface="Times New Roman" pitchFamily="18" charset="0"/>
              </a:rPr>
              <a:t>cv</a:t>
            </a:r>
            <a:r>
              <a:rPr lang="en-US" sz="2400" dirty="0">
                <a:solidFill>
                  <a:srgbClr val="2222B2"/>
                </a:solidFill>
                <a:latin typeface="VNI-Times" pitchFamily="2" charset="0"/>
              </a:rPr>
              <a:t>=2*</a:t>
            </a:r>
            <a:r>
              <a:rPr lang="en-US" sz="2400" dirty="0">
                <a:solidFill>
                  <a:srgbClr val="2222B2"/>
                </a:solidFill>
                <a:latin typeface="Times New Roman" pitchFamily="18" charset="0"/>
              </a:rPr>
              <a:t>r</a:t>
            </a:r>
            <a:r>
              <a:rPr lang="en-US" sz="2400" dirty="0">
                <a:solidFill>
                  <a:srgbClr val="2222B2"/>
                </a:solidFill>
                <a:latin typeface="VNI-Times" pitchFamily="2" charset="0"/>
              </a:rPr>
              <a:t>*</a:t>
            </a:r>
            <a:r>
              <a:rPr lang="en-US" sz="2400" dirty="0">
                <a:solidFill>
                  <a:srgbClr val="2222B2"/>
                </a:solidFill>
                <a:latin typeface="Times New Roman" pitchFamily="18" charset="0"/>
              </a:rPr>
              <a:t>M</a:t>
            </a:r>
            <a:r>
              <a:rPr lang="en-US" sz="2400" dirty="0">
                <a:solidFill>
                  <a:srgbClr val="2222B2"/>
                </a:solidFill>
                <a:latin typeface="VNI-Times" pitchFamily="2" charset="0"/>
              </a:rPr>
              <a:t>_</a:t>
            </a:r>
            <a:r>
              <a:rPr lang="en-US" sz="2400" dirty="0">
                <a:solidFill>
                  <a:srgbClr val="2222B2"/>
                </a:solidFill>
                <a:latin typeface="Times New Roman" pitchFamily="18" charset="0"/>
              </a:rPr>
              <a:t>PI</a:t>
            </a:r>
            <a:r>
              <a:rPr lang="en-US" sz="2400" dirty="0">
                <a:solidFill>
                  <a:srgbClr val="2222B2"/>
                </a:solidFill>
                <a:latin typeface="VNI-Times" pitchFamily="2" charset="0"/>
              </a:rPr>
              <a:t>;       </a:t>
            </a:r>
            <a:endParaRPr lang="en-US" sz="2400" i="1" dirty="0">
              <a:solidFill>
                <a:srgbClr val="2222B2"/>
              </a:solidFill>
              <a:latin typeface="VNI-Times" pitchFamily="2" charset="0"/>
            </a:endParaRPr>
          </a:p>
          <a:p>
            <a:pPr>
              <a:buFont typeface="Wingdings" pitchFamily="2" charset="2"/>
              <a:buNone/>
            </a:pPr>
            <a:r>
              <a:rPr lang="en-US" sz="2400" dirty="0">
                <a:solidFill>
                  <a:srgbClr val="2222B2"/>
                </a:solidFill>
                <a:latin typeface="VNI-Times" pitchFamily="2" charset="0"/>
              </a:rPr>
              <a:t>		    </a:t>
            </a:r>
            <a:r>
              <a:rPr lang="en-US" sz="2400" dirty="0" err="1">
                <a:solidFill>
                  <a:srgbClr val="2222B2"/>
                </a:solidFill>
                <a:latin typeface="Times New Roman" pitchFamily="18" charset="0"/>
              </a:rPr>
              <a:t>dt</a:t>
            </a:r>
            <a:r>
              <a:rPr lang="en-US" sz="2400" dirty="0">
                <a:solidFill>
                  <a:srgbClr val="2222B2"/>
                </a:solidFill>
                <a:latin typeface="VNI-Times" pitchFamily="2" charset="0"/>
              </a:rPr>
              <a:t>=</a:t>
            </a:r>
            <a:r>
              <a:rPr lang="en-US" sz="2400" dirty="0">
                <a:solidFill>
                  <a:srgbClr val="2222B2"/>
                </a:solidFill>
                <a:latin typeface="Times New Roman" pitchFamily="18" charset="0"/>
              </a:rPr>
              <a:t>M</a:t>
            </a:r>
            <a:r>
              <a:rPr lang="en-US" sz="2400" dirty="0">
                <a:solidFill>
                  <a:srgbClr val="2222B2"/>
                </a:solidFill>
                <a:latin typeface="VNI-Times" pitchFamily="2" charset="0"/>
              </a:rPr>
              <a:t>_</a:t>
            </a:r>
            <a:r>
              <a:rPr lang="en-US" sz="2400" dirty="0">
                <a:solidFill>
                  <a:srgbClr val="2222B2"/>
                </a:solidFill>
                <a:latin typeface="Times New Roman" pitchFamily="18" charset="0"/>
              </a:rPr>
              <a:t>PI</a:t>
            </a:r>
            <a:r>
              <a:rPr lang="en-US" sz="2400" dirty="0">
                <a:solidFill>
                  <a:srgbClr val="2222B2"/>
                </a:solidFill>
                <a:latin typeface="VNI-Times" pitchFamily="2" charset="0"/>
              </a:rPr>
              <a:t>*</a:t>
            </a:r>
            <a:r>
              <a:rPr lang="en-US" sz="2400" dirty="0">
                <a:solidFill>
                  <a:srgbClr val="2222B2"/>
                </a:solidFill>
                <a:latin typeface="Times New Roman" pitchFamily="18" charset="0"/>
              </a:rPr>
              <a:t>r</a:t>
            </a:r>
            <a:r>
              <a:rPr lang="en-US" sz="2400" dirty="0">
                <a:solidFill>
                  <a:srgbClr val="2222B2"/>
                </a:solidFill>
                <a:latin typeface="VNI-Times" pitchFamily="2" charset="0"/>
              </a:rPr>
              <a:t>*</a:t>
            </a:r>
            <a:r>
              <a:rPr lang="en-US" sz="2400" dirty="0">
                <a:solidFill>
                  <a:srgbClr val="2222B2"/>
                </a:solidFill>
                <a:latin typeface="Times New Roman" pitchFamily="18" charset="0"/>
              </a:rPr>
              <a:t>r</a:t>
            </a:r>
            <a:r>
              <a:rPr lang="en-US" sz="2400" dirty="0">
                <a:solidFill>
                  <a:srgbClr val="2222B2"/>
                </a:solidFill>
                <a:latin typeface="VNI-Times" pitchFamily="2" charset="0"/>
              </a:rPr>
              <a:t>;  </a:t>
            </a:r>
            <a:r>
              <a:rPr lang="en-US" sz="2400" i="1" dirty="0">
                <a:solidFill>
                  <a:srgbClr val="2222B2"/>
                </a:solidFill>
                <a:latin typeface="VNI-Times" pitchFamily="2" charset="0"/>
              </a:rPr>
              <a:t>    </a:t>
            </a:r>
          </a:p>
          <a:p>
            <a:pPr>
              <a:buFont typeface="Wingdings" pitchFamily="2" charset="2"/>
              <a:buNone/>
            </a:pPr>
            <a:r>
              <a:rPr lang="en-US" sz="2400" dirty="0">
                <a:solidFill>
                  <a:srgbClr val="2222B2"/>
                </a:solidFill>
                <a:latin typeface="VNI-Times" pitchFamily="2" charset="0"/>
              </a:rPr>
              <a:t>		    </a:t>
            </a:r>
            <a:r>
              <a:rPr lang="en-US" sz="2400" dirty="0" err="1">
                <a:solidFill>
                  <a:srgbClr val="2222B2"/>
                </a:solidFill>
                <a:latin typeface="Times New Roman" pitchFamily="18" charset="0"/>
              </a:rPr>
              <a:t>printf</a:t>
            </a:r>
            <a:r>
              <a:rPr lang="en-US" sz="2400" dirty="0">
                <a:solidFill>
                  <a:srgbClr val="2222B2"/>
                </a:solidFill>
                <a:latin typeface="VNI-Times" pitchFamily="2" charset="0"/>
              </a:rPr>
              <a:t>("\</a:t>
            </a:r>
            <a:r>
              <a:rPr lang="en-US" sz="2400" dirty="0" err="1">
                <a:solidFill>
                  <a:srgbClr val="2222B2"/>
                </a:solidFill>
                <a:latin typeface="Times New Roman" pitchFamily="18" charset="0"/>
              </a:rPr>
              <a:t>nChu</a:t>
            </a:r>
            <a:r>
              <a:rPr lang="en-US" sz="2400" dirty="0">
                <a:solidFill>
                  <a:srgbClr val="2222B2"/>
                </a:solidFill>
                <a:latin typeface="VNI-Times" pitchFamily="2" charset="0"/>
              </a:rPr>
              <a:t> </a:t>
            </a:r>
            <a:r>
              <a:rPr lang="en-US" sz="2400">
                <a:solidFill>
                  <a:srgbClr val="2222B2"/>
                </a:solidFill>
                <a:latin typeface="Times New Roman" pitchFamily="18" charset="0"/>
              </a:rPr>
              <a:t>vi</a:t>
            </a:r>
            <a:r>
              <a:rPr lang="en-US" sz="2400">
                <a:solidFill>
                  <a:srgbClr val="2222B2"/>
                </a:solidFill>
                <a:latin typeface="VNI-Times" pitchFamily="2" charset="0"/>
              </a:rPr>
              <a:t> </a:t>
            </a:r>
            <a:r>
              <a:rPr lang="en-US" sz="2400" smtClean="0">
                <a:solidFill>
                  <a:srgbClr val="2222B2"/>
                </a:solidFill>
                <a:latin typeface="VNI-Times" pitchFamily="2" charset="0"/>
              </a:rPr>
              <a:t>= </a:t>
            </a:r>
            <a:r>
              <a:rPr lang="en-US" sz="2400">
                <a:solidFill>
                  <a:srgbClr val="2222B2"/>
                </a:solidFill>
                <a:latin typeface="VNI-Times" pitchFamily="2" charset="0"/>
              </a:rPr>
              <a:t>%</a:t>
            </a:r>
            <a:r>
              <a:rPr lang="en-US" sz="2400" smtClean="0">
                <a:solidFill>
                  <a:srgbClr val="2222B2"/>
                </a:solidFill>
                <a:latin typeface="VNI-Times" pitchFamily="2" charset="0"/>
              </a:rPr>
              <a:t>10.2</a:t>
            </a:r>
            <a:r>
              <a:rPr lang="en-US" sz="2400" smtClean="0">
                <a:solidFill>
                  <a:srgbClr val="2222B2"/>
                </a:solidFill>
                <a:latin typeface="Times New Roman" pitchFamily="18" charset="0"/>
              </a:rPr>
              <a:t>f </a:t>
            </a:r>
            <a:r>
              <a:rPr lang="en-US" sz="2400" smtClean="0">
                <a:solidFill>
                  <a:srgbClr val="2222B2"/>
                </a:solidFill>
                <a:latin typeface="VNI-Times" pitchFamily="2" charset="0"/>
              </a:rPr>
              <a:t>\</a:t>
            </a:r>
            <a:r>
              <a:rPr lang="en-US" sz="2400" smtClean="0">
                <a:solidFill>
                  <a:srgbClr val="2222B2"/>
                </a:solidFill>
                <a:latin typeface="Times New Roman" pitchFamily="18" charset="0"/>
              </a:rPr>
              <a:t>nDien</a:t>
            </a:r>
            <a:r>
              <a:rPr lang="en-US" sz="2400" smtClean="0">
                <a:solidFill>
                  <a:srgbClr val="2222B2"/>
                </a:solidFill>
                <a:latin typeface="VNI-Times" pitchFamily="2" charset="0"/>
              </a:rPr>
              <a:t> </a:t>
            </a:r>
            <a:r>
              <a:rPr lang="en-US" sz="2400" dirty="0" err="1">
                <a:solidFill>
                  <a:srgbClr val="2222B2"/>
                </a:solidFill>
                <a:latin typeface="Times New Roman" pitchFamily="18" charset="0"/>
              </a:rPr>
              <a:t>tich</a:t>
            </a:r>
            <a:r>
              <a:rPr lang="en-US" sz="2400" dirty="0">
                <a:solidFill>
                  <a:srgbClr val="2222B2"/>
                </a:solidFill>
                <a:latin typeface="VNI-Times" pitchFamily="2" charset="0"/>
              </a:rPr>
              <a:t> = %10.2</a:t>
            </a:r>
            <a:r>
              <a:rPr lang="en-US" sz="2400" dirty="0">
                <a:solidFill>
                  <a:srgbClr val="2222B2"/>
                </a:solidFill>
                <a:latin typeface="Times New Roman" pitchFamily="18" charset="0"/>
              </a:rPr>
              <a:t>f</a:t>
            </a:r>
            <a:r>
              <a:rPr lang="en-US" sz="2400" dirty="0">
                <a:solidFill>
                  <a:srgbClr val="2222B2"/>
                </a:solidFill>
                <a:latin typeface="VNI-Times" pitchFamily="2" charset="0"/>
              </a:rPr>
              <a:t> </a:t>
            </a:r>
            <a:r>
              <a:rPr lang="en-US" sz="2400" dirty="0">
                <a:solidFill>
                  <a:srgbClr val="2222B2"/>
                </a:solidFill>
                <a:latin typeface="Times New Roman" pitchFamily="18" charset="0"/>
              </a:rPr>
              <a:t>”</a:t>
            </a:r>
            <a:r>
              <a:rPr lang="en-US" sz="2400" dirty="0">
                <a:solidFill>
                  <a:srgbClr val="2222B2"/>
                </a:solidFill>
                <a:latin typeface="VNI-Times" pitchFamily="2" charset="0"/>
              </a:rPr>
              <a:t> ,</a:t>
            </a:r>
            <a:r>
              <a:rPr lang="en-US" sz="2400" dirty="0" err="1">
                <a:solidFill>
                  <a:srgbClr val="2222B2"/>
                </a:solidFill>
                <a:latin typeface="Times New Roman" pitchFamily="18" charset="0"/>
              </a:rPr>
              <a:t>cv</a:t>
            </a:r>
            <a:r>
              <a:rPr lang="en-US" sz="2400" dirty="0" err="1">
                <a:solidFill>
                  <a:srgbClr val="2222B2"/>
                </a:solidFill>
                <a:latin typeface="VNI-Times" pitchFamily="2" charset="0"/>
              </a:rPr>
              <a:t>,</a:t>
            </a:r>
            <a:r>
              <a:rPr lang="en-US" sz="2400" dirty="0" err="1">
                <a:solidFill>
                  <a:srgbClr val="2222B2"/>
                </a:solidFill>
                <a:latin typeface="Times New Roman" pitchFamily="18" charset="0"/>
              </a:rPr>
              <a:t>dt</a:t>
            </a:r>
            <a:r>
              <a:rPr lang="en-US" sz="2400" dirty="0">
                <a:solidFill>
                  <a:srgbClr val="2222B2"/>
                </a:solidFill>
                <a:latin typeface="VNI-Times" pitchFamily="2" charset="0"/>
              </a:rPr>
              <a:t>);</a:t>
            </a:r>
          </a:p>
          <a:p>
            <a:pPr>
              <a:buFont typeface="Wingdings" pitchFamily="2" charset="2"/>
              <a:buNone/>
            </a:pPr>
            <a:r>
              <a:rPr lang="en-US" sz="2400" dirty="0">
                <a:solidFill>
                  <a:srgbClr val="2222B2"/>
                </a:solidFill>
                <a:latin typeface="VNI-Times" pitchFamily="2" charset="0"/>
              </a:rPr>
              <a:t>		   </a:t>
            </a:r>
            <a:r>
              <a:rPr lang="en-US" sz="2400" dirty="0" err="1">
                <a:solidFill>
                  <a:srgbClr val="2222B2"/>
                </a:solidFill>
                <a:latin typeface="Times New Roman" pitchFamily="18" charset="0"/>
              </a:rPr>
              <a:t>getch</a:t>
            </a:r>
            <a:r>
              <a:rPr lang="en-US" sz="2400" dirty="0">
                <a:solidFill>
                  <a:srgbClr val="2222B2"/>
                </a:solidFill>
                <a:latin typeface="VNI-Times" pitchFamily="2" charset="0"/>
              </a:rPr>
              <a:t>();	</a:t>
            </a:r>
            <a:r>
              <a:rPr lang="en-US" sz="2400" i="1" dirty="0">
                <a:solidFill>
                  <a:srgbClr val="2222B2"/>
                </a:solidFill>
                <a:latin typeface="VNI-Times" pitchFamily="2" charset="0"/>
              </a:rPr>
              <a:t>// </a:t>
            </a:r>
            <a:r>
              <a:rPr lang="en-US" sz="2400" i="1" dirty="0" err="1">
                <a:solidFill>
                  <a:srgbClr val="2222B2"/>
                </a:solidFill>
                <a:latin typeface="Times New Roman" pitchFamily="18" charset="0"/>
              </a:rPr>
              <a:t>lệnh</a:t>
            </a:r>
            <a:r>
              <a:rPr lang="en-US" sz="2400" i="1" dirty="0">
                <a:solidFill>
                  <a:srgbClr val="2222B2"/>
                </a:solidFill>
                <a:latin typeface="VNI-Times" pitchFamily="2" charset="0"/>
              </a:rPr>
              <a:t> </a:t>
            </a:r>
            <a:r>
              <a:rPr lang="en-US" sz="2400" i="1" dirty="0" err="1">
                <a:solidFill>
                  <a:srgbClr val="2222B2"/>
                </a:solidFill>
                <a:latin typeface="Times New Roman" pitchFamily="18" charset="0"/>
              </a:rPr>
              <a:t>chờ</a:t>
            </a:r>
            <a:r>
              <a:rPr lang="en-US" sz="2400" i="1" dirty="0">
                <a:solidFill>
                  <a:srgbClr val="2222B2"/>
                </a:solidFill>
                <a:latin typeface="VNI-Times" pitchFamily="2" charset="0"/>
              </a:rPr>
              <a:t> </a:t>
            </a:r>
            <a:r>
              <a:rPr lang="en-US" sz="2400" i="1" dirty="0" err="1">
                <a:solidFill>
                  <a:srgbClr val="2222B2"/>
                </a:solidFill>
                <a:latin typeface="Times New Roman" pitchFamily="18" charset="0"/>
              </a:rPr>
              <a:t>nhấn</a:t>
            </a:r>
            <a:r>
              <a:rPr lang="en-US" sz="2400" i="1" dirty="0">
                <a:solidFill>
                  <a:srgbClr val="2222B2"/>
                </a:solidFill>
                <a:latin typeface="VNI-Times" pitchFamily="2" charset="0"/>
              </a:rPr>
              <a:t> </a:t>
            </a:r>
            <a:r>
              <a:rPr lang="en-US" sz="2400" i="1" dirty="0" err="1">
                <a:solidFill>
                  <a:srgbClr val="2222B2"/>
                </a:solidFill>
                <a:latin typeface="Times New Roman" pitchFamily="18" charset="0"/>
              </a:rPr>
              <a:t>một</a:t>
            </a:r>
            <a:r>
              <a:rPr lang="en-US" sz="2400" i="1" dirty="0">
                <a:solidFill>
                  <a:srgbClr val="2222B2"/>
                </a:solidFill>
                <a:latin typeface="VNI-Times" pitchFamily="2" charset="0"/>
              </a:rPr>
              <a:t> </a:t>
            </a:r>
            <a:r>
              <a:rPr lang="en-US" sz="2400" i="1" dirty="0" err="1">
                <a:solidFill>
                  <a:srgbClr val="2222B2"/>
                </a:solidFill>
                <a:latin typeface="Times New Roman" pitchFamily="18" charset="0"/>
              </a:rPr>
              <a:t>phím</a:t>
            </a:r>
            <a:r>
              <a:rPr lang="en-US" sz="2400" i="1" dirty="0">
                <a:solidFill>
                  <a:srgbClr val="2222B2"/>
                </a:solidFill>
                <a:latin typeface="VNI-Times" pitchFamily="2" charset="0"/>
              </a:rPr>
              <a:t> </a:t>
            </a:r>
            <a:r>
              <a:rPr lang="en-US" sz="2400" i="1" dirty="0" err="1">
                <a:solidFill>
                  <a:srgbClr val="2222B2"/>
                </a:solidFill>
                <a:latin typeface="Times New Roman" pitchFamily="18" charset="0"/>
              </a:rPr>
              <a:t>bất</a:t>
            </a:r>
            <a:r>
              <a:rPr lang="en-US" sz="2400" i="1" dirty="0">
                <a:solidFill>
                  <a:srgbClr val="2222B2"/>
                </a:solidFill>
                <a:latin typeface="VNI-Times" pitchFamily="2" charset="0"/>
              </a:rPr>
              <a:t> </a:t>
            </a:r>
            <a:r>
              <a:rPr lang="en-US" sz="2400" i="1" dirty="0" err="1">
                <a:solidFill>
                  <a:srgbClr val="2222B2"/>
                </a:solidFill>
                <a:latin typeface="Times New Roman" pitchFamily="18" charset="0"/>
              </a:rPr>
              <a:t>kỳ</a:t>
            </a:r>
            <a:endParaRPr lang="en-US" sz="2400" i="1" dirty="0">
              <a:solidFill>
                <a:srgbClr val="2222B2"/>
              </a:solidFill>
              <a:latin typeface="Times New Roman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en-US" sz="2400" dirty="0">
                <a:solidFill>
                  <a:srgbClr val="2222B2"/>
                </a:solidFill>
                <a:latin typeface="VNI-Times" pitchFamily="2" charset="0"/>
              </a:rPr>
              <a:t>		}	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mtClean="0"/>
              <a:t>Câu </a:t>
            </a:r>
            <a:r>
              <a:rPr lang="en-US" dirty="0" err="1" smtClean="0"/>
              <a:t>lệnh</a:t>
            </a:r>
            <a:r>
              <a:rPr lang="en-US" dirty="0" smtClean="0"/>
              <a:t>, </a:t>
            </a:r>
            <a:r>
              <a:rPr lang="en-US" dirty="0" err="1" smtClean="0"/>
              <a:t>khối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153400" cy="3789363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3200" smtClean="0">
                <a:latin typeface="Times New Roman" pitchFamily="18" charset="0"/>
              </a:rPr>
              <a:t>Cú</a:t>
            </a:r>
            <a:r>
              <a:rPr lang="en-US" sz="3200" smtClean="0">
                <a:latin typeface="VNI-Times" pitchFamily="2" charset="0"/>
              </a:rPr>
              <a:t> </a:t>
            </a:r>
            <a:r>
              <a:rPr lang="en-US" sz="3200" dirty="0" err="1">
                <a:latin typeface="Times New Roman" pitchFamily="18" charset="0"/>
              </a:rPr>
              <a:t>pháp</a:t>
            </a:r>
            <a:r>
              <a:rPr lang="en-US" sz="3200" dirty="0">
                <a:latin typeface="VNI-Times" pitchFamily="2" charset="0"/>
              </a:rPr>
              <a:t> </a:t>
            </a:r>
            <a:r>
              <a:rPr lang="en-US" sz="3200" dirty="0" err="1">
                <a:latin typeface="Times New Roman" pitchFamily="18" charset="0"/>
              </a:rPr>
              <a:t>khai</a:t>
            </a:r>
            <a:r>
              <a:rPr lang="en-US" sz="3200" dirty="0">
                <a:latin typeface="VNI-Times" pitchFamily="2" charset="0"/>
              </a:rPr>
              <a:t> </a:t>
            </a:r>
            <a:r>
              <a:rPr lang="en-US" sz="3200" dirty="0" err="1">
                <a:latin typeface="Times New Roman" pitchFamily="18" charset="0"/>
              </a:rPr>
              <a:t>báo</a:t>
            </a:r>
            <a:r>
              <a:rPr lang="en-US" sz="3200" dirty="0">
                <a:latin typeface="VNI-Times" pitchFamily="2" charset="0"/>
              </a:rPr>
              <a:t>:</a:t>
            </a:r>
            <a:endParaRPr lang="en-US" sz="3200" b="1" i="1" dirty="0">
              <a:latin typeface=".VnTime" pitchFamily="34" charset="0"/>
            </a:endParaRPr>
          </a:p>
          <a:p>
            <a:pPr lvl="2">
              <a:lnSpc>
                <a:spcPct val="160000"/>
              </a:lnSpc>
              <a:buFontTx/>
              <a:buNone/>
            </a:pPr>
            <a:r>
              <a:rPr lang="en-US" b="1" smtClean="0"/>
              <a:t>if</a:t>
            </a:r>
            <a:r>
              <a:rPr lang="en-US" smtClean="0"/>
              <a:t> (&lt;</a:t>
            </a:r>
            <a:r>
              <a:rPr lang="en-US" dirty="0" err="1"/>
              <a:t>đ</a:t>
            </a:r>
            <a:r>
              <a:rPr lang="en-US" smtClean="0"/>
              <a:t>iều </a:t>
            </a:r>
            <a:r>
              <a:rPr lang="en-US" err="1"/>
              <a:t>kiện</a:t>
            </a:r>
            <a:r>
              <a:rPr lang="en-US" smtClean="0"/>
              <a:t>&gt;) //Nếu &lt;điều kiện&gt; đúng</a:t>
            </a:r>
            <a:endParaRPr lang="en-US" dirty="0"/>
          </a:p>
          <a:p>
            <a:pPr lvl="2">
              <a:buFontTx/>
              <a:buNone/>
            </a:pPr>
            <a:r>
              <a:rPr lang="en-US" dirty="0"/>
              <a:t>{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sz="2200" smtClean="0"/>
              <a:t>		//</a:t>
            </a:r>
            <a:r>
              <a:rPr lang="en-US" sz="2200" err="1" smtClean="0"/>
              <a:t>Khối</a:t>
            </a:r>
            <a:r>
              <a:rPr lang="en-US" sz="2200" smtClean="0"/>
              <a:t> lệnh</a:t>
            </a:r>
            <a:endParaRPr lang="en-US" sz="2200" dirty="0" smtClean="0"/>
          </a:p>
          <a:p>
            <a:pPr lvl="2">
              <a:buFontTx/>
              <a:buNone/>
            </a:pPr>
            <a:r>
              <a:rPr lang="en-US" dirty="0" smtClean="0"/>
              <a:t>}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latin typeface="Times New Roman" pitchFamily="18" charset="0"/>
              </a:rPr>
              <a:t>Câu l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ệnh if thiếu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833438" y="2925763"/>
            <a:ext cx="1371600" cy="4270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&lt;Lệnh 1&gt;</a:t>
            </a:r>
          </a:p>
        </p:txBody>
      </p:sp>
      <p:sp>
        <p:nvSpPr>
          <p:cNvPr id="17411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Câu lệnh if (thiếu)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rot="16200000" flipH="1">
            <a:off x="1256506" y="1715294"/>
            <a:ext cx="534988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/>
          <p:cNvCxnSpPr/>
          <p:nvPr/>
        </p:nvCxnSpPr>
        <p:spPr>
          <a:xfrm rot="5400000">
            <a:off x="1284287" y="3576638"/>
            <a:ext cx="449263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rot="10800000" flipV="1">
            <a:off x="1524000" y="3505200"/>
            <a:ext cx="2009775" cy="635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rot="16200000" flipH="1">
            <a:off x="2943226" y="2905125"/>
            <a:ext cx="1212850" cy="317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43000" y="2601913"/>
            <a:ext cx="376238" cy="369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>
                <a:solidFill>
                  <a:schemeClr val="dk1"/>
                </a:solidFill>
                <a:latin typeface="+mn-lt"/>
                <a:cs typeface="+mn-cs"/>
              </a:rPr>
              <a:t>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8400" y="1905000"/>
            <a:ext cx="347663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>
                <a:solidFill>
                  <a:schemeClr val="dk1"/>
                </a:solidFill>
                <a:latin typeface="+mn-lt"/>
                <a:cs typeface="+mn-cs"/>
              </a:rPr>
              <a:t>S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655638" y="1981200"/>
            <a:ext cx="1736725" cy="639763"/>
            <a:chOff x="685800" y="2133600"/>
            <a:chExt cx="1737360" cy="640080"/>
          </a:xfrm>
        </p:grpSpPr>
        <p:sp>
          <p:nvSpPr>
            <p:cNvPr id="12" name="Diamond 11"/>
            <p:cNvSpPr/>
            <p:nvPr/>
          </p:nvSpPr>
          <p:spPr>
            <a:xfrm>
              <a:off x="685800" y="2133600"/>
              <a:ext cx="1737360" cy="640080"/>
            </a:xfrm>
            <a:prstGeom prst="diamond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800142" y="2252722"/>
              <a:ext cx="1524557" cy="381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>
                  <a:solidFill>
                    <a:srgbClr val="FF66FF"/>
                  </a:solidFill>
                </a:rPr>
                <a:t>&lt;BT Logic&gt;</a:t>
              </a:r>
            </a:p>
          </p:txBody>
        </p:sp>
      </p:grpSp>
      <p:sp>
        <p:nvSpPr>
          <p:cNvPr id="17" name="Content Placeholder 41"/>
          <p:cNvSpPr txBox="1">
            <a:spLocks/>
          </p:cNvSpPr>
          <p:nvPr/>
        </p:nvSpPr>
        <p:spPr bwMode="auto">
          <a:xfrm>
            <a:off x="457200" y="4114800"/>
            <a:ext cx="40386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en-US" sz="2800" b="1" kern="0">
                <a:latin typeface="+mn-lt"/>
                <a:cs typeface="+mn-cs"/>
              </a:rPr>
              <a:t>if </a:t>
            </a:r>
            <a:r>
              <a:rPr lang="en-US" sz="2800" b="1" kern="0">
                <a:solidFill>
                  <a:srgbClr val="FF0000"/>
                </a:solidFill>
                <a:latin typeface="+mn-lt"/>
                <a:cs typeface="+mn-cs"/>
              </a:rPr>
              <a:t>(</a:t>
            </a:r>
            <a:r>
              <a:rPr lang="en-US" sz="2800" kern="0">
                <a:solidFill>
                  <a:srgbClr val="FF66FF"/>
                </a:solidFill>
                <a:cs typeface="+mn-cs"/>
              </a:rPr>
              <a:t>&lt;BT Logic&gt;</a:t>
            </a:r>
            <a:r>
              <a:rPr lang="en-US" sz="2800" b="1" kern="0">
                <a:solidFill>
                  <a:srgbClr val="FF0000"/>
                </a:solidFill>
                <a:cs typeface="+mn-cs"/>
              </a:rPr>
              <a:t>)</a:t>
            </a:r>
            <a:endParaRPr lang="en-US" sz="2800" b="1" kern="0">
              <a:solidFill>
                <a:srgbClr val="FF0000"/>
              </a:solidFill>
              <a:latin typeface="+mn-lt"/>
              <a:cs typeface="+mn-cs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sz="2800" b="1" kern="0">
                <a:latin typeface="+mn-lt"/>
                <a:cs typeface="+mn-cs"/>
              </a:rPr>
              <a:t>		</a:t>
            </a:r>
            <a:r>
              <a:rPr lang="en-US" sz="2800" kern="0">
                <a:solidFill>
                  <a:schemeClr val="tx1">
                    <a:lumMod val="60000"/>
                    <a:lumOff val="40000"/>
                  </a:schemeClr>
                </a:solidFill>
                <a:cs typeface="+mn-cs"/>
              </a:rPr>
              <a:t>&lt;Lệnh 1&gt;</a:t>
            </a:r>
            <a:r>
              <a:rPr lang="en-US" sz="2800" b="1" kern="0">
                <a:cs typeface="+mn-cs"/>
              </a:rPr>
              <a:t>;</a:t>
            </a:r>
            <a:endParaRPr lang="en-US" sz="2800" kern="0">
              <a:solidFill>
                <a:schemeClr val="tx1">
                  <a:lumMod val="60000"/>
                  <a:lumOff val="40000"/>
                </a:schemeClr>
              </a:solidFill>
              <a:cs typeface="+mn-cs"/>
            </a:endParaRPr>
          </a:p>
        </p:txBody>
      </p:sp>
      <p:sp>
        <p:nvSpPr>
          <p:cNvPr id="26" name="Freeform 9"/>
          <p:cNvSpPr>
            <a:spLocks/>
          </p:cNvSpPr>
          <p:nvPr/>
        </p:nvSpPr>
        <p:spPr bwMode="gray">
          <a:xfrm rot="10800000">
            <a:off x="2819400" y="3429000"/>
            <a:ext cx="1828800" cy="914400"/>
          </a:xfrm>
          <a:custGeom>
            <a:avLst/>
            <a:gdLst/>
            <a:ahLst/>
            <a:cxnLst>
              <a:cxn ang="0">
                <a:pos x="580" y="0"/>
              </a:cxn>
              <a:cxn ang="0">
                <a:pos x="578" y="90"/>
              </a:cxn>
              <a:cxn ang="0">
                <a:pos x="568" y="174"/>
              </a:cxn>
              <a:cxn ang="0">
                <a:pos x="552" y="252"/>
              </a:cxn>
              <a:cxn ang="0">
                <a:pos x="526" y="324"/>
              </a:cxn>
              <a:cxn ang="0">
                <a:pos x="494" y="390"/>
              </a:cxn>
              <a:cxn ang="0">
                <a:pos x="452" y="450"/>
              </a:cxn>
              <a:cxn ang="0">
                <a:pos x="402" y="508"/>
              </a:cxn>
              <a:cxn ang="0">
                <a:pos x="342" y="560"/>
              </a:cxn>
              <a:cxn ang="0">
                <a:pos x="270" y="610"/>
              </a:cxn>
              <a:cxn ang="0">
                <a:pos x="188" y="656"/>
              </a:cxn>
              <a:cxn ang="0">
                <a:pos x="188" y="798"/>
              </a:cxn>
              <a:cxn ang="0">
                <a:pos x="0" y="514"/>
              </a:cxn>
              <a:cxn ang="0">
                <a:pos x="188" y="230"/>
              </a:cxn>
              <a:cxn ang="0">
                <a:pos x="188" y="372"/>
              </a:cxn>
              <a:cxn ang="0">
                <a:pos x="224" y="368"/>
              </a:cxn>
              <a:cxn ang="0">
                <a:pos x="264" y="356"/>
              </a:cxn>
              <a:cxn ang="0">
                <a:pos x="306" y="336"/>
              </a:cxn>
              <a:cxn ang="0">
                <a:pos x="348" y="310"/>
              </a:cxn>
              <a:cxn ang="0">
                <a:pos x="392" y="280"/>
              </a:cxn>
              <a:cxn ang="0">
                <a:pos x="432" y="246"/>
              </a:cxn>
              <a:cxn ang="0">
                <a:pos x="472" y="208"/>
              </a:cxn>
              <a:cxn ang="0">
                <a:pos x="506" y="166"/>
              </a:cxn>
              <a:cxn ang="0">
                <a:pos x="536" y="124"/>
              </a:cxn>
              <a:cxn ang="0">
                <a:pos x="558" y="82"/>
              </a:cxn>
              <a:cxn ang="0">
                <a:pos x="574" y="40"/>
              </a:cxn>
              <a:cxn ang="0">
                <a:pos x="578" y="0"/>
              </a:cxn>
              <a:cxn ang="0">
                <a:pos x="580" y="0"/>
              </a:cxn>
            </a:cxnLst>
            <a:rect l="0" t="0" r="r" b="b"/>
            <a:pathLst>
              <a:path w="580" h="798">
                <a:moveTo>
                  <a:pt x="580" y="0"/>
                </a:moveTo>
                <a:lnTo>
                  <a:pt x="578" y="90"/>
                </a:lnTo>
                <a:lnTo>
                  <a:pt x="568" y="174"/>
                </a:lnTo>
                <a:lnTo>
                  <a:pt x="552" y="252"/>
                </a:lnTo>
                <a:lnTo>
                  <a:pt x="526" y="324"/>
                </a:lnTo>
                <a:lnTo>
                  <a:pt x="494" y="390"/>
                </a:lnTo>
                <a:lnTo>
                  <a:pt x="452" y="450"/>
                </a:lnTo>
                <a:lnTo>
                  <a:pt x="402" y="508"/>
                </a:lnTo>
                <a:lnTo>
                  <a:pt x="342" y="560"/>
                </a:lnTo>
                <a:lnTo>
                  <a:pt x="270" y="610"/>
                </a:lnTo>
                <a:lnTo>
                  <a:pt x="188" y="656"/>
                </a:lnTo>
                <a:lnTo>
                  <a:pt x="188" y="798"/>
                </a:lnTo>
                <a:lnTo>
                  <a:pt x="0" y="514"/>
                </a:lnTo>
                <a:lnTo>
                  <a:pt x="188" y="230"/>
                </a:lnTo>
                <a:lnTo>
                  <a:pt x="188" y="372"/>
                </a:lnTo>
                <a:lnTo>
                  <a:pt x="224" y="368"/>
                </a:lnTo>
                <a:lnTo>
                  <a:pt x="264" y="356"/>
                </a:lnTo>
                <a:lnTo>
                  <a:pt x="306" y="336"/>
                </a:lnTo>
                <a:lnTo>
                  <a:pt x="348" y="310"/>
                </a:lnTo>
                <a:lnTo>
                  <a:pt x="392" y="280"/>
                </a:lnTo>
                <a:lnTo>
                  <a:pt x="432" y="246"/>
                </a:lnTo>
                <a:lnTo>
                  <a:pt x="472" y="208"/>
                </a:lnTo>
                <a:lnTo>
                  <a:pt x="506" y="166"/>
                </a:lnTo>
                <a:lnTo>
                  <a:pt x="536" y="124"/>
                </a:lnTo>
                <a:lnTo>
                  <a:pt x="558" y="82"/>
                </a:lnTo>
                <a:lnTo>
                  <a:pt x="574" y="40"/>
                </a:lnTo>
                <a:lnTo>
                  <a:pt x="578" y="0"/>
                </a:lnTo>
                <a:lnTo>
                  <a:pt x="58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en-US"/>
          </a:p>
        </p:txBody>
      </p:sp>
      <p:cxnSp>
        <p:nvCxnSpPr>
          <p:cNvPr id="22" name="Straight Arrow Connector 21"/>
          <p:cNvCxnSpPr>
            <a:endCxn id="19" idx="0"/>
          </p:cNvCxnSpPr>
          <p:nvPr/>
        </p:nvCxnSpPr>
        <p:spPr>
          <a:xfrm rot="16200000" flipH="1">
            <a:off x="1366837" y="2773363"/>
            <a:ext cx="303213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Freeform 9"/>
          <p:cNvSpPr>
            <a:spLocks/>
          </p:cNvSpPr>
          <p:nvPr/>
        </p:nvSpPr>
        <p:spPr bwMode="gray">
          <a:xfrm rot="10800000" flipV="1">
            <a:off x="2800350" y="4800600"/>
            <a:ext cx="1828800" cy="914400"/>
          </a:xfrm>
          <a:custGeom>
            <a:avLst/>
            <a:gdLst/>
            <a:ahLst/>
            <a:cxnLst>
              <a:cxn ang="0">
                <a:pos x="580" y="0"/>
              </a:cxn>
              <a:cxn ang="0">
                <a:pos x="578" y="90"/>
              </a:cxn>
              <a:cxn ang="0">
                <a:pos x="568" y="174"/>
              </a:cxn>
              <a:cxn ang="0">
                <a:pos x="552" y="252"/>
              </a:cxn>
              <a:cxn ang="0">
                <a:pos x="526" y="324"/>
              </a:cxn>
              <a:cxn ang="0">
                <a:pos x="494" y="390"/>
              </a:cxn>
              <a:cxn ang="0">
                <a:pos x="452" y="450"/>
              </a:cxn>
              <a:cxn ang="0">
                <a:pos x="402" y="508"/>
              </a:cxn>
              <a:cxn ang="0">
                <a:pos x="342" y="560"/>
              </a:cxn>
              <a:cxn ang="0">
                <a:pos x="270" y="610"/>
              </a:cxn>
              <a:cxn ang="0">
                <a:pos x="188" y="656"/>
              </a:cxn>
              <a:cxn ang="0">
                <a:pos x="188" y="798"/>
              </a:cxn>
              <a:cxn ang="0">
                <a:pos x="0" y="514"/>
              </a:cxn>
              <a:cxn ang="0">
                <a:pos x="188" y="230"/>
              </a:cxn>
              <a:cxn ang="0">
                <a:pos x="188" y="372"/>
              </a:cxn>
              <a:cxn ang="0">
                <a:pos x="224" y="368"/>
              </a:cxn>
              <a:cxn ang="0">
                <a:pos x="264" y="356"/>
              </a:cxn>
              <a:cxn ang="0">
                <a:pos x="306" y="336"/>
              </a:cxn>
              <a:cxn ang="0">
                <a:pos x="348" y="310"/>
              </a:cxn>
              <a:cxn ang="0">
                <a:pos x="392" y="280"/>
              </a:cxn>
              <a:cxn ang="0">
                <a:pos x="432" y="246"/>
              </a:cxn>
              <a:cxn ang="0">
                <a:pos x="472" y="208"/>
              </a:cxn>
              <a:cxn ang="0">
                <a:pos x="506" y="166"/>
              </a:cxn>
              <a:cxn ang="0">
                <a:pos x="536" y="124"/>
              </a:cxn>
              <a:cxn ang="0">
                <a:pos x="558" y="82"/>
              </a:cxn>
              <a:cxn ang="0">
                <a:pos x="574" y="40"/>
              </a:cxn>
              <a:cxn ang="0">
                <a:pos x="578" y="0"/>
              </a:cxn>
              <a:cxn ang="0">
                <a:pos x="580" y="0"/>
              </a:cxn>
            </a:cxnLst>
            <a:rect l="0" t="0" r="r" b="b"/>
            <a:pathLst>
              <a:path w="580" h="798">
                <a:moveTo>
                  <a:pt x="580" y="0"/>
                </a:moveTo>
                <a:lnTo>
                  <a:pt x="578" y="90"/>
                </a:lnTo>
                <a:lnTo>
                  <a:pt x="568" y="174"/>
                </a:lnTo>
                <a:lnTo>
                  <a:pt x="552" y="252"/>
                </a:lnTo>
                <a:lnTo>
                  <a:pt x="526" y="324"/>
                </a:lnTo>
                <a:lnTo>
                  <a:pt x="494" y="390"/>
                </a:lnTo>
                <a:lnTo>
                  <a:pt x="452" y="450"/>
                </a:lnTo>
                <a:lnTo>
                  <a:pt x="402" y="508"/>
                </a:lnTo>
                <a:lnTo>
                  <a:pt x="342" y="560"/>
                </a:lnTo>
                <a:lnTo>
                  <a:pt x="270" y="610"/>
                </a:lnTo>
                <a:lnTo>
                  <a:pt x="188" y="656"/>
                </a:lnTo>
                <a:lnTo>
                  <a:pt x="188" y="798"/>
                </a:lnTo>
                <a:lnTo>
                  <a:pt x="0" y="514"/>
                </a:lnTo>
                <a:lnTo>
                  <a:pt x="188" y="230"/>
                </a:lnTo>
                <a:lnTo>
                  <a:pt x="188" y="372"/>
                </a:lnTo>
                <a:lnTo>
                  <a:pt x="224" y="368"/>
                </a:lnTo>
                <a:lnTo>
                  <a:pt x="264" y="356"/>
                </a:lnTo>
                <a:lnTo>
                  <a:pt x="306" y="336"/>
                </a:lnTo>
                <a:lnTo>
                  <a:pt x="348" y="310"/>
                </a:lnTo>
                <a:lnTo>
                  <a:pt x="392" y="280"/>
                </a:lnTo>
                <a:lnTo>
                  <a:pt x="432" y="246"/>
                </a:lnTo>
                <a:lnTo>
                  <a:pt x="472" y="208"/>
                </a:lnTo>
                <a:lnTo>
                  <a:pt x="506" y="166"/>
                </a:lnTo>
                <a:lnTo>
                  <a:pt x="536" y="124"/>
                </a:lnTo>
                <a:lnTo>
                  <a:pt x="558" y="82"/>
                </a:lnTo>
                <a:lnTo>
                  <a:pt x="574" y="40"/>
                </a:lnTo>
                <a:lnTo>
                  <a:pt x="578" y="0"/>
                </a:lnTo>
                <a:lnTo>
                  <a:pt x="58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en-US"/>
          </a:p>
        </p:txBody>
      </p:sp>
      <p:cxnSp>
        <p:nvCxnSpPr>
          <p:cNvPr id="23" name="Straight Connector 22"/>
          <p:cNvCxnSpPr/>
          <p:nvPr/>
        </p:nvCxnSpPr>
        <p:spPr>
          <a:xfrm>
            <a:off x="2405063" y="2300288"/>
            <a:ext cx="1147762" cy="476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 bwMode="auto">
          <a:xfrm>
            <a:off x="4648200" y="4572000"/>
            <a:ext cx="3657600" cy="1447800"/>
          </a:xfrm>
          <a:prstGeom prst="roundRect">
            <a:avLst/>
          </a:prstGeom>
          <a:ln>
            <a:solidFill>
              <a:schemeClr val="bg2">
                <a:lumMod val="60000"/>
                <a:lumOff val="4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r>
              <a:rPr lang="en-US" sz="2000"/>
              <a:t>Câu lệnh </a:t>
            </a:r>
            <a:r>
              <a:rPr lang="vi-VN" sz="2000"/>
              <a:t>đơ</a:t>
            </a:r>
            <a:r>
              <a:rPr lang="en-US" sz="2000"/>
              <a:t>n hoặc</a:t>
            </a:r>
          </a:p>
          <a:p>
            <a:pPr>
              <a:defRPr/>
            </a:pPr>
            <a:r>
              <a:rPr lang="en-US" sz="2000"/>
              <a:t>Câu lệnh phức (</a:t>
            </a:r>
            <a:r>
              <a:rPr lang="en-US" sz="2000" smtClean="0"/>
              <a:t>kẹp giữa </a:t>
            </a:r>
            <a:r>
              <a:rPr lang="en-US" sz="2000">
                <a:solidFill>
                  <a:srgbClr val="FF0000"/>
                </a:solidFill>
              </a:rPr>
              <a:t>{</a:t>
            </a:r>
            <a:r>
              <a:rPr lang="en-US" sz="2000"/>
              <a:t> và </a:t>
            </a:r>
            <a:r>
              <a:rPr lang="en-US" sz="2000" smtClean="0">
                <a:solidFill>
                  <a:srgbClr val="FF0000"/>
                </a:solidFill>
              </a:rPr>
              <a:t>} </a:t>
            </a:r>
            <a:r>
              <a:rPr lang="en-US" sz="2000" smtClean="0"/>
              <a:t>)</a:t>
            </a:r>
            <a:endParaRPr lang="en-US" sz="2000"/>
          </a:p>
        </p:txBody>
      </p:sp>
      <p:sp>
        <p:nvSpPr>
          <p:cNvPr id="34" name="Rounded Rectangle 33"/>
          <p:cNvSpPr/>
          <p:nvPr/>
        </p:nvSpPr>
        <p:spPr bwMode="auto">
          <a:xfrm>
            <a:off x="4648200" y="3200400"/>
            <a:ext cx="3657600" cy="1066800"/>
          </a:xfrm>
          <a:prstGeom prst="roundRect">
            <a:avLst/>
          </a:prstGeom>
          <a:ln>
            <a:solidFill>
              <a:schemeClr val="bg2">
                <a:lumMod val="60000"/>
                <a:lumOff val="4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r>
              <a:rPr lang="en-US" sz="2000" smtClean="0"/>
              <a:t>&lt;BT Logic&gt; </a:t>
            </a:r>
            <a:r>
              <a:rPr lang="en-US" sz="2000"/>
              <a:t>cho kết quả đúng (≠ 0)</a:t>
            </a:r>
          </a:p>
          <a:p>
            <a:pPr>
              <a:defRPr/>
            </a:pPr>
            <a:r>
              <a:rPr lang="en-US" sz="2000"/>
              <a:t>h</a:t>
            </a:r>
            <a:r>
              <a:rPr lang="en-US" sz="2000" smtClean="0"/>
              <a:t>oặc sai (= 0)</a:t>
            </a:r>
            <a:endParaRPr lang="en-US" sz="200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5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5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500"/>
                            </p:stCondLst>
                            <p:childTnLst>
                              <p:par>
                                <p:cTn id="7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9" grpId="0"/>
      <p:bldP spid="10" grpId="0"/>
      <p:bldP spid="26" grpId="0" animBg="1"/>
      <p:bldP spid="32" grpId="0" animBg="1"/>
      <p:bldP spid="31" grpId="0" animBg="1"/>
      <p:bldP spid="3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Câu lệnh if (thiếu)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24000"/>
            <a:ext cx="152400" cy="3429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437" name="TextBox 4"/>
          <p:cNvSpPr txBox="1">
            <a:spLocks noChangeArrowheads="1"/>
          </p:cNvSpPr>
          <p:nvPr/>
        </p:nvSpPr>
        <p:spPr bwMode="auto">
          <a:xfrm>
            <a:off x="838200" y="1524000"/>
            <a:ext cx="7010400" cy="3478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if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a == 0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printf(“a bang 0”);</a:t>
            </a:r>
          </a:p>
          <a:p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if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a == 0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printf(“a bang 0”);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	a = 2912;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		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" name="Rectangle 5"/>
          <p:cNvSpPr>
            <a:spLocks/>
          </p:cNvSpPr>
          <p:nvPr/>
        </p:nvSpPr>
        <p:spPr bwMode="auto">
          <a:xfrm>
            <a:off x="0" y="22098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>
            <a:spLocks/>
          </p:cNvSpPr>
          <p:nvPr/>
        </p:nvSpPr>
        <p:spPr bwMode="auto">
          <a:xfrm>
            <a:off x="0" y="2209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0" y="25146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0" y="3124200"/>
            <a:ext cx="9128125" cy="1524000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0" y="3124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3429000"/>
            <a:ext cx="9128125" cy="1219200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077200" cy="4419600"/>
          </a:xfrm>
        </p:spPr>
        <p:txBody>
          <a:bodyPr>
            <a:normAutofit/>
          </a:bodyPr>
          <a:lstStyle/>
          <a:p>
            <a:pPr lvl="1">
              <a:lnSpc>
                <a:spcPct val="130000"/>
              </a:lnSpc>
              <a:buFont typeface="Wingdings" pitchFamily="2" charset="2"/>
              <a:buNone/>
            </a:pPr>
            <a:r>
              <a:rPr lang="en-US" sz="3200" smtClean="0">
                <a:latin typeface="Times New Roman" pitchFamily="18" charset="0"/>
              </a:rPr>
              <a:t>Cú</a:t>
            </a:r>
            <a:r>
              <a:rPr lang="en-US" sz="3200" smtClean="0">
                <a:latin typeface="VNI-Times" pitchFamily="2" charset="0"/>
              </a:rPr>
              <a:t> </a:t>
            </a:r>
            <a:r>
              <a:rPr lang="en-US" sz="3200" dirty="0" err="1">
                <a:latin typeface="Times New Roman" pitchFamily="18" charset="0"/>
              </a:rPr>
              <a:t>pháp</a:t>
            </a:r>
            <a:r>
              <a:rPr lang="en-US" sz="3200" dirty="0">
                <a:latin typeface="VNI-Times" pitchFamily="2" charset="0"/>
              </a:rPr>
              <a:t> </a:t>
            </a:r>
            <a:r>
              <a:rPr lang="en-US" sz="3200" dirty="0" err="1">
                <a:latin typeface="Times New Roman" pitchFamily="18" charset="0"/>
              </a:rPr>
              <a:t>khai</a:t>
            </a:r>
            <a:r>
              <a:rPr lang="en-US" sz="3200" dirty="0">
                <a:latin typeface="VNI-Times" pitchFamily="2" charset="0"/>
              </a:rPr>
              <a:t> </a:t>
            </a:r>
            <a:r>
              <a:rPr lang="en-US" sz="3200" dirty="0" err="1">
                <a:latin typeface="Times New Roman" pitchFamily="18" charset="0"/>
              </a:rPr>
              <a:t>báo</a:t>
            </a:r>
            <a:r>
              <a:rPr lang="en-US" sz="3200" dirty="0">
                <a:latin typeface="VNI-Times" pitchFamily="2" charset="0"/>
              </a:rPr>
              <a:t>:</a:t>
            </a:r>
            <a:endParaRPr lang="en-US" sz="3200" b="1" i="1" dirty="0">
              <a:latin typeface=".VnTime" pitchFamily="34" charset="0"/>
            </a:endParaRP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sz="3000" b="1"/>
              <a:t>if</a:t>
            </a:r>
            <a:r>
              <a:rPr lang="en-US" sz="3000"/>
              <a:t> </a:t>
            </a:r>
            <a:r>
              <a:rPr lang="en-US" sz="3000" smtClean="0"/>
              <a:t>(&lt;</a:t>
            </a:r>
            <a:r>
              <a:rPr lang="en-US" sz="3000" dirty="0" err="1"/>
              <a:t>đ</a:t>
            </a:r>
            <a:r>
              <a:rPr lang="en-US" sz="3000" smtClean="0"/>
              <a:t>iều </a:t>
            </a:r>
            <a:r>
              <a:rPr lang="en-US" sz="3000" err="1"/>
              <a:t>kiện</a:t>
            </a:r>
            <a:r>
              <a:rPr lang="en-US" sz="3000" smtClean="0"/>
              <a:t>&gt;) //Nếu &lt;điều kiện đúng&gt;</a:t>
            </a:r>
            <a:endParaRPr lang="en-US" sz="3000" dirty="0"/>
          </a:p>
          <a:p>
            <a:pPr lvl="2">
              <a:lnSpc>
                <a:spcPct val="80000"/>
              </a:lnSpc>
              <a:buFontTx/>
              <a:buNone/>
            </a:pPr>
            <a:r>
              <a:rPr lang="en-US" sz="3000" dirty="0"/>
              <a:t>{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sz="3000" smtClean="0"/>
              <a:t>		//</a:t>
            </a:r>
            <a:r>
              <a:rPr lang="en-US" sz="3000" err="1"/>
              <a:t>Khối</a:t>
            </a:r>
            <a:r>
              <a:rPr lang="en-US" sz="3000"/>
              <a:t> </a:t>
            </a:r>
            <a:r>
              <a:rPr lang="en-US" sz="3000" smtClean="0"/>
              <a:t>lệnh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sz="3000" smtClean="0"/>
              <a:t>}</a:t>
            </a:r>
            <a:endParaRPr lang="en-US" sz="3000" dirty="0"/>
          </a:p>
          <a:p>
            <a:pPr lvl="2">
              <a:lnSpc>
                <a:spcPct val="80000"/>
              </a:lnSpc>
              <a:buFontTx/>
              <a:buNone/>
            </a:pPr>
            <a:r>
              <a:rPr lang="en-US" sz="3000" b="1"/>
              <a:t>e</a:t>
            </a:r>
            <a:r>
              <a:rPr lang="en-US" sz="3000" b="1" smtClean="0"/>
              <a:t>lse</a:t>
            </a:r>
            <a:r>
              <a:rPr lang="en-US" sz="3000" smtClean="0"/>
              <a:t> //Nếu &lt;điều kiện sai&gt;</a:t>
            </a:r>
            <a:endParaRPr lang="en-US" sz="3000" dirty="0"/>
          </a:p>
          <a:p>
            <a:pPr lvl="2">
              <a:lnSpc>
                <a:spcPct val="80000"/>
              </a:lnSpc>
              <a:buFontTx/>
              <a:buNone/>
            </a:pPr>
            <a:r>
              <a:rPr lang="en-US" sz="3000" dirty="0"/>
              <a:t>{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sz="3000" smtClean="0"/>
              <a:t>		//</a:t>
            </a:r>
            <a:r>
              <a:rPr lang="en-US" sz="3000" err="1"/>
              <a:t>Khối</a:t>
            </a:r>
            <a:r>
              <a:rPr lang="en-US" sz="3000"/>
              <a:t> </a:t>
            </a:r>
            <a:r>
              <a:rPr lang="en-US" sz="3000" smtClean="0"/>
              <a:t>lệnh</a:t>
            </a:r>
            <a:endParaRPr lang="en-US" sz="3000" dirty="0"/>
          </a:p>
          <a:p>
            <a:pPr lvl="2">
              <a:lnSpc>
                <a:spcPct val="80000"/>
              </a:lnSpc>
              <a:buFontTx/>
              <a:buNone/>
            </a:pPr>
            <a:r>
              <a:rPr lang="en-US" sz="3000" dirty="0"/>
              <a:t>}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lnSpc>
                <a:spcPct val="80000"/>
              </a:lnSpc>
            </a:pPr>
            <a:r>
              <a:rPr lang="en-US">
                <a:latin typeface="Times New Roman" pitchFamily="18" charset="0"/>
              </a:rPr>
              <a:t>Câu lệnh if đủ</a:t>
            </a:r>
            <a:r>
              <a:rPr lang="en-US">
                <a:latin typeface=".VnTime" pitchFamily="34" charset="0"/>
              </a:rPr>
              <a:t> (if-else)</a:t>
            </a:r>
            <a:endParaRPr lang="en-US" b="1" dirty="0">
              <a:latin typeface=".VnTime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833438" y="2925763"/>
            <a:ext cx="1371600" cy="4270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&lt;Lệnh 1&gt;</a:t>
            </a:r>
          </a:p>
        </p:txBody>
      </p:sp>
      <p:sp>
        <p:nvSpPr>
          <p:cNvPr id="19459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pitchFamily="18" charset="0"/>
              </a:rPr>
              <a:t>Câu lệnh if đủ</a:t>
            </a:r>
            <a:r>
              <a:rPr lang="en-US">
                <a:latin typeface=".VnTime" pitchFamily="34" charset="0"/>
              </a:rPr>
              <a:t> (if-else)</a:t>
            </a:r>
            <a:endParaRPr lang="en-US" smtClean="0"/>
          </a:p>
        </p:txBody>
      </p:sp>
      <p:cxnSp>
        <p:nvCxnSpPr>
          <p:cNvPr id="3" name="Straight Arrow Connector 2"/>
          <p:cNvCxnSpPr/>
          <p:nvPr/>
        </p:nvCxnSpPr>
        <p:spPr>
          <a:xfrm rot="16200000" flipH="1">
            <a:off x="1256506" y="1715294"/>
            <a:ext cx="534988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/>
          <p:cNvCxnSpPr/>
          <p:nvPr/>
        </p:nvCxnSpPr>
        <p:spPr>
          <a:xfrm rot="5400000">
            <a:off x="1284287" y="3576638"/>
            <a:ext cx="449263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865438" y="2087563"/>
            <a:ext cx="1371600" cy="4270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0000"/>
                </a:solidFill>
              </a:rPr>
              <a:t>&lt;Lệnh 2&gt;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2408238" y="2300288"/>
            <a:ext cx="457200" cy="1587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rot="10800000" flipV="1">
            <a:off x="1524000" y="3505200"/>
            <a:ext cx="2009775" cy="635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rot="5400000">
            <a:off x="3051969" y="3013869"/>
            <a:ext cx="99853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43000" y="2601913"/>
            <a:ext cx="376238" cy="369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>
                <a:solidFill>
                  <a:schemeClr val="dk1"/>
                </a:solidFill>
                <a:latin typeface="+mn-lt"/>
                <a:cs typeface="+mn-cs"/>
              </a:rPr>
              <a:t>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8400" y="1905000"/>
            <a:ext cx="347663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>
                <a:solidFill>
                  <a:schemeClr val="dk1"/>
                </a:solidFill>
                <a:latin typeface="+mn-lt"/>
                <a:cs typeface="+mn-cs"/>
              </a:rPr>
              <a:t>S</a:t>
            </a:r>
          </a:p>
        </p:txBody>
      </p:sp>
      <p:grpSp>
        <p:nvGrpSpPr>
          <p:cNvPr id="11" name="Group 10"/>
          <p:cNvGrpSpPr>
            <a:grpSpLocks/>
          </p:cNvGrpSpPr>
          <p:nvPr/>
        </p:nvGrpSpPr>
        <p:grpSpPr bwMode="auto">
          <a:xfrm>
            <a:off x="655638" y="1981200"/>
            <a:ext cx="1736725" cy="639763"/>
            <a:chOff x="685800" y="2133600"/>
            <a:chExt cx="1737360" cy="640080"/>
          </a:xfrm>
        </p:grpSpPr>
        <p:sp>
          <p:nvSpPr>
            <p:cNvPr id="12" name="Diamond 11"/>
            <p:cNvSpPr/>
            <p:nvPr/>
          </p:nvSpPr>
          <p:spPr>
            <a:xfrm>
              <a:off x="685800" y="2133600"/>
              <a:ext cx="1737360" cy="640080"/>
            </a:xfrm>
            <a:prstGeom prst="diamond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800142" y="2252722"/>
              <a:ext cx="1524557" cy="381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>
                  <a:solidFill>
                    <a:srgbClr val="FF66FF"/>
                  </a:solidFill>
                </a:rPr>
                <a:t>&lt;BT Logic&gt;</a:t>
              </a:r>
            </a:p>
          </p:txBody>
        </p:sp>
      </p:grpSp>
      <p:sp>
        <p:nvSpPr>
          <p:cNvPr id="17" name="Content Placeholder 41"/>
          <p:cNvSpPr txBox="1">
            <a:spLocks/>
          </p:cNvSpPr>
          <p:nvPr/>
        </p:nvSpPr>
        <p:spPr bwMode="auto">
          <a:xfrm>
            <a:off x="457200" y="4114800"/>
            <a:ext cx="40386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sz="2800" b="1" kern="0">
                <a:latin typeface="+mn-lt"/>
                <a:cs typeface="+mn-cs"/>
              </a:rPr>
              <a:t>if </a:t>
            </a:r>
            <a:r>
              <a:rPr lang="en-US" sz="2800" b="1" kern="0">
                <a:solidFill>
                  <a:srgbClr val="FF0000"/>
                </a:solidFill>
                <a:latin typeface="+mn-lt"/>
                <a:cs typeface="+mn-cs"/>
              </a:rPr>
              <a:t>(</a:t>
            </a:r>
            <a:r>
              <a:rPr lang="en-US" sz="2800" kern="0">
                <a:solidFill>
                  <a:srgbClr val="FF66FF"/>
                </a:solidFill>
                <a:cs typeface="+mn-cs"/>
              </a:rPr>
              <a:t>&lt;BT Logic&gt;</a:t>
            </a:r>
            <a:r>
              <a:rPr lang="en-US" sz="2800" b="1" kern="0">
                <a:solidFill>
                  <a:srgbClr val="FF0000"/>
                </a:solidFill>
                <a:cs typeface="+mn-cs"/>
              </a:rPr>
              <a:t>)</a:t>
            </a:r>
            <a:endParaRPr lang="en-US" sz="2800" b="1" kern="0">
              <a:solidFill>
                <a:srgbClr val="FF0000"/>
              </a:solidFill>
              <a:latin typeface="+mn-lt"/>
              <a:cs typeface="+mn-cs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sz="2800" b="1" kern="0">
                <a:latin typeface="+mn-lt"/>
                <a:cs typeface="+mn-cs"/>
              </a:rPr>
              <a:t>		</a:t>
            </a:r>
            <a:r>
              <a:rPr lang="en-US" sz="2800" kern="0">
                <a:solidFill>
                  <a:schemeClr val="tx1">
                    <a:lumMod val="60000"/>
                    <a:lumOff val="40000"/>
                  </a:schemeClr>
                </a:solidFill>
                <a:cs typeface="+mn-cs"/>
              </a:rPr>
              <a:t>&lt;Lệnh 1&gt;</a:t>
            </a:r>
            <a:r>
              <a:rPr lang="en-US" sz="2800" b="1" kern="0">
                <a:cs typeface="+mn-cs"/>
              </a:rPr>
              <a:t>;</a:t>
            </a:r>
            <a:endParaRPr lang="en-US" sz="2800" kern="0">
              <a:solidFill>
                <a:schemeClr val="tx1">
                  <a:lumMod val="60000"/>
                  <a:lumOff val="40000"/>
                </a:schemeClr>
              </a:solidFill>
              <a:cs typeface="+mn-cs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en-US" sz="2800" b="1" kern="0">
                <a:latin typeface="+mn-lt"/>
                <a:cs typeface="+mn-cs"/>
              </a:rPr>
              <a:t>else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sz="2800" b="1" kern="0">
                <a:cs typeface="+mn-cs"/>
              </a:rPr>
              <a:t>		</a:t>
            </a:r>
            <a:r>
              <a:rPr lang="en-US" sz="2800" kern="0">
                <a:solidFill>
                  <a:srgbClr val="FF0000"/>
                </a:solidFill>
                <a:cs typeface="+mn-cs"/>
              </a:rPr>
              <a:t>&lt;Lệnh 2&gt;</a:t>
            </a:r>
            <a:r>
              <a:rPr lang="en-US" sz="2800" b="1" kern="0">
                <a:latin typeface="+mn-lt"/>
                <a:cs typeface="+mn-cs"/>
              </a:rPr>
              <a:t>;</a:t>
            </a:r>
          </a:p>
        </p:txBody>
      </p:sp>
      <p:sp>
        <p:nvSpPr>
          <p:cNvPr id="18" name="Rounded Rectangle 17"/>
          <p:cNvSpPr/>
          <p:nvPr/>
        </p:nvSpPr>
        <p:spPr bwMode="auto">
          <a:xfrm>
            <a:off x="4648200" y="4572000"/>
            <a:ext cx="3429000" cy="1447800"/>
          </a:xfrm>
          <a:prstGeom prst="roundRect">
            <a:avLst/>
          </a:prstGeom>
          <a:ln>
            <a:solidFill>
              <a:schemeClr val="bg2">
                <a:lumMod val="60000"/>
                <a:lumOff val="4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r>
              <a:rPr lang="en-US" sz="2000"/>
              <a:t>Câu lệnh </a:t>
            </a:r>
            <a:r>
              <a:rPr lang="vi-VN" sz="2000"/>
              <a:t>đơ</a:t>
            </a:r>
            <a:r>
              <a:rPr lang="en-US" sz="2000"/>
              <a:t>n hoặc</a:t>
            </a:r>
          </a:p>
          <a:p>
            <a:pPr>
              <a:defRPr/>
            </a:pPr>
            <a:r>
              <a:rPr lang="en-US" sz="2000"/>
              <a:t>Câu lệnh phức (</a:t>
            </a:r>
            <a:r>
              <a:rPr lang="en-US" sz="2000" smtClean="0"/>
              <a:t>kẹp giữa </a:t>
            </a:r>
            <a:r>
              <a:rPr lang="en-US" sz="2000">
                <a:solidFill>
                  <a:srgbClr val="FF0000"/>
                </a:solidFill>
              </a:rPr>
              <a:t>{</a:t>
            </a:r>
            <a:r>
              <a:rPr lang="en-US" sz="2000"/>
              <a:t> và </a:t>
            </a:r>
            <a:r>
              <a:rPr lang="en-US" sz="2000" smtClean="0">
                <a:solidFill>
                  <a:srgbClr val="FF0000"/>
                </a:solidFill>
              </a:rPr>
              <a:t>} </a:t>
            </a:r>
            <a:r>
              <a:rPr lang="en-US" sz="2000" smtClean="0"/>
              <a:t>)</a:t>
            </a:r>
            <a:endParaRPr lang="en-US" sz="2000"/>
          </a:p>
        </p:txBody>
      </p:sp>
      <p:sp>
        <p:nvSpPr>
          <p:cNvPr id="26" name="Freeform 9"/>
          <p:cNvSpPr>
            <a:spLocks/>
          </p:cNvSpPr>
          <p:nvPr/>
        </p:nvSpPr>
        <p:spPr bwMode="gray">
          <a:xfrm rot="10800000">
            <a:off x="2819400" y="3429000"/>
            <a:ext cx="1828800" cy="914400"/>
          </a:xfrm>
          <a:custGeom>
            <a:avLst/>
            <a:gdLst/>
            <a:ahLst/>
            <a:cxnLst>
              <a:cxn ang="0">
                <a:pos x="580" y="0"/>
              </a:cxn>
              <a:cxn ang="0">
                <a:pos x="578" y="90"/>
              </a:cxn>
              <a:cxn ang="0">
                <a:pos x="568" y="174"/>
              </a:cxn>
              <a:cxn ang="0">
                <a:pos x="552" y="252"/>
              </a:cxn>
              <a:cxn ang="0">
                <a:pos x="526" y="324"/>
              </a:cxn>
              <a:cxn ang="0">
                <a:pos x="494" y="390"/>
              </a:cxn>
              <a:cxn ang="0">
                <a:pos x="452" y="450"/>
              </a:cxn>
              <a:cxn ang="0">
                <a:pos x="402" y="508"/>
              </a:cxn>
              <a:cxn ang="0">
                <a:pos x="342" y="560"/>
              </a:cxn>
              <a:cxn ang="0">
                <a:pos x="270" y="610"/>
              </a:cxn>
              <a:cxn ang="0">
                <a:pos x="188" y="656"/>
              </a:cxn>
              <a:cxn ang="0">
                <a:pos x="188" y="798"/>
              </a:cxn>
              <a:cxn ang="0">
                <a:pos x="0" y="514"/>
              </a:cxn>
              <a:cxn ang="0">
                <a:pos x="188" y="230"/>
              </a:cxn>
              <a:cxn ang="0">
                <a:pos x="188" y="372"/>
              </a:cxn>
              <a:cxn ang="0">
                <a:pos x="224" y="368"/>
              </a:cxn>
              <a:cxn ang="0">
                <a:pos x="264" y="356"/>
              </a:cxn>
              <a:cxn ang="0">
                <a:pos x="306" y="336"/>
              </a:cxn>
              <a:cxn ang="0">
                <a:pos x="348" y="310"/>
              </a:cxn>
              <a:cxn ang="0">
                <a:pos x="392" y="280"/>
              </a:cxn>
              <a:cxn ang="0">
                <a:pos x="432" y="246"/>
              </a:cxn>
              <a:cxn ang="0">
                <a:pos x="472" y="208"/>
              </a:cxn>
              <a:cxn ang="0">
                <a:pos x="506" y="166"/>
              </a:cxn>
              <a:cxn ang="0">
                <a:pos x="536" y="124"/>
              </a:cxn>
              <a:cxn ang="0">
                <a:pos x="558" y="82"/>
              </a:cxn>
              <a:cxn ang="0">
                <a:pos x="574" y="40"/>
              </a:cxn>
              <a:cxn ang="0">
                <a:pos x="578" y="0"/>
              </a:cxn>
              <a:cxn ang="0">
                <a:pos x="580" y="0"/>
              </a:cxn>
            </a:cxnLst>
            <a:rect l="0" t="0" r="r" b="b"/>
            <a:pathLst>
              <a:path w="580" h="798">
                <a:moveTo>
                  <a:pt x="580" y="0"/>
                </a:moveTo>
                <a:lnTo>
                  <a:pt x="578" y="90"/>
                </a:lnTo>
                <a:lnTo>
                  <a:pt x="568" y="174"/>
                </a:lnTo>
                <a:lnTo>
                  <a:pt x="552" y="252"/>
                </a:lnTo>
                <a:lnTo>
                  <a:pt x="526" y="324"/>
                </a:lnTo>
                <a:lnTo>
                  <a:pt x="494" y="390"/>
                </a:lnTo>
                <a:lnTo>
                  <a:pt x="452" y="450"/>
                </a:lnTo>
                <a:lnTo>
                  <a:pt x="402" y="508"/>
                </a:lnTo>
                <a:lnTo>
                  <a:pt x="342" y="560"/>
                </a:lnTo>
                <a:lnTo>
                  <a:pt x="270" y="610"/>
                </a:lnTo>
                <a:lnTo>
                  <a:pt x="188" y="656"/>
                </a:lnTo>
                <a:lnTo>
                  <a:pt x="188" y="798"/>
                </a:lnTo>
                <a:lnTo>
                  <a:pt x="0" y="514"/>
                </a:lnTo>
                <a:lnTo>
                  <a:pt x="188" y="230"/>
                </a:lnTo>
                <a:lnTo>
                  <a:pt x="188" y="372"/>
                </a:lnTo>
                <a:lnTo>
                  <a:pt x="224" y="368"/>
                </a:lnTo>
                <a:lnTo>
                  <a:pt x="264" y="356"/>
                </a:lnTo>
                <a:lnTo>
                  <a:pt x="306" y="336"/>
                </a:lnTo>
                <a:lnTo>
                  <a:pt x="348" y="310"/>
                </a:lnTo>
                <a:lnTo>
                  <a:pt x="392" y="280"/>
                </a:lnTo>
                <a:lnTo>
                  <a:pt x="432" y="246"/>
                </a:lnTo>
                <a:lnTo>
                  <a:pt x="472" y="208"/>
                </a:lnTo>
                <a:lnTo>
                  <a:pt x="506" y="166"/>
                </a:lnTo>
                <a:lnTo>
                  <a:pt x="536" y="124"/>
                </a:lnTo>
                <a:lnTo>
                  <a:pt x="558" y="82"/>
                </a:lnTo>
                <a:lnTo>
                  <a:pt x="574" y="40"/>
                </a:lnTo>
                <a:lnTo>
                  <a:pt x="578" y="0"/>
                </a:lnTo>
                <a:lnTo>
                  <a:pt x="58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" name="Rounded Rectangle 26"/>
          <p:cNvSpPr/>
          <p:nvPr/>
        </p:nvSpPr>
        <p:spPr bwMode="auto">
          <a:xfrm>
            <a:off x="4648200" y="3200400"/>
            <a:ext cx="3657600" cy="1066800"/>
          </a:xfrm>
          <a:prstGeom prst="roundRect">
            <a:avLst/>
          </a:prstGeom>
          <a:ln>
            <a:solidFill>
              <a:schemeClr val="bg2">
                <a:lumMod val="60000"/>
                <a:lumOff val="4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r>
              <a:rPr lang="en-US" sz="2000"/>
              <a:t>&lt;BT Logic&gt; cho kết quả đúng (≠ 0)</a:t>
            </a:r>
          </a:p>
          <a:p>
            <a:pPr>
              <a:defRPr/>
            </a:pPr>
            <a:r>
              <a:rPr lang="en-US" sz="2000"/>
              <a:t>hoặc sai (= 0)</a:t>
            </a:r>
          </a:p>
        </p:txBody>
      </p:sp>
      <p:cxnSp>
        <p:nvCxnSpPr>
          <p:cNvPr id="22" name="Straight Arrow Connector 21"/>
          <p:cNvCxnSpPr>
            <a:endCxn id="19" idx="0"/>
          </p:cNvCxnSpPr>
          <p:nvPr/>
        </p:nvCxnSpPr>
        <p:spPr>
          <a:xfrm rot="16200000" flipH="1">
            <a:off x="1366837" y="2773363"/>
            <a:ext cx="303213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Freeform 9"/>
          <p:cNvSpPr>
            <a:spLocks/>
          </p:cNvSpPr>
          <p:nvPr/>
        </p:nvSpPr>
        <p:spPr bwMode="gray">
          <a:xfrm rot="10800000" flipV="1">
            <a:off x="2800350" y="4800600"/>
            <a:ext cx="1828800" cy="914400"/>
          </a:xfrm>
          <a:custGeom>
            <a:avLst/>
            <a:gdLst/>
            <a:ahLst/>
            <a:cxnLst>
              <a:cxn ang="0">
                <a:pos x="580" y="0"/>
              </a:cxn>
              <a:cxn ang="0">
                <a:pos x="578" y="90"/>
              </a:cxn>
              <a:cxn ang="0">
                <a:pos x="568" y="174"/>
              </a:cxn>
              <a:cxn ang="0">
                <a:pos x="552" y="252"/>
              </a:cxn>
              <a:cxn ang="0">
                <a:pos x="526" y="324"/>
              </a:cxn>
              <a:cxn ang="0">
                <a:pos x="494" y="390"/>
              </a:cxn>
              <a:cxn ang="0">
                <a:pos x="452" y="450"/>
              </a:cxn>
              <a:cxn ang="0">
                <a:pos x="402" y="508"/>
              </a:cxn>
              <a:cxn ang="0">
                <a:pos x="342" y="560"/>
              </a:cxn>
              <a:cxn ang="0">
                <a:pos x="270" y="610"/>
              </a:cxn>
              <a:cxn ang="0">
                <a:pos x="188" y="656"/>
              </a:cxn>
              <a:cxn ang="0">
                <a:pos x="188" y="798"/>
              </a:cxn>
              <a:cxn ang="0">
                <a:pos x="0" y="514"/>
              </a:cxn>
              <a:cxn ang="0">
                <a:pos x="188" y="230"/>
              </a:cxn>
              <a:cxn ang="0">
                <a:pos x="188" y="372"/>
              </a:cxn>
              <a:cxn ang="0">
                <a:pos x="224" y="368"/>
              </a:cxn>
              <a:cxn ang="0">
                <a:pos x="264" y="356"/>
              </a:cxn>
              <a:cxn ang="0">
                <a:pos x="306" y="336"/>
              </a:cxn>
              <a:cxn ang="0">
                <a:pos x="348" y="310"/>
              </a:cxn>
              <a:cxn ang="0">
                <a:pos x="392" y="280"/>
              </a:cxn>
              <a:cxn ang="0">
                <a:pos x="432" y="246"/>
              </a:cxn>
              <a:cxn ang="0">
                <a:pos x="472" y="208"/>
              </a:cxn>
              <a:cxn ang="0">
                <a:pos x="506" y="166"/>
              </a:cxn>
              <a:cxn ang="0">
                <a:pos x="536" y="124"/>
              </a:cxn>
              <a:cxn ang="0">
                <a:pos x="558" y="82"/>
              </a:cxn>
              <a:cxn ang="0">
                <a:pos x="574" y="40"/>
              </a:cxn>
              <a:cxn ang="0">
                <a:pos x="578" y="0"/>
              </a:cxn>
              <a:cxn ang="0">
                <a:pos x="580" y="0"/>
              </a:cxn>
            </a:cxnLst>
            <a:rect l="0" t="0" r="r" b="b"/>
            <a:pathLst>
              <a:path w="580" h="798">
                <a:moveTo>
                  <a:pt x="580" y="0"/>
                </a:moveTo>
                <a:lnTo>
                  <a:pt x="578" y="90"/>
                </a:lnTo>
                <a:lnTo>
                  <a:pt x="568" y="174"/>
                </a:lnTo>
                <a:lnTo>
                  <a:pt x="552" y="252"/>
                </a:lnTo>
                <a:lnTo>
                  <a:pt x="526" y="324"/>
                </a:lnTo>
                <a:lnTo>
                  <a:pt x="494" y="390"/>
                </a:lnTo>
                <a:lnTo>
                  <a:pt x="452" y="450"/>
                </a:lnTo>
                <a:lnTo>
                  <a:pt x="402" y="508"/>
                </a:lnTo>
                <a:lnTo>
                  <a:pt x="342" y="560"/>
                </a:lnTo>
                <a:lnTo>
                  <a:pt x="270" y="610"/>
                </a:lnTo>
                <a:lnTo>
                  <a:pt x="188" y="656"/>
                </a:lnTo>
                <a:lnTo>
                  <a:pt x="188" y="798"/>
                </a:lnTo>
                <a:lnTo>
                  <a:pt x="0" y="514"/>
                </a:lnTo>
                <a:lnTo>
                  <a:pt x="188" y="230"/>
                </a:lnTo>
                <a:lnTo>
                  <a:pt x="188" y="372"/>
                </a:lnTo>
                <a:lnTo>
                  <a:pt x="224" y="368"/>
                </a:lnTo>
                <a:lnTo>
                  <a:pt x="264" y="356"/>
                </a:lnTo>
                <a:lnTo>
                  <a:pt x="306" y="336"/>
                </a:lnTo>
                <a:lnTo>
                  <a:pt x="348" y="310"/>
                </a:lnTo>
                <a:lnTo>
                  <a:pt x="392" y="280"/>
                </a:lnTo>
                <a:lnTo>
                  <a:pt x="432" y="246"/>
                </a:lnTo>
                <a:lnTo>
                  <a:pt x="472" y="208"/>
                </a:lnTo>
                <a:lnTo>
                  <a:pt x="506" y="166"/>
                </a:lnTo>
                <a:lnTo>
                  <a:pt x="536" y="124"/>
                </a:lnTo>
                <a:lnTo>
                  <a:pt x="558" y="82"/>
                </a:lnTo>
                <a:lnTo>
                  <a:pt x="574" y="40"/>
                </a:lnTo>
                <a:lnTo>
                  <a:pt x="578" y="0"/>
                </a:lnTo>
                <a:lnTo>
                  <a:pt x="58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3" name="Freeform 9"/>
          <p:cNvSpPr>
            <a:spLocks/>
          </p:cNvSpPr>
          <p:nvPr/>
        </p:nvSpPr>
        <p:spPr bwMode="gray">
          <a:xfrm rot="10800000">
            <a:off x="2805113" y="5076825"/>
            <a:ext cx="1828800" cy="914400"/>
          </a:xfrm>
          <a:custGeom>
            <a:avLst/>
            <a:gdLst/>
            <a:ahLst/>
            <a:cxnLst>
              <a:cxn ang="0">
                <a:pos x="580" y="0"/>
              </a:cxn>
              <a:cxn ang="0">
                <a:pos x="578" y="90"/>
              </a:cxn>
              <a:cxn ang="0">
                <a:pos x="568" y="174"/>
              </a:cxn>
              <a:cxn ang="0">
                <a:pos x="552" y="252"/>
              </a:cxn>
              <a:cxn ang="0">
                <a:pos x="526" y="324"/>
              </a:cxn>
              <a:cxn ang="0">
                <a:pos x="494" y="390"/>
              </a:cxn>
              <a:cxn ang="0">
                <a:pos x="452" y="450"/>
              </a:cxn>
              <a:cxn ang="0">
                <a:pos x="402" y="508"/>
              </a:cxn>
              <a:cxn ang="0">
                <a:pos x="342" y="560"/>
              </a:cxn>
              <a:cxn ang="0">
                <a:pos x="270" y="610"/>
              </a:cxn>
              <a:cxn ang="0">
                <a:pos x="188" y="656"/>
              </a:cxn>
              <a:cxn ang="0">
                <a:pos x="188" y="798"/>
              </a:cxn>
              <a:cxn ang="0">
                <a:pos x="0" y="514"/>
              </a:cxn>
              <a:cxn ang="0">
                <a:pos x="188" y="230"/>
              </a:cxn>
              <a:cxn ang="0">
                <a:pos x="188" y="372"/>
              </a:cxn>
              <a:cxn ang="0">
                <a:pos x="224" y="368"/>
              </a:cxn>
              <a:cxn ang="0">
                <a:pos x="264" y="356"/>
              </a:cxn>
              <a:cxn ang="0">
                <a:pos x="306" y="336"/>
              </a:cxn>
              <a:cxn ang="0">
                <a:pos x="348" y="310"/>
              </a:cxn>
              <a:cxn ang="0">
                <a:pos x="392" y="280"/>
              </a:cxn>
              <a:cxn ang="0">
                <a:pos x="432" y="246"/>
              </a:cxn>
              <a:cxn ang="0">
                <a:pos x="472" y="208"/>
              </a:cxn>
              <a:cxn ang="0">
                <a:pos x="506" y="166"/>
              </a:cxn>
              <a:cxn ang="0">
                <a:pos x="536" y="124"/>
              </a:cxn>
              <a:cxn ang="0">
                <a:pos x="558" y="82"/>
              </a:cxn>
              <a:cxn ang="0">
                <a:pos x="574" y="40"/>
              </a:cxn>
              <a:cxn ang="0">
                <a:pos x="578" y="0"/>
              </a:cxn>
              <a:cxn ang="0">
                <a:pos x="580" y="0"/>
              </a:cxn>
            </a:cxnLst>
            <a:rect l="0" t="0" r="r" b="b"/>
            <a:pathLst>
              <a:path w="580" h="798">
                <a:moveTo>
                  <a:pt x="580" y="0"/>
                </a:moveTo>
                <a:lnTo>
                  <a:pt x="578" y="90"/>
                </a:lnTo>
                <a:lnTo>
                  <a:pt x="568" y="174"/>
                </a:lnTo>
                <a:lnTo>
                  <a:pt x="552" y="252"/>
                </a:lnTo>
                <a:lnTo>
                  <a:pt x="526" y="324"/>
                </a:lnTo>
                <a:lnTo>
                  <a:pt x="494" y="390"/>
                </a:lnTo>
                <a:lnTo>
                  <a:pt x="452" y="450"/>
                </a:lnTo>
                <a:lnTo>
                  <a:pt x="402" y="508"/>
                </a:lnTo>
                <a:lnTo>
                  <a:pt x="342" y="560"/>
                </a:lnTo>
                <a:lnTo>
                  <a:pt x="270" y="610"/>
                </a:lnTo>
                <a:lnTo>
                  <a:pt x="188" y="656"/>
                </a:lnTo>
                <a:lnTo>
                  <a:pt x="188" y="798"/>
                </a:lnTo>
                <a:lnTo>
                  <a:pt x="0" y="514"/>
                </a:lnTo>
                <a:lnTo>
                  <a:pt x="188" y="230"/>
                </a:lnTo>
                <a:lnTo>
                  <a:pt x="188" y="372"/>
                </a:lnTo>
                <a:lnTo>
                  <a:pt x="224" y="368"/>
                </a:lnTo>
                <a:lnTo>
                  <a:pt x="264" y="356"/>
                </a:lnTo>
                <a:lnTo>
                  <a:pt x="306" y="336"/>
                </a:lnTo>
                <a:lnTo>
                  <a:pt x="348" y="310"/>
                </a:lnTo>
                <a:lnTo>
                  <a:pt x="392" y="280"/>
                </a:lnTo>
                <a:lnTo>
                  <a:pt x="432" y="246"/>
                </a:lnTo>
                <a:lnTo>
                  <a:pt x="472" y="208"/>
                </a:lnTo>
                <a:lnTo>
                  <a:pt x="506" y="166"/>
                </a:lnTo>
                <a:lnTo>
                  <a:pt x="536" y="124"/>
                </a:lnTo>
                <a:lnTo>
                  <a:pt x="558" y="82"/>
                </a:lnTo>
                <a:lnTo>
                  <a:pt x="574" y="40"/>
                </a:lnTo>
                <a:lnTo>
                  <a:pt x="578" y="0"/>
                </a:lnTo>
                <a:lnTo>
                  <a:pt x="58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566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5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45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45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5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5" grpId="0" animBg="1"/>
      <p:bldP spid="9" grpId="0"/>
      <p:bldP spid="10" grpId="0"/>
      <p:bldP spid="18" grpId="0" animBg="1"/>
      <p:bldP spid="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pitchFamily="18" charset="0"/>
              </a:rPr>
              <a:t>Câu lệnh if đủ</a:t>
            </a:r>
            <a:r>
              <a:rPr lang="en-US">
                <a:latin typeface=".VnTime" pitchFamily="34" charset="0"/>
              </a:rPr>
              <a:t> (if-else)</a:t>
            </a:r>
            <a:endParaRPr lang="en-US" smtClean="0"/>
          </a:p>
        </p:txBody>
      </p:sp>
      <p:sp>
        <p:nvSpPr>
          <p:cNvPr id="4" name="Rounded Rectangle 3"/>
          <p:cNvSpPr/>
          <p:nvPr/>
        </p:nvSpPr>
        <p:spPr>
          <a:xfrm>
            <a:off x="685800" y="1524000"/>
            <a:ext cx="152400" cy="4648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485" name="TextBox 4"/>
          <p:cNvSpPr txBox="1">
            <a:spLocks noChangeArrowheads="1"/>
          </p:cNvSpPr>
          <p:nvPr/>
        </p:nvSpPr>
        <p:spPr bwMode="auto">
          <a:xfrm>
            <a:off x="838200" y="1524000"/>
            <a:ext cx="7010400" cy="470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if (a == 0)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printf(“a bang 0”);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else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printf(“a khac 0”);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if (a == 0)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printf(“a bang 0”);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a = 2912;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else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printf(“a khac 0”);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7" name="Rectangle 6"/>
          <p:cNvSpPr>
            <a:spLocks/>
          </p:cNvSpPr>
          <p:nvPr/>
        </p:nvSpPr>
        <p:spPr bwMode="auto">
          <a:xfrm>
            <a:off x="0" y="2209800"/>
            <a:ext cx="9128125" cy="12192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0" y="2209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0" y="25146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ectangle 13"/>
          <p:cNvSpPr>
            <a:spLocks/>
          </p:cNvSpPr>
          <p:nvPr/>
        </p:nvSpPr>
        <p:spPr bwMode="auto">
          <a:xfrm>
            <a:off x="0" y="2819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Rectangle 14"/>
          <p:cNvSpPr>
            <a:spLocks/>
          </p:cNvSpPr>
          <p:nvPr/>
        </p:nvSpPr>
        <p:spPr bwMode="auto">
          <a:xfrm>
            <a:off x="0" y="3124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Rectangle 15"/>
          <p:cNvSpPr>
            <a:spLocks/>
          </p:cNvSpPr>
          <p:nvPr/>
        </p:nvSpPr>
        <p:spPr bwMode="auto">
          <a:xfrm>
            <a:off x="0" y="3733800"/>
            <a:ext cx="9128125" cy="2133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Rectangle 16"/>
          <p:cNvSpPr>
            <a:spLocks/>
          </p:cNvSpPr>
          <p:nvPr/>
        </p:nvSpPr>
        <p:spPr bwMode="auto">
          <a:xfrm>
            <a:off x="0" y="3733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Rectangle 17"/>
          <p:cNvSpPr>
            <a:spLocks/>
          </p:cNvSpPr>
          <p:nvPr/>
        </p:nvSpPr>
        <p:spPr bwMode="auto">
          <a:xfrm>
            <a:off x="0" y="4038600"/>
            <a:ext cx="9128125" cy="12192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Rectangle 18"/>
          <p:cNvSpPr>
            <a:spLocks/>
          </p:cNvSpPr>
          <p:nvPr/>
        </p:nvSpPr>
        <p:spPr bwMode="auto">
          <a:xfrm>
            <a:off x="0" y="5257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Rectangle 19"/>
          <p:cNvSpPr>
            <a:spLocks/>
          </p:cNvSpPr>
          <p:nvPr/>
        </p:nvSpPr>
        <p:spPr bwMode="auto">
          <a:xfrm>
            <a:off x="0" y="55626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708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8077200" cy="4572000"/>
          </a:xfrm>
        </p:spPr>
        <p:txBody>
          <a:bodyPr>
            <a:normAutofit/>
          </a:bodyPr>
          <a:lstStyle/>
          <a:p>
            <a:pPr marL="96838" indent="12700">
              <a:buFont typeface="Wingdings" pitchFamily="2" charset="2"/>
              <a:buNone/>
            </a:pPr>
            <a:r>
              <a:rPr lang="en-US" sz="4000" i="1" smtClean="0">
                <a:latin typeface="Times New Roman" pitchFamily="18" charset="0"/>
              </a:rPr>
              <a:t>Cho</a:t>
            </a:r>
            <a:r>
              <a:rPr lang="en-US" sz="4000" i="1" smtClean="0">
                <a:latin typeface="VNI-Times" pitchFamily="2" charset="0"/>
              </a:rPr>
              <a:t> 3 </a:t>
            </a:r>
            <a:r>
              <a:rPr lang="en-US" sz="4000" i="1" smtClean="0">
                <a:latin typeface="Times New Roman" pitchFamily="18" charset="0"/>
              </a:rPr>
              <a:t>số</a:t>
            </a:r>
            <a:r>
              <a:rPr lang="en-US" sz="4000" i="1" smtClean="0">
                <a:latin typeface="VNI-Times" pitchFamily="2" charset="0"/>
              </a:rPr>
              <a:t> </a:t>
            </a:r>
            <a:r>
              <a:rPr lang="en-US" sz="4000" i="1" smtClean="0">
                <a:latin typeface="Times New Roman" pitchFamily="18" charset="0"/>
              </a:rPr>
              <a:t>nguyên</a:t>
            </a:r>
            <a:r>
              <a:rPr lang="en-US" sz="4000" i="1" smtClean="0">
                <a:latin typeface="VNI-Times" pitchFamily="2" charset="0"/>
              </a:rPr>
              <a:t> </a:t>
            </a:r>
            <a:r>
              <a:rPr lang="en-US" sz="4000" i="1" smtClean="0">
                <a:latin typeface="Times New Roman" pitchFamily="18" charset="0"/>
              </a:rPr>
              <a:t>a</a:t>
            </a:r>
            <a:r>
              <a:rPr lang="en-US" sz="4000" i="1" smtClean="0">
                <a:latin typeface="VNI-Times" pitchFamily="2" charset="0"/>
              </a:rPr>
              <a:t>,</a:t>
            </a:r>
            <a:r>
              <a:rPr lang="en-US" sz="4000" i="1" smtClean="0">
                <a:latin typeface="Times New Roman" pitchFamily="18" charset="0"/>
              </a:rPr>
              <a:t>b</a:t>
            </a:r>
            <a:r>
              <a:rPr lang="en-US" sz="4000" i="1" smtClean="0">
                <a:latin typeface="VNI-Times" pitchFamily="2" charset="0"/>
              </a:rPr>
              <a:t> </a:t>
            </a:r>
            <a:r>
              <a:rPr lang="en-US" sz="4000" i="1" smtClean="0">
                <a:latin typeface="Times New Roman" pitchFamily="18" charset="0"/>
              </a:rPr>
              <a:t>và</a:t>
            </a:r>
            <a:r>
              <a:rPr lang="en-US" sz="4000" i="1" smtClean="0">
                <a:latin typeface="VNI-Times" pitchFamily="2" charset="0"/>
              </a:rPr>
              <a:t> </a:t>
            </a:r>
            <a:r>
              <a:rPr lang="en-US" sz="4000" i="1" smtClean="0">
                <a:latin typeface="Times New Roman" pitchFamily="18" charset="0"/>
              </a:rPr>
              <a:t>c.</a:t>
            </a:r>
            <a:r>
              <a:rPr lang="en-US" sz="4000" i="1" smtClean="0">
                <a:latin typeface="VNI-Times" pitchFamily="2" charset="0"/>
              </a:rPr>
              <a:t> </a:t>
            </a:r>
            <a:r>
              <a:rPr lang="en-US" sz="4000" i="1" smtClean="0">
                <a:latin typeface="Times New Roman" pitchFamily="18" charset="0"/>
              </a:rPr>
              <a:t>Tìm số lớn nhất trong 3 số.</a:t>
            </a:r>
            <a:endParaRPr lang="en-US" sz="4000" i="1" dirty="0">
              <a:latin typeface="Times New Roman" pitchFamily="18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mtClean="0"/>
              <a:t>Ví dụ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8534400" cy="4572000"/>
          </a:xfrm>
        </p:spPr>
        <p:txBody>
          <a:bodyPr>
            <a:normAutofit fontScale="85000" lnSpcReduction="20000"/>
          </a:bodyPr>
          <a:lstStyle/>
          <a:p>
            <a:pPr marL="96838" indent="12700">
              <a:buFont typeface="Wingdings" pitchFamily="2" charset="2"/>
              <a:buNone/>
            </a:pPr>
            <a:r>
              <a:rPr lang="en-US" sz="3500" i="1" smtClean="0">
                <a:latin typeface="Times New Roman" pitchFamily="18" charset="0"/>
              </a:rPr>
              <a:t>Cho</a:t>
            </a:r>
            <a:r>
              <a:rPr lang="en-US" sz="3500" i="1" smtClean="0">
                <a:latin typeface="VNI-Times" pitchFamily="2" charset="0"/>
              </a:rPr>
              <a:t> </a:t>
            </a:r>
            <a:r>
              <a:rPr lang="en-US" sz="3500" i="1">
                <a:latin typeface="VNI-Times" pitchFamily="2" charset="0"/>
              </a:rPr>
              <a:t>3 </a:t>
            </a:r>
            <a:r>
              <a:rPr lang="en-US" sz="3500" i="1">
                <a:latin typeface="Times New Roman" pitchFamily="18" charset="0"/>
              </a:rPr>
              <a:t>số</a:t>
            </a:r>
            <a:r>
              <a:rPr lang="en-US" sz="3500" i="1">
                <a:latin typeface="VNI-Times" pitchFamily="2" charset="0"/>
              </a:rPr>
              <a:t> </a:t>
            </a:r>
            <a:r>
              <a:rPr lang="en-US" sz="3500" i="1">
                <a:latin typeface="Times New Roman" pitchFamily="18" charset="0"/>
              </a:rPr>
              <a:t>nguyên</a:t>
            </a:r>
            <a:r>
              <a:rPr lang="en-US" sz="3500" i="1">
                <a:latin typeface="VNI-Times" pitchFamily="2" charset="0"/>
              </a:rPr>
              <a:t> </a:t>
            </a:r>
            <a:r>
              <a:rPr lang="en-US" sz="3500" i="1">
                <a:latin typeface="Times New Roman" pitchFamily="18" charset="0"/>
              </a:rPr>
              <a:t>a</a:t>
            </a:r>
            <a:r>
              <a:rPr lang="en-US" sz="3500" i="1">
                <a:latin typeface="VNI-Times" pitchFamily="2" charset="0"/>
              </a:rPr>
              <a:t>,</a:t>
            </a:r>
            <a:r>
              <a:rPr lang="en-US" sz="3500" i="1">
                <a:latin typeface="Times New Roman" pitchFamily="18" charset="0"/>
              </a:rPr>
              <a:t>b</a:t>
            </a:r>
            <a:r>
              <a:rPr lang="en-US" sz="3500" i="1">
                <a:latin typeface="VNI-Times" pitchFamily="2" charset="0"/>
              </a:rPr>
              <a:t> </a:t>
            </a:r>
            <a:r>
              <a:rPr lang="en-US" sz="3500" i="1">
                <a:latin typeface="Times New Roman" pitchFamily="18" charset="0"/>
              </a:rPr>
              <a:t>và</a:t>
            </a:r>
            <a:r>
              <a:rPr lang="en-US" sz="3500" i="1">
                <a:latin typeface="VNI-Times" pitchFamily="2" charset="0"/>
              </a:rPr>
              <a:t> </a:t>
            </a:r>
            <a:r>
              <a:rPr lang="en-US" sz="3500" i="1">
                <a:latin typeface="Times New Roman" pitchFamily="18" charset="0"/>
              </a:rPr>
              <a:t>c.</a:t>
            </a:r>
            <a:r>
              <a:rPr lang="en-US" sz="3500" i="1">
                <a:latin typeface="VNI-Times" pitchFamily="2" charset="0"/>
              </a:rPr>
              <a:t> </a:t>
            </a:r>
            <a:r>
              <a:rPr lang="en-US" sz="3500" i="1">
                <a:latin typeface="Times New Roman" pitchFamily="18" charset="0"/>
              </a:rPr>
              <a:t>Tìm số lớn nhất trong 3 số.</a:t>
            </a:r>
          </a:p>
          <a:p>
            <a:pPr marL="96838" indent="12700">
              <a:buFont typeface="Wingdings" pitchFamily="2" charset="2"/>
              <a:buNone/>
            </a:pPr>
            <a:endParaRPr lang="en-US" sz="2800" smtClean="0"/>
          </a:p>
          <a:p>
            <a:pPr marL="96838" indent="12700">
              <a:buFont typeface="Wingdings" pitchFamily="2" charset="2"/>
              <a:buNone/>
            </a:pPr>
            <a:r>
              <a:rPr lang="en-US" sz="2800" smtClean="0"/>
              <a:t>#</a:t>
            </a:r>
            <a:r>
              <a:rPr lang="en-US" sz="2800"/>
              <a:t>include &lt;stdio.h&gt; </a:t>
            </a:r>
            <a:endParaRPr lang="en-US" sz="2800" smtClean="0"/>
          </a:p>
          <a:p>
            <a:pPr marL="96838" indent="12700">
              <a:buFont typeface="Wingdings" pitchFamily="2" charset="2"/>
              <a:buNone/>
            </a:pPr>
            <a:r>
              <a:rPr lang="en-US" sz="2800" smtClean="0"/>
              <a:t>void</a:t>
            </a:r>
            <a:r>
              <a:rPr lang="en-US" sz="2800"/>
              <a:t> main() { </a:t>
            </a:r>
            <a:endParaRPr lang="en-US" sz="2800" smtClean="0"/>
          </a:p>
          <a:p>
            <a:pPr marL="496888" lvl="1" indent="12700">
              <a:buFont typeface="Wingdings" pitchFamily="2" charset="2"/>
              <a:buNone/>
            </a:pPr>
            <a:r>
              <a:rPr lang="en-US" sz="2400" smtClean="0"/>
              <a:t>int</a:t>
            </a:r>
            <a:r>
              <a:rPr lang="en-US" sz="2400"/>
              <a:t> a,b,c, max; </a:t>
            </a:r>
            <a:endParaRPr lang="en-US" sz="2400" smtClean="0"/>
          </a:p>
          <a:p>
            <a:pPr marL="496888" lvl="1" indent="12700">
              <a:buFont typeface="Wingdings" pitchFamily="2" charset="2"/>
              <a:buNone/>
            </a:pPr>
            <a:r>
              <a:rPr lang="en-US" sz="2400" smtClean="0"/>
              <a:t>scanf</a:t>
            </a:r>
            <a:r>
              <a:rPr lang="en-US" sz="2400"/>
              <a:t>("%d%d%d",&amp;a,&amp;b,&amp;c); </a:t>
            </a:r>
            <a:endParaRPr lang="en-US" sz="2400" smtClean="0"/>
          </a:p>
          <a:p>
            <a:pPr marL="496888" lvl="1" indent="12700">
              <a:buFont typeface="Wingdings" pitchFamily="2" charset="2"/>
              <a:buNone/>
            </a:pPr>
            <a:r>
              <a:rPr lang="en-US" sz="2400" smtClean="0"/>
              <a:t>max</a:t>
            </a:r>
            <a:r>
              <a:rPr lang="en-US" sz="2400"/>
              <a:t> = a; </a:t>
            </a:r>
            <a:endParaRPr lang="en-US" sz="2400" smtClean="0"/>
          </a:p>
          <a:p>
            <a:pPr marL="496888" lvl="1" indent="12700">
              <a:buFont typeface="Wingdings" pitchFamily="2" charset="2"/>
              <a:buNone/>
            </a:pPr>
            <a:r>
              <a:rPr lang="en-US" sz="2400" smtClean="0"/>
              <a:t>if</a:t>
            </a:r>
            <a:r>
              <a:rPr lang="en-US" sz="2400"/>
              <a:t> (max&lt;b) </a:t>
            </a:r>
            <a:endParaRPr lang="en-US" sz="2400" smtClean="0"/>
          </a:p>
          <a:p>
            <a:pPr marL="496888" lvl="1" indent="12700">
              <a:buFont typeface="Wingdings" pitchFamily="2" charset="2"/>
              <a:buNone/>
            </a:pPr>
            <a:r>
              <a:rPr lang="en-US" sz="2400"/>
              <a:t>	</a:t>
            </a:r>
            <a:r>
              <a:rPr lang="en-US" sz="2400" smtClean="0"/>
              <a:t>max</a:t>
            </a:r>
            <a:r>
              <a:rPr lang="en-US" sz="2400"/>
              <a:t> = b;  </a:t>
            </a:r>
            <a:endParaRPr lang="en-US" sz="2400" smtClean="0"/>
          </a:p>
          <a:p>
            <a:pPr marL="496888" lvl="1" indent="12700">
              <a:buFont typeface="Wingdings" pitchFamily="2" charset="2"/>
              <a:buNone/>
            </a:pPr>
            <a:r>
              <a:rPr lang="en-US" sz="2400"/>
              <a:t>	</a:t>
            </a:r>
            <a:r>
              <a:rPr lang="en-US" sz="2400" smtClean="0"/>
              <a:t>if</a:t>
            </a:r>
            <a:r>
              <a:rPr lang="en-US" sz="2400"/>
              <a:t> (max&lt;c) </a:t>
            </a:r>
            <a:endParaRPr lang="en-US" sz="2400" smtClean="0"/>
          </a:p>
          <a:p>
            <a:pPr marL="496888" lvl="1" indent="12700">
              <a:buFont typeface="Wingdings" pitchFamily="2" charset="2"/>
              <a:buNone/>
            </a:pPr>
            <a:r>
              <a:rPr lang="en-US" sz="2400"/>
              <a:t>	</a:t>
            </a:r>
            <a:r>
              <a:rPr lang="en-US" sz="2400" smtClean="0"/>
              <a:t>	max=c</a:t>
            </a:r>
            <a:r>
              <a:rPr lang="en-US" sz="2400"/>
              <a:t>; </a:t>
            </a:r>
            <a:endParaRPr lang="en-US" sz="2400" smtClean="0"/>
          </a:p>
          <a:p>
            <a:pPr marL="496888" lvl="1" indent="12700">
              <a:buFont typeface="Wingdings" pitchFamily="2" charset="2"/>
              <a:buNone/>
            </a:pPr>
            <a:r>
              <a:rPr lang="en-US" sz="2400" smtClean="0"/>
              <a:t>printf</a:t>
            </a:r>
            <a:r>
              <a:rPr lang="en-US" sz="2400"/>
              <a:t>("Gia tri lon nhat:%d",max); </a:t>
            </a:r>
            <a:endParaRPr lang="en-US" sz="2400" smtClean="0"/>
          </a:p>
          <a:p>
            <a:pPr marL="96838" indent="12700">
              <a:buFont typeface="Wingdings" pitchFamily="2" charset="2"/>
              <a:buNone/>
            </a:pPr>
            <a:r>
              <a:rPr lang="en-US" sz="2800" smtClean="0"/>
              <a:t>} </a:t>
            </a:r>
            <a:endParaRPr lang="en-US" sz="2600" i="1" dirty="0">
              <a:latin typeface="Times New Roman" pitchFamily="18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mtClean="0"/>
              <a:t>Ví dụ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36180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smtClean="0"/>
              <a:t>Câu lệnh if - Một số l</a:t>
            </a:r>
            <a:r>
              <a:rPr lang="vi-VN" smtClean="0"/>
              <a:t>ư</a:t>
            </a:r>
            <a:r>
              <a:rPr lang="en-US" smtClean="0"/>
              <a:t>u ý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2800" smtClean="0">
                <a:latin typeface="Arial" charset="0"/>
                <a:cs typeface="Arial" charset="0"/>
              </a:rPr>
              <a:t>Câu lệnh </a:t>
            </a:r>
            <a:r>
              <a:rPr lang="en-US" sz="2800" smtClean="0">
                <a:solidFill>
                  <a:srgbClr val="FF0000"/>
                </a:solidFill>
                <a:latin typeface="Arial" charset="0"/>
                <a:cs typeface="Arial" charset="0"/>
              </a:rPr>
              <a:t>if có thể lồng vào nhau</a:t>
            </a:r>
            <a:r>
              <a:rPr lang="en-US" sz="2800" smtClean="0">
                <a:latin typeface="Arial" charset="0"/>
                <a:cs typeface="Arial" charset="0"/>
              </a:rPr>
              <a:t> và </a:t>
            </a:r>
            <a:r>
              <a:rPr lang="en-US" sz="2800" smtClean="0">
                <a:solidFill>
                  <a:srgbClr val="FF0000"/>
                </a:solidFill>
                <a:latin typeface="Arial" charset="0"/>
                <a:cs typeface="Arial" charset="0"/>
              </a:rPr>
              <a:t>else sẽ t</a:t>
            </a:r>
            <a:r>
              <a:rPr lang="vi-VN" sz="2800" smtClean="0">
                <a:solidFill>
                  <a:srgbClr val="FF0000"/>
                </a:solidFill>
                <a:latin typeface="Arial" charset="0"/>
                <a:cs typeface="Arial" charset="0"/>
              </a:rPr>
              <a:t>ươ</a:t>
            </a:r>
            <a:r>
              <a:rPr lang="en-US" sz="2800" smtClean="0">
                <a:solidFill>
                  <a:srgbClr val="FF0000"/>
                </a:solidFill>
                <a:latin typeface="Arial" charset="0"/>
                <a:cs typeface="Arial" charset="0"/>
              </a:rPr>
              <a:t>ng ứng với if gần nó nhất</a:t>
            </a:r>
            <a:r>
              <a:rPr lang="en-US" sz="2800" smtClean="0">
                <a:latin typeface="Arial" charset="0"/>
                <a:cs typeface="Arial" charset="0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514600"/>
            <a:ext cx="152400" cy="3657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534" name="TextBox 5"/>
          <p:cNvSpPr txBox="1">
            <a:spLocks noChangeArrowheads="1"/>
          </p:cNvSpPr>
          <p:nvPr/>
        </p:nvSpPr>
        <p:spPr bwMode="auto">
          <a:xfrm>
            <a:off x="838200" y="2514600"/>
            <a:ext cx="7010400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if (a != 0)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(b &gt; 0)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printf(“a != 0 va b &gt; 0”);</a:t>
            </a:r>
          </a:p>
          <a:p>
            <a:pPr eaLnBrk="1" hangingPunct="1"/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printf(“a != 0 va b &lt;= 0”);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if (a !=0</a:t>
            </a:r>
            <a:r>
              <a:rPr lang="en-US" sz="2000" b="1" smtClean="0">
                <a:latin typeface="Courier New" pitchFamily="49" charset="0"/>
                <a:cs typeface="Courier New" pitchFamily="49" charset="0"/>
              </a:rPr>
              <a:t>){</a:t>
            </a:r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(b &gt; 0)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printf(“a != 0 va b &gt; 0”);</a:t>
            </a:r>
          </a:p>
          <a:p>
            <a:pPr eaLnBrk="1" hangingPunct="1"/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else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printf(“a != 0 va b &lt;= 0”);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7" name="Rectangle 6"/>
          <p:cNvSpPr>
            <a:spLocks/>
          </p:cNvSpPr>
          <p:nvPr/>
        </p:nvSpPr>
        <p:spPr bwMode="auto">
          <a:xfrm>
            <a:off x="0" y="2895600"/>
            <a:ext cx="9128125" cy="12192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0" y="4724400"/>
            <a:ext cx="9128125" cy="1752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9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smtClean="0"/>
              <a:t>Câu lệnh if - Một số l</a:t>
            </a:r>
            <a:r>
              <a:rPr lang="vi-VN" smtClean="0"/>
              <a:t>ư</a:t>
            </a:r>
            <a:r>
              <a:rPr lang="en-US" smtClean="0"/>
              <a:t>u ý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Nên </a:t>
            </a:r>
            <a:r>
              <a:rPr lang="en-US" smtClean="0">
                <a:solidFill>
                  <a:srgbClr val="FF0000"/>
                </a:solidFill>
                <a:latin typeface="Arial" charset="0"/>
                <a:cs typeface="Arial" charset="0"/>
              </a:rPr>
              <a:t>dùng else</a:t>
            </a:r>
            <a:r>
              <a:rPr lang="en-US" smtClean="0">
                <a:latin typeface="Arial" charset="0"/>
                <a:cs typeface="Arial" charset="0"/>
              </a:rPr>
              <a:t> </a:t>
            </a:r>
            <a:r>
              <a:rPr lang="vi-VN" smtClean="0">
                <a:latin typeface="Arial" charset="0"/>
                <a:cs typeface="Arial" charset="0"/>
              </a:rPr>
              <a:t>để</a:t>
            </a:r>
            <a:r>
              <a:rPr lang="en-US" smtClean="0">
                <a:latin typeface="Arial" charset="0"/>
                <a:cs typeface="Arial" charset="0"/>
              </a:rPr>
              <a:t> </a:t>
            </a:r>
            <a:r>
              <a:rPr lang="en-US" smtClean="0">
                <a:solidFill>
                  <a:srgbClr val="FF0000"/>
                </a:solidFill>
                <a:latin typeface="Arial" charset="0"/>
                <a:cs typeface="Arial" charset="0"/>
              </a:rPr>
              <a:t>loại trừ tr</a:t>
            </a:r>
            <a:r>
              <a:rPr lang="vi-VN" smtClean="0">
                <a:solidFill>
                  <a:srgbClr val="FF0000"/>
                </a:solidFill>
                <a:latin typeface="Arial" charset="0"/>
                <a:cs typeface="Arial" charset="0"/>
              </a:rPr>
              <a:t>ườ</a:t>
            </a:r>
            <a:r>
              <a:rPr lang="en-US" smtClean="0">
                <a:solidFill>
                  <a:srgbClr val="FF0000"/>
                </a:solidFill>
                <a:latin typeface="Arial" charset="0"/>
                <a:cs typeface="Arial" charset="0"/>
              </a:rPr>
              <a:t>ng hợp</a:t>
            </a:r>
            <a:r>
              <a:rPr lang="en-US" smtClean="0">
                <a:latin typeface="Arial" charset="0"/>
                <a:cs typeface="Arial" charset="0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52650"/>
            <a:ext cx="152400" cy="397031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558" name="TextBox 5"/>
          <p:cNvSpPr txBox="1">
            <a:spLocks noChangeArrowheads="1"/>
          </p:cNvSpPr>
          <p:nvPr/>
        </p:nvSpPr>
        <p:spPr bwMode="auto">
          <a:xfrm>
            <a:off x="838200" y="2152650"/>
            <a:ext cx="7010400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latin typeface="Courier New" pitchFamily="49" charset="0"/>
                <a:cs typeface="Courier New" pitchFamily="49" charset="0"/>
              </a:rPr>
              <a:t>if (delta &lt; 0)</a:t>
            </a:r>
          </a:p>
          <a:p>
            <a:pPr eaLnBrk="1" hangingPunct="1"/>
            <a:r>
              <a:rPr lang="en-US" b="1">
                <a:latin typeface="Courier New" pitchFamily="49" charset="0"/>
                <a:cs typeface="Courier New" pitchFamily="49" charset="0"/>
              </a:rPr>
              <a:t>	printf(“PT vo nghiem”);</a:t>
            </a:r>
          </a:p>
          <a:p>
            <a:pPr eaLnBrk="1" hangingPunct="1"/>
            <a:r>
              <a:rPr lang="en-US" b="1">
                <a:latin typeface="Courier New" pitchFamily="49" charset="0"/>
                <a:cs typeface="Courier New" pitchFamily="49" charset="0"/>
              </a:rPr>
              <a:t>if (delta == 0)</a:t>
            </a:r>
          </a:p>
          <a:p>
            <a:pPr eaLnBrk="1" hangingPunct="1"/>
            <a:r>
              <a:rPr lang="en-US" b="1">
                <a:latin typeface="Courier New" pitchFamily="49" charset="0"/>
                <a:cs typeface="Courier New" pitchFamily="49" charset="0"/>
              </a:rPr>
              <a:t>	printf(“PT co nghiem kep”);</a:t>
            </a:r>
          </a:p>
          <a:p>
            <a:pPr eaLnBrk="1" hangingPunct="1"/>
            <a:r>
              <a:rPr lang="en-US" b="1">
                <a:latin typeface="Courier New" pitchFamily="49" charset="0"/>
                <a:cs typeface="Courier New" pitchFamily="49" charset="0"/>
              </a:rPr>
              <a:t>if (delta &gt; 0)</a:t>
            </a:r>
          </a:p>
          <a:p>
            <a:pPr eaLnBrk="1" hangingPunct="1"/>
            <a:r>
              <a:rPr lang="en-US" b="1">
                <a:latin typeface="Courier New" pitchFamily="49" charset="0"/>
                <a:cs typeface="Courier New" pitchFamily="49" charset="0"/>
              </a:rPr>
              <a:t>	printf(“PT co 2 nghiem”);</a:t>
            </a:r>
          </a:p>
          <a:p>
            <a:pPr eaLnBrk="1" hangingPunct="1"/>
            <a:endParaRPr lang="en-US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b="1">
                <a:latin typeface="Courier New" pitchFamily="49" charset="0"/>
                <a:cs typeface="Courier New" pitchFamily="49" charset="0"/>
              </a:rPr>
              <a:t>if (delta &lt; 0)</a:t>
            </a:r>
          </a:p>
          <a:p>
            <a:pPr eaLnBrk="1" hangingPunct="1"/>
            <a:r>
              <a:rPr lang="en-US" b="1">
                <a:latin typeface="Courier New" pitchFamily="49" charset="0"/>
                <a:cs typeface="Courier New" pitchFamily="49" charset="0"/>
              </a:rPr>
              <a:t>	printf(“PT vo nghiem”);</a:t>
            </a:r>
          </a:p>
          <a:p>
            <a:pPr eaLnBrk="1" hangingPunct="1"/>
            <a:r>
              <a:rPr lang="en-US" b="1">
                <a:latin typeface="Courier New" pitchFamily="49" charset="0"/>
                <a:cs typeface="Courier New" pitchFamily="49" charset="0"/>
              </a:rPr>
              <a:t>else	</a:t>
            </a:r>
            <a:r>
              <a:rPr lang="en-US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en-US" b="1" i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delta &gt;= 0</a:t>
            </a:r>
          </a:p>
          <a:p>
            <a:pPr eaLnBrk="1" hangingPunct="1"/>
            <a:r>
              <a:rPr lang="en-US" b="1">
                <a:latin typeface="Courier New" pitchFamily="49" charset="0"/>
                <a:cs typeface="Courier New" pitchFamily="49" charset="0"/>
              </a:rPr>
              <a:t>	if (delta == 0)</a:t>
            </a:r>
          </a:p>
          <a:p>
            <a:pPr eaLnBrk="1" hangingPunct="1"/>
            <a:r>
              <a:rPr lang="en-US" b="1">
                <a:latin typeface="Courier New" pitchFamily="49" charset="0"/>
                <a:cs typeface="Courier New" pitchFamily="49" charset="0"/>
              </a:rPr>
              <a:t>		printf(“PT co nghiem kep”);</a:t>
            </a:r>
          </a:p>
          <a:p>
            <a:pPr eaLnBrk="1" hangingPunct="1"/>
            <a:r>
              <a:rPr lang="en-US" b="1">
                <a:latin typeface="Courier New" pitchFamily="49" charset="0"/>
                <a:cs typeface="Courier New" pitchFamily="49" charset="0"/>
              </a:rPr>
              <a:t>	else</a:t>
            </a:r>
          </a:p>
          <a:p>
            <a:pPr eaLnBrk="1" hangingPunct="1"/>
            <a:r>
              <a:rPr lang="en-US" b="1">
                <a:latin typeface="Courier New" pitchFamily="49" charset="0"/>
                <a:cs typeface="Courier New" pitchFamily="49" charset="0"/>
              </a:rPr>
              <a:t>		printf(“PT co 2 nghiem”);</a:t>
            </a:r>
          </a:p>
        </p:txBody>
      </p:sp>
      <p:sp>
        <p:nvSpPr>
          <p:cNvPr id="7" name="Rectangle 6"/>
          <p:cNvSpPr>
            <a:spLocks/>
          </p:cNvSpPr>
          <p:nvPr/>
        </p:nvSpPr>
        <p:spPr bwMode="auto">
          <a:xfrm>
            <a:off x="0" y="2209800"/>
            <a:ext cx="9128125" cy="1828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0" y="2209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ectangle 13"/>
          <p:cNvSpPr>
            <a:spLocks/>
          </p:cNvSpPr>
          <p:nvPr/>
        </p:nvSpPr>
        <p:spPr bwMode="auto">
          <a:xfrm>
            <a:off x="15875" y="25146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Rectangle 14"/>
          <p:cNvSpPr>
            <a:spLocks/>
          </p:cNvSpPr>
          <p:nvPr/>
        </p:nvSpPr>
        <p:spPr bwMode="auto">
          <a:xfrm>
            <a:off x="15875" y="2971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Rectangle 15"/>
          <p:cNvSpPr>
            <a:spLocks/>
          </p:cNvSpPr>
          <p:nvPr/>
        </p:nvSpPr>
        <p:spPr bwMode="auto">
          <a:xfrm>
            <a:off x="15875" y="3429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Rectangle 16"/>
          <p:cNvSpPr>
            <a:spLocks/>
          </p:cNvSpPr>
          <p:nvPr/>
        </p:nvSpPr>
        <p:spPr bwMode="auto">
          <a:xfrm>
            <a:off x="15875" y="4343400"/>
            <a:ext cx="9128125" cy="2133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Rectangle 17"/>
          <p:cNvSpPr>
            <a:spLocks/>
          </p:cNvSpPr>
          <p:nvPr/>
        </p:nvSpPr>
        <p:spPr bwMode="auto">
          <a:xfrm>
            <a:off x="0" y="4343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Rectangle 18"/>
          <p:cNvSpPr>
            <a:spLocks/>
          </p:cNvSpPr>
          <p:nvPr/>
        </p:nvSpPr>
        <p:spPr bwMode="auto">
          <a:xfrm>
            <a:off x="0" y="4648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505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12" grpId="0" animBg="1"/>
      <p:bldP spid="12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Câu lệnh if - Một số l</a:t>
            </a:r>
            <a:r>
              <a:rPr lang="vi-VN" smtClean="0"/>
              <a:t>ư</a:t>
            </a:r>
            <a:r>
              <a:rPr lang="en-US" smtClean="0"/>
              <a:t>u ý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Không </a:t>
            </a:r>
            <a:r>
              <a:rPr lang="vi-VN" smtClean="0">
                <a:latin typeface="Arial" charset="0"/>
                <a:cs typeface="Arial" charset="0"/>
              </a:rPr>
              <a:t>đượ</a:t>
            </a:r>
            <a:r>
              <a:rPr lang="en-US" smtClean="0">
                <a:latin typeface="Arial" charset="0"/>
                <a:cs typeface="Arial" charset="0"/>
              </a:rPr>
              <a:t>c thêm ; sau </a:t>
            </a:r>
            <a:r>
              <a:rPr lang="vi-VN" smtClean="0">
                <a:latin typeface="Arial" charset="0"/>
                <a:cs typeface="Arial" charset="0"/>
              </a:rPr>
              <a:t>đ</a:t>
            </a:r>
            <a:r>
              <a:rPr lang="en-US" smtClean="0">
                <a:latin typeface="Arial" charset="0"/>
                <a:cs typeface="Arial" charset="0"/>
              </a:rPr>
              <a:t>iều kiện của if.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52650"/>
            <a:ext cx="152400" cy="386715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4582" name="TextBox 5"/>
          <p:cNvSpPr txBox="1">
            <a:spLocks noChangeArrowheads="1"/>
          </p:cNvSpPr>
          <p:nvPr/>
        </p:nvSpPr>
        <p:spPr bwMode="auto">
          <a:xfrm>
            <a:off x="838200" y="2152650"/>
            <a:ext cx="7010400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pPr eaLnBrk="1" hangingPunct="1"/>
            <a:r>
              <a:rPr lang="en-US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b="1">
                <a:latin typeface="Courier New" pitchFamily="49" charset="0"/>
                <a:cs typeface="Courier New" pitchFamily="49" charset="0"/>
              </a:rPr>
              <a:t>	int a = 0;</a:t>
            </a:r>
          </a:p>
          <a:p>
            <a:pPr eaLnBrk="1" hangingPunct="1"/>
            <a:r>
              <a:rPr lang="en-US" b="1">
                <a:latin typeface="Courier New" pitchFamily="49" charset="0"/>
                <a:cs typeface="Courier New" pitchFamily="49" charset="0"/>
              </a:rPr>
              <a:t>	if (a != 0)</a:t>
            </a:r>
          </a:p>
          <a:p>
            <a:pPr eaLnBrk="1" hangingPunct="1"/>
            <a:r>
              <a:rPr lang="en-US" b="1">
                <a:latin typeface="Courier New" pitchFamily="49" charset="0"/>
                <a:cs typeface="Courier New" pitchFamily="49" charset="0"/>
              </a:rPr>
              <a:t>		printf(“a khac 0.”);</a:t>
            </a:r>
          </a:p>
          <a:p>
            <a:pPr eaLnBrk="1" hangingPunct="1"/>
            <a:endParaRPr lang="en-US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b="1">
                <a:latin typeface="Courier New" pitchFamily="49" charset="0"/>
                <a:cs typeface="Courier New" pitchFamily="49" charset="0"/>
              </a:rPr>
              <a:t>	if (a != 0)</a:t>
            </a:r>
            <a:r>
              <a:rPr lang="en-US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/>
            <a:r>
              <a:rPr lang="en-US" b="1">
                <a:latin typeface="Courier New" pitchFamily="49" charset="0"/>
                <a:cs typeface="Courier New" pitchFamily="49" charset="0"/>
              </a:rPr>
              <a:t>		printf(“a khac 0.”);</a:t>
            </a:r>
          </a:p>
          <a:p>
            <a:pPr eaLnBrk="1" hangingPunct="1"/>
            <a:endParaRPr lang="en-US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b="1">
                <a:latin typeface="Courier New" pitchFamily="49" charset="0"/>
                <a:cs typeface="Courier New" pitchFamily="49" charset="0"/>
              </a:rPr>
              <a:t>	if (a != 0)</a:t>
            </a:r>
          </a:p>
          <a:p>
            <a:pPr eaLnBrk="1" hangingPunct="1"/>
            <a:r>
              <a:rPr lang="en-US" b="1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/>
            <a:r>
              <a:rPr lang="en-US" b="1">
                <a:latin typeface="Courier New" pitchFamily="49" charset="0"/>
                <a:cs typeface="Courier New" pitchFamily="49" charset="0"/>
              </a:rPr>
              <a:t>	}</a:t>
            </a:r>
            <a:r>
              <a:rPr lang="en-US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/>
            <a:r>
              <a:rPr lang="en-US" b="1">
                <a:latin typeface="Courier New" pitchFamily="49" charset="0"/>
                <a:cs typeface="Courier New" pitchFamily="49" charset="0"/>
              </a:rPr>
              <a:t>	printf(“a khac 0.”);</a:t>
            </a:r>
          </a:p>
          <a:p>
            <a:pPr eaLnBrk="1" hangingPunct="1"/>
            <a:r>
              <a:rPr lang="en-US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0" y="2819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Rectangle 20"/>
          <p:cNvSpPr>
            <a:spLocks/>
          </p:cNvSpPr>
          <p:nvPr/>
        </p:nvSpPr>
        <p:spPr bwMode="auto">
          <a:xfrm>
            <a:off x="0" y="31242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Rectangle 21"/>
          <p:cNvSpPr>
            <a:spLocks/>
          </p:cNvSpPr>
          <p:nvPr/>
        </p:nvSpPr>
        <p:spPr bwMode="auto">
          <a:xfrm>
            <a:off x="0" y="3124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Rectangle 23"/>
          <p:cNvSpPr>
            <a:spLocks/>
          </p:cNvSpPr>
          <p:nvPr/>
        </p:nvSpPr>
        <p:spPr bwMode="auto">
          <a:xfrm>
            <a:off x="0" y="40386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Rectangle 24"/>
          <p:cNvSpPr>
            <a:spLocks/>
          </p:cNvSpPr>
          <p:nvPr/>
        </p:nvSpPr>
        <p:spPr bwMode="auto">
          <a:xfrm>
            <a:off x="0" y="4953000"/>
            <a:ext cx="9128125" cy="12192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Rectangle 25"/>
          <p:cNvSpPr>
            <a:spLocks/>
          </p:cNvSpPr>
          <p:nvPr/>
        </p:nvSpPr>
        <p:spPr bwMode="auto">
          <a:xfrm>
            <a:off x="0" y="4953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Rectangle 27"/>
          <p:cNvSpPr>
            <a:spLocks/>
          </p:cNvSpPr>
          <p:nvPr/>
        </p:nvSpPr>
        <p:spPr bwMode="auto">
          <a:xfrm>
            <a:off x="0" y="5867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768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21" grpId="0" animBg="1"/>
      <p:bldP spid="21" grpId="1" animBg="1"/>
      <p:bldP spid="22" grpId="0" animBg="1"/>
      <p:bldP spid="22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8" grpId="0" animBg="1"/>
      <p:bldP spid="28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1" y="1600200"/>
            <a:ext cx="4495800" cy="4533900"/>
          </a:xfrm>
        </p:spPr>
        <p:txBody>
          <a:bodyPr>
            <a:normAutofit/>
          </a:bodyPr>
          <a:lstStyle/>
          <a:p>
            <a:pPr marL="1588" indent="12700">
              <a:lnSpc>
                <a:spcPct val="150000"/>
              </a:lnSpc>
              <a:buFont typeface="Wingdings" pitchFamily="2" charset="2"/>
              <a:buNone/>
            </a:pPr>
            <a:r>
              <a:rPr lang="en-US" sz="2000" b="1" smtClean="0">
                <a:latin typeface="Arial" charset="0"/>
              </a:rPr>
              <a:t>Cú </a:t>
            </a:r>
            <a:r>
              <a:rPr lang="en-US" sz="2000" b="1" dirty="0" err="1">
                <a:latin typeface="Arial" charset="0"/>
              </a:rPr>
              <a:t>pháp</a:t>
            </a:r>
            <a:r>
              <a:rPr lang="en-US" sz="2000" b="1" dirty="0">
                <a:latin typeface="Arial" charset="0"/>
              </a:rPr>
              <a:t> </a:t>
            </a:r>
            <a:r>
              <a:rPr lang="en-US" sz="2000" b="1" err="1">
                <a:latin typeface="Arial" charset="0"/>
              </a:rPr>
              <a:t>khai</a:t>
            </a:r>
            <a:r>
              <a:rPr lang="en-US" sz="2000" b="1">
                <a:latin typeface="Arial" charset="0"/>
              </a:rPr>
              <a:t> </a:t>
            </a:r>
            <a:r>
              <a:rPr lang="en-US" sz="2000" b="1" smtClean="0">
                <a:latin typeface="Arial" charset="0"/>
              </a:rPr>
              <a:t>báo</a:t>
            </a:r>
          </a:p>
          <a:p>
            <a:pPr marL="230188" lvl="2" indent="0">
              <a:lnSpc>
                <a:spcPct val="175000"/>
              </a:lnSpc>
              <a:spcBef>
                <a:spcPct val="25000"/>
              </a:spcBef>
              <a:buFontTx/>
              <a:buNone/>
            </a:pPr>
            <a:r>
              <a:rPr lang="en-US" sz="2200" b="1" i="1" smtClean="0"/>
              <a:t>switch</a:t>
            </a:r>
            <a:r>
              <a:rPr lang="en-US" sz="2200" smtClean="0"/>
              <a:t> (&lt;Biến/</a:t>
            </a:r>
            <a:r>
              <a:rPr lang="en-US" sz="2200" smtClean="0">
                <a:solidFill>
                  <a:schemeClr val="tx2"/>
                </a:solidFill>
              </a:rPr>
              <a:t>BT&gt;</a:t>
            </a:r>
            <a:r>
              <a:rPr lang="en-US" sz="2200" smtClean="0"/>
              <a:t>)</a:t>
            </a:r>
          </a:p>
          <a:p>
            <a:pPr marL="230188" lvl="2" indent="0">
              <a:lnSpc>
                <a:spcPct val="95000"/>
              </a:lnSpc>
              <a:spcBef>
                <a:spcPct val="25000"/>
              </a:spcBef>
              <a:buFontTx/>
              <a:buNone/>
            </a:pPr>
            <a:r>
              <a:rPr lang="en-US" sz="2200" smtClean="0"/>
              <a:t>{</a:t>
            </a:r>
            <a:r>
              <a:rPr lang="en-US" sz="2200"/>
              <a:t>	</a:t>
            </a:r>
            <a:endParaRPr lang="en-US" sz="2200" smtClean="0"/>
          </a:p>
          <a:p>
            <a:pPr marL="230188" lvl="2" indent="0">
              <a:lnSpc>
                <a:spcPct val="95000"/>
              </a:lnSpc>
              <a:spcBef>
                <a:spcPct val="25000"/>
              </a:spcBef>
              <a:buFontTx/>
              <a:buNone/>
            </a:pPr>
            <a:r>
              <a:rPr lang="en-US" sz="2200" b="1" i="1" smtClean="0"/>
              <a:t>   </a:t>
            </a:r>
            <a:r>
              <a:rPr lang="en-US" sz="2000" b="1" i="1" smtClean="0"/>
              <a:t>case</a:t>
            </a:r>
            <a:r>
              <a:rPr lang="en-US" sz="2000" smtClean="0"/>
              <a:t> </a:t>
            </a:r>
            <a:r>
              <a:rPr lang="en-US" sz="2000" smtClean="0">
                <a:solidFill>
                  <a:schemeClr val="tx2"/>
                </a:solidFill>
              </a:rPr>
              <a:t>n</a:t>
            </a:r>
            <a:r>
              <a:rPr lang="en-US" sz="2000" baseline="-25000" smtClean="0">
                <a:solidFill>
                  <a:schemeClr val="tx2"/>
                </a:solidFill>
              </a:rPr>
              <a:t>1</a:t>
            </a:r>
            <a:r>
              <a:rPr lang="en-US" sz="2000" smtClean="0"/>
              <a:t>:  </a:t>
            </a:r>
            <a:r>
              <a:rPr lang="en-US" sz="2000" dirty="0"/>
              <a:t>&lt;</a:t>
            </a:r>
            <a:r>
              <a:rPr lang="en-US" sz="2000" dirty="0" err="1">
                <a:solidFill>
                  <a:schemeClr val="tx2"/>
                </a:solidFill>
              </a:rPr>
              <a:t>các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câu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lệnh</a:t>
            </a:r>
            <a:r>
              <a:rPr lang="en-US" sz="2000" dirty="0">
                <a:solidFill>
                  <a:schemeClr val="tx2"/>
                </a:solidFill>
              </a:rPr>
              <a:t>&gt;; &lt;break&gt;;</a:t>
            </a:r>
            <a:endParaRPr lang="en-US" sz="2000" dirty="0"/>
          </a:p>
          <a:p>
            <a:pPr marL="230188" lvl="2" indent="0">
              <a:lnSpc>
                <a:spcPct val="95000"/>
              </a:lnSpc>
              <a:spcBef>
                <a:spcPct val="25000"/>
              </a:spcBef>
              <a:buFontTx/>
              <a:buNone/>
            </a:pPr>
            <a:r>
              <a:rPr lang="en-US" sz="2000" b="1" i="1" smtClean="0"/>
              <a:t>   case</a:t>
            </a:r>
            <a:r>
              <a:rPr lang="en-US" sz="2000" smtClean="0"/>
              <a:t> </a:t>
            </a:r>
            <a:r>
              <a:rPr lang="en-US" sz="2000" dirty="0">
                <a:solidFill>
                  <a:schemeClr val="tx2"/>
                </a:solidFill>
              </a:rPr>
              <a:t>n</a:t>
            </a:r>
            <a:r>
              <a:rPr lang="en-US" sz="2000" baseline="-25000" dirty="0">
                <a:solidFill>
                  <a:schemeClr val="tx2"/>
                </a:solidFill>
              </a:rPr>
              <a:t>2</a:t>
            </a:r>
            <a:r>
              <a:rPr lang="en-US" sz="2000" dirty="0"/>
              <a:t>:  &lt;</a:t>
            </a:r>
            <a:r>
              <a:rPr lang="en-US" sz="2000" dirty="0" err="1">
                <a:solidFill>
                  <a:schemeClr val="tx2"/>
                </a:solidFill>
              </a:rPr>
              <a:t>các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câu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lệnh</a:t>
            </a:r>
            <a:r>
              <a:rPr lang="en-US" sz="2000" dirty="0">
                <a:solidFill>
                  <a:schemeClr val="tx2"/>
                </a:solidFill>
              </a:rPr>
              <a:t>&gt;; &lt;break&gt;;</a:t>
            </a:r>
            <a:endParaRPr lang="en-US" sz="2000" dirty="0"/>
          </a:p>
          <a:p>
            <a:pPr marL="230188" lvl="2" indent="0">
              <a:lnSpc>
                <a:spcPct val="95000"/>
              </a:lnSpc>
              <a:spcBef>
                <a:spcPct val="25000"/>
              </a:spcBef>
              <a:buFontTx/>
              <a:buNone/>
            </a:pPr>
            <a:r>
              <a:rPr lang="en-US" sz="2000" smtClean="0"/>
              <a:t>    ....</a:t>
            </a:r>
            <a:endParaRPr lang="en-US" sz="2000" dirty="0"/>
          </a:p>
          <a:p>
            <a:pPr marL="230188" lvl="2" indent="0">
              <a:lnSpc>
                <a:spcPct val="95000"/>
              </a:lnSpc>
              <a:spcBef>
                <a:spcPct val="25000"/>
              </a:spcBef>
              <a:buFontTx/>
              <a:buNone/>
            </a:pPr>
            <a:r>
              <a:rPr lang="en-US" sz="2000" b="1" i="1" smtClean="0"/>
              <a:t>   case</a:t>
            </a:r>
            <a:r>
              <a:rPr lang="en-US" sz="2000" b="1" smtClean="0"/>
              <a:t> </a:t>
            </a:r>
            <a:r>
              <a:rPr lang="en-US" sz="2000" smtClean="0">
                <a:solidFill>
                  <a:schemeClr val="tx2"/>
                </a:solidFill>
              </a:rPr>
              <a:t>n</a:t>
            </a:r>
            <a:r>
              <a:rPr lang="en-US" sz="2000" baseline="-25000" smtClean="0">
                <a:solidFill>
                  <a:schemeClr val="tx2"/>
                </a:solidFill>
              </a:rPr>
              <a:t>k</a:t>
            </a:r>
            <a:r>
              <a:rPr lang="en-US" sz="2000" smtClean="0"/>
              <a:t>:  </a:t>
            </a:r>
            <a:r>
              <a:rPr lang="en-US" sz="2000" dirty="0"/>
              <a:t>&lt;</a:t>
            </a:r>
            <a:r>
              <a:rPr lang="en-US" sz="2000" dirty="0" err="1">
                <a:solidFill>
                  <a:schemeClr val="tx2"/>
                </a:solidFill>
              </a:rPr>
              <a:t>các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câu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lệnh</a:t>
            </a:r>
            <a:r>
              <a:rPr lang="en-US" sz="2000" dirty="0">
                <a:solidFill>
                  <a:schemeClr val="tx2"/>
                </a:solidFill>
              </a:rPr>
              <a:t>&gt;; &lt;break&gt;;</a:t>
            </a:r>
            <a:endParaRPr lang="en-US" sz="2000" dirty="0"/>
          </a:p>
          <a:p>
            <a:pPr marL="230188" lvl="2" indent="0">
              <a:lnSpc>
                <a:spcPct val="95000"/>
              </a:lnSpc>
              <a:spcBef>
                <a:spcPct val="25000"/>
              </a:spcBef>
              <a:buFontTx/>
              <a:buNone/>
            </a:pPr>
            <a:r>
              <a:rPr lang="en-US" sz="2000" smtClean="0"/>
              <a:t>   [</a:t>
            </a:r>
            <a:r>
              <a:rPr lang="en-US" sz="2000" b="1" i="1" dirty="0"/>
              <a:t>default</a:t>
            </a:r>
            <a:r>
              <a:rPr lang="en-US" sz="2000" i="1" dirty="0"/>
              <a:t>: &lt;</a:t>
            </a:r>
            <a:r>
              <a:rPr lang="en-US" sz="2000" dirty="0" err="1">
                <a:solidFill>
                  <a:schemeClr val="tx2"/>
                </a:solidFill>
              </a:rPr>
              <a:t>các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câu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lệnh</a:t>
            </a:r>
            <a:r>
              <a:rPr lang="en-US" sz="2000" dirty="0">
                <a:solidFill>
                  <a:schemeClr val="tx2"/>
                </a:solidFill>
              </a:rPr>
              <a:t>&gt;; &lt;break&gt;;]</a:t>
            </a:r>
            <a:endParaRPr lang="en-US" sz="2000" dirty="0"/>
          </a:p>
          <a:p>
            <a:pPr marL="230188" lvl="2" indent="0" algn="just">
              <a:lnSpc>
                <a:spcPct val="95000"/>
              </a:lnSpc>
              <a:spcBef>
                <a:spcPct val="25000"/>
              </a:spcBef>
              <a:buFontTx/>
              <a:buNone/>
            </a:pPr>
            <a:r>
              <a:rPr lang="en-US" sz="2200" dirty="0"/>
              <a:t>}</a:t>
            </a:r>
          </a:p>
        </p:txBody>
      </p:sp>
      <p:sp>
        <p:nvSpPr>
          <p:cNvPr id="87046" name="Rectangle 6"/>
          <p:cNvSpPr>
            <a:spLocks noRot="1" noChangeArrowheads="1"/>
          </p:cNvSpPr>
          <p:nvPr/>
        </p:nvSpPr>
        <p:spPr bwMode="auto">
          <a:xfrm>
            <a:off x="4724400" y="2362200"/>
            <a:ext cx="3962400" cy="3276600"/>
          </a:xfrm>
          <a:prstGeom prst="rect">
            <a:avLst/>
          </a:prstGeom>
          <a:noFill/>
          <a:ln w="44450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just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</a:pPr>
            <a:r>
              <a:rPr lang="en-US" b="1" smtClean="0">
                <a:solidFill>
                  <a:schemeClr val="tx2"/>
                </a:solidFill>
              </a:rPr>
              <a:t>n</a:t>
            </a:r>
            <a:r>
              <a:rPr lang="en-US" b="1" baseline="-25000" smtClean="0">
                <a:solidFill>
                  <a:schemeClr val="tx2"/>
                </a:solidFill>
              </a:rPr>
              <a:t>i</a:t>
            </a:r>
            <a:r>
              <a:rPr lang="en-US" smtClean="0">
                <a:solidFill>
                  <a:schemeClr val="tx2"/>
                </a:solidFill>
              </a:rPr>
              <a:t>:</a:t>
            </a:r>
            <a:r>
              <a:rPr lang="en-US" smtClean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hằng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,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. </a:t>
            </a:r>
          </a:p>
          <a:p>
            <a:pPr marL="342900" indent="-342900" algn="just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</a:pPr>
            <a:endParaRPr lang="en-US" b="1" smtClean="0"/>
          </a:p>
          <a:p>
            <a:pPr marL="342900" indent="-342900" algn="just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</a:pPr>
            <a:r>
              <a:rPr lang="en-US" b="1" smtClean="0"/>
              <a:t>Nếu</a:t>
            </a:r>
            <a:r>
              <a:rPr lang="en-US" b="1" smtClean="0">
                <a:solidFill>
                  <a:schemeClr val="tx2"/>
                </a:solidFill>
              </a:rPr>
              <a:t> </a:t>
            </a:r>
            <a:r>
              <a:rPr lang="en-US" b="1" dirty="0" err="1">
                <a:solidFill>
                  <a:schemeClr val="tx2"/>
                </a:solidFill>
              </a:rPr>
              <a:t>giá</a:t>
            </a:r>
            <a:r>
              <a:rPr lang="en-US" b="1" dirty="0">
                <a:solidFill>
                  <a:schemeClr val="tx2"/>
                </a:solidFill>
              </a:rPr>
              <a:t> </a:t>
            </a:r>
            <a:r>
              <a:rPr lang="en-US" b="1" dirty="0" err="1">
                <a:solidFill>
                  <a:schemeClr val="tx2"/>
                </a:solidFill>
              </a:rPr>
              <a:t>trị</a:t>
            </a:r>
            <a:r>
              <a:rPr lang="en-US" b="1" dirty="0">
                <a:solidFill>
                  <a:schemeClr val="tx2"/>
                </a:solidFill>
              </a:rPr>
              <a:t> </a:t>
            </a:r>
            <a:r>
              <a:rPr lang="en-US" b="1" err="1">
                <a:solidFill>
                  <a:schemeClr val="tx2"/>
                </a:solidFill>
              </a:rPr>
              <a:t>của</a:t>
            </a:r>
            <a:r>
              <a:rPr lang="en-US" b="1">
                <a:solidFill>
                  <a:schemeClr val="tx2"/>
                </a:solidFill>
              </a:rPr>
              <a:t> </a:t>
            </a:r>
            <a:r>
              <a:rPr lang="en-US" b="1" smtClean="0">
                <a:solidFill>
                  <a:schemeClr val="tx2"/>
                </a:solidFill>
              </a:rPr>
              <a:t>&lt;Biến/BT&gt; </a:t>
            </a:r>
            <a:r>
              <a:rPr lang="en-US" b="1">
                <a:solidFill>
                  <a:schemeClr val="tx2"/>
                </a:solidFill>
              </a:rPr>
              <a:t>= </a:t>
            </a:r>
            <a:r>
              <a:rPr lang="en-US" b="1" smtClean="0">
                <a:solidFill>
                  <a:schemeClr val="tx2"/>
                </a:solidFill>
              </a:rPr>
              <a:t>n</a:t>
            </a:r>
            <a:r>
              <a:rPr lang="en-US" b="1" baseline="-25000" smtClean="0">
                <a:solidFill>
                  <a:schemeClr val="tx2"/>
                </a:solidFill>
              </a:rPr>
              <a:t>i</a:t>
            </a:r>
            <a:r>
              <a:rPr lang="en-US" b="1" smtClean="0">
                <a:solidFill>
                  <a:schemeClr val="tx2"/>
                </a:solidFill>
              </a:rPr>
              <a:t> </a:t>
            </a:r>
            <a:endParaRPr lang="en-US" b="1" dirty="0">
              <a:solidFill>
                <a:schemeClr val="tx2"/>
              </a:solidFill>
            </a:endParaRPr>
          </a:p>
          <a:p>
            <a:pPr marL="742950" lvl="1" indent="-285750" algn="just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 dirty="0">
                <a:sym typeface="Symbol" pitchFamily="18" charset="2"/>
              </a:rPr>
              <a:t>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b="1">
                <a:solidFill>
                  <a:schemeClr val="tx2"/>
                </a:solidFill>
              </a:rPr>
              <a:t>case </a:t>
            </a:r>
            <a:r>
              <a:rPr lang="en-US" b="1" smtClean="0">
                <a:solidFill>
                  <a:schemeClr val="tx2"/>
                </a:solidFill>
              </a:rPr>
              <a:t>n</a:t>
            </a:r>
            <a:r>
              <a:rPr lang="en-US" b="1" baseline="-25000" smtClean="0">
                <a:solidFill>
                  <a:schemeClr val="tx2"/>
                </a:solidFill>
              </a:rPr>
              <a:t>i</a:t>
            </a:r>
            <a:endParaRPr lang="en-US" b="1" dirty="0">
              <a:solidFill>
                <a:schemeClr val="tx2"/>
              </a:solidFill>
            </a:endParaRPr>
          </a:p>
          <a:p>
            <a:pPr marL="342900" indent="-342900" algn="just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</a:pPr>
            <a:endParaRPr lang="en-US" b="1" smtClean="0"/>
          </a:p>
          <a:p>
            <a:pPr marL="342900" indent="-342900" algn="just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</a:pPr>
            <a:r>
              <a:rPr lang="en-US" b="1" smtClean="0"/>
              <a:t>Nếu </a:t>
            </a:r>
            <a:r>
              <a:rPr lang="en-US" b="1" dirty="0" err="1">
                <a:solidFill>
                  <a:schemeClr val="tx2"/>
                </a:solidFill>
              </a:rPr>
              <a:t>giá</a:t>
            </a:r>
            <a:r>
              <a:rPr lang="en-US" b="1" dirty="0">
                <a:solidFill>
                  <a:schemeClr val="tx2"/>
                </a:solidFill>
              </a:rPr>
              <a:t> </a:t>
            </a:r>
            <a:r>
              <a:rPr lang="en-US" b="1" err="1">
                <a:solidFill>
                  <a:schemeClr val="tx2"/>
                </a:solidFill>
              </a:rPr>
              <a:t>trị</a:t>
            </a:r>
            <a:r>
              <a:rPr lang="en-US" b="1">
                <a:solidFill>
                  <a:schemeClr val="tx2"/>
                </a:solidFill>
              </a:rPr>
              <a:t> </a:t>
            </a:r>
            <a:r>
              <a:rPr lang="en-US" b="1" smtClean="0">
                <a:solidFill>
                  <a:schemeClr val="tx2"/>
                </a:solidFill>
              </a:rPr>
              <a:t>&lt;Biến/BT&gt; khác </a:t>
            </a:r>
            <a:r>
              <a:rPr lang="en-US" b="1" dirty="0" err="1">
                <a:solidFill>
                  <a:schemeClr val="tx2"/>
                </a:solidFill>
              </a:rPr>
              <a:t>tất</a:t>
            </a:r>
            <a:r>
              <a:rPr lang="en-US" b="1" dirty="0">
                <a:solidFill>
                  <a:schemeClr val="tx2"/>
                </a:solidFill>
              </a:rPr>
              <a:t> </a:t>
            </a:r>
            <a:r>
              <a:rPr lang="en-US" b="1" dirty="0" err="1">
                <a:solidFill>
                  <a:schemeClr val="tx2"/>
                </a:solidFill>
              </a:rPr>
              <a:t>cả</a:t>
            </a:r>
            <a:r>
              <a:rPr lang="en-US" b="1" dirty="0">
                <a:solidFill>
                  <a:schemeClr val="tx2"/>
                </a:solidFill>
              </a:rPr>
              <a:t> </a:t>
            </a:r>
            <a:r>
              <a:rPr lang="en-US" b="1" dirty="0" err="1">
                <a:solidFill>
                  <a:schemeClr val="tx2"/>
                </a:solidFill>
              </a:rPr>
              <a:t>các</a:t>
            </a:r>
            <a:r>
              <a:rPr lang="en-US" b="1" dirty="0">
                <a:solidFill>
                  <a:schemeClr val="tx2"/>
                </a:solidFill>
              </a:rPr>
              <a:t> </a:t>
            </a:r>
            <a:r>
              <a:rPr lang="en-US" b="1" err="1">
                <a:solidFill>
                  <a:schemeClr val="tx2"/>
                </a:solidFill>
              </a:rPr>
              <a:t>ni</a:t>
            </a:r>
            <a:r>
              <a:rPr lang="en-US"/>
              <a:t> </a:t>
            </a:r>
            <a:endParaRPr lang="en-US" smtClean="0"/>
          </a:p>
          <a:p>
            <a:pPr marL="342900" indent="-342900" algn="just">
              <a:spcBef>
                <a:spcPct val="20000"/>
              </a:spcBef>
              <a:buClr>
                <a:schemeClr val="hlink"/>
              </a:buClr>
              <a:buFont typeface="Symbol"/>
              <a:buChar char="Þ"/>
            </a:pPr>
            <a:r>
              <a:rPr lang="en-US" smtClean="0">
                <a:sym typeface="Symbol" pitchFamily="18" charset="2"/>
              </a:rPr>
              <a:t>nếu có </a:t>
            </a:r>
            <a:r>
              <a:rPr lang="en-US" b="1" smtClean="0">
                <a:solidFill>
                  <a:schemeClr val="tx2"/>
                </a:solidFill>
              </a:rPr>
              <a:t>default:</a:t>
            </a:r>
            <a:r>
              <a:rPr lang="en-US" smtClean="0">
                <a:sym typeface="Symbol" pitchFamily="18" charset="2"/>
              </a:rPr>
              <a:t> </a:t>
            </a:r>
            <a:r>
              <a:rPr lang="en-US" smtClean="0"/>
              <a:t>thực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err="1"/>
              <a:t>lệnh</a:t>
            </a:r>
            <a:r>
              <a:rPr lang="en-US"/>
              <a:t> </a:t>
            </a:r>
            <a:r>
              <a:rPr lang="en-US" smtClean="0"/>
              <a:t>sau </a:t>
            </a:r>
            <a:r>
              <a:rPr lang="en-US" b="1" smtClean="0">
                <a:solidFill>
                  <a:schemeClr val="tx2"/>
                </a:solidFill>
              </a:rPr>
              <a:t>default</a:t>
            </a:r>
            <a:endParaRPr lang="en-US" smtClean="0"/>
          </a:p>
          <a:p>
            <a:pPr marL="342900" indent="-342900" algn="just">
              <a:spcBef>
                <a:spcPct val="20000"/>
              </a:spcBef>
              <a:buClr>
                <a:schemeClr val="hlink"/>
              </a:buClr>
              <a:buFont typeface="Symbol"/>
              <a:buChar char="Þ"/>
            </a:pPr>
            <a:r>
              <a:rPr lang="en-US" smtClean="0"/>
              <a:t>nếu không có </a:t>
            </a:r>
            <a:r>
              <a:rPr lang="en-US" b="1" smtClean="0">
                <a:solidFill>
                  <a:schemeClr val="tx2"/>
                </a:solidFill>
              </a:rPr>
              <a:t>default:</a:t>
            </a:r>
            <a:r>
              <a:rPr lang="en-US" smtClean="0"/>
              <a:t> thoát </a:t>
            </a:r>
            <a:r>
              <a:rPr lang="en-US" dirty="0" err="1"/>
              <a:t>khỏi</a:t>
            </a:r>
            <a:r>
              <a:rPr lang="en-US" dirty="0"/>
              <a:t> </a:t>
            </a:r>
            <a:r>
              <a:rPr lang="en-US" b="1" dirty="0">
                <a:solidFill>
                  <a:schemeClr val="tx2"/>
                </a:solidFill>
              </a:rPr>
              <a:t>switch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588" indent="12700" algn="ctr">
              <a:lnSpc>
                <a:spcPct val="90000"/>
              </a:lnSpc>
            </a:pPr>
            <a:r>
              <a:rPr lang="en-US" smtClean="0">
                <a:latin typeface="Arial" charset="0"/>
              </a:rPr>
              <a:t>Câu lệnh </a:t>
            </a:r>
            <a:r>
              <a:rPr lang="en-US">
                <a:latin typeface="Arial" charset="0"/>
              </a:rPr>
              <a:t>switch</a:t>
            </a:r>
            <a:endParaRPr lang="en-US" dirty="0">
              <a:latin typeface="Arial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mtClean="0"/>
              <a:t>Ví dụ (không dùng default)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152400" cy="4038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6629" name="TextBox 7"/>
          <p:cNvSpPr txBox="1">
            <a:spLocks noChangeArrowheads="1"/>
          </p:cNvSpPr>
          <p:nvPr/>
        </p:nvSpPr>
        <p:spPr bwMode="auto">
          <a:xfrm>
            <a:off x="838200" y="1600200"/>
            <a:ext cx="7010400" cy="409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a;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printf(“Nhap a: 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scanf(“%d”, &amp;a);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switch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a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</a:t>
            </a:r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case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: printf(“Mot”); break;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case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: printf(“Hai”); break;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case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: printf(“Ba”); break;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0" y="2286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Rectangle 17"/>
          <p:cNvSpPr>
            <a:spLocks/>
          </p:cNvSpPr>
          <p:nvPr/>
        </p:nvSpPr>
        <p:spPr bwMode="auto">
          <a:xfrm>
            <a:off x="0" y="25908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Rectangle 18"/>
          <p:cNvSpPr>
            <a:spLocks/>
          </p:cNvSpPr>
          <p:nvPr/>
        </p:nvSpPr>
        <p:spPr bwMode="auto">
          <a:xfrm>
            <a:off x="0" y="3505200"/>
            <a:ext cx="9128125" cy="1828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Rectangle 19"/>
          <p:cNvSpPr>
            <a:spLocks/>
          </p:cNvSpPr>
          <p:nvPr/>
        </p:nvSpPr>
        <p:spPr bwMode="auto">
          <a:xfrm>
            <a:off x="0" y="3505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Rectangle 20"/>
          <p:cNvSpPr>
            <a:spLocks/>
          </p:cNvSpPr>
          <p:nvPr/>
        </p:nvSpPr>
        <p:spPr bwMode="auto">
          <a:xfrm>
            <a:off x="0" y="4114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Rectangle 21"/>
          <p:cNvSpPr>
            <a:spLocks/>
          </p:cNvSpPr>
          <p:nvPr/>
        </p:nvSpPr>
        <p:spPr bwMode="auto">
          <a:xfrm>
            <a:off x="0" y="5029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Rectangle 22"/>
          <p:cNvSpPr>
            <a:spLocks/>
          </p:cNvSpPr>
          <p:nvPr/>
        </p:nvSpPr>
        <p:spPr bwMode="auto">
          <a:xfrm>
            <a:off x="0" y="44196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Rectangle 23"/>
          <p:cNvSpPr>
            <a:spLocks/>
          </p:cNvSpPr>
          <p:nvPr/>
        </p:nvSpPr>
        <p:spPr bwMode="auto">
          <a:xfrm>
            <a:off x="15875" y="5029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Rectangle 24"/>
          <p:cNvSpPr>
            <a:spLocks/>
          </p:cNvSpPr>
          <p:nvPr/>
        </p:nvSpPr>
        <p:spPr bwMode="auto">
          <a:xfrm>
            <a:off x="0" y="4724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Rectangle 25"/>
          <p:cNvSpPr>
            <a:spLocks/>
          </p:cNvSpPr>
          <p:nvPr/>
        </p:nvSpPr>
        <p:spPr bwMode="auto">
          <a:xfrm>
            <a:off x="0" y="5029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074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Ví dụ (dùng default)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152400" cy="4343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8677" name="TextBox 7"/>
          <p:cNvSpPr txBox="1">
            <a:spLocks noChangeArrowheads="1"/>
          </p:cNvSpPr>
          <p:nvPr/>
        </p:nvSpPr>
        <p:spPr bwMode="auto">
          <a:xfrm>
            <a:off x="838200" y="1600200"/>
            <a:ext cx="7010400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a;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printf(“Nhap a: 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scanf(“%d”, &amp;a);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switch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a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</a:t>
            </a:r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case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: printf(“Mot”); break;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case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: printf(“Hai”); break;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case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: printf(“Ba”); break;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default : printf(“Ko biet doc”);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0" y="2286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Rectangle 17"/>
          <p:cNvSpPr>
            <a:spLocks/>
          </p:cNvSpPr>
          <p:nvPr/>
        </p:nvSpPr>
        <p:spPr bwMode="auto">
          <a:xfrm>
            <a:off x="0" y="25908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Rectangle 18"/>
          <p:cNvSpPr>
            <a:spLocks/>
          </p:cNvSpPr>
          <p:nvPr/>
        </p:nvSpPr>
        <p:spPr bwMode="auto">
          <a:xfrm>
            <a:off x="0" y="3505200"/>
            <a:ext cx="9128125" cy="2133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Rectangle 19"/>
          <p:cNvSpPr>
            <a:spLocks/>
          </p:cNvSpPr>
          <p:nvPr/>
        </p:nvSpPr>
        <p:spPr bwMode="auto">
          <a:xfrm>
            <a:off x="0" y="3505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Rectangle 20"/>
          <p:cNvSpPr>
            <a:spLocks/>
          </p:cNvSpPr>
          <p:nvPr/>
        </p:nvSpPr>
        <p:spPr bwMode="auto">
          <a:xfrm>
            <a:off x="0" y="4114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Rectangle 21"/>
          <p:cNvSpPr>
            <a:spLocks/>
          </p:cNvSpPr>
          <p:nvPr/>
        </p:nvSpPr>
        <p:spPr bwMode="auto">
          <a:xfrm>
            <a:off x="0" y="5334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Rectangle 22"/>
          <p:cNvSpPr>
            <a:spLocks/>
          </p:cNvSpPr>
          <p:nvPr/>
        </p:nvSpPr>
        <p:spPr bwMode="auto">
          <a:xfrm>
            <a:off x="0" y="44196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Rectangle 23"/>
          <p:cNvSpPr>
            <a:spLocks/>
          </p:cNvSpPr>
          <p:nvPr/>
        </p:nvSpPr>
        <p:spPr bwMode="auto">
          <a:xfrm>
            <a:off x="0" y="5334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Rectangle 24"/>
          <p:cNvSpPr>
            <a:spLocks/>
          </p:cNvSpPr>
          <p:nvPr/>
        </p:nvSpPr>
        <p:spPr bwMode="auto">
          <a:xfrm>
            <a:off x="0" y="4724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Rectangle 25"/>
          <p:cNvSpPr>
            <a:spLocks/>
          </p:cNvSpPr>
          <p:nvPr/>
        </p:nvSpPr>
        <p:spPr bwMode="auto">
          <a:xfrm>
            <a:off x="0" y="5334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Rectangle 15"/>
          <p:cNvSpPr>
            <a:spLocks/>
          </p:cNvSpPr>
          <p:nvPr/>
        </p:nvSpPr>
        <p:spPr bwMode="auto">
          <a:xfrm>
            <a:off x="0" y="5029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Rectangle 16"/>
          <p:cNvSpPr>
            <a:spLocks/>
          </p:cNvSpPr>
          <p:nvPr/>
        </p:nvSpPr>
        <p:spPr bwMode="auto">
          <a:xfrm>
            <a:off x="15875" y="5334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163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16" grpId="0" animBg="1"/>
      <p:bldP spid="16" grpId="1" animBg="1"/>
      <p:bldP spid="17" grpId="0" animBg="1"/>
      <p:bldP spid="17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Câu lệnh switch - Một số l</a:t>
            </a:r>
            <a:r>
              <a:rPr lang="vi-VN" smtClean="0"/>
              <a:t>ư</a:t>
            </a:r>
            <a:r>
              <a:rPr lang="en-US" smtClean="0"/>
              <a:t>u ý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switch sẽ nhảy </a:t>
            </a:r>
            <a:r>
              <a:rPr lang="vi-VN" smtClean="0">
                <a:latin typeface="Arial" charset="0"/>
                <a:cs typeface="Arial" charset="0"/>
              </a:rPr>
              <a:t>đế</a:t>
            </a:r>
            <a:r>
              <a:rPr lang="en-US" smtClean="0">
                <a:latin typeface="Arial" charset="0"/>
                <a:cs typeface="Arial" charset="0"/>
              </a:rPr>
              <a:t>n case t</a:t>
            </a:r>
            <a:r>
              <a:rPr lang="vi-VN" smtClean="0">
                <a:latin typeface="Arial" charset="0"/>
                <a:cs typeface="Arial" charset="0"/>
              </a:rPr>
              <a:t>ươ</a:t>
            </a:r>
            <a:r>
              <a:rPr lang="en-US" smtClean="0">
                <a:latin typeface="Arial" charset="0"/>
                <a:cs typeface="Arial" charset="0"/>
              </a:rPr>
              <a:t>ng ứng và thực hiện </a:t>
            </a:r>
            <a:r>
              <a:rPr lang="vi-VN" smtClean="0">
                <a:latin typeface="Arial" charset="0"/>
                <a:cs typeface="Arial" charset="0"/>
              </a:rPr>
              <a:t>đế</a:t>
            </a:r>
            <a:r>
              <a:rPr lang="en-US" smtClean="0">
                <a:latin typeface="Arial" charset="0"/>
                <a:cs typeface="Arial" charset="0"/>
              </a:rPr>
              <a:t>n khi nào gặp break hoặc cuối switch sẽ kết thúc.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623608"/>
            <a:ext cx="152400" cy="1905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38200" y="3623608"/>
            <a:ext cx="7010400" cy="193899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switch (a)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case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: printf(“Mot”); </a:t>
            </a:r>
            <a:r>
              <a:rPr lang="en-US" sz="2000" b="1" strike="sngStrike">
                <a:latin typeface="Courier New" pitchFamily="49" charset="0"/>
                <a:cs typeface="Courier New" pitchFamily="49" charset="0"/>
              </a:rPr>
              <a:t>break;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case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: printf(“Hai”); </a:t>
            </a:r>
            <a:r>
              <a:rPr lang="en-US" sz="2000" b="1" strike="sngStrike">
                <a:latin typeface="Courier New" pitchFamily="49" charset="0"/>
                <a:cs typeface="Courier New" pitchFamily="49" charset="0"/>
              </a:rPr>
              <a:t>break;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case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: printf(“Ba”); </a:t>
            </a:r>
            <a:r>
              <a:rPr lang="en-US" sz="2000" b="1" strike="sngStrike">
                <a:latin typeface="Courier New" pitchFamily="49" charset="0"/>
                <a:cs typeface="Courier New" pitchFamily="49" charset="0"/>
              </a:rPr>
              <a:t>break;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7" name="Rectangle 6"/>
          <p:cNvSpPr>
            <a:spLocks/>
          </p:cNvSpPr>
          <p:nvPr/>
        </p:nvSpPr>
        <p:spPr bwMode="auto">
          <a:xfrm>
            <a:off x="0" y="3699808"/>
            <a:ext cx="9128125" cy="1828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0" y="3699808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0" y="4309408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0" y="4614208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4919008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0" y="5223808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440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Câu lệnh switch - Một số l</a:t>
            </a:r>
            <a:r>
              <a:rPr lang="vi-VN" smtClean="0"/>
              <a:t>ư</a:t>
            </a:r>
            <a:r>
              <a:rPr lang="en-US" smtClean="0"/>
              <a:t>u ý</a:t>
            </a:r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eaLnBrk="1" hangingPunct="1"/>
            <a:r>
              <a:rPr lang="en-US" sz="3000" smtClean="0">
                <a:latin typeface="Arial" charset="0"/>
                <a:cs typeface="Arial" charset="0"/>
              </a:rPr>
              <a:t>switch nhảy </a:t>
            </a:r>
            <a:r>
              <a:rPr lang="vi-VN" sz="3000" smtClean="0">
                <a:latin typeface="Arial" charset="0"/>
                <a:cs typeface="Arial" charset="0"/>
              </a:rPr>
              <a:t>đế</a:t>
            </a:r>
            <a:r>
              <a:rPr lang="en-US" sz="3000" smtClean="0">
                <a:latin typeface="Arial" charset="0"/>
                <a:cs typeface="Arial" charset="0"/>
              </a:rPr>
              <a:t>n case t</a:t>
            </a:r>
            <a:r>
              <a:rPr lang="vi-VN" sz="3000" smtClean="0">
                <a:latin typeface="Arial" charset="0"/>
                <a:cs typeface="Arial" charset="0"/>
              </a:rPr>
              <a:t>ươ</a:t>
            </a:r>
            <a:r>
              <a:rPr lang="en-US" sz="3000" smtClean="0">
                <a:latin typeface="Arial" charset="0"/>
                <a:cs typeface="Arial" charset="0"/>
              </a:rPr>
              <a:t>ng ứng và thực hiện </a:t>
            </a:r>
            <a:r>
              <a:rPr lang="vi-VN" sz="3000" smtClean="0">
                <a:latin typeface="Arial" charset="0"/>
                <a:cs typeface="Arial" charset="0"/>
              </a:rPr>
              <a:t>đế</a:t>
            </a:r>
            <a:r>
              <a:rPr lang="en-US" sz="3000" smtClean="0">
                <a:latin typeface="Arial" charset="0"/>
                <a:cs typeface="Arial" charset="0"/>
              </a:rPr>
              <a:t>n khi nào gặp break hoặc cuối switch sẽ kết thúc.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1675" y="2971800"/>
            <a:ext cx="152399" cy="286232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54075" y="3048000"/>
            <a:ext cx="7010400" cy="286232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switch (a</a:t>
            </a:r>
            <a:r>
              <a:rPr lang="en-US" b="1" smtClean="0">
                <a:latin typeface="Courier New" pitchFamily="49" charset="0"/>
                <a:cs typeface="Courier New" pitchFamily="49" charset="0"/>
              </a:rPr>
              <a:t>){</a:t>
            </a:r>
            <a:endParaRPr lang="en-US" b="1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	case </a:t>
            </a:r>
            <a:r>
              <a:rPr lang="en-US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 : printf(“Mot”); </a:t>
            </a:r>
            <a:r>
              <a:rPr lang="en-US" b="1" strike="sngStrike">
                <a:latin typeface="Courier New" pitchFamily="49" charset="0"/>
                <a:cs typeface="Courier New" pitchFamily="49" charset="0"/>
              </a:rPr>
              <a:t>break;</a:t>
            </a:r>
          </a:p>
          <a:p>
            <a:pPr>
              <a:defRPr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	case </a:t>
            </a:r>
            <a:r>
              <a:rPr lang="en-US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 : printf(“Hai”); </a:t>
            </a:r>
            <a:r>
              <a:rPr lang="en-US" b="1" strike="sngStrike">
                <a:latin typeface="Courier New" pitchFamily="49" charset="0"/>
                <a:cs typeface="Courier New" pitchFamily="49" charset="0"/>
              </a:rPr>
              <a:t>break;</a:t>
            </a:r>
          </a:p>
          <a:p>
            <a:pPr>
              <a:defRPr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	case </a:t>
            </a:r>
            <a:r>
              <a:rPr lang="en-US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 : printf(“Ba”); </a:t>
            </a:r>
            <a:r>
              <a:rPr lang="en-US" b="1" strike="sngStrike">
                <a:latin typeface="Courier New" pitchFamily="49" charset="0"/>
                <a:cs typeface="Courier New" pitchFamily="49" charset="0"/>
              </a:rPr>
              <a:t>break;</a:t>
            </a:r>
          </a:p>
          <a:p>
            <a:pPr>
              <a:defRPr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defRPr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switch (a</a:t>
            </a:r>
            <a:r>
              <a:rPr lang="en-US" b="1" smtClean="0">
                <a:latin typeface="Courier New" pitchFamily="49" charset="0"/>
                <a:cs typeface="Courier New" pitchFamily="49" charset="0"/>
              </a:rPr>
              <a:t>){</a:t>
            </a:r>
            <a:endParaRPr lang="en-US" b="1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	case </a:t>
            </a:r>
            <a:r>
              <a:rPr lang="en-US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 : printf(“Mot”); break;</a:t>
            </a:r>
          </a:p>
          <a:p>
            <a:pPr>
              <a:defRPr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	case </a:t>
            </a:r>
            <a:r>
              <a:rPr lang="en-US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 : printf(“Hai”); break;</a:t>
            </a:r>
          </a:p>
          <a:p>
            <a:pPr>
              <a:defRPr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	case </a:t>
            </a:r>
            <a:r>
              <a:rPr lang="en-US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 : printf(“Ba”); </a:t>
            </a:r>
            <a:r>
              <a:rPr lang="en-US" b="1" strike="sngStrike">
                <a:latin typeface="Courier New" pitchFamily="49" charset="0"/>
                <a:cs typeface="Courier New" pitchFamily="49" charset="0"/>
              </a:rPr>
              <a:t>break;</a:t>
            </a:r>
          </a:p>
          <a:p>
            <a:pPr>
              <a:defRPr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093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Câu lệnh switch - Một số l</a:t>
            </a:r>
            <a:r>
              <a:rPr lang="vi-VN" smtClean="0"/>
              <a:t>ư</a:t>
            </a:r>
            <a:r>
              <a:rPr lang="en-US" smtClean="0"/>
              <a:t>u ý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Tận dụng tính chất khi bỏ break;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09800"/>
            <a:ext cx="152400" cy="4343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38200" y="2209800"/>
            <a:ext cx="7010400" cy="440120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switch (a)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case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: printf(“So le”); break;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case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: printf(“So chan”); break;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case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: printf(“So le”); break;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case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4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: printf(“So chan”); </a:t>
            </a:r>
            <a:r>
              <a:rPr lang="en-US" sz="2000" b="1" strike="sngStrike">
                <a:latin typeface="Courier New" pitchFamily="49" charset="0"/>
                <a:cs typeface="Courier New" pitchFamily="49" charset="0"/>
              </a:rPr>
              <a:t>break;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switch (a)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case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: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case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: printf(“So le”); break;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case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: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case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4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: printf(“So chan”); </a:t>
            </a:r>
            <a:r>
              <a:rPr lang="en-US" sz="2000" b="1" strike="sngStrike">
                <a:latin typeface="Courier New" pitchFamily="49" charset="0"/>
                <a:cs typeface="Courier New" pitchFamily="49" charset="0"/>
              </a:rPr>
              <a:t>break;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1" name="Rectangle 20"/>
          <p:cNvSpPr>
            <a:spLocks/>
          </p:cNvSpPr>
          <p:nvPr/>
        </p:nvSpPr>
        <p:spPr bwMode="auto">
          <a:xfrm>
            <a:off x="0" y="2286000"/>
            <a:ext cx="9128125" cy="2133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Rectangle 21"/>
          <p:cNvSpPr>
            <a:spLocks/>
          </p:cNvSpPr>
          <p:nvPr/>
        </p:nvSpPr>
        <p:spPr bwMode="auto">
          <a:xfrm>
            <a:off x="0" y="28956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Rectangle 22"/>
          <p:cNvSpPr>
            <a:spLocks/>
          </p:cNvSpPr>
          <p:nvPr/>
        </p:nvSpPr>
        <p:spPr bwMode="auto">
          <a:xfrm>
            <a:off x="15875" y="4114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Rectangle 23"/>
          <p:cNvSpPr>
            <a:spLocks/>
          </p:cNvSpPr>
          <p:nvPr/>
        </p:nvSpPr>
        <p:spPr bwMode="auto">
          <a:xfrm>
            <a:off x="0" y="3200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Rectangle 24"/>
          <p:cNvSpPr>
            <a:spLocks/>
          </p:cNvSpPr>
          <p:nvPr/>
        </p:nvSpPr>
        <p:spPr bwMode="auto">
          <a:xfrm>
            <a:off x="15875" y="4114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Rectangle 25"/>
          <p:cNvSpPr>
            <a:spLocks/>
          </p:cNvSpPr>
          <p:nvPr/>
        </p:nvSpPr>
        <p:spPr bwMode="auto">
          <a:xfrm>
            <a:off x="0" y="3505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Rectangle 26"/>
          <p:cNvSpPr>
            <a:spLocks/>
          </p:cNvSpPr>
          <p:nvPr/>
        </p:nvSpPr>
        <p:spPr bwMode="auto">
          <a:xfrm>
            <a:off x="0" y="4114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Rectangle 27"/>
          <p:cNvSpPr>
            <a:spLocks/>
          </p:cNvSpPr>
          <p:nvPr/>
        </p:nvSpPr>
        <p:spPr bwMode="auto">
          <a:xfrm>
            <a:off x="0" y="3810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Rectangle 28"/>
          <p:cNvSpPr>
            <a:spLocks/>
          </p:cNvSpPr>
          <p:nvPr/>
        </p:nvSpPr>
        <p:spPr bwMode="auto">
          <a:xfrm>
            <a:off x="0" y="4114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Rectangle 29"/>
          <p:cNvSpPr>
            <a:spLocks/>
          </p:cNvSpPr>
          <p:nvPr/>
        </p:nvSpPr>
        <p:spPr bwMode="auto">
          <a:xfrm>
            <a:off x="0" y="4419600"/>
            <a:ext cx="9128125" cy="2133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Rectangle 30"/>
          <p:cNvSpPr>
            <a:spLocks/>
          </p:cNvSpPr>
          <p:nvPr/>
        </p:nvSpPr>
        <p:spPr bwMode="auto">
          <a:xfrm>
            <a:off x="0" y="5029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Rectangle 31"/>
          <p:cNvSpPr>
            <a:spLocks/>
          </p:cNvSpPr>
          <p:nvPr/>
        </p:nvSpPr>
        <p:spPr bwMode="auto">
          <a:xfrm>
            <a:off x="0" y="5334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Rectangle 32"/>
          <p:cNvSpPr>
            <a:spLocks/>
          </p:cNvSpPr>
          <p:nvPr/>
        </p:nvSpPr>
        <p:spPr bwMode="auto">
          <a:xfrm>
            <a:off x="0" y="6248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Rectangle 33"/>
          <p:cNvSpPr>
            <a:spLocks/>
          </p:cNvSpPr>
          <p:nvPr/>
        </p:nvSpPr>
        <p:spPr bwMode="auto">
          <a:xfrm>
            <a:off x="0" y="5638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Rectangle 34"/>
          <p:cNvSpPr>
            <a:spLocks/>
          </p:cNvSpPr>
          <p:nvPr/>
        </p:nvSpPr>
        <p:spPr bwMode="auto">
          <a:xfrm>
            <a:off x="0" y="59436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Rectangle 35"/>
          <p:cNvSpPr>
            <a:spLocks/>
          </p:cNvSpPr>
          <p:nvPr/>
        </p:nvSpPr>
        <p:spPr bwMode="auto">
          <a:xfrm>
            <a:off x="0" y="6248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Rectangle 36"/>
          <p:cNvSpPr>
            <a:spLocks/>
          </p:cNvSpPr>
          <p:nvPr/>
        </p:nvSpPr>
        <p:spPr bwMode="auto">
          <a:xfrm>
            <a:off x="0" y="5334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Rectangle 38"/>
          <p:cNvSpPr>
            <a:spLocks/>
          </p:cNvSpPr>
          <p:nvPr/>
        </p:nvSpPr>
        <p:spPr bwMode="auto">
          <a:xfrm>
            <a:off x="0" y="6248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" name="Rectangle 39"/>
          <p:cNvSpPr>
            <a:spLocks/>
          </p:cNvSpPr>
          <p:nvPr/>
        </p:nvSpPr>
        <p:spPr bwMode="auto">
          <a:xfrm>
            <a:off x="0" y="59436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" name="Rectangle 40"/>
          <p:cNvSpPr>
            <a:spLocks/>
          </p:cNvSpPr>
          <p:nvPr/>
        </p:nvSpPr>
        <p:spPr bwMode="auto">
          <a:xfrm>
            <a:off x="15875" y="6248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995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Char char="v"/>
            </a:pPr>
            <a:r>
              <a:rPr lang="en-US" smtClean="0"/>
              <a:t> Câu lệnh if</a:t>
            </a:r>
          </a:p>
        </p:txBody>
      </p:sp>
      <p:sp>
        <p:nvSpPr>
          <p:cNvPr id="34819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Char char="v"/>
            </a:pPr>
            <a:r>
              <a:rPr lang="en-US" smtClean="0"/>
              <a:t> Câu lệnh switch</a:t>
            </a:r>
          </a:p>
        </p:txBody>
      </p:sp>
      <p:sp>
        <p:nvSpPr>
          <p:cNvPr id="3482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Kinh nghiệm lập trình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14600"/>
            <a:ext cx="152400" cy="3200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09600" y="2514600"/>
            <a:ext cx="3352800" cy="31702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if (</a:t>
            </a: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==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   printf(“Mot”);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if (</a:t>
            </a: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==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   printf(“Hai”);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if (</a:t>
            </a: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==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   printf(“Ba”);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if (</a:t>
            </a: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==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4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   printf(“Bon”);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if (</a:t>
            </a: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==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5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   printf(“Nam”);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514600"/>
            <a:ext cx="152400" cy="37338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724400" y="2514600"/>
            <a:ext cx="4419600" cy="37861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switch (</a:t>
            </a: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   case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:	printf(“Mot”);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	break;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   case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:	printf(“Hai”);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	break;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   case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:	printf(“Ba”);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	break;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   case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4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:	printf(“Bon”);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	break;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   case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5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:	printf(“Nam”);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509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 animBg="1"/>
      <p:bldP spid="1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Char char="v"/>
            </a:pPr>
            <a:r>
              <a:rPr lang="en-US" smtClean="0"/>
              <a:t> Câu lệnh switch</a:t>
            </a:r>
          </a:p>
        </p:txBody>
      </p:sp>
      <p:sp>
        <p:nvSpPr>
          <p:cNvPr id="35843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Char char="v"/>
            </a:pPr>
            <a:r>
              <a:rPr lang="en-US" smtClean="0"/>
              <a:t> Câu lệnh if</a:t>
            </a:r>
          </a:p>
        </p:txBody>
      </p:sp>
      <p:sp>
        <p:nvSpPr>
          <p:cNvPr id="358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Kinh nghiệm lập trình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14600"/>
            <a:ext cx="152400" cy="3124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09600" y="2514600"/>
            <a:ext cx="3810000" cy="317009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switch (</a:t>
            </a: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a)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sz="2000" b="1" strike="sngStrike">
                <a:latin typeface="Courier New" pitchFamily="49" charset="0"/>
                <a:cs typeface="Courier New" pitchFamily="49" charset="0"/>
              </a:rPr>
              <a:t>case </a:t>
            </a:r>
            <a:r>
              <a:rPr lang="en-US" sz="2000" b="1" strike="sngStrike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3.14</a:t>
            </a:r>
            <a:r>
              <a:rPr lang="en-US" sz="2000" b="1" strike="sngStrike">
                <a:latin typeface="Courier New" pitchFamily="49" charset="0"/>
                <a:cs typeface="Courier New" pitchFamily="49" charset="0"/>
              </a:rPr>
              <a:t>: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	                                            </a:t>
            </a:r>
            <a:r>
              <a:rPr lang="en-US" sz="2000" b="1" strike="sngStrike">
                <a:latin typeface="Courier New" pitchFamily="49" charset="0"/>
                <a:cs typeface="Courier New" pitchFamily="49" charset="0"/>
              </a:rPr>
              <a:t>case </a:t>
            </a:r>
            <a:r>
              <a:rPr lang="en-US" sz="2000" b="1" strike="sngStrike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&lt;10</a:t>
            </a:r>
            <a:r>
              <a:rPr lang="en-US" sz="2000" b="1" strike="sngStrike">
                <a:latin typeface="Courier New" pitchFamily="49" charset="0"/>
                <a:cs typeface="Courier New" pitchFamily="49" charset="0"/>
              </a:rPr>
              <a:t>: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case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: printf(“OK”);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  break;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case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: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case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: printf(“OK”);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  break;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514600"/>
            <a:ext cx="152400" cy="2514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724400" y="2590800"/>
            <a:ext cx="3733800" cy="2554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if (</a:t>
            </a: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==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3.14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printf(“OK”);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if (</a:t>
            </a: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printf(“OK”);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if (</a:t>
            </a: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a 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==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printf(“OK”);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if (</a:t>
            </a: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a 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==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|| </a:t>
            </a: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a 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==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printf(“OK”);</a:t>
            </a:r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4724400" y="2590800"/>
            <a:ext cx="3429000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ectangle 13"/>
          <p:cNvSpPr>
            <a:spLocks/>
          </p:cNvSpPr>
          <p:nvPr/>
        </p:nvSpPr>
        <p:spPr bwMode="auto">
          <a:xfrm>
            <a:off x="609600" y="3200400"/>
            <a:ext cx="3429000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Rectangle 14"/>
          <p:cNvSpPr>
            <a:spLocks/>
          </p:cNvSpPr>
          <p:nvPr/>
        </p:nvSpPr>
        <p:spPr bwMode="auto">
          <a:xfrm>
            <a:off x="609600" y="3505200"/>
            <a:ext cx="3429000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Rectangle 15"/>
          <p:cNvSpPr>
            <a:spLocks/>
          </p:cNvSpPr>
          <p:nvPr/>
        </p:nvSpPr>
        <p:spPr bwMode="auto">
          <a:xfrm>
            <a:off x="4724400" y="3200400"/>
            <a:ext cx="3429000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Rectangle 16"/>
          <p:cNvSpPr>
            <a:spLocks/>
          </p:cNvSpPr>
          <p:nvPr/>
        </p:nvSpPr>
        <p:spPr bwMode="auto">
          <a:xfrm>
            <a:off x="609600" y="3810000"/>
            <a:ext cx="3429000" cy="5334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Rectangle 17"/>
          <p:cNvSpPr>
            <a:spLocks/>
          </p:cNvSpPr>
          <p:nvPr/>
        </p:nvSpPr>
        <p:spPr bwMode="auto">
          <a:xfrm>
            <a:off x="4724400" y="3810000"/>
            <a:ext cx="3429000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Rectangle 18"/>
          <p:cNvSpPr>
            <a:spLocks/>
          </p:cNvSpPr>
          <p:nvPr/>
        </p:nvSpPr>
        <p:spPr bwMode="auto">
          <a:xfrm>
            <a:off x="609600" y="4343400"/>
            <a:ext cx="3429000" cy="990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Rectangle 19"/>
          <p:cNvSpPr>
            <a:spLocks/>
          </p:cNvSpPr>
          <p:nvPr/>
        </p:nvSpPr>
        <p:spPr bwMode="auto">
          <a:xfrm>
            <a:off x="4724400" y="4419600"/>
            <a:ext cx="3429000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861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/>
      <p:bldP spid="13" grpId="0" animBg="1"/>
      <p:bldP spid="13" grpId="1" animBg="1"/>
      <p:bldP spid="14" grpId="0" animBg="1"/>
      <p:bldP spid="14" grpId="1" animBg="1"/>
      <p:bldP spid="15" grpId="0" animBg="1"/>
      <p:bldP spid="16" grpId="0" animBg="1"/>
      <p:bldP spid="17" grpId="0" animBg="1"/>
      <p:bldP spid="17" grpId="1" animBg="1"/>
      <p:bldP spid="18" grpId="0" animBg="1"/>
      <p:bldP spid="18" grpId="1" animBg="1"/>
      <p:bldP spid="19" grpId="0" animBg="1"/>
      <p:bldP spid="2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Bài tập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eaLnBrk="1" hangingPunct="1">
              <a:buFont typeface="+mj-lt"/>
              <a:buAutoNum type="arabicPeriod" startAt="3"/>
              <a:defRPr/>
            </a:pPr>
            <a:r>
              <a:rPr lang="en-US" smtClean="0"/>
              <a:t>Nhập một số bất kỳ. Hãy </a:t>
            </a:r>
            <a:r>
              <a:rPr lang="vi-VN" smtClean="0"/>
              <a:t>đọ</a:t>
            </a:r>
            <a:r>
              <a:rPr lang="en-US" smtClean="0"/>
              <a:t>c giá trị của số nguyên </a:t>
            </a:r>
            <a:r>
              <a:rPr lang="vi-VN" smtClean="0"/>
              <a:t>đó</a:t>
            </a:r>
            <a:r>
              <a:rPr lang="en-US" smtClean="0"/>
              <a:t> nếu nó có giá trị từ 0 </a:t>
            </a:r>
            <a:r>
              <a:rPr lang="vi-VN" smtClean="0"/>
              <a:t>đế</a:t>
            </a:r>
            <a:r>
              <a:rPr lang="en-US" smtClean="0"/>
              <a:t>n 9, ng</a:t>
            </a:r>
            <a:r>
              <a:rPr lang="vi-VN" smtClean="0"/>
              <a:t>ượ</a:t>
            </a:r>
            <a:r>
              <a:rPr lang="en-US" smtClean="0"/>
              <a:t>c lại thông báo không </a:t>
            </a:r>
            <a:r>
              <a:rPr lang="vi-VN" smtClean="0"/>
              <a:t>đọ</a:t>
            </a:r>
            <a:r>
              <a:rPr lang="en-US" smtClean="0"/>
              <a:t>c </a:t>
            </a:r>
            <a:r>
              <a:rPr lang="vi-VN" smtClean="0"/>
              <a:t>đượ</a:t>
            </a:r>
            <a:r>
              <a:rPr lang="en-US" smtClean="0"/>
              <a:t>c.</a:t>
            </a:r>
          </a:p>
          <a:p>
            <a:pPr marL="514350" indent="-514350" eaLnBrk="1" hangingPunct="1">
              <a:buFont typeface="+mj-lt"/>
              <a:buAutoNum type="arabicPeriod" startAt="3"/>
              <a:defRPr/>
            </a:pPr>
            <a:r>
              <a:rPr lang="en-US" smtClean="0"/>
              <a:t>Nhập một chữ cái. Nếu là chữ th</a:t>
            </a:r>
            <a:r>
              <a:rPr lang="vi-VN" smtClean="0"/>
              <a:t>ườ</a:t>
            </a:r>
            <a:r>
              <a:rPr lang="en-US" smtClean="0"/>
              <a:t>ng thì </a:t>
            </a:r>
            <a:r>
              <a:rPr lang="vi-VN" smtClean="0"/>
              <a:t>đổ</a:t>
            </a:r>
            <a:r>
              <a:rPr lang="en-US" smtClean="0"/>
              <a:t>i sang chữ hoa, ng</a:t>
            </a:r>
            <a:r>
              <a:rPr lang="vi-VN" smtClean="0"/>
              <a:t>ượ</a:t>
            </a:r>
            <a:r>
              <a:rPr lang="en-US" smtClean="0"/>
              <a:t>c lại </a:t>
            </a:r>
            <a:r>
              <a:rPr lang="vi-VN" smtClean="0"/>
              <a:t>đổ</a:t>
            </a:r>
            <a:r>
              <a:rPr lang="en-US" smtClean="0"/>
              <a:t>i sang chữ th</a:t>
            </a:r>
            <a:r>
              <a:rPr lang="vi-VN" smtClean="0"/>
              <a:t>ườ</a:t>
            </a:r>
            <a:r>
              <a:rPr lang="en-US" smtClean="0"/>
              <a:t>ng.</a:t>
            </a:r>
          </a:p>
          <a:p>
            <a:pPr marL="514350" indent="-514350" eaLnBrk="1" hangingPunct="1">
              <a:buFont typeface="+mj-lt"/>
              <a:buAutoNum type="arabicPeriod" startAt="3"/>
              <a:defRPr/>
            </a:pPr>
            <a:r>
              <a:rPr lang="en-US" smtClean="0"/>
              <a:t>Giải ph</a:t>
            </a:r>
            <a:r>
              <a:rPr lang="vi-VN" smtClean="0"/>
              <a:t>ươ</a:t>
            </a:r>
            <a:r>
              <a:rPr lang="en-US" smtClean="0"/>
              <a:t>ng trình bậc nhất ax + b = 0.</a:t>
            </a:r>
          </a:p>
          <a:p>
            <a:pPr marL="514350" indent="-514350" eaLnBrk="1" hangingPunct="1">
              <a:buFont typeface="+mj-lt"/>
              <a:buAutoNum type="arabicPeriod" startAt="3"/>
              <a:defRPr/>
            </a:pPr>
            <a:r>
              <a:rPr lang="en-US" spc="-100" smtClean="0"/>
              <a:t>Giải ph</a:t>
            </a:r>
            <a:r>
              <a:rPr lang="vi-VN" spc="-100" smtClean="0"/>
              <a:t>ươ</a:t>
            </a:r>
            <a:r>
              <a:rPr lang="en-US" spc="-100" smtClean="0"/>
              <a:t>ng trình bậc hai ax</a:t>
            </a:r>
            <a:r>
              <a:rPr lang="en-US" spc="-100" baseline="30000" smtClean="0"/>
              <a:t>2</a:t>
            </a:r>
            <a:r>
              <a:rPr lang="en-US" spc="-100" smtClean="0"/>
              <a:t> + bx + c = 0.</a:t>
            </a:r>
          </a:p>
        </p:txBody>
      </p:sp>
      <p:pic>
        <p:nvPicPr>
          <p:cNvPr id="36869" name="Picture 4" descr="question_pop_up_from_box_hg_clr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8713" y="3962400"/>
            <a:ext cx="1665287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0" name="Picture 5" descr="question_pop_up_from_box_rotate_hg_clr">
            <a:hlinkClick r:id="rId4" action="ppaction://hlinksldjump"/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447800"/>
            <a:ext cx="407988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1" name="Picture 11" descr="question_pop_up_from_box_rotate_hg_clr">
            <a:hlinkClick r:id="rId6" action="ppaction://hlinksldjump"/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819400"/>
            <a:ext cx="407988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2" name="Picture 12" descr="question_pop_up_from_box_rotate_hg_clr">
            <a:hlinkClick r:id="rId7" action="ppaction://hlinksldjump"/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767138"/>
            <a:ext cx="407988" cy="50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3" name="Picture 13" descr="question_pop_up_from_box_rotate_hg_clr">
            <a:hlinkClick r:id="rId8" action="ppaction://hlinksldjump"/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300538"/>
            <a:ext cx="407988" cy="50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599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Bài tập thực hành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 eaLnBrk="1" hangingPunct="1">
              <a:buFont typeface="+mj-lt"/>
              <a:buAutoNum type="arabicPeriod" startAt="7"/>
              <a:defRPr/>
            </a:pPr>
            <a:r>
              <a:rPr lang="en-US" spc="-100" smtClean="0"/>
              <a:t>Nhập 4 số nguyên a, b, c và d. Tìm số có giá trị nhỏ nhất (min).</a:t>
            </a:r>
          </a:p>
          <a:p>
            <a:pPr marL="514350" indent="-514350" eaLnBrk="1" hangingPunct="1">
              <a:buFont typeface="+mj-lt"/>
              <a:buAutoNum type="arabicPeriod" startAt="7"/>
              <a:defRPr/>
            </a:pPr>
            <a:r>
              <a:rPr lang="en-US" spc="-100" smtClean="0"/>
              <a:t>Nhập 4 số nguyên a, b, c và d. Hãy sắp xếp giá trị của 4 số nguyên này theo thứ tự t</a:t>
            </a:r>
            <a:r>
              <a:rPr lang="vi-VN" spc="-100" smtClean="0"/>
              <a:t>ă</a:t>
            </a:r>
            <a:r>
              <a:rPr lang="en-US" spc="-100" smtClean="0"/>
              <a:t>ng dần.</a:t>
            </a:r>
          </a:p>
          <a:p>
            <a:pPr marL="514350" indent="-514350" eaLnBrk="1" hangingPunct="1">
              <a:buFont typeface="+mj-lt"/>
              <a:buAutoNum type="arabicPeriod" startAt="7"/>
              <a:defRPr/>
            </a:pPr>
            <a:r>
              <a:rPr lang="en-US" spc="-100" smtClean="0"/>
              <a:t>Tính tiền </a:t>
            </a:r>
            <a:r>
              <a:rPr lang="vi-VN" spc="-100" smtClean="0"/>
              <a:t>đ</a:t>
            </a:r>
            <a:r>
              <a:rPr lang="en-US" spc="-100" smtClean="0"/>
              <a:t>i taxi từ số km nhập vào. Biết:</a:t>
            </a:r>
          </a:p>
          <a:p>
            <a:pPr marL="914400" lvl="1" indent="-514350" eaLnBrk="1" hangingPunct="1">
              <a:buFont typeface="+mj-lt"/>
              <a:buAutoNum type="alphaLcPeriod"/>
              <a:defRPr/>
            </a:pPr>
            <a:r>
              <a:rPr lang="en-US" spc="-100" smtClean="0"/>
              <a:t>1 km </a:t>
            </a:r>
            <a:r>
              <a:rPr lang="vi-VN" spc="-100" smtClean="0"/>
              <a:t>đầ</a:t>
            </a:r>
            <a:r>
              <a:rPr lang="en-US" spc="-100" smtClean="0"/>
              <a:t>u giá 15000</a:t>
            </a:r>
            <a:r>
              <a:rPr lang="vi-VN" spc="-100" smtClean="0"/>
              <a:t>đ</a:t>
            </a:r>
            <a:endParaRPr lang="en-US" spc="-100" smtClean="0"/>
          </a:p>
          <a:p>
            <a:pPr marL="914400" lvl="1" indent="-514350" eaLnBrk="1" hangingPunct="1">
              <a:buFont typeface="+mj-lt"/>
              <a:buAutoNum type="alphaLcPeriod"/>
              <a:defRPr/>
            </a:pPr>
            <a:r>
              <a:rPr lang="en-US" spc="-100" smtClean="0"/>
              <a:t>Từ km thứ 2 </a:t>
            </a:r>
            <a:r>
              <a:rPr lang="vi-VN" spc="-100" smtClean="0"/>
              <a:t>đế</a:t>
            </a:r>
            <a:r>
              <a:rPr lang="en-US" spc="-100" smtClean="0"/>
              <a:t>n km thứ 5 giá 13500</a:t>
            </a:r>
            <a:r>
              <a:rPr lang="vi-VN" spc="-100" smtClean="0"/>
              <a:t>đ</a:t>
            </a:r>
            <a:endParaRPr lang="en-US" spc="-100" smtClean="0"/>
          </a:p>
          <a:p>
            <a:pPr marL="914400" lvl="1" indent="-514350" eaLnBrk="1" hangingPunct="1">
              <a:buFont typeface="+mj-lt"/>
              <a:buAutoNum type="alphaLcPeriod"/>
              <a:defRPr/>
            </a:pPr>
            <a:r>
              <a:rPr lang="en-US" spc="-100" smtClean="0"/>
              <a:t>Từ km thứ 6 trở </a:t>
            </a:r>
            <a:r>
              <a:rPr lang="vi-VN" spc="-100" smtClean="0"/>
              <a:t>đ</a:t>
            </a:r>
            <a:r>
              <a:rPr lang="en-US" spc="-100" smtClean="0"/>
              <a:t>i giá 11000</a:t>
            </a:r>
            <a:r>
              <a:rPr lang="vi-VN" spc="-100" smtClean="0"/>
              <a:t>đ</a:t>
            </a:r>
            <a:endParaRPr lang="en-US" spc="-100" smtClean="0"/>
          </a:p>
          <a:p>
            <a:pPr marL="914400" lvl="1" indent="-514350" eaLnBrk="1" hangingPunct="1">
              <a:buFont typeface="+mj-lt"/>
              <a:buAutoNum type="alphaLcPeriod"/>
              <a:defRPr/>
            </a:pPr>
            <a:r>
              <a:rPr lang="en-US" spc="-100" smtClean="0"/>
              <a:t>Nếu trên 120km </a:t>
            </a:r>
            <a:r>
              <a:rPr lang="vi-VN" spc="-100" smtClean="0"/>
              <a:t>đượ</a:t>
            </a:r>
            <a:r>
              <a:rPr lang="en-US" spc="-100" smtClean="0"/>
              <a:t>c giảm 10% tổng tiền.</a:t>
            </a:r>
          </a:p>
        </p:txBody>
      </p:sp>
      <p:pic>
        <p:nvPicPr>
          <p:cNvPr id="37893" name="Picture 4" descr="question_pop_up_from_box_hg_clr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8713" y="3962400"/>
            <a:ext cx="1665287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4" name="Picture 5" descr="question_pop_up_from_box_rotate_hg_clr">
            <a:hlinkClick r:id="rId4" action="ppaction://hlinksldjump"/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447800"/>
            <a:ext cx="407988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5" name="Picture 11" descr="question_pop_up_from_box_rotate_hg_clr">
            <a:hlinkClick r:id="rId6" action="ppaction://hlinksldjump"/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438400"/>
            <a:ext cx="407988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6" name="Picture 12" descr="question_pop_up_from_box_rotate_hg_clr">
            <a:hlinkClick r:id="rId7" action="ppaction://hlinksldjump"/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386138"/>
            <a:ext cx="407988" cy="50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739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Bài tập thực hành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eaLnBrk="1" hangingPunct="1">
              <a:buFont typeface="+mj-lt"/>
              <a:buAutoNum type="arabicPeriod" startAt="10"/>
              <a:defRPr/>
            </a:pPr>
            <a:r>
              <a:rPr lang="en-US" spc="-100" smtClean="0"/>
              <a:t>Nhập vào tháng và n</a:t>
            </a:r>
            <a:r>
              <a:rPr lang="vi-VN" spc="-100" smtClean="0"/>
              <a:t>ă</a:t>
            </a:r>
            <a:r>
              <a:rPr lang="en-US" spc="-100" smtClean="0"/>
              <a:t>m. Cho biết tháng </a:t>
            </a:r>
            <a:r>
              <a:rPr lang="vi-VN" spc="-100" smtClean="0"/>
              <a:t>đó</a:t>
            </a:r>
            <a:r>
              <a:rPr lang="en-US" spc="-100" smtClean="0"/>
              <a:t> có bao nhiêu ngày.</a:t>
            </a:r>
          </a:p>
          <a:p>
            <a:pPr marL="514350" indent="-514350" eaLnBrk="1" hangingPunct="1">
              <a:buFont typeface="+mj-lt"/>
              <a:buAutoNum type="arabicPeriod" startAt="10"/>
              <a:defRPr/>
            </a:pPr>
            <a:r>
              <a:rPr lang="en-US" spc="-100" smtClean="0"/>
              <a:t>Nhập </a:t>
            </a:r>
            <a:r>
              <a:rPr lang="vi-VN" spc="-100" smtClean="0"/>
              <a:t>độ</a:t>
            </a:r>
            <a:r>
              <a:rPr lang="en-US" spc="-100" smtClean="0"/>
              <a:t> dài 3 cạnh 1 tam giác. Kiểm tra </a:t>
            </a:r>
            <a:r>
              <a:rPr lang="vi-VN" spc="-100" smtClean="0"/>
              <a:t>đó</a:t>
            </a:r>
            <a:r>
              <a:rPr lang="en-US" spc="-100" smtClean="0"/>
              <a:t> có phải là tam giác không và là tam giác gì?</a:t>
            </a:r>
          </a:p>
        </p:txBody>
      </p:sp>
      <p:pic>
        <p:nvPicPr>
          <p:cNvPr id="38917" name="Picture 4" descr="question_pop_up_from_box_hg_clr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8713" y="3962400"/>
            <a:ext cx="1665287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8" name="Picture 5" descr="question_pop_up_from_box_rotate_hg_clr">
            <a:hlinkClick r:id="rId4" action="ppaction://hlinksldjump"/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447800"/>
            <a:ext cx="407988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9" name="Picture 8" descr="question_pop_up_from_box_rotate_hg_clr">
            <a:hlinkClick r:id="rId4" action="ppaction://hlinksldjump"/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438400"/>
            <a:ext cx="407988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668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Bài tập 3 (if)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24000"/>
            <a:ext cx="152400" cy="4953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9941" name="TextBox 5"/>
          <p:cNvSpPr txBox="1">
            <a:spLocks noChangeArrowheads="1"/>
          </p:cNvSpPr>
          <p:nvPr/>
        </p:nvSpPr>
        <p:spPr bwMode="auto">
          <a:xfrm>
            <a:off x="838200" y="1524000"/>
            <a:ext cx="7010400" cy="501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#include &lt;stdio.h&gt;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n;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printf(“Nhap mot so nguyen: 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scanf(“%d”, &amp;n);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if (n ==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printf(“Mot”);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else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if (n ==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	printf(“Hai”);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…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	printf(“Khong biet doc”);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0" y="2819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Rectangle 14"/>
          <p:cNvSpPr>
            <a:spLocks/>
          </p:cNvSpPr>
          <p:nvPr/>
        </p:nvSpPr>
        <p:spPr bwMode="auto">
          <a:xfrm>
            <a:off x="0" y="31242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Rectangle 15"/>
          <p:cNvSpPr>
            <a:spLocks/>
          </p:cNvSpPr>
          <p:nvPr/>
        </p:nvSpPr>
        <p:spPr bwMode="auto">
          <a:xfrm>
            <a:off x="0" y="37338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Rectangle 17"/>
          <p:cNvSpPr>
            <a:spLocks/>
          </p:cNvSpPr>
          <p:nvPr/>
        </p:nvSpPr>
        <p:spPr bwMode="auto">
          <a:xfrm>
            <a:off x="0" y="46482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Rectangle 18"/>
          <p:cNvSpPr>
            <a:spLocks/>
          </p:cNvSpPr>
          <p:nvPr/>
        </p:nvSpPr>
        <p:spPr bwMode="auto">
          <a:xfrm>
            <a:off x="15875" y="5867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401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15" grpId="0" animBg="1"/>
      <p:bldP spid="15" grpId="1" animBg="1"/>
      <p:bldP spid="16" grpId="0" animBg="1"/>
      <p:bldP spid="16" grpId="1" animBg="1"/>
      <p:bldP spid="18" grpId="0" animBg="1"/>
      <p:bldP spid="18" grpId="1" animBg="1"/>
      <p:bldP spid="1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Bài tập 3 (Case)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24000"/>
            <a:ext cx="152400" cy="48768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0965" name="TextBox 5"/>
          <p:cNvSpPr txBox="1">
            <a:spLocks noChangeArrowheads="1"/>
          </p:cNvSpPr>
          <p:nvPr/>
        </p:nvSpPr>
        <p:spPr bwMode="auto">
          <a:xfrm>
            <a:off x="838200" y="1524000"/>
            <a:ext cx="7010400" cy="501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#include &lt;stdio.h&gt;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n;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printf(“Nhap mot so nguyen: 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scanf(“%d”, &amp;n);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switch (n)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case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: printf(“Mot”); break;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case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: printf(“Mot”); break;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case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: printf(“Mot”); break;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…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default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: printf(“Ko biet doc”);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0" y="2819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0" y="31242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ectangle 13"/>
          <p:cNvSpPr>
            <a:spLocks/>
          </p:cNvSpPr>
          <p:nvPr/>
        </p:nvSpPr>
        <p:spPr bwMode="auto">
          <a:xfrm>
            <a:off x="0" y="3733800"/>
            <a:ext cx="9128125" cy="24384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Rectangle 14"/>
          <p:cNvSpPr>
            <a:spLocks/>
          </p:cNvSpPr>
          <p:nvPr/>
        </p:nvSpPr>
        <p:spPr bwMode="auto">
          <a:xfrm>
            <a:off x="0" y="4343400"/>
            <a:ext cx="9128125" cy="12192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Rectangle 15"/>
          <p:cNvSpPr>
            <a:spLocks/>
          </p:cNvSpPr>
          <p:nvPr/>
        </p:nvSpPr>
        <p:spPr bwMode="auto">
          <a:xfrm>
            <a:off x="0" y="55626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849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Bài tập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24000"/>
            <a:ext cx="152400" cy="4953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1989" name="TextBox 5"/>
          <p:cNvSpPr txBox="1">
            <a:spLocks noChangeArrowheads="1"/>
          </p:cNvSpPr>
          <p:nvPr/>
        </p:nvSpPr>
        <p:spPr bwMode="auto">
          <a:xfrm>
            <a:off x="838200" y="1524000"/>
            <a:ext cx="7010400" cy="501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#include &lt;stdio.h&gt;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char ch;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printf(“Nhap mot ky tu: 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scanf(“%c”, &amp;ch);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if (ch &gt;= ‘a’ &amp;&amp; ch &lt;= ‘z’)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ch = ch – 32;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else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if (ch &gt;= ‘A’ &amp;&amp; ch &lt;= ‘Z’)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	ch = ch + 32;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printf(“Ky tu sau khi doi: %c”, ch);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749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Bài tập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24000"/>
            <a:ext cx="152400" cy="48768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3013" name="TextBox 7"/>
          <p:cNvSpPr txBox="1">
            <a:spLocks noChangeArrowheads="1"/>
          </p:cNvSpPr>
          <p:nvPr/>
        </p:nvSpPr>
        <p:spPr bwMode="auto">
          <a:xfrm>
            <a:off x="838200" y="1524000"/>
            <a:ext cx="7620000" cy="501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#include &lt;stdio.h&gt;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#include &lt;conio.h&gt;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a, b;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printf(“Nhap a, b: 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scanf(“%d%d”, &amp;a, &amp;b);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if (a == 0)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if (b == 0)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	printf(“Phuong trinh VSN”);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else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	printf(“Phuong trinh VN”);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else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printf(“Nghiem = %f”, float(-b)/a); 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070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Bài tập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24000"/>
            <a:ext cx="152400" cy="48768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4037" name="TextBox 7"/>
          <p:cNvSpPr txBox="1">
            <a:spLocks noChangeArrowheads="1"/>
          </p:cNvSpPr>
          <p:nvPr/>
        </p:nvSpPr>
        <p:spPr bwMode="auto">
          <a:xfrm>
            <a:off x="838200" y="1524000"/>
            <a:ext cx="7010400" cy="501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#include &lt;stdio.h&gt;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a, b, c;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printf(“Nhap a, b, c: 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scanf(“%d%d%d”, &amp;a, &amp;b, &amp;c);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if (a == 0)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// Giai PT Bac 1 o day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else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// Giai PT Bac 2 o day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0" y="3733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4038600"/>
            <a:ext cx="9128125" cy="9144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0" y="4953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0" y="5257800"/>
            <a:ext cx="9128125" cy="9144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603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Bài tập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24000"/>
            <a:ext cx="152400" cy="48768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5061" name="TextBox 7"/>
          <p:cNvSpPr txBox="1">
            <a:spLocks noChangeArrowheads="1"/>
          </p:cNvSpPr>
          <p:nvPr/>
        </p:nvSpPr>
        <p:spPr bwMode="auto">
          <a:xfrm>
            <a:off x="838200" y="1524000"/>
            <a:ext cx="7010400" cy="470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#include &lt;stdio.h&gt;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a, b, c, d, min;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printf(“Nhap a, b, c, d: 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scanf(“%d%d%d%d”, &amp;a, &amp;b, &amp;c, &amp;d);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min =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if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b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&lt; min) min =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b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if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&lt; min) min =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if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&lt; min) min =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printf(“So nho nhat la %d”,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min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15875" y="2819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ectangle 13"/>
          <p:cNvSpPr>
            <a:spLocks/>
          </p:cNvSpPr>
          <p:nvPr/>
        </p:nvSpPr>
        <p:spPr bwMode="auto">
          <a:xfrm>
            <a:off x="0" y="31242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Rectangle 14"/>
          <p:cNvSpPr>
            <a:spLocks/>
          </p:cNvSpPr>
          <p:nvPr/>
        </p:nvSpPr>
        <p:spPr bwMode="auto">
          <a:xfrm>
            <a:off x="15875" y="40386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Rectangle 15"/>
          <p:cNvSpPr>
            <a:spLocks/>
          </p:cNvSpPr>
          <p:nvPr/>
        </p:nvSpPr>
        <p:spPr bwMode="auto">
          <a:xfrm>
            <a:off x="15875" y="4343400"/>
            <a:ext cx="9128125" cy="9144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Rectangle 16"/>
          <p:cNvSpPr>
            <a:spLocks/>
          </p:cNvSpPr>
          <p:nvPr/>
        </p:nvSpPr>
        <p:spPr bwMode="auto">
          <a:xfrm>
            <a:off x="15875" y="55626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082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Bài tập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24000"/>
            <a:ext cx="152400" cy="48768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838200" y="1524000"/>
            <a:ext cx="7315200" cy="470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#include &lt;stdio.h&gt;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a, b, c, d, tam;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printf(“Nhap a, b, c, d: 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scanf(“%d%d%d%d”, &amp;a, &amp;b, &amp;b, &amp;d);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if (a &gt; b)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{ tam = a; a = b; b = tam; }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…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printf(“Cac so theo thu tu tang dan: 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printf(“%d %d %d %d”, a, b, c, d);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0" y="2819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Rectangle 16"/>
          <p:cNvSpPr>
            <a:spLocks/>
          </p:cNvSpPr>
          <p:nvPr/>
        </p:nvSpPr>
        <p:spPr bwMode="auto">
          <a:xfrm>
            <a:off x="15875" y="34290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Rectangle 17"/>
          <p:cNvSpPr>
            <a:spLocks/>
          </p:cNvSpPr>
          <p:nvPr/>
        </p:nvSpPr>
        <p:spPr bwMode="auto">
          <a:xfrm>
            <a:off x="0" y="4343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Rectangle 18"/>
          <p:cNvSpPr>
            <a:spLocks/>
          </p:cNvSpPr>
          <p:nvPr/>
        </p:nvSpPr>
        <p:spPr bwMode="auto">
          <a:xfrm>
            <a:off x="0" y="4648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Rectangle 19"/>
          <p:cNvSpPr>
            <a:spLocks/>
          </p:cNvSpPr>
          <p:nvPr/>
        </p:nvSpPr>
        <p:spPr bwMode="auto">
          <a:xfrm>
            <a:off x="0" y="4953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Rectangle 20"/>
          <p:cNvSpPr>
            <a:spLocks/>
          </p:cNvSpPr>
          <p:nvPr/>
        </p:nvSpPr>
        <p:spPr bwMode="auto">
          <a:xfrm>
            <a:off x="0" y="52578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123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0" grpId="0" animBg="1"/>
      <p:bldP spid="10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Bài tập 9</a:t>
            </a:r>
          </a:p>
        </p:txBody>
      </p:sp>
      <p:sp>
        <p:nvSpPr>
          <p:cNvPr id="47107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Nên khai báo hằng số l</a:t>
            </a:r>
            <a:r>
              <a:rPr lang="vi-VN" smtClean="0">
                <a:latin typeface="Arial" charset="0"/>
                <a:cs typeface="Arial" charset="0"/>
              </a:rPr>
              <a:t>ư</a:t>
            </a:r>
            <a:r>
              <a:rPr lang="en-US" smtClean="0">
                <a:latin typeface="Arial" charset="0"/>
                <a:cs typeface="Arial" charset="0"/>
              </a:rPr>
              <a:t>u giá tiền và km</a:t>
            </a:r>
          </a:p>
          <a:p>
            <a:pPr lvl="1" eaLnBrk="1" hangingPunct="1"/>
            <a:r>
              <a:rPr lang="en-US" smtClean="0">
                <a:latin typeface="Arial" charset="0"/>
                <a:cs typeface="Arial" charset="0"/>
              </a:rPr>
              <a:t>#define G1 15000</a:t>
            </a:r>
          </a:p>
          <a:p>
            <a:pPr lvl="1" eaLnBrk="1" hangingPunct="1"/>
            <a:r>
              <a:rPr lang="en-US" smtClean="0">
                <a:latin typeface="Arial" charset="0"/>
                <a:cs typeface="Arial" charset="0"/>
              </a:rPr>
              <a:t>#define G2 13500</a:t>
            </a:r>
          </a:p>
          <a:p>
            <a:pPr lvl="1" eaLnBrk="1" hangingPunct="1"/>
            <a:r>
              <a:rPr lang="en-US" smtClean="0">
                <a:latin typeface="Arial" charset="0"/>
                <a:cs typeface="Arial" charset="0"/>
              </a:rPr>
              <a:t>#define G3 11000</a:t>
            </a:r>
          </a:p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Cách tính tiền dựa trên số km n</a:t>
            </a:r>
          </a:p>
          <a:p>
            <a:pPr lvl="1" eaLnBrk="1" hangingPunct="1"/>
            <a:r>
              <a:rPr lang="en-US" smtClean="0">
                <a:latin typeface="Arial" charset="0"/>
                <a:cs typeface="Arial" charset="0"/>
              </a:rPr>
              <a:t>n = 1 </a:t>
            </a:r>
            <a:r>
              <a:rPr lang="en-US" smtClean="0">
                <a:latin typeface="Arial" charset="0"/>
                <a:cs typeface="Arial" charset="0"/>
                <a:sym typeface="Wingdings" pitchFamily="2" charset="2"/>
              </a:rPr>
              <a:t> T = G1</a:t>
            </a:r>
          </a:p>
          <a:p>
            <a:pPr lvl="1" eaLnBrk="1" hangingPunct="1"/>
            <a:r>
              <a:rPr lang="en-US" smtClean="0">
                <a:latin typeface="Arial" charset="0"/>
                <a:cs typeface="Arial" charset="0"/>
                <a:sym typeface="Wingdings" pitchFamily="2" charset="2"/>
              </a:rPr>
              <a:t>2 ≤ n ≤ 5  T = G1 + (n – 1)*G2;</a:t>
            </a:r>
          </a:p>
          <a:p>
            <a:pPr lvl="1" eaLnBrk="1" hangingPunct="1"/>
            <a:r>
              <a:rPr lang="en-US" smtClean="0">
                <a:latin typeface="Arial" charset="0"/>
                <a:cs typeface="Arial" charset="0"/>
                <a:sym typeface="Wingdings" pitchFamily="2" charset="2"/>
              </a:rPr>
              <a:t>n &gt; 5  T = G1 + 4*G2 + (n – 1 – 4)*G3;</a:t>
            </a:r>
          </a:p>
          <a:p>
            <a:pPr eaLnBrk="1" hangingPunct="1"/>
            <a:r>
              <a:rPr lang="en-US" smtClean="0">
                <a:latin typeface="Arial" charset="0"/>
                <a:cs typeface="Arial" charset="0"/>
                <a:sym typeface="Wingdings" pitchFamily="2" charset="2"/>
              </a:rPr>
              <a:t>n &gt; 120  T = T*0.9;</a:t>
            </a:r>
            <a:endParaRPr lang="en-US" smtClean="0">
              <a:latin typeface="Arial" charset="0"/>
              <a:cs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163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681</TotalTime>
  <Words>1230</Words>
  <Application>Microsoft Office PowerPoint</Application>
  <PresentationFormat>On-screen Show (4:3)</PresentationFormat>
  <Paragraphs>526</Paragraphs>
  <Slides>35</Slides>
  <Notes>29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Office Theme</vt:lpstr>
      <vt:lpstr>Nhập môn Lập trình – IT001</vt:lpstr>
      <vt:lpstr>Mục tiêu buổi học – CĐR </vt:lpstr>
      <vt:lpstr>Nội dung</vt:lpstr>
      <vt:lpstr>Câu lệnh, khối lệnh</vt:lpstr>
      <vt:lpstr>Câu lệnh, khối lệnh</vt:lpstr>
      <vt:lpstr>Câu lệnh if thiếu</vt:lpstr>
      <vt:lpstr>Câu lệnh if (thiếu)</vt:lpstr>
      <vt:lpstr>Câu lệnh if (thiếu)</vt:lpstr>
      <vt:lpstr>Câu lệnh if đủ (if-else)</vt:lpstr>
      <vt:lpstr>Câu lệnh if đủ (if-else)</vt:lpstr>
      <vt:lpstr>Câu lệnh if đủ (if-else)</vt:lpstr>
      <vt:lpstr>Ví dụ</vt:lpstr>
      <vt:lpstr>Ví dụ</vt:lpstr>
      <vt:lpstr>Câu lệnh if - Một số lưu ý</vt:lpstr>
      <vt:lpstr>Câu lệnh if - Một số lưu ý</vt:lpstr>
      <vt:lpstr>Câu lệnh if - Một số lưu ý</vt:lpstr>
      <vt:lpstr>Câu lệnh switch</vt:lpstr>
      <vt:lpstr>Ví dụ (không dùng default)</vt:lpstr>
      <vt:lpstr>Ví dụ (dùng default)</vt:lpstr>
      <vt:lpstr>Câu lệnh switch - Một số lưu ý</vt:lpstr>
      <vt:lpstr>Câu lệnh switch - Một số lưu ý</vt:lpstr>
      <vt:lpstr>Câu lệnh switch - Một số lưu ý</vt:lpstr>
      <vt:lpstr>Kinh nghiệm lập trình</vt:lpstr>
      <vt:lpstr>Kinh nghiệm lập trình</vt:lpstr>
      <vt:lpstr>Bài tập</vt:lpstr>
      <vt:lpstr>Bài tập thực hành</vt:lpstr>
      <vt:lpstr>Bài tập thực hành</vt:lpstr>
      <vt:lpstr>Bài tập 3 (if) </vt:lpstr>
      <vt:lpstr>Bài tập 3 (Case) </vt:lpstr>
      <vt:lpstr>Bài tập 4</vt:lpstr>
      <vt:lpstr>Bài tập 5</vt:lpstr>
      <vt:lpstr>Bài tập 6</vt:lpstr>
      <vt:lpstr>Bài tập 7</vt:lpstr>
      <vt:lpstr>Bài tập 8</vt:lpstr>
      <vt:lpstr>Bài tập 9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Nhập môn Lập trình</dc:title>
  <dc:creator>admin</dc:creator>
  <cp:lastModifiedBy>LongHo</cp:lastModifiedBy>
  <cp:revision>45</cp:revision>
  <dcterms:created xsi:type="dcterms:W3CDTF">2015-09-05T09:18:39Z</dcterms:created>
  <dcterms:modified xsi:type="dcterms:W3CDTF">2015-10-01T08:40:38Z</dcterms:modified>
</cp:coreProperties>
</file>