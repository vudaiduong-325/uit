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7" r:id="rId4"/>
    <p:sldId id="268" r:id="rId5"/>
    <p:sldId id="286" r:id="rId6"/>
    <p:sldId id="288" r:id="rId7"/>
    <p:sldId id="269" r:id="rId8"/>
    <p:sldId id="280" r:id="rId9"/>
    <p:sldId id="281" r:id="rId10"/>
    <p:sldId id="282" r:id="rId11"/>
    <p:sldId id="283" r:id="rId12"/>
    <p:sldId id="284" r:id="rId13"/>
    <p:sldId id="289" r:id="rId14"/>
    <p:sldId id="290" r:id="rId15"/>
    <p:sldId id="291" r:id="rId16"/>
    <p:sldId id="292" r:id="rId17"/>
    <p:sldId id="29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12/18/2015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Con trỏ và Mảng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Sự tương quan mảng 1 chiều và con trỏ</a:t>
            </a:r>
            <a:endParaRPr lang="vi-VN" dirty="0" smtClean="0"/>
          </a:p>
          <a:p>
            <a:r>
              <a:rPr lang="en-US" smtClean="0"/>
              <a:t>Sử dụng tham số mảng 1 chiều trong hàm</a:t>
            </a:r>
            <a:endParaRPr lang="vi-VN" dirty="0" smtClean="0"/>
          </a:p>
          <a:p>
            <a:r>
              <a:rPr lang="en-US"/>
              <a:t>Sự tương quan mảng </a:t>
            </a:r>
            <a:r>
              <a:rPr lang="en-US" smtClean="0"/>
              <a:t>2 </a:t>
            </a:r>
            <a:r>
              <a:rPr lang="en-US"/>
              <a:t>chiều và con trỏ</a:t>
            </a:r>
            <a:endParaRPr lang="vi-VN"/>
          </a:p>
          <a:p>
            <a:r>
              <a:rPr lang="en-US"/>
              <a:t>Sử dụng tham số mảng </a:t>
            </a:r>
            <a:r>
              <a:rPr lang="en-US" smtClean="0"/>
              <a:t>2 </a:t>
            </a:r>
            <a:r>
              <a:rPr lang="en-US"/>
              <a:t>chiều trong hàm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6106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SỰ TƯƠNG QUAN </a:t>
            </a:r>
            <a:r>
              <a:rPr lang="en-US" sz="3400" smtClean="0"/>
              <a:t>MẢNG 1 CHIỀU </a:t>
            </a:r>
            <a:r>
              <a:rPr lang="en-US" sz="3400"/>
              <a:t>VÀ CON TRỎ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64820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Tên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của mảng là một hằng địa chỉ, chứa địa chỉ của phần tử đầu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tiên.</a:t>
            </a:r>
          </a:p>
          <a:p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Với khai báo</a:t>
            </a:r>
            <a:r>
              <a:rPr lang="en-US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a[10]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thì:</a:t>
            </a:r>
          </a:p>
          <a:p>
            <a:pPr marL="0" indent="0">
              <a:buNone/>
            </a:pP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a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tương đương với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&amp;a[0]</a:t>
            </a:r>
          </a:p>
          <a:p>
            <a:pPr marL="0" indent="0"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a+i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tương đương với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&amp;a[i]</a:t>
            </a:r>
          </a:p>
          <a:p>
            <a:pPr marL="0" indent="0"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*(a+i)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tương đương với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a[i]</a:t>
            </a:r>
            <a:endParaRPr lang="en-US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Xét khai báo :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a[5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],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*pa=a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khi đó con trỏ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giữ địa chỉ của phần tử đầu tiên của mảng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Lúc này: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pa+i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tương đương với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&amp;a[i]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*(pa+i)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a[i]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24850" cy="647700"/>
          </a:xfrm>
        </p:spPr>
        <p:txBody>
          <a:bodyPr/>
          <a:lstStyle/>
          <a:p>
            <a:r>
              <a:rPr lang="en-US" sz="3200" smtClean="0"/>
              <a:t>Nhắc lại: Nhập </a:t>
            </a:r>
            <a:r>
              <a:rPr lang="en-US" sz="3200"/>
              <a:t>xuất mảng </a:t>
            </a:r>
            <a:r>
              <a:rPr lang="en-US" sz="3200" smtClean="0"/>
              <a:t>1 chiều</a:t>
            </a:r>
            <a:endParaRPr lang="en-US" sz="3200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2672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stdio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conio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MAX</a:t>
            </a:r>
            <a:r>
              <a:rPr lang="en-US" sz="2400">
                <a:latin typeface="VNI-Aptima" pitchFamily="2" charset="0"/>
              </a:rPr>
              <a:t> 100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void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main</a:t>
            </a:r>
            <a:r>
              <a:rPr lang="en-US" sz="2400">
                <a:latin typeface="VNI-Aptima" pitchFamily="2" charset="0"/>
              </a:rPr>
              <a:t>()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200"/>
              <a:t>int</a:t>
            </a:r>
            <a:r>
              <a:rPr lang="en-US" sz="2200">
                <a:latin typeface="VNI-Aptima" pitchFamily="2" charset="0"/>
              </a:rPr>
              <a:t> </a:t>
            </a:r>
            <a:r>
              <a:rPr lang="en-US" sz="2200"/>
              <a:t>a</a:t>
            </a:r>
            <a:r>
              <a:rPr lang="en-US" sz="2200">
                <a:latin typeface="VNI-Aptima" pitchFamily="2" charset="0"/>
              </a:rPr>
              <a:t>[</a:t>
            </a:r>
            <a:r>
              <a:rPr lang="en-US" sz="2200"/>
              <a:t>MAX</a:t>
            </a:r>
            <a:r>
              <a:rPr lang="en-US" sz="2200" smtClean="0">
                <a:latin typeface="VNI-Aptima" pitchFamily="2" charset="0"/>
              </a:rPr>
              <a:t>], </a:t>
            </a:r>
            <a:r>
              <a:rPr lang="en-US" sz="2200" smtClean="0"/>
              <a:t>n</a:t>
            </a:r>
            <a:r>
              <a:rPr lang="en-US" sz="2200" smtClean="0">
                <a:latin typeface="VNI-Aptima" pitchFamily="2" charset="0"/>
              </a:rPr>
              <a:t>, </a:t>
            </a:r>
            <a:r>
              <a:rPr lang="en-US" sz="2200" smtClean="0"/>
              <a:t>i</a:t>
            </a:r>
            <a:r>
              <a:rPr lang="en-US" sz="2200" smtClean="0">
                <a:latin typeface="VNI-Aptima" pitchFamily="2" charset="0"/>
              </a:rPr>
              <a:t>;</a:t>
            </a:r>
            <a:endParaRPr lang="en-US" sz="2200"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99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</a:t>
            </a:r>
            <a:r>
              <a:rPr lang="en-US" sz="2200">
                <a:solidFill>
                  <a:srgbClr val="2222B2"/>
                </a:solidFill>
              </a:rPr>
              <a:t>“So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cua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mang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:");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",&amp;n);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endParaRPr lang="en-US" sz="2400">
              <a:solidFill>
                <a:srgbClr val="2222B2"/>
              </a:solidFill>
              <a:latin typeface="VNI-Aptima" pitchFamily="2" charset="0"/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95400"/>
            <a:ext cx="48006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</a:t>
            </a:r>
            <a:r>
              <a:rPr lang="en-US" sz="2400"/>
              <a:t>n</a:t>
            </a:r>
            <a:r>
              <a:rPr lang="en-US" sz="2400" smtClean="0">
                <a:latin typeface="VNI-Aptima" pitchFamily="2" charset="0"/>
              </a:rPr>
              <a:t>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</a:t>
            </a:r>
            <a:r>
              <a:rPr lang="en-US" sz="2200">
                <a:solidFill>
                  <a:srgbClr val="2222B2"/>
                </a:solidFill>
              </a:rPr>
              <a:t>Nhap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[%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]: ",</a:t>
            </a:r>
            <a:r>
              <a:rPr lang="en-US" sz="2200">
                <a:solidFill>
                  <a:srgbClr val="2222B2"/>
                </a:solidFill>
              </a:rPr>
              <a:t>i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      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200" smtClean="0">
                <a:solidFill>
                  <a:srgbClr val="FF0000"/>
                </a:solidFill>
                <a:latin typeface="VNI-Aptima" pitchFamily="2" charset="0"/>
              </a:rPr>
              <a:t>&amp;a[i]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>
                <a:latin typeface="VNI-Aptima" pitchFamily="2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</a:t>
            </a:r>
            <a:r>
              <a:rPr lang="en-US" sz="2400"/>
              <a:t>n</a:t>
            </a:r>
            <a:r>
              <a:rPr lang="en-US" sz="2400" smtClean="0">
                <a:latin typeface="VNI-Aptima" pitchFamily="2" charset="0"/>
              </a:rPr>
              <a:t>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     </a:t>
            </a:r>
            <a:r>
              <a:rPr lang="en-US" sz="2400">
                <a:solidFill>
                  <a:srgbClr val="2222B2"/>
                </a:solidFill>
              </a:rPr>
              <a:t>printf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("%4</a:t>
            </a:r>
            <a:r>
              <a:rPr lang="en-US" sz="2400">
                <a:solidFill>
                  <a:srgbClr val="2222B2"/>
                </a:solidFill>
              </a:rPr>
              <a:t>d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400" smtClean="0">
                <a:solidFill>
                  <a:srgbClr val="FF0000"/>
                </a:solidFill>
                <a:latin typeface="VNI-Aptima" pitchFamily="2" charset="0"/>
              </a:rPr>
              <a:t>a[i]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400">
              <a:solidFill>
                <a:srgbClr val="2222B2"/>
              </a:solidFill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24850" cy="647700"/>
          </a:xfrm>
        </p:spPr>
        <p:txBody>
          <a:bodyPr/>
          <a:lstStyle/>
          <a:p>
            <a:pPr algn="l"/>
            <a:r>
              <a:rPr lang="en-US" sz="3200" smtClean="0"/>
              <a:t>Ví dụ: Nhập </a:t>
            </a:r>
            <a:r>
              <a:rPr lang="en-US" sz="3200"/>
              <a:t>xuất </a:t>
            </a:r>
            <a:r>
              <a:rPr lang="en-US" sz="3200" smtClean="0"/>
              <a:t>mảng 1 chiều </a:t>
            </a:r>
            <a:r>
              <a:rPr lang="en-US" sz="3200"/>
              <a:t>bằng con trỏ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2672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stdio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conio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MAX</a:t>
            </a:r>
            <a:r>
              <a:rPr lang="en-US" sz="2400">
                <a:latin typeface="VNI-Aptima" pitchFamily="2" charset="0"/>
              </a:rPr>
              <a:t> 100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void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main</a:t>
            </a:r>
            <a:r>
              <a:rPr lang="en-US" sz="2400">
                <a:latin typeface="VNI-Aptima" pitchFamily="2" charset="0"/>
              </a:rPr>
              <a:t>()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200"/>
              <a:t>int</a:t>
            </a:r>
            <a:r>
              <a:rPr lang="en-US" sz="2200">
                <a:latin typeface="VNI-Aptima" pitchFamily="2" charset="0"/>
              </a:rPr>
              <a:t> </a:t>
            </a:r>
            <a:r>
              <a:rPr lang="en-US" sz="2200"/>
              <a:t>a</a:t>
            </a:r>
            <a:r>
              <a:rPr lang="en-US" sz="2200">
                <a:latin typeface="VNI-Aptima" pitchFamily="2" charset="0"/>
              </a:rPr>
              <a:t>[</a:t>
            </a:r>
            <a:r>
              <a:rPr lang="en-US" sz="2200"/>
              <a:t>MAX</a:t>
            </a:r>
            <a:r>
              <a:rPr lang="en-US" sz="2200" smtClean="0">
                <a:latin typeface="VNI-Aptima" pitchFamily="2" charset="0"/>
              </a:rPr>
              <a:t>],n,</a:t>
            </a:r>
            <a:r>
              <a:rPr lang="en-US" sz="2200" smtClean="0"/>
              <a:t>i</a:t>
            </a:r>
            <a:r>
              <a:rPr lang="en-US" sz="2200" smtClean="0">
                <a:latin typeface="VNI-Aptima" pitchFamily="2" charset="0"/>
              </a:rPr>
              <a:t>;</a:t>
            </a:r>
            <a:endParaRPr lang="en-US" sz="2200"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99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</a:t>
            </a:r>
            <a:r>
              <a:rPr lang="en-US" sz="2200">
                <a:solidFill>
                  <a:srgbClr val="2222B2"/>
                </a:solidFill>
              </a:rPr>
              <a:t>“So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cua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mang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:");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",&amp;n);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endParaRPr lang="en-US" sz="2400">
              <a:solidFill>
                <a:srgbClr val="2222B2"/>
              </a:solidFill>
              <a:latin typeface="VNI-Aptima" pitchFamily="2" charset="0"/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95400"/>
            <a:ext cx="48006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</a:t>
            </a:r>
            <a:r>
              <a:rPr lang="en-US" sz="2400"/>
              <a:t>n</a:t>
            </a:r>
            <a:r>
              <a:rPr lang="en-US" sz="2400" smtClean="0">
                <a:latin typeface="VNI-Aptima" pitchFamily="2" charset="0"/>
              </a:rPr>
              <a:t>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</a:t>
            </a:r>
            <a:r>
              <a:rPr lang="en-US" sz="2200">
                <a:solidFill>
                  <a:srgbClr val="2222B2"/>
                </a:solidFill>
              </a:rPr>
              <a:t>Nhap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[%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]: ",</a:t>
            </a:r>
            <a:r>
              <a:rPr lang="en-US" sz="2200">
                <a:solidFill>
                  <a:srgbClr val="2222B2"/>
                </a:solidFill>
              </a:rPr>
              <a:t>i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      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200" smtClean="0">
                <a:solidFill>
                  <a:srgbClr val="FF0000"/>
                </a:solidFill>
              </a:rPr>
              <a:t>a</a:t>
            </a:r>
            <a:r>
              <a:rPr lang="en-US" sz="2200" smtClean="0">
                <a:solidFill>
                  <a:srgbClr val="FF0000"/>
                </a:solidFill>
                <a:latin typeface="VNI-Aptima" pitchFamily="2" charset="0"/>
              </a:rPr>
              <a:t>+</a:t>
            </a:r>
            <a:r>
              <a:rPr lang="en-US" sz="2200" smtClean="0">
                <a:solidFill>
                  <a:srgbClr val="FF0000"/>
                </a:solidFill>
              </a:rPr>
              <a:t>i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>
                <a:latin typeface="VNI-Aptima" pitchFamily="2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</a:t>
            </a:r>
            <a:r>
              <a:rPr lang="en-US" sz="2400"/>
              <a:t>n</a:t>
            </a:r>
            <a:r>
              <a:rPr lang="en-US" sz="2400" smtClean="0">
                <a:latin typeface="VNI-Aptima" pitchFamily="2" charset="0"/>
              </a:rPr>
              <a:t>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     </a:t>
            </a:r>
            <a:r>
              <a:rPr lang="en-US" sz="2400">
                <a:solidFill>
                  <a:srgbClr val="2222B2"/>
                </a:solidFill>
              </a:rPr>
              <a:t>printf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("%4</a:t>
            </a:r>
            <a:r>
              <a:rPr lang="en-US" sz="2400">
                <a:solidFill>
                  <a:srgbClr val="2222B2"/>
                </a:solidFill>
              </a:rPr>
              <a:t>d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400" smtClean="0">
                <a:solidFill>
                  <a:srgbClr val="FF0000"/>
                </a:solidFill>
                <a:latin typeface="VNI-Aptima" pitchFamily="2" charset="0"/>
              </a:rPr>
              <a:t>*(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>
                <a:solidFill>
                  <a:srgbClr val="FF0000"/>
                </a:solidFill>
                <a:latin typeface="VNI-Aptima" pitchFamily="2" charset="0"/>
              </a:rPr>
              <a:t>+</a:t>
            </a:r>
            <a:r>
              <a:rPr lang="en-US" sz="2400" smtClean="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  <a:latin typeface="VNI-Aptima" pitchFamily="2" charset="0"/>
              </a:rPr>
              <a:t>)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62198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24850" cy="647700"/>
          </a:xfrm>
        </p:spPr>
        <p:txBody>
          <a:bodyPr/>
          <a:lstStyle/>
          <a:p>
            <a:pPr algn="l"/>
            <a:r>
              <a:rPr lang="en-US" sz="3200" smtClean="0"/>
              <a:t>Ví dụ: Nhập </a:t>
            </a:r>
            <a:r>
              <a:rPr lang="en-US" sz="3200"/>
              <a:t>xuất </a:t>
            </a:r>
            <a:r>
              <a:rPr lang="en-US" sz="3200" smtClean="0"/>
              <a:t>mảng 1 chiều </a:t>
            </a:r>
            <a:r>
              <a:rPr lang="en-US" sz="3200"/>
              <a:t>bằng con trỏ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2672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stdio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conio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MAX</a:t>
            </a:r>
            <a:r>
              <a:rPr lang="en-US" sz="2400">
                <a:latin typeface="VNI-Aptima" pitchFamily="2" charset="0"/>
              </a:rPr>
              <a:t> 100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void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/>
              <a:t>main</a:t>
            </a:r>
            <a:r>
              <a:rPr lang="en-US" sz="2400">
                <a:latin typeface="VNI-Aptima" pitchFamily="2" charset="0"/>
              </a:rPr>
              <a:t>()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200"/>
              <a:t>int</a:t>
            </a:r>
            <a:r>
              <a:rPr lang="en-US" sz="2200">
                <a:latin typeface="VNI-Aptima" pitchFamily="2" charset="0"/>
              </a:rPr>
              <a:t> </a:t>
            </a:r>
            <a:r>
              <a:rPr lang="en-US" sz="2200"/>
              <a:t>a</a:t>
            </a:r>
            <a:r>
              <a:rPr lang="en-US" sz="2200">
                <a:latin typeface="VNI-Aptima" pitchFamily="2" charset="0"/>
              </a:rPr>
              <a:t>[</a:t>
            </a:r>
            <a:r>
              <a:rPr lang="en-US" sz="2200"/>
              <a:t>MAX</a:t>
            </a:r>
            <a:r>
              <a:rPr lang="en-US" sz="2200" smtClean="0">
                <a:latin typeface="VNI-Aptima" pitchFamily="2" charset="0"/>
              </a:rPr>
              <a:t>],</a:t>
            </a:r>
            <a:r>
              <a:rPr lang="en-US" sz="2200"/>
              <a:t>n</a:t>
            </a:r>
            <a:r>
              <a:rPr lang="en-US" sz="2200" smtClean="0">
                <a:latin typeface="VNI-Aptima" pitchFamily="2" charset="0"/>
              </a:rPr>
              <a:t>,</a:t>
            </a:r>
            <a:r>
              <a:rPr lang="en-US" sz="2200" smtClean="0"/>
              <a:t>i</a:t>
            </a:r>
            <a:r>
              <a:rPr lang="en-US" sz="2200">
                <a:latin typeface="VNI-Aptima" pitchFamily="2" charset="0"/>
              </a:rPr>
              <a:t>,*</a:t>
            </a:r>
            <a:r>
              <a:rPr lang="en-US" sz="2200"/>
              <a:t>pa</a:t>
            </a:r>
            <a:r>
              <a:rPr lang="en-US" sz="2200">
                <a:latin typeface="VNI-Aptima" pitchFamily="2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0000"/>
                </a:solidFill>
              </a:rPr>
              <a:t>pa</a:t>
            </a:r>
            <a:r>
              <a:rPr lang="en-US" sz="2200">
                <a:solidFill>
                  <a:srgbClr val="FF0000"/>
                </a:solidFill>
                <a:latin typeface="VNI-Aptima" pitchFamily="2" charset="0"/>
              </a:rPr>
              <a:t>=</a:t>
            </a:r>
            <a:r>
              <a:rPr lang="en-US" sz="2200">
                <a:solidFill>
                  <a:srgbClr val="FF0000"/>
                </a:solidFill>
              </a:rPr>
              <a:t>a</a:t>
            </a:r>
            <a:r>
              <a:rPr lang="en-US" sz="2200">
                <a:solidFill>
                  <a:srgbClr val="FF0000"/>
                </a:solidFill>
                <a:latin typeface="VNI-Aptima" pitchFamily="2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99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</a:t>
            </a:r>
            <a:r>
              <a:rPr lang="en-US" sz="2200">
                <a:solidFill>
                  <a:srgbClr val="2222B2"/>
                </a:solidFill>
              </a:rPr>
              <a:t>“So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cua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mang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:");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",&amp;n);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endParaRPr lang="en-US" sz="2400">
              <a:solidFill>
                <a:srgbClr val="2222B2"/>
              </a:solidFill>
              <a:latin typeface="VNI-Aptima" pitchFamily="2" charset="0"/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95400"/>
            <a:ext cx="4800600" cy="47244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&lt;n;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</a:t>
            </a:r>
            <a:r>
              <a:rPr lang="en-US" sz="2200">
                <a:solidFill>
                  <a:srgbClr val="2222B2"/>
                </a:solidFill>
              </a:rPr>
              <a:t>Nhap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[%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]: ",</a:t>
            </a:r>
            <a:r>
              <a:rPr lang="en-US" sz="2200">
                <a:solidFill>
                  <a:srgbClr val="2222B2"/>
                </a:solidFill>
              </a:rPr>
              <a:t>i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      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200" smtClean="0">
                <a:solidFill>
                  <a:srgbClr val="FF0000"/>
                </a:solidFill>
              </a:rPr>
              <a:t>pa</a:t>
            </a:r>
            <a:r>
              <a:rPr lang="en-US" sz="2200" smtClean="0">
                <a:solidFill>
                  <a:srgbClr val="FF0000"/>
                </a:solidFill>
                <a:latin typeface="VNI-Aptima" pitchFamily="2" charset="0"/>
              </a:rPr>
              <a:t>+</a:t>
            </a:r>
            <a:r>
              <a:rPr lang="en-US" sz="2200" smtClean="0">
                <a:solidFill>
                  <a:srgbClr val="FF0000"/>
                </a:solidFill>
              </a:rPr>
              <a:t>i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>
                <a:latin typeface="VNI-Aptima" pitchFamily="2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</a:t>
            </a:r>
            <a:r>
              <a:rPr lang="en-US" sz="2400"/>
              <a:t>n</a:t>
            </a:r>
            <a:r>
              <a:rPr lang="en-US" sz="2400" smtClean="0">
                <a:latin typeface="VNI-Aptima" pitchFamily="2" charset="0"/>
              </a:rPr>
              <a:t>;</a:t>
            </a:r>
            <a:r>
              <a:rPr lang="en-US" sz="2400" smtClean="0"/>
              <a:t>i</a:t>
            </a:r>
            <a:r>
              <a:rPr lang="en-US" sz="2400">
                <a:latin typeface="VNI-Aptima" pitchFamily="2" charset="0"/>
              </a:rPr>
              <a:t>++)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     </a:t>
            </a:r>
            <a:r>
              <a:rPr lang="en-US" sz="2400">
                <a:solidFill>
                  <a:srgbClr val="2222B2"/>
                </a:solidFill>
              </a:rPr>
              <a:t>printf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("%4</a:t>
            </a:r>
            <a:r>
              <a:rPr lang="en-US" sz="2400">
                <a:solidFill>
                  <a:srgbClr val="2222B2"/>
                </a:solidFill>
              </a:rPr>
              <a:t>d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400" smtClean="0">
                <a:solidFill>
                  <a:srgbClr val="FF0000"/>
                </a:solidFill>
                <a:latin typeface="VNI-Aptima" pitchFamily="2" charset="0"/>
              </a:rPr>
              <a:t>*(</a:t>
            </a:r>
            <a:r>
              <a:rPr lang="en-US" sz="2400">
                <a:solidFill>
                  <a:srgbClr val="FF0000"/>
                </a:solidFill>
              </a:rPr>
              <a:t>pa</a:t>
            </a:r>
            <a:r>
              <a:rPr lang="en-US" sz="2400">
                <a:solidFill>
                  <a:srgbClr val="FF0000"/>
                </a:solidFill>
                <a:latin typeface="VNI-Aptima" pitchFamily="2" charset="0"/>
              </a:rPr>
              <a:t>+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>
                <a:solidFill>
                  <a:srgbClr val="FF0000"/>
                </a:solidFill>
                <a:latin typeface="VNI-Aptima" pitchFamily="2" charset="0"/>
              </a:rPr>
              <a:t>)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30428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305800" cy="1104900"/>
          </a:xfrm>
        </p:spPr>
        <p:txBody>
          <a:bodyPr>
            <a:noAutofit/>
          </a:bodyPr>
          <a:lstStyle/>
          <a:p>
            <a:r>
              <a:rPr lang="en-US" sz="3600" smtClean="0">
                <a:latin typeface="Times New Roman" pitchFamily="18" charset="0"/>
              </a:rPr>
              <a:t>Nhắc lại: truyền tham số là mảng cho hàm</a:t>
            </a:r>
            <a:endParaRPr lang="en-US" sz="36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smtClean="0">
                <a:solidFill>
                  <a:schemeClr val="tx2"/>
                </a:solidFill>
              </a:rPr>
              <a:t>Ví dụ</a:t>
            </a:r>
            <a:r>
              <a:rPr lang="en-US" smtClean="0">
                <a:solidFill>
                  <a:schemeClr val="tx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pa[]</a:t>
            </a:r>
            <a:r>
              <a:rPr lang="en-US" smtClean="0">
                <a:solidFill>
                  <a:schemeClr val="tx2"/>
                </a:solidFill>
              </a:rPr>
              <a:t>, int n</a:t>
            </a:r>
            <a:r>
              <a:rPr lang="en-US">
                <a:solidFill>
                  <a:schemeClr val="tx2"/>
                </a:solidFill>
              </a:rPr>
              <a:t>);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void main()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int a[10], n;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TinhTong(a, n);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pa[]</a:t>
            </a:r>
            <a:r>
              <a:rPr lang="en-US" smtClean="0">
                <a:solidFill>
                  <a:schemeClr val="tx2"/>
                </a:solidFill>
              </a:rPr>
              <a:t>, int n)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….	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Ở ví dụ trên, tham số hình thức của mảng a trong hàm TinhTong khai báo dùng mảng hình thức: </a:t>
            </a:r>
            <a:r>
              <a:rPr lang="en-US" smtClean="0">
                <a:solidFill>
                  <a:srgbClr val="FF0000"/>
                </a:solidFill>
              </a:rPr>
              <a:t>int pa[]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915400" cy="1104900"/>
          </a:xfrm>
        </p:spPr>
        <p:txBody>
          <a:bodyPr>
            <a:normAutofit/>
          </a:bodyPr>
          <a:lstStyle/>
          <a:p>
            <a:pPr algn="l"/>
            <a:r>
              <a:rPr lang="en-US" sz="4000" smtClean="0">
                <a:latin typeface="Times New Roman" pitchFamily="18" charset="0"/>
              </a:rPr>
              <a:t>Tham số hình thức cho hàm là con trỏ</a:t>
            </a:r>
            <a:endParaRPr lang="en-US" sz="40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smtClean="0">
                <a:solidFill>
                  <a:schemeClr val="tx2"/>
                </a:solidFill>
              </a:rPr>
              <a:t>Ví dụ</a:t>
            </a:r>
            <a:r>
              <a:rPr lang="en-US" smtClean="0">
                <a:solidFill>
                  <a:schemeClr val="tx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*pa</a:t>
            </a:r>
            <a:r>
              <a:rPr lang="en-US">
                <a:solidFill>
                  <a:schemeClr val="tx2"/>
                </a:solidFill>
              </a:rPr>
              <a:t>, </a:t>
            </a:r>
            <a:r>
              <a:rPr lang="en-US" smtClean="0">
                <a:solidFill>
                  <a:schemeClr val="tx2"/>
                </a:solidFill>
              </a:rPr>
              <a:t>int n</a:t>
            </a:r>
            <a:r>
              <a:rPr lang="en-US">
                <a:solidFill>
                  <a:schemeClr val="tx2"/>
                </a:solidFill>
              </a:rPr>
              <a:t>);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void main()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int a[10], n;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TinhTong(a, n);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*pa</a:t>
            </a:r>
            <a:r>
              <a:rPr lang="en-US" smtClean="0">
                <a:solidFill>
                  <a:schemeClr val="tx2"/>
                </a:solidFill>
              </a:rPr>
              <a:t>, int n)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….	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Ở ví dụ trên, tham số hình thức của mảng a trong hàm TinhTong có thể khai báo dùng con trỏ: </a:t>
            </a:r>
            <a:r>
              <a:rPr lang="en-US" smtClean="0">
                <a:solidFill>
                  <a:srgbClr val="FF0000"/>
                </a:solidFill>
              </a:rPr>
              <a:t>int *pa</a:t>
            </a:r>
          </a:p>
        </p:txBody>
      </p:sp>
    </p:spTree>
    <p:extLst>
      <p:ext uri="{BB962C8B-B14F-4D97-AF65-F5344CB8AC3E}">
        <p14:creationId xmlns:p14="http://schemas.microsoft.com/office/powerpoint/2010/main" val="2217591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6106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SỰ TƯƠNG QUAN </a:t>
            </a:r>
            <a:r>
              <a:rPr lang="en-US" sz="3400" smtClean="0"/>
              <a:t>MẢNG 2 CHIỀU </a:t>
            </a:r>
            <a:r>
              <a:rPr lang="en-US" sz="3400"/>
              <a:t>VÀ CON TRỎ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63000" cy="464820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Mảng 2 chiều là mảng (1 chiều) của mảng.</a:t>
            </a:r>
          </a:p>
          <a:p>
            <a:pPr>
              <a:spcBef>
                <a:spcPts val="1200"/>
              </a:spcBef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Khi khai báo: int a[2][3] thì trong bộ nhớ tạo ra:</a:t>
            </a:r>
          </a:p>
          <a:p>
            <a:pPr marL="0" indent="0">
              <a:spcBef>
                <a:spcPts val="1200"/>
              </a:spcBef>
              <a:buNone/>
            </a:pPr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200"/>
              </a:spcBef>
            </a:pPr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Tức mảng a có 2 phần tử, mỗi phần tử là 1 mảng chứa 3 số nguyên.</a:t>
            </a:r>
          </a:p>
          <a:p>
            <a:pPr>
              <a:spcBef>
                <a:spcPts val="1200"/>
              </a:spcBef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Tên mảng a chứa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địa chỉ của phần tử đầu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tiên.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Địa chỉ phần tử đầu tiên có kiểu int[3]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Với khai báo</a:t>
            </a:r>
            <a:r>
              <a:rPr lang="en-US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a[2][3]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thì:</a:t>
            </a:r>
          </a:p>
          <a:p>
            <a:pPr marL="0" indent="0">
              <a:buNone/>
            </a:pP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a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tương đương với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&amp;a[0][0]</a:t>
            </a:r>
          </a:p>
          <a:p>
            <a:pPr marL="0" indent="0"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a+1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tương đương với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&amp;a[1][0]</a:t>
            </a:r>
          </a:p>
          <a:p>
            <a:pPr marL="0" indent="0"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…..</a:t>
            </a:r>
          </a:p>
          <a:p>
            <a:pPr marL="0" indent="0">
              <a:buNone/>
            </a:pPr>
            <a:endParaRPr lang="en-US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572199"/>
              </p:ext>
            </p:extLst>
          </p:nvPr>
        </p:nvGraphicFramePr>
        <p:xfrm>
          <a:off x="762000" y="2590800"/>
          <a:ext cx="685799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Phần</a:t>
                      </a:r>
                      <a:r>
                        <a:rPr lang="en-US" baseline="0" smtClean="0"/>
                        <a:t> tử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a[0][0]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a[0][1]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a[0][2]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a[1][0]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a[1][1]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a[1][2]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Địa</a:t>
                      </a:r>
                      <a:r>
                        <a:rPr lang="en-US" baseline="0" smtClean="0"/>
                        <a:t> chỉ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3325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6106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SỰ TƯƠNG QUAN </a:t>
            </a:r>
            <a:r>
              <a:rPr lang="en-US" sz="3400" smtClean="0"/>
              <a:t>MẢNG 2 CHIỀU </a:t>
            </a:r>
            <a:r>
              <a:rPr lang="en-US" sz="3400"/>
              <a:t>VÀ CON TRỎ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648200"/>
          </a:xfrm>
        </p:spPr>
        <p:txBody>
          <a:bodyPr>
            <a:normAutofit fontScale="85000" lnSpcReduction="20000"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Xét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khai báo :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a[2][3],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 = (int*)a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	Khi đó: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tương đương với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&amp;a[0][0]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pa+1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&amp;a[0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][1]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pa+2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&amp;a[0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][2]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pa+3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a[1][0]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pa+4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1]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pa+5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a[1][2]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Chú ý: vì a là địa chỉ kiểu int[3], pa là con trỏ kiểu int. Nên phải ép kiểu như sau: pa = (int*)a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34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6106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SỰ TƯƠNG QUAN </a:t>
            </a:r>
            <a:r>
              <a:rPr lang="en-US" sz="3400" smtClean="0"/>
              <a:t>MẢNG 2 CHIỀU </a:t>
            </a:r>
            <a:r>
              <a:rPr lang="en-US" sz="3400"/>
              <a:t>VÀ CON TRỎ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648200"/>
          </a:xfrm>
        </p:spPr>
        <p:txBody>
          <a:bodyPr>
            <a:normAutofit fontScale="92500" lnSpcReduction="10000"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Xét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khai báo :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a[2][3], 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 = (int*)a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	Khi đó: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tương đương với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a[0][0]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pa+1)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a[0][1]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pa+2)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a[0][2]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pa+3)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a[1][0]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pa+4)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</a:t>
            </a:r>
            <a:r>
              <a:rPr lang="en-US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1]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pa+5)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tương đương với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a[1][2]</a:t>
            </a:r>
            <a:r>
              <a:rPr lang="en-US" smtClean="0">
                <a:solidFill>
                  <a:srgbClr val="2222B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>
              <a:solidFill>
                <a:srgbClr val="2222B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1432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24850" cy="647700"/>
          </a:xfrm>
        </p:spPr>
        <p:txBody>
          <a:bodyPr/>
          <a:lstStyle/>
          <a:p>
            <a:r>
              <a:rPr lang="en-US" sz="3200" smtClean="0"/>
              <a:t>Nhắc lại: Nhập </a:t>
            </a:r>
            <a:r>
              <a:rPr lang="en-US" sz="3200"/>
              <a:t>xuất </a:t>
            </a:r>
            <a:r>
              <a:rPr lang="en-US" sz="3200" smtClean="0"/>
              <a:t>mảng 2 chiều</a:t>
            </a:r>
            <a:endParaRPr lang="en-US" sz="3200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267200" cy="51816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stdio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conio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R</a:t>
            </a:r>
            <a:r>
              <a:rPr lang="en-US" sz="2400" smtClean="0"/>
              <a:t>Max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>
                <a:latin typeface="VNI-Aptima" pitchFamily="2" charset="0"/>
              </a:rPr>
              <a:t>100</a:t>
            </a:r>
          </a:p>
          <a:p>
            <a:pPr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C</a:t>
            </a:r>
            <a:r>
              <a:rPr lang="en-US" sz="2400" smtClean="0"/>
              <a:t>Max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>
                <a:latin typeface="VNI-Aptima" pitchFamily="2" charset="0"/>
              </a:rPr>
              <a:t>100</a:t>
            </a:r>
          </a:p>
          <a:p>
            <a:pPr>
              <a:buFont typeface="Wingdings" pitchFamily="2" charset="2"/>
              <a:buNone/>
            </a:pPr>
            <a:r>
              <a:rPr lang="en-US" sz="2400" smtClean="0"/>
              <a:t>void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/>
              <a:t>main</a:t>
            </a:r>
            <a:r>
              <a:rPr lang="en-US" sz="2400">
                <a:latin typeface="VNI-Aptima" pitchFamily="2" charset="0"/>
              </a:rPr>
              <a:t>()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200"/>
              <a:t>int</a:t>
            </a:r>
            <a:r>
              <a:rPr lang="en-US" sz="2200">
                <a:latin typeface="VNI-Aptima" pitchFamily="2" charset="0"/>
              </a:rPr>
              <a:t> </a:t>
            </a:r>
            <a:r>
              <a:rPr lang="en-US" sz="2200" smtClean="0"/>
              <a:t>a</a:t>
            </a:r>
            <a:r>
              <a:rPr lang="en-US" sz="2200" smtClean="0">
                <a:latin typeface="VNI-Aptima" pitchFamily="2" charset="0"/>
              </a:rPr>
              <a:t>[</a:t>
            </a:r>
            <a:r>
              <a:rPr lang="en-US" sz="2200" smtClean="0"/>
              <a:t>RMax</a:t>
            </a:r>
            <a:r>
              <a:rPr lang="en-US" sz="2200" smtClean="0">
                <a:latin typeface="VNI-Aptima" pitchFamily="2" charset="0"/>
              </a:rPr>
              <a:t>][CMax], n, m, </a:t>
            </a:r>
            <a:r>
              <a:rPr lang="en-US" sz="2200"/>
              <a:t>i</a:t>
            </a:r>
            <a:r>
              <a:rPr lang="en-US" sz="2200" smtClean="0"/>
              <a:t>, j</a:t>
            </a:r>
            <a:r>
              <a:rPr lang="en-US" sz="2200" smtClean="0">
                <a:latin typeface="VNI-Aptima" pitchFamily="2" charset="0"/>
              </a:rPr>
              <a:t>;</a:t>
            </a:r>
            <a:endParaRPr lang="en-US" sz="2200"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99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(</a:t>
            </a:r>
            <a:r>
              <a:rPr lang="en-US" sz="2200" smtClean="0">
                <a:solidFill>
                  <a:srgbClr val="2222B2"/>
                </a:solidFill>
              </a:rPr>
              <a:t>“So dong va cot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:");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 smtClean="0">
                <a:solidFill>
                  <a:srgbClr val="2222B2"/>
                </a:solidFill>
              </a:rPr>
              <a:t>d%d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",&amp;</a:t>
            </a:r>
            <a:r>
              <a:rPr lang="en-US" sz="2200">
                <a:solidFill>
                  <a:srgbClr val="2222B2"/>
                </a:solidFill>
              </a:rPr>
              <a:t>n</a:t>
            </a:r>
            <a:r>
              <a:rPr lang="en-US" sz="2200" smtClean="0">
                <a:solidFill>
                  <a:srgbClr val="2222B2"/>
                </a:solidFill>
              </a:rPr>
              <a:t>,&amp;m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endParaRPr lang="en-US" sz="2400">
              <a:solidFill>
                <a:srgbClr val="2222B2"/>
              </a:solidFill>
              <a:latin typeface="VNI-Aptima" pitchFamily="2" charset="0"/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95400"/>
            <a:ext cx="4800600" cy="5181600"/>
          </a:xfrm>
          <a:ln>
            <a:solidFill>
              <a:srgbClr val="000000"/>
            </a:solidFill>
          </a:ln>
        </p:spPr>
        <p:txBody>
          <a:bodyPr>
            <a:normAutofit fontScale="92500" lnSpcReduction="10000"/>
          </a:bodyPr>
          <a:lstStyle/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&lt;n;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>
                <a:latin typeface="VNI-Aptima" pitchFamily="2" charset="0"/>
              </a:rPr>
              <a:t>  for (j=0;j&lt;m;j++)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>
                <a:latin typeface="VNI-Aptima" pitchFamily="2" charset="0"/>
              </a:rPr>
              <a:t>  {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</a:t>
            </a:r>
            <a:r>
              <a:rPr lang="en-US" sz="2200" smtClean="0">
                <a:solidFill>
                  <a:srgbClr val="FFFF00"/>
                </a:solidFill>
                <a:latin typeface="VNI-Aptima" pitchFamily="2" charset="0"/>
              </a:rPr>
              <a:t>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</a:t>
            </a:r>
            <a:r>
              <a:rPr lang="en-US" sz="2200">
                <a:solidFill>
                  <a:srgbClr val="2222B2"/>
                </a:solidFill>
              </a:rPr>
              <a:t>Nhap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[%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][%d]: ",</a:t>
            </a:r>
            <a:r>
              <a:rPr lang="en-US" sz="2200">
                <a:solidFill>
                  <a:srgbClr val="2222B2"/>
                </a:solidFill>
              </a:rPr>
              <a:t>i</a:t>
            </a:r>
            <a:r>
              <a:rPr lang="en-US" sz="2200" smtClean="0">
                <a:solidFill>
                  <a:srgbClr val="2222B2"/>
                </a:solidFill>
              </a:rPr>
              <a:t>,j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     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 smtClean="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200" smtClean="0">
                <a:solidFill>
                  <a:srgbClr val="FF0000"/>
                </a:solidFill>
              </a:rPr>
              <a:t>&amp;a[i][j</a:t>
            </a:r>
            <a:r>
              <a:rPr lang="en-US" sz="2200" smtClean="0">
                <a:solidFill>
                  <a:srgbClr val="2222B2"/>
                </a:solidFill>
              </a:rPr>
              <a:t>]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>
                <a:solidFill>
                  <a:srgbClr val="FFFF00"/>
                </a:solidFill>
                <a:latin typeface="VNI-Aptima" pitchFamily="2" charset="0"/>
              </a:rPr>
              <a:t>  </a:t>
            </a: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/>
              <a:t>for</a:t>
            </a:r>
            <a:r>
              <a:rPr lang="en-US" sz="2400">
                <a:latin typeface="VNI-Aptima" pitchFamily="2" charset="0"/>
              </a:rPr>
              <a:t>(</a:t>
            </a:r>
            <a:r>
              <a:rPr lang="en-US" sz="2400"/>
              <a:t>i</a:t>
            </a:r>
            <a:r>
              <a:rPr lang="en-US" sz="2400">
                <a:latin typeface="VNI-Aptima" pitchFamily="2" charset="0"/>
              </a:rPr>
              <a:t>=0;</a:t>
            </a:r>
            <a:r>
              <a:rPr lang="en-US" sz="2400"/>
              <a:t>i</a:t>
            </a:r>
            <a:r>
              <a:rPr lang="en-US" sz="2400">
                <a:latin typeface="VNI-Aptima" pitchFamily="2" charset="0"/>
              </a:rPr>
              <a:t>&lt;n;</a:t>
            </a:r>
            <a:r>
              <a:rPr lang="en-US" sz="2400"/>
              <a:t>i</a:t>
            </a:r>
            <a:r>
              <a:rPr lang="en-US" sz="2400" smtClean="0">
                <a:latin typeface="VNI-Aptima" pitchFamily="2" charset="0"/>
              </a:rPr>
              <a:t>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 smtClean="0">
                <a:latin typeface="VNI-Aptima" pitchFamily="2" charset="0"/>
              </a:rPr>
              <a:t> {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  for (j=0;j&lt;m;j++)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  {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(“%d ", </a:t>
            </a:r>
            <a:r>
              <a:rPr lang="en-US" sz="2200" smtClean="0">
                <a:solidFill>
                  <a:srgbClr val="FF0000"/>
                </a:solidFill>
                <a:latin typeface="VNI-Aptima" pitchFamily="2" charset="0"/>
              </a:rPr>
              <a:t>a[i][j]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  </a:t>
            </a:r>
            <a:r>
              <a:rPr lang="en-US" sz="2400" smtClean="0">
                <a:latin typeface="VNI-Aptima" pitchFamily="2" charset="0"/>
              </a:rPr>
              <a:t>}</a:t>
            </a: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rgbClr val="FFFF00"/>
                </a:solidFill>
                <a:latin typeface="VNI-Aptima" pitchFamily="2" charset="0"/>
              </a:rPr>
              <a:t>    </a:t>
            </a:r>
            <a:r>
              <a:rPr lang="en-US" sz="2400" smtClean="0">
                <a:solidFill>
                  <a:srgbClr val="2222B2"/>
                </a:solidFill>
              </a:rPr>
              <a:t>printf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(“\n");</a:t>
            </a: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7909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24850" cy="647700"/>
          </a:xfrm>
        </p:spPr>
        <p:txBody>
          <a:bodyPr/>
          <a:lstStyle/>
          <a:p>
            <a:pPr algn="l"/>
            <a:r>
              <a:rPr lang="en-US" sz="3200"/>
              <a:t>Ví dụ: Nhập xuất mảng 2 chiều bằng con trỏ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267200" cy="5181600"/>
          </a:xfrm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stdio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include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 &lt;</a:t>
            </a:r>
            <a:r>
              <a:rPr lang="en-US" sz="2400">
                <a:solidFill>
                  <a:srgbClr val="2222B2"/>
                </a:solidFill>
              </a:rPr>
              <a:t>conio</a:t>
            </a: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.</a:t>
            </a:r>
            <a:r>
              <a:rPr lang="en-US" sz="2400">
                <a:solidFill>
                  <a:srgbClr val="2222B2"/>
                </a:solidFill>
              </a:rPr>
              <a:t>h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&gt;</a:t>
            </a:r>
          </a:p>
          <a:p>
            <a:pPr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R</a:t>
            </a:r>
            <a:r>
              <a:rPr lang="en-US" sz="2400" smtClean="0"/>
              <a:t>Max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>
                <a:latin typeface="VNI-Aptima" pitchFamily="2" charset="0"/>
              </a:rPr>
              <a:t>100</a:t>
            </a:r>
          </a:p>
          <a:p>
            <a:pPr>
              <a:buNone/>
            </a:pPr>
            <a:r>
              <a:rPr lang="en-US" sz="2400">
                <a:solidFill>
                  <a:srgbClr val="2222B2"/>
                </a:solidFill>
                <a:latin typeface="VNI-Aptima" pitchFamily="2" charset="0"/>
              </a:rPr>
              <a:t>#</a:t>
            </a:r>
            <a:r>
              <a:rPr lang="en-US" sz="2400">
                <a:solidFill>
                  <a:srgbClr val="2222B2"/>
                </a:solidFill>
              </a:rPr>
              <a:t>define</a:t>
            </a:r>
            <a:r>
              <a:rPr lang="en-US" sz="2400"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C</a:t>
            </a:r>
            <a:r>
              <a:rPr lang="en-US" sz="2400" smtClean="0"/>
              <a:t>Max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>
                <a:latin typeface="VNI-Aptima" pitchFamily="2" charset="0"/>
              </a:rPr>
              <a:t>100</a:t>
            </a:r>
          </a:p>
          <a:p>
            <a:pPr>
              <a:buFont typeface="Wingdings" pitchFamily="2" charset="2"/>
              <a:buNone/>
            </a:pPr>
            <a:r>
              <a:rPr lang="en-US" sz="2400" smtClean="0"/>
              <a:t>void</a:t>
            </a:r>
            <a:r>
              <a:rPr lang="en-US" sz="2400" smtClean="0">
                <a:latin typeface="VNI-Aptima" pitchFamily="2" charset="0"/>
              </a:rPr>
              <a:t> </a:t>
            </a:r>
            <a:r>
              <a:rPr lang="en-US" sz="2400"/>
              <a:t>main</a:t>
            </a:r>
            <a:r>
              <a:rPr lang="en-US" sz="2400">
                <a:latin typeface="VNI-Aptima" pitchFamily="2" charset="0"/>
              </a:rPr>
              <a:t>()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VNI-Aptima" pitchFamily="2" charset="0"/>
              </a:rPr>
              <a:t>  </a:t>
            </a:r>
            <a:r>
              <a:rPr lang="en-US" sz="2200" smtClean="0"/>
              <a:t>int</a:t>
            </a:r>
            <a:r>
              <a:rPr lang="en-US" sz="2200" smtClean="0">
                <a:latin typeface="VNI-Aptima" pitchFamily="2" charset="0"/>
              </a:rPr>
              <a:t> </a:t>
            </a:r>
            <a:r>
              <a:rPr lang="en-US" sz="2200" smtClean="0"/>
              <a:t>a</a:t>
            </a:r>
            <a:r>
              <a:rPr lang="en-US" sz="2200" smtClean="0">
                <a:latin typeface="VNI-Aptima" pitchFamily="2" charset="0"/>
              </a:rPr>
              <a:t>[</a:t>
            </a:r>
            <a:r>
              <a:rPr lang="en-US" sz="2200" smtClean="0"/>
              <a:t>RMax</a:t>
            </a:r>
            <a:r>
              <a:rPr lang="en-US" sz="2200" smtClean="0">
                <a:latin typeface="VNI-Aptima" pitchFamily="2" charset="0"/>
              </a:rPr>
              <a:t>][CMax],n,m, </a:t>
            </a:r>
            <a:r>
              <a:rPr lang="en-US" sz="2200"/>
              <a:t>i</a:t>
            </a:r>
            <a:r>
              <a:rPr lang="en-US" sz="2200" smtClean="0"/>
              <a:t>, j, *pa</a:t>
            </a:r>
            <a:r>
              <a:rPr lang="en-US" sz="2200" smtClean="0">
                <a:latin typeface="VNI-Aptima" pitchFamily="2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en-US" sz="2200">
                <a:latin typeface="VNI-Aptima" pitchFamily="2" charset="0"/>
              </a:rPr>
              <a:t> </a:t>
            </a:r>
            <a:r>
              <a:rPr lang="en-US" sz="2200" smtClean="0">
                <a:latin typeface="VNI-Aptima" pitchFamily="2" charset="0"/>
              </a:rPr>
              <a:t> pa=(int*)a;</a:t>
            </a:r>
            <a:endParaRPr lang="en-US" sz="2200"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99"/>
                </a:solidFill>
                <a:latin typeface="VNI-Aptima" pitchFamily="2" charset="0"/>
              </a:rPr>
              <a:t> </a:t>
            </a:r>
            <a:r>
              <a:rPr lang="en-US" sz="2200" smtClean="0">
                <a:solidFill>
                  <a:srgbClr val="000099"/>
                </a:solidFill>
                <a:latin typeface="VNI-Aptima" pitchFamily="2" charset="0"/>
              </a:rPr>
              <a:t> </a:t>
            </a:r>
            <a:r>
              <a:rPr lang="en-US" sz="2200" smtClean="0">
                <a:solidFill>
                  <a:srgbClr val="2222B2"/>
                </a:solidFill>
              </a:rPr>
              <a:t>printf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(</a:t>
            </a:r>
            <a:r>
              <a:rPr lang="en-US" sz="2200" smtClean="0">
                <a:solidFill>
                  <a:srgbClr val="2222B2"/>
                </a:solidFill>
              </a:rPr>
              <a:t>“So dong va cot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:");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200" smtClean="0">
                <a:solidFill>
                  <a:srgbClr val="2222B2"/>
                </a:solidFill>
              </a:rPr>
              <a:t>   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 smtClean="0">
                <a:solidFill>
                  <a:srgbClr val="2222B2"/>
                </a:solidFill>
              </a:rPr>
              <a:t>d%d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",&amp;</a:t>
            </a:r>
            <a:r>
              <a:rPr lang="en-US" sz="2200">
                <a:solidFill>
                  <a:srgbClr val="2222B2"/>
                </a:solidFill>
              </a:rPr>
              <a:t>n</a:t>
            </a:r>
            <a:r>
              <a:rPr lang="en-US" sz="2200" smtClean="0">
                <a:solidFill>
                  <a:srgbClr val="2222B2"/>
                </a:solidFill>
              </a:rPr>
              <a:t>,&amp;m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endParaRPr lang="en-US" sz="2400">
              <a:solidFill>
                <a:srgbClr val="2222B2"/>
              </a:solidFill>
              <a:latin typeface="VNI-Aptima" pitchFamily="2" charset="0"/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295400"/>
            <a:ext cx="4800600" cy="5181600"/>
          </a:xfrm>
          <a:ln>
            <a:solidFill>
              <a:srgbClr val="000000"/>
            </a:solidFill>
          </a:ln>
        </p:spPr>
        <p:txBody>
          <a:bodyPr>
            <a:normAutofit fontScale="92500" lnSpcReduction="10000"/>
          </a:bodyPr>
          <a:lstStyle/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/>
              <a:t>for</a:t>
            </a:r>
            <a:r>
              <a:rPr lang="en-US" sz="2400" smtClean="0">
                <a:latin typeface="VNI-Aptima" pitchFamily="2" charset="0"/>
              </a:rPr>
              <a:t>(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=0;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&lt;n;</a:t>
            </a:r>
            <a:r>
              <a:rPr lang="en-US" sz="2400" smtClean="0"/>
              <a:t>i</a:t>
            </a:r>
            <a:r>
              <a:rPr lang="en-US" sz="2400" smtClean="0">
                <a:latin typeface="VNI-Aptima" pitchFamily="2" charset="0"/>
              </a:rPr>
              <a:t>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>
                <a:latin typeface="VNI-Aptima" pitchFamily="2" charset="0"/>
              </a:rPr>
              <a:t>  for (j=0;j&lt;m;j++)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 smtClean="0">
                <a:latin typeface="VNI-Aptima" pitchFamily="2" charset="0"/>
              </a:rPr>
              <a:t>  {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</a:t>
            </a:r>
            <a:r>
              <a:rPr lang="en-US" sz="2200" smtClean="0">
                <a:solidFill>
                  <a:srgbClr val="FFFF00"/>
                </a:solidFill>
                <a:latin typeface="VNI-Aptima" pitchFamily="2" charset="0"/>
              </a:rPr>
              <a:t>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</a:t>
            </a:r>
            <a:r>
              <a:rPr lang="en-US" sz="2200">
                <a:solidFill>
                  <a:srgbClr val="2222B2"/>
                </a:solidFill>
              </a:rPr>
              <a:t>Nhap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phan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tu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>
                <a:solidFill>
                  <a:srgbClr val="2222B2"/>
                </a:solidFill>
              </a:rPr>
              <a:t>a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[%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][%d]: ",</a:t>
            </a:r>
            <a:r>
              <a:rPr lang="en-US" sz="2200">
                <a:solidFill>
                  <a:srgbClr val="2222B2"/>
                </a:solidFill>
              </a:rPr>
              <a:t>i</a:t>
            </a:r>
            <a:r>
              <a:rPr lang="en-US" sz="2200" smtClean="0">
                <a:solidFill>
                  <a:srgbClr val="2222B2"/>
                </a:solidFill>
              </a:rPr>
              <a:t>,j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      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200" smtClean="0">
                <a:solidFill>
                  <a:srgbClr val="2222B2"/>
                </a:solidFill>
              </a:rPr>
              <a:t>scanf</a:t>
            </a:r>
            <a:r>
              <a:rPr lang="en-US" sz="2200">
                <a:solidFill>
                  <a:srgbClr val="2222B2"/>
                </a:solidFill>
                <a:latin typeface="VNI-Aptima" pitchFamily="2" charset="0"/>
              </a:rPr>
              <a:t>("%</a:t>
            </a:r>
            <a:r>
              <a:rPr lang="en-US" sz="2200">
                <a:solidFill>
                  <a:srgbClr val="2222B2"/>
                </a:solidFill>
              </a:rPr>
              <a:t>d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", </a:t>
            </a:r>
            <a:r>
              <a:rPr lang="en-US" sz="2200" smtClean="0">
                <a:solidFill>
                  <a:srgbClr val="FF0000"/>
                </a:solidFill>
              </a:rPr>
              <a:t>pa + i*m +j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400" smtClean="0">
                <a:solidFill>
                  <a:srgbClr val="FFFF00"/>
                </a:solidFill>
                <a:latin typeface="VNI-Aptima" pitchFamily="2" charset="0"/>
              </a:rPr>
              <a:t>  </a:t>
            </a: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</a:t>
            </a:r>
            <a:r>
              <a:rPr lang="en-US" sz="2400"/>
              <a:t>for</a:t>
            </a:r>
            <a:r>
              <a:rPr lang="en-US" sz="2400">
                <a:latin typeface="VNI-Aptima" pitchFamily="2" charset="0"/>
              </a:rPr>
              <a:t>(</a:t>
            </a:r>
            <a:r>
              <a:rPr lang="en-US" sz="2400"/>
              <a:t>i</a:t>
            </a:r>
            <a:r>
              <a:rPr lang="en-US" sz="2400">
                <a:latin typeface="VNI-Aptima" pitchFamily="2" charset="0"/>
              </a:rPr>
              <a:t>=0;</a:t>
            </a:r>
            <a:r>
              <a:rPr lang="en-US" sz="2400"/>
              <a:t>i</a:t>
            </a:r>
            <a:r>
              <a:rPr lang="en-US" sz="2400">
                <a:latin typeface="VNI-Aptima" pitchFamily="2" charset="0"/>
              </a:rPr>
              <a:t>&lt;n;</a:t>
            </a:r>
            <a:r>
              <a:rPr lang="en-US" sz="2400"/>
              <a:t>i</a:t>
            </a:r>
            <a:r>
              <a:rPr lang="en-US" sz="2400" smtClean="0">
                <a:latin typeface="VNI-Aptima" pitchFamily="2" charset="0"/>
              </a:rPr>
              <a:t>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 smtClean="0">
                <a:latin typeface="VNI-Aptima" pitchFamily="2" charset="0"/>
              </a:rPr>
              <a:t> {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  for (j=0;j&lt;m;j++)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latin typeface="VNI-Aptima" pitchFamily="2" charset="0"/>
              </a:rPr>
              <a:t>	  {</a:t>
            </a:r>
          </a:p>
          <a:p>
            <a:pPr marL="117475" indent="-117475"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</a:t>
            </a:r>
            <a:r>
              <a:rPr lang="en-US" sz="2200">
                <a:solidFill>
                  <a:srgbClr val="FFFF00"/>
                </a:solidFill>
                <a:latin typeface="VNI-Aptima" pitchFamily="2" charset="0"/>
              </a:rPr>
              <a:t>     </a:t>
            </a:r>
            <a:r>
              <a:rPr lang="en-US" sz="2200">
                <a:solidFill>
                  <a:srgbClr val="2222B2"/>
                </a:solidFill>
              </a:rPr>
              <a:t>printf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(“%d ",</a:t>
            </a:r>
            <a:r>
              <a:rPr lang="en-US" sz="2200">
                <a:solidFill>
                  <a:srgbClr val="2222B2"/>
                </a:solidFill>
              </a:rPr>
              <a:t> </a:t>
            </a:r>
            <a:r>
              <a:rPr lang="en-US" sz="2200" smtClean="0">
                <a:solidFill>
                  <a:srgbClr val="FF0000"/>
                </a:solidFill>
              </a:rPr>
              <a:t>*(pa </a:t>
            </a:r>
            <a:r>
              <a:rPr lang="en-US" sz="2200">
                <a:solidFill>
                  <a:srgbClr val="FF0000"/>
                </a:solidFill>
              </a:rPr>
              <a:t>+ i*m +j</a:t>
            </a:r>
            <a:r>
              <a:rPr lang="en-US" sz="2200" smtClean="0">
                <a:solidFill>
                  <a:srgbClr val="FF0000"/>
                </a:solidFill>
                <a:latin typeface="VNI-Aptima" pitchFamily="2" charset="0"/>
              </a:rPr>
              <a:t>)</a:t>
            </a:r>
            <a:r>
              <a:rPr lang="en-US" sz="2200" smtClean="0">
                <a:solidFill>
                  <a:srgbClr val="2222B2"/>
                </a:solidFill>
                <a:latin typeface="VNI-Aptima" pitchFamily="2" charset="0"/>
              </a:rPr>
              <a:t>);</a:t>
            </a:r>
            <a:endParaRPr lang="en-US" sz="2200">
              <a:solidFill>
                <a:srgbClr val="2222B2"/>
              </a:solidFill>
              <a:latin typeface="VNI-Aptima" pitchFamily="2" charset="0"/>
            </a:endParaRP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FF00"/>
                </a:solidFill>
                <a:latin typeface="VNI-Aptima" pitchFamily="2" charset="0"/>
              </a:rPr>
              <a:t>	  </a:t>
            </a:r>
            <a:r>
              <a:rPr lang="en-US" sz="2400" smtClean="0">
                <a:latin typeface="VNI-Aptima" pitchFamily="2" charset="0"/>
              </a:rPr>
              <a:t>}</a:t>
            </a: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rgbClr val="FFFF00"/>
                </a:solidFill>
                <a:latin typeface="VNI-Aptima" pitchFamily="2" charset="0"/>
              </a:rPr>
              <a:t>    </a:t>
            </a:r>
            <a:r>
              <a:rPr lang="en-US" sz="2400" smtClean="0">
                <a:solidFill>
                  <a:srgbClr val="2222B2"/>
                </a:solidFill>
              </a:rPr>
              <a:t>printf</a:t>
            </a: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(“\n");</a:t>
            </a:r>
          </a:p>
          <a:p>
            <a:pPr marL="117475" indent="-117475">
              <a:lnSpc>
                <a:spcPct val="5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rgbClr val="2222B2"/>
                </a:solidFill>
                <a:latin typeface="VNI-Aptima" pitchFamily="2" charset="0"/>
              </a:rPr>
              <a:t> </a:t>
            </a: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  <a:p>
            <a:pPr marL="117475" indent="-117475">
              <a:buFont typeface="Wingdings" pitchFamily="2" charset="2"/>
              <a:buNone/>
            </a:pPr>
            <a:r>
              <a:rPr lang="en-US" sz="2400" smtClean="0">
                <a:latin typeface="VNI-Aptima" pitchFamily="2" charset="0"/>
              </a:rPr>
              <a:t>}</a:t>
            </a:r>
            <a:endParaRPr lang="en-US" sz="2400">
              <a:latin typeface="VNI-Apt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822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305800" cy="1104900"/>
          </a:xfrm>
        </p:spPr>
        <p:txBody>
          <a:bodyPr>
            <a:noAutofit/>
          </a:bodyPr>
          <a:lstStyle/>
          <a:p>
            <a:r>
              <a:rPr lang="en-US" sz="3200" smtClean="0">
                <a:latin typeface="Times New Roman" pitchFamily="18" charset="0"/>
              </a:rPr>
              <a:t>Nhắc lại: truyền tham số mảng 2 chiều cho hàm</a:t>
            </a:r>
            <a:endParaRPr lang="en-US" sz="32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smtClean="0">
                <a:solidFill>
                  <a:schemeClr val="tx2"/>
                </a:solidFill>
              </a:rPr>
              <a:t>Ví dụ</a:t>
            </a:r>
            <a:r>
              <a:rPr lang="en-US" smtClean="0">
                <a:solidFill>
                  <a:schemeClr val="tx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pa[][100]</a:t>
            </a:r>
            <a:r>
              <a:rPr lang="en-US" smtClean="0">
                <a:solidFill>
                  <a:schemeClr val="tx2"/>
                </a:solidFill>
              </a:rPr>
              <a:t>, int n, int m);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void main()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int a[100][100], n,m;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TinhTong(a, n, m);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pa[][100]</a:t>
            </a:r>
            <a:r>
              <a:rPr lang="en-US" smtClean="0">
                <a:solidFill>
                  <a:schemeClr val="tx2"/>
                </a:solidFill>
              </a:rPr>
              <a:t>, int n, int m)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….	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Ở ví dụ trên, tham số hình thức của mảng 2 chiều a trong hàm TinhTong khai báo dùng mảng hình thức: </a:t>
            </a:r>
          </a:p>
          <a:p>
            <a:pPr marL="0" indent="0" algn="just">
              <a:buNone/>
            </a:pPr>
            <a:r>
              <a:rPr lang="en-US" smtClean="0">
                <a:solidFill>
                  <a:srgbClr val="FF0000"/>
                </a:solidFill>
              </a:rPr>
              <a:t>int pa[][100]</a:t>
            </a:r>
          </a:p>
          <a:p>
            <a:pPr marL="0" indent="0" algn="just">
              <a:buNone/>
            </a:pPr>
            <a:r>
              <a:rPr lang="en-US">
                <a:solidFill>
                  <a:schemeClr val="tx2"/>
                </a:solidFill>
              </a:rPr>
              <a:t>Trong thân hàm TinhTong, để truy cập đến phần tử a[i][j] dùng pa[i][j</a:t>
            </a:r>
            <a:r>
              <a:rPr lang="en-US" smtClean="0">
                <a:solidFill>
                  <a:schemeClr val="tx2"/>
                </a:solidFill>
              </a:rPr>
              <a:t>]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384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915400" cy="1104900"/>
          </a:xfrm>
        </p:spPr>
        <p:txBody>
          <a:bodyPr>
            <a:normAutofit/>
          </a:bodyPr>
          <a:lstStyle/>
          <a:p>
            <a:pPr algn="l"/>
            <a:r>
              <a:rPr lang="en-US" sz="4000" smtClean="0">
                <a:latin typeface="Times New Roman" pitchFamily="18" charset="0"/>
              </a:rPr>
              <a:t>Tham số hình thức cho hàm là con trỏ</a:t>
            </a:r>
            <a:endParaRPr lang="en-US" sz="40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smtClean="0">
                <a:solidFill>
                  <a:schemeClr val="tx2"/>
                </a:solidFill>
              </a:rPr>
              <a:t>Ví dụ</a:t>
            </a:r>
            <a:r>
              <a:rPr lang="en-US" smtClean="0">
                <a:solidFill>
                  <a:schemeClr val="tx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</a:t>
            </a:r>
            <a:r>
              <a:rPr lang="en-US" smtClean="0">
                <a:solidFill>
                  <a:srgbClr val="FF0000"/>
                </a:solidFill>
              </a:rPr>
              <a:t> int (*pa)[100]</a:t>
            </a:r>
            <a:r>
              <a:rPr lang="en-US" smtClean="0">
                <a:solidFill>
                  <a:schemeClr val="tx2"/>
                </a:solidFill>
              </a:rPr>
              <a:t>, int n, int m);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void main()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 int </a:t>
            </a:r>
            <a:r>
              <a:rPr lang="en-US">
                <a:solidFill>
                  <a:schemeClr val="tx2"/>
                </a:solidFill>
              </a:rPr>
              <a:t>a[100][100], n,m;</a:t>
            </a:r>
          </a:p>
          <a:p>
            <a:pPr marL="400050" lvl="1" indent="0">
              <a:buNone/>
            </a:pPr>
            <a:r>
              <a:rPr lang="en-US">
                <a:solidFill>
                  <a:schemeClr val="tx2"/>
                </a:solidFill>
              </a:rPr>
              <a:t>   TinhTong(a, n, m</a:t>
            </a:r>
            <a:r>
              <a:rPr lang="en-US" smtClean="0">
                <a:solidFill>
                  <a:schemeClr val="tx2"/>
                </a:solidFill>
              </a:rPr>
              <a:t>);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</a:t>
            </a:r>
            <a:r>
              <a:rPr lang="en-US">
                <a:solidFill>
                  <a:schemeClr val="tx2"/>
                </a:solidFill>
              </a:rPr>
              <a:t>TinhTong</a:t>
            </a:r>
            <a:r>
              <a:rPr lang="en-US" smtClean="0">
                <a:solidFill>
                  <a:schemeClr val="tx2"/>
                </a:solidFill>
              </a:rPr>
              <a:t>( </a:t>
            </a:r>
            <a:r>
              <a:rPr lang="en-US" smtClean="0">
                <a:solidFill>
                  <a:srgbClr val="FF0000"/>
                </a:solidFill>
              </a:rPr>
              <a:t>int </a:t>
            </a:r>
            <a:r>
              <a:rPr lang="en-US">
                <a:solidFill>
                  <a:srgbClr val="FF0000"/>
                </a:solidFill>
              </a:rPr>
              <a:t>(*pa)[100]</a:t>
            </a:r>
            <a:r>
              <a:rPr lang="en-US">
                <a:solidFill>
                  <a:schemeClr val="tx2"/>
                </a:solidFill>
              </a:rPr>
              <a:t>, int </a:t>
            </a:r>
            <a:r>
              <a:rPr lang="en-US" smtClean="0">
                <a:solidFill>
                  <a:schemeClr val="tx2"/>
                </a:solidFill>
              </a:rPr>
              <a:t>n, int m)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….	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Ở ví dụ trên, tham số hình thức của mảng a trong hàm TinhTong dùng </a:t>
            </a:r>
            <a:r>
              <a:rPr lang="en-US">
                <a:solidFill>
                  <a:srgbClr val="FF0000"/>
                </a:solidFill>
              </a:rPr>
              <a:t>int (*pa)[100</a:t>
            </a:r>
            <a:r>
              <a:rPr lang="en-US" smtClean="0">
                <a:solidFill>
                  <a:srgbClr val="FF0000"/>
                </a:solidFill>
              </a:rPr>
              <a:t>] </a:t>
            </a:r>
            <a:r>
              <a:rPr lang="en-US" smtClean="0">
                <a:solidFill>
                  <a:schemeClr val="tx2"/>
                </a:solidFill>
              </a:rPr>
              <a:t>là con trỏ kiểu int[100]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Trong thân hàm TinhTong, để truy cập đến phần tử a[i][j] dùng pa[i][j]</a:t>
            </a:r>
          </a:p>
        </p:txBody>
      </p:sp>
    </p:spTree>
    <p:extLst>
      <p:ext uri="{BB962C8B-B14F-4D97-AF65-F5344CB8AC3E}">
        <p14:creationId xmlns:p14="http://schemas.microsoft.com/office/powerpoint/2010/main" val="22178481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915400" cy="1104900"/>
          </a:xfrm>
        </p:spPr>
        <p:txBody>
          <a:bodyPr>
            <a:normAutofit/>
          </a:bodyPr>
          <a:lstStyle/>
          <a:p>
            <a:pPr algn="l"/>
            <a:r>
              <a:rPr lang="en-US" sz="4000" smtClean="0">
                <a:latin typeface="Times New Roman" pitchFamily="18" charset="0"/>
              </a:rPr>
              <a:t>Tham số hình thức cho hàm là con trỏ</a:t>
            </a:r>
            <a:endParaRPr lang="en-US" sz="40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smtClean="0">
                <a:solidFill>
                  <a:schemeClr val="tx2"/>
                </a:solidFill>
              </a:rPr>
              <a:t>Ví dụ</a:t>
            </a:r>
            <a:r>
              <a:rPr lang="en-US" smtClean="0">
                <a:solidFill>
                  <a:schemeClr val="tx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TinhTong( </a:t>
            </a:r>
            <a:r>
              <a:rPr lang="en-US" smtClean="0">
                <a:solidFill>
                  <a:srgbClr val="FF0000"/>
                </a:solidFill>
              </a:rPr>
              <a:t>int *pa</a:t>
            </a:r>
            <a:r>
              <a:rPr lang="en-US" smtClean="0">
                <a:solidFill>
                  <a:schemeClr val="tx2"/>
                </a:solidFill>
              </a:rPr>
              <a:t>, int n, int m);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void main()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 int </a:t>
            </a:r>
            <a:r>
              <a:rPr lang="en-US">
                <a:solidFill>
                  <a:schemeClr val="tx2"/>
                </a:solidFill>
              </a:rPr>
              <a:t>a[100][100], n,m;</a:t>
            </a:r>
          </a:p>
          <a:p>
            <a:pPr marL="400050" lvl="1" indent="0">
              <a:buNone/>
            </a:pPr>
            <a:r>
              <a:rPr lang="en-US">
                <a:solidFill>
                  <a:schemeClr val="tx2"/>
                </a:solidFill>
              </a:rPr>
              <a:t>   TinhTong(a, n, m</a:t>
            </a:r>
            <a:r>
              <a:rPr lang="en-US" smtClean="0">
                <a:solidFill>
                  <a:schemeClr val="tx2"/>
                </a:solidFill>
              </a:rPr>
              <a:t>);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int </a:t>
            </a:r>
            <a:r>
              <a:rPr lang="en-US">
                <a:solidFill>
                  <a:schemeClr val="tx2"/>
                </a:solidFill>
              </a:rPr>
              <a:t>TinhTong</a:t>
            </a:r>
            <a:r>
              <a:rPr lang="en-US" smtClean="0">
                <a:solidFill>
                  <a:schemeClr val="tx2"/>
                </a:solidFill>
              </a:rPr>
              <a:t>( </a:t>
            </a:r>
            <a:r>
              <a:rPr lang="en-US" smtClean="0">
                <a:solidFill>
                  <a:srgbClr val="FF0000"/>
                </a:solidFill>
              </a:rPr>
              <a:t>int *pa</a:t>
            </a:r>
            <a:r>
              <a:rPr lang="en-US" smtClean="0">
                <a:solidFill>
                  <a:schemeClr val="tx2"/>
                </a:solidFill>
              </a:rPr>
              <a:t>, </a:t>
            </a:r>
            <a:r>
              <a:rPr lang="en-US">
                <a:solidFill>
                  <a:schemeClr val="tx2"/>
                </a:solidFill>
              </a:rPr>
              <a:t>int </a:t>
            </a:r>
            <a:r>
              <a:rPr lang="en-US" smtClean="0">
                <a:solidFill>
                  <a:schemeClr val="tx2"/>
                </a:solidFill>
              </a:rPr>
              <a:t>n, int m)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{</a:t>
            </a: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   ….	</a:t>
            </a:r>
            <a:endParaRPr lang="en-US">
              <a:solidFill>
                <a:schemeClr val="tx2"/>
              </a:solidFill>
            </a:endParaRPr>
          </a:p>
          <a:p>
            <a:pPr marL="400050" lvl="1" indent="0">
              <a:buNone/>
            </a:pPr>
            <a:r>
              <a:rPr lang="en-US" smtClean="0">
                <a:solidFill>
                  <a:schemeClr val="tx2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Ở ví dụ trên, tham số hình thức của mảng a trong hàm TinhTong dùng </a:t>
            </a:r>
            <a:r>
              <a:rPr lang="en-US" smtClean="0">
                <a:solidFill>
                  <a:srgbClr val="FF0000"/>
                </a:solidFill>
              </a:rPr>
              <a:t>int* pa </a:t>
            </a:r>
            <a:r>
              <a:rPr lang="en-US" smtClean="0">
                <a:solidFill>
                  <a:schemeClr val="tx2"/>
                </a:solidFill>
              </a:rPr>
              <a:t>là con trỏ kiểu int</a:t>
            </a:r>
          </a:p>
          <a:p>
            <a:pPr marL="0" indent="0" algn="just">
              <a:buNone/>
            </a:pPr>
            <a:r>
              <a:rPr lang="en-US" smtClean="0">
                <a:solidFill>
                  <a:schemeClr val="tx2"/>
                </a:solidFill>
              </a:rPr>
              <a:t>Trong thân hàm TinhTong, để truy cập đến phần tử a[i][j] dùng *(pa+i*m+j)</a:t>
            </a:r>
          </a:p>
        </p:txBody>
      </p:sp>
    </p:spTree>
    <p:extLst>
      <p:ext uri="{BB962C8B-B14F-4D97-AF65-F5344CB8AC3E}">
        <p14:creationId xmlns:p14="http://schemas.microsoft.com/office/powerpoint/2010/main" val="18511883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www.uit.edu.vn</a:t>
            </a:r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915400" cy="1104900"/>
          </a:xfrm>
        </p:spPr>
        <p:txBody>
          <a:bodyPr>
            <a:normAutofit/>
          </a:bodyPr>
          <a:lstStyle/>
          <a:p>
            <a:r>
              <a:rPr lang="en-US" sz="4000" smtClean="0">
                <a:latin typeface="Times New Roman" pitchFamily="18" charset="0"/>
              </a:rPr>
              <a:t>Nâng cao</a:t>
            </a:r>
            <a:endParaRPr lang="en-US" sz="4000">
              <a:latin typeface="VNI-Times" pitchFamily="2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990600"/>
            <a:ext cx="7918450" cy="5638800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sz="3600" smtClean="0">
                <a:solidFill>
                  <a:schemeClr val="tx2"/>
                </a:solidFill>
              </a:rPr>
              <a:t>Con trỏ cấp 2</a:t>
            </a:r>
          </a:p>
          <a:p>
            <a:pPr marL="514350" indent="-514350">
              <a:buAutoNum type="arabicParenR"/>
            </a:pPr>
            <a:r>
              <a:rPr lang="en-US" sz="3600" smtClean="0">
                <a:solidFill>
                  <a:schemeClr val="tx2"/>
                </a:solidFill>
              </a:rPr>
              <a:t>Mảng con trỏ</a:t>
            </a:r>
          </a:p>
          <a:p>
            <a:pPr marL="514350" indent="-514350">
              <a:buAutoNum type="arabicParenR"/>
            </a:pPr>
            <a:r>
              <a:rPr lang="en-US" sz="3600" smtClean="0">
                <a:solidFill>
                  <a:schemeClr val="tx2"/>
                </a:solidFill>
              </a:rPr>
              <a:t>Con trỏ </a:t>
            </a:r>
            <a:r>
              <a:rPr lang="en-US" sz="3600" smtClean="0">
                <a:solidFill>
                  <a:schemeClr val="tx2"/>
                </a:solidFill>
              </a:rPr>
              <a:t>hàm</a:t>
            </a:r>
          </a:p>
          <a:p>
            <a:pPr marL="514350" indent="-514350">
              <a:buAutoNum type="arabicParenR"/>
            </a:pPr>
            <a:r>
              <a:rPr lang="en-US" sz="3600" smtClean="0">
                <a:solidFill>
                  <a:schemeClr val="tx2"/>
                </a:solidFill>
              </a:rPr>
              <a:t>Các phép toán trên con trỏ</a:t>
            </a:r>
            <a:endParaRPr lang="en-US" sz="360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539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782</Words>
  <Application>Microsoft Office PowerPoint</Application>
  <PresentationFormat>On-screen Show (4:3)</PresentationFormat>
  <Paragraphs>261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Nhập môn Lập trình – IT001</vt:lpstr>
      <vt:lpstr>Nội dung</vt:lpstr>
      <vt:lpstr>SỰ TƯƠNG QUAN MẢNG 1 CHIỀU VÀ CON TRỎ</vt:lpstr>
      <vt:lpstr>Nhắc lại: Nhập xuất mảng 1 chiều</vt:lpstr>
      <vt:lpstr>Ví dụ: Nhập xuất mảng 1 chiều bằng con trỏ</vt:lpstr>
      <vt:lpstr>Ví dụ: Nhập xuất mảng 1 chiều bằng con trỏ</vt:lpstr>
      <vt:lpstr>Nhắc lại: truyền tham số là mảng cho hàm</vt:lpstr>
      <vt:lpstr>Tham số hình thức cho hàm là con trỏ</vt:lpstr>
      <vt:lpstr>SỰ TƯƠNG QUAN MẢNG 2 CHIỀU VÀ CON TRỎ</vt:lpstr>
      <vt:lpstr>SỰ TƯƠNG QUAN MẢNG 2 CHIỀU VÀ CON TRỎ</vt:lpstr>
      <vt:lpstr>SỰ TƯƠNG QUAN MẢNG 2 CHIỀU VÀ CON TRỎ</vt:lpstr>
      <vt:lpstr>Nhắc lại: Nhập xuất mảng 2 chiều</vt:lpstr>
      <vt:lpstr>Ví dụ: Nhập xuất mảng 2 chiều bằng con trỏ</vt:lpstr>
      <vt:lpstr>Nhắc lại: truyền tham số mảng 2 chiều cho hàm</vt:lpstr>
      <vt:lpstr>Tham số hình thức cho hàm là con trỏ</vt:lpstr>
      <vt:lpstr>Tham số hình thức cho hàm là con trỏ</vt:lpstr>
      <vt:lpstr>Nâng cao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90</cp:revision>
  <dcterms:created xsi:type="dcterms:W3CDTF">2015-09-05T09:18:39Z</dcterms:created>
  <dcterms:modified xsi:type="dcterms:W3CDTF">2015-12-18T01:47:22Z</dcterms:modified>
</cp:coreProperties>
</file>