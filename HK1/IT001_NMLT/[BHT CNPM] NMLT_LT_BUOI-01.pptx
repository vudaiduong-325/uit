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65" r:id="rId5"/>
    <p:sldId id="259" r:id="rId6"/>
    <p:sldId id="266" r:id="rId7"/>
    <p:sldId id="282" r:id="rId8"/>
    <p:sldId id="283" r:id="rId9"/>
    <p:sldId id="284" r:id="rId10"/>
    <p:sldId id="285" r:id="rId11"/>
    <p:sldId id="286" r:id="rId12"/>
    <p:sldId id="287" r:id="rId13"/>
    <p:sldId id="288" r:id="rId14"/>
    <p:sldId id="289" r:id="rId15"/>
    <p:sldId id="267" r:id="rId16"/>
    <p:sldId id="268" r:id="rId17"/>
    <p:sldId id="260" r:id="rId18"/>
    <p:sldId id="270" r:id="rId19"/>
    <p:sldId id="271" r:id="rId20"/>
    <p:sldId id="272" r:id="rId21"/>
    <p:sldId id="274" r:id="rId22"/>
    <p:sldId id="275" r:id="rId23"/>
    <p:sldId id="276" r:id="rId24"/>
    <p:sldId id="290" r:id="rId25"/>
    <p:sldId id="291" r:id="rId26"/>
    <p:sldId id="292" r:id="rId27"/>
    <p:sldId id="296" r:id="rId28"/>
    <p:sldId id="295" r:id="rId29"/>
    <p:sldId id="297" r:id="rId30"/>
    <p:sldId id="298" r:id="rId31"/>
    <p:sldId id="293" r:id="rId32"/>
    <p:sldId id="299"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3E332E-4B6C-4FED-89C1-87EA01BB02E8}" type="datetimeFigureOut">
              <a:rPr lang="en-US" smtClean="0"/>
              <a:pPr/>
              <a:t>9/10/2015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503439-6E41-4473-881B-3C521882BBBE}" type="slidenum">
              <a:rPr lang="en-US" smtClean="0"/>
              <a:pPr/>
              <a:t>‹#›</a:t>
            </a:fld>
            <a:endParaRPr lang="en-US"/>
          </a:p>
        </p:txBody>
      </p:sp>
    </p:spTree>
    <p:extLst>
      <p:ext uri="{BB962C8B-B14F-4D97-AF65-F5344CB8AC3E}">
        <p14:creationId xmlns:p14="http://schemas.microsoft.com/office/powerpoint/2010/main" val="2094384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smtClean="0"/>
          </a:p>
        </p:txBody>
      </p:sp>
      <p:sp>
        <p:nvSpPr>
          <p:cNvPr id="399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AB97AC6-54BA-444E-9A73-52984B3B5FC2}" type="slidenum">
              <a:rPr lang="en-US"/>
              <a:pPr/>
              <a:t>15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smtClean="0"/>
          </a:p>
        </p:txBody>
      </p:sp>
      <p:sp>
        <p:nvSpPr>
          <p:cNvPr id="409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7D33F38-36B8-4E30-8720-4F6DB62F4D13}" type="slidenum">
              <a:rPr lang="en-US"/>
              <a:pPr/>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cxnSp>
        <p:nvCxnSpPr>
          <p:cNvPr id="8" name="Straight Connector 7"/>
          <p:cNvCxnSpPr/>
          <p:nvPr userDrawn="1"/>
        </p:nvCxnSpPr>
        <p:spPr>
          <a:xfrm>
            <a:off x="457200" y="1447800"/>
            <a:ext cx="822960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Straight Connector 9"/>
          <p:cNvCxnSpPr/>
          <p:nvPr userDrawn="1"/>
        </p:nvCxnSpPr>
        <p:spPr>
          <a:xfrm>
            <a:off x="457200" y="6172200"/>
            <a:ext cx="8229600" cy="158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2015</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2015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2015</a:t>
            </a:r>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2015</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2015</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23AA34-D39B-4F23-8F7F-35D03225000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2015</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9" name="Picture 8" descr="Logo.png"/>
          <p:cNvPicPr>
            <a:picLocks noChangeAspect="1"/>
          </p:cNvPicPr>
          <p:nvPr userDrawn="1"/>
        </p:nvPicPr>
        <p:blipFill>
          <a:blip r:embed="rId13"/>
          <a:stretch>
            <a:fillRect/>
          </a:stretch>
        </p:blipFill>
        <p:spPr>
          <a:xfrm>
            <a:off x="2286000" y="1905000"/>
            <a:ext cx="4614677" cy="3818534"/>
          </a:xfrm>
          <a:prstGeom prst="rect">
            <a:avLst/>
          </a:prstGeom>
        </p:spPr>
      </p:pic>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23AA34-D39B-4F23-8F7F-35D03225000B}" type="slidenum">
              <a:rPr lang="en-US" smtClean="0"/>
              <a:pPr/>
              <a:t>‹#›</a:t>
            </a:fld>
            <a:endParaRPr lang="en-US"/>
          </a:p>
        </p:txBody>
      </p:sp>
      <p:pic>
        <p:nvPicPr>
          <p:cNvPr id="7" name="Picture 6" descr="logo186x150.png"/>
          <p:cNvPicPr>
            <a:picLocks noChangeAspect="1"/>
          </p:cNvPicPr>
          <p:nvPr userDrawn="1"/>
        </p:nvPicPr>
        <p:blipFill>
          <a:blip r:embed="rId14" cstate="print"/>
          <a:stretch>
            <a:fillRect/>
          </a:stretch>
        </p:blipFill>
        <p:spPr>
          <a:xfrm>
            <a:off x="8458200" y="1"/>
            <a:ext cx="685800" cy="55306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Nhập</a:t>
            </a:r>
            <a:r>
              <a:rPr lang="en-US" dirty="0" smtClean="0"/>
              <a:t> </a:t>
            </a:r>
            <a:r>
              <a:rPr lang="en-US" dirty="0" err="1" smtClean="0"/>
              <a:t>môn</a:t>
            </a:r>
            <a:r>
              <a:rPr lang="en-US" dirty="0" smtClean="0"/>
              <a:t> </a:t>
            </a:r>
            <a:r>
              <a:rPr lang="en-US" dirty="0" err="1" smtClean="0"/>
              <a:t>Lập</a:t>
            </a:r>
            <a:r>
              <a:rPr lang="en-US" dirty="0" smtClean="0"/>
              <a:t> </a:t>
            </a:r>
            <a:r>
              <a:rPr lang="en-US" dirty="0" err="1" smtClean="0"/>
              <a:t>trình</a:t>
            </a:r>
            <a:r>
              <a:rPr lang="en-US" dirty="0" smtClean="0"/>
              <a:t> – IT001</a:t>
            </a:r>
            <a:endParaRPr lang="en-US" dirty="0"/>
          </a:p>
        </p:txBody>
      </p:sp>
      <p:sp>
        <p:nvSpPr>
          <p:cNvPr id="3" name="Subtitle 2"/>
          <p:cNvSpPr>
            <a:spLocks noGrp="1"/>
          </p:cNvSpPr>
          <p:nvPr>
            <p:ph type="subTitle" idx="1"/>
          </p:nvPr>
        </p:nvSpPr>
        <p:spPr/>
        <p:txBody>
          <a:bodyPr/>
          <a:lstStyle/>
          <a:p>
            <a:r>
              <a:rPr lang="en-US" dirty="0" err="1" smtClean="0"/>
              <a:t>Buổi</a:t>
            </a:r>
            <a:r>
              <a:rPr lang="en-US" dirty="0" smtClean="0"/>
              <a:t> 01 – </a:t>
            </a:r>
            <a:r>
              <a:rPr lang="en-US" dirty="0" err="1" smtClean="0"/>
              <a:t>Tổng</a:t>
            </a:r>
            <a:r>
              <a:rPr lang="en-US" dirty="0" smtClean="0"/>
              <a:t> </a:t>
            </a:r>
            <a:r>
              <a:rPr lang="en-US" dirty="0" err="1" smtClean="0"/>
              <a:t>quan</a:t>
            </a:r>
            <a:endParaRPr lang="en-US" dirty="0"/>
          </a:p>
        </p:txBody>
      </p:sp>
      <p:sp>
        <p:nvSpPr>
          <p:cNvPr id="4" name="Slide Number Placeholder 3"/>
          <p:cNvSpPr>
            <a:spLocks noGrp="1"/>
          </p:cNvSpPr>
          <p:nvPr>
            <p:ph type="sldNum" sz="quarter" idx="12"/>
          </p:nvPr>
        </p:nvSpPr>
        <p:spPr/>
        <p:txBody>
          <a:bodyPr/>
          <a:lstStyle/>
          <a:p>
            <a:fld id="{7A23AA34-D39B-4F23-8F7F-35D03225000B}" type="slidenum">
              <a:rPr lang="en-US" smtClean="0"/>
              <a:pPr/>
              <a:t>1</a:t>
            </a:fld>
            <a:endParaRPr lang="en-US"/>
          </a:p>
        </p:txBody>
      </p:sp>
      <p:sp>
        <p:nvSpPr>
          <p:cNvPr id="7" name="Date Placeholder 6"/>
          <p:cNvSpPr>
            <a:spLocks noGrp="1"/>
          </p:cNvSpPr>
          <p:nvPr>
            <p:ph type="dt" sz="half" idx="10"/>
          </p:nvPr>
        </p:nvSpPr>
        <p:spPr/>
        <p:txBody>
          <a:bodyPr/>
          <a:lstStyle/>
          <a:p>
            <a:r>
              <a:rPr lang="en-US" dirty="0" smtClean="0"/>
              <a:t>2015</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rPr>
              <a:t>Mục</a:t>
            </a:r>
            <a:r>
              <a:rPr lang="en-US" b="1" dirty="0" smtClean="0">
                <a:solidFill>
                  <a:srgbClr val="C00000"/>
                </a:solidFill>
              </a:rPr>
              <a:t> </a:t>
            </a:r>
            <a:r>
              <a:rPr lang="en-US" b="1" dirty="0" err="1" smtClean="0">
                <a:solidFill>
                  <a:srgbClr val="C00000"/>
                </a:solidFill>
              </a:rPr>
              <a:t>tiêu</a:t>
            </a:r>
            <a:r>
              <a:rPr lang="en-US" b="1" dirty="0" smtClean="0">
                <a:solidFill>
                  <a:srgbClr val="C00000"/>
                </a:solidFill>
              </a:rPr>
              <a:t> </a:t>
            </a:r>
            <a:r>
              <a:rPr lang="en-US" b="1" dirty="0" err="1" smtClean="0">
                <a:solidFill>
                  <a:srgbClr val="C00000"/>
                </a:solidFill>
              </a:rPr>
              <a:t>buổi</a:t>
            </a:r>
            <a:r>
              <a:rPr lang="en-US" b="1" dirty="0" smtClean="0">
                <a:solidFill>
                  <a:srgbClr val="C00000"/>
                </a:solidFill>
              </a:rPr>
              <a:t> </a:t>
            </a:r>
            <a:r>
              <a:rPr lang="en-US" b="1" dirty="0" err="1" smtClean="0">
                <a:solidFill>
                  <a:srgbClr val="C00000"/>
                </a:solidFill>
              </a:rPr>
              <a:t>học</a:t>
            </a:r>
            <a:r>
              <a:rPr lang="en-US" b="1" dirty="0" smtClean="0">
                <a:solidFill>
                  <a:srgbClr val="C00000"/>
                </a:solidFill>
              </a:rPr>
              <a:t> – CĐR </a:t>
            </a:r>
            <a:endParaRPr lang="en-US" b="1" dirty="0">
              <a:solidFill>
                <a:srgbClr val="C00000"/>
              </a:solidFill>
            </a:endParaRPr>
          </a:p>
        </p:txBody>
      </p:sp>
      <p:sp>
        <p:nvSpPr>
          <p:cNvPr id="3" name="Content Placeholder 2"/>
          <p:cNvSpPr>
            <a:spLocks noGrp="1"/>
          </p:cNvSpPr>
          <p:nvPr>
            <p:ph idx="1"/>
          </p:nvPr>
        </p:nvSpPr>
        <p:spPr/>
        <p:txBody>
          <a:bodyPr>
            <a:normAutofit/>
          </a:bodyPr>
          <a:lstStyle/>
          <a:p>
            <a:r>
              <a:rPr lang="en-US" smtClean="0"/>
              <a:t>Về </a:t>
            </a:r>
            <a:r>
              <a:rPr lang="en-US" dirty="0" err="1" smtClean="0"/>
              <a:t>môn</a:t>
            </a:r>
            <a:r>
              <a:rPr lang="en-US" dirty="0" smtClean="0"/>
              <a:t> </a:t>
            </a:r>
            <a:r>
              <a:rPr lang="en-US" dirty="0" err="1" smtClean="0"/>
              <a:t>học</a:t>
            </a:r>
            <a:r>
              <a:rPr lang="en-US" dirty="0" smtClean="0"/>
              <a:t>:</a:t>
            </a:r>
            <a:endParaRPr lang="vi-VN" dirty="0" smtClean="0"/>
          </a:p>
          <a:p>
            <a:pPr lvl="1"/>
            <a:r>
              <a:rPr lang="vi-VN" dirty="0" smtClean="0"/>
              <a:t>Vai trò của môn học trong chương trình.</a:t>
            </a:r>
          </a:p>
          <a:p>
            <a:pPr lvl="1"/>
            <a:r>
              <a:rPr lang="en-US" dirty="0" err="1" smtClean="0">
                <a:latin typeface="Arial" pitchFamily="34" charset="0"/>
                <a:cs typeface="Arial" pitchFamily="34" charset="0"/>
              </a:rPr>
              <a:t>Đánh</a:t>
            </a:r>
            <a:r>
              <a:rPr lang="en-US" dirty="0" smtClean="0">
                <a:latin typeface="Arial" pitchFamily="34" charset="0"/>
                <a:cs typeface="Arial" pitchFamily="34" charset="0"/>
              </a:rPr>
              <a:t> </a:t>
            </a:r>
            <a:r>
              <a:rPr lang="en-US" dirty="0" err="1" smtClean="0">
                <a:latin typeface="Arial" pitchFamily="34" charset="0"/>
                <a:cs typeface="Arial" pitchFamily="34" charset="0"/>
              </a:rPr>
              <a:t>giá</a:t>
            </a:r>
            <a:r>
              <a:rPr lang="en-US" dirty="0" smtClean="0">
                <a:latin typeface="Arial" pitchFamily="34" charset="0"/>
                <a:cs typeface="Arial" pitchFamily="34" charset="0"/>
              </a:rPr>
              <a:t> </a:t>
            </a:r>
            <a:r>
              <a:rPr lang="en-US" dirty="0" err="1" smtClean="0">
                <a:latin typeface="Arial" pitchFamily="34" charset="0"/>
                <a:cs typeface="Arial" pitchFamily="34" charset="0"/>
              </a:rPr>
              <a:t>môn</a:t>
            </a:r>
            <a:r>
              <a:rPr lang="en-US" dirty="0" smtClean="0">
                <a:latin typeface="Arial" pitchFamily="34" charset="0"/>
                <a:cs typeface="Arial" pitchFamily="34" charset="0"/>
              </a:rPr>
              <a:t> </a:t>
            </a:r>
            <a:r>
              <a:rPr lang="en-US" dirty="0" err="1" smtClean="0">
                <a:latin typeface="Arial" pitchFamily="34" charset="0"/>
                <a:cs typeface="Arial" pitchFamily="34" charset="0"/>
              </a:rPr>
              <a:t>học</a:t>
            </a:r>
            <a:endParaRPr lang="vi-VN" dirty="0" smtClean="0">
              <a:latin typeface="Arial" pitchFamily="34" charset="0"/>
              <a:cs typeface="Arial" pitchFamily="34" charset="0"/>
            </a:endParaRPr>
          </a:p>
          <a:p>
            <a:pPr lvl="1"/>
            <a:r>
              <a:rPr lang="vi-VN" dirty="0" smtClean="0"/>
              <a:t>Các yêu cầu của môn học</a:t>
            </a:r>
          </a:p>
          <a:p>
            <a:r>
              <a:rPr lang="vi-VN" dirty="0" smtClean="0"/>
              <a:t>Hiểu và trình bày được một số khái niệm cơ bản về lập trình trên máy tính. </a:t>
            </a:r>
            <a:endParaRPr lang="en-US" dirty="0"/>
          </a:p>
        </p:txBody>
      </p:sp>
      <p:sp>
        <p:nvSpPr>
          <p:cNvPr id="4" name="Slide Number Placeholder 3"/>
          <p:cNvSpPr>
            <a:spLocks noGrp="1"/>
          </p:cNvSpPr>
          <p:nvPr>
            <p:ph type="sldNum" sz="quarter" idx="12"/>
          </p:nvPr>
        </p:nvSpPr>
        <p:spPr/>
        <p:txBody>
          <a:bodyPr/>
          <a:lstStyle/>
          <a:p>
            <a:fld id="{7A23AA34-D39B-4F23-8F7F-35D03225000B}" type="slidenum">
              <a:rPr lang="en-US" smtClean="0"/>
              <a:pPr/>
              <a:t>2</a:t>
            </a:fld>
            <a:endParaRPr lang="en-US"/>
          </a:p>
        </p:txBody>
      </p:sp>
      <p:sp>
        <p:nvSpPr>
          <p:cNvPr id="7" name="Date Placeholder 6"/>
          <p:cNvSpPr>
            <a:spLocks noGrp="1"/>
          </p:cNvSpPr>
          <p:nvPr>
            <p:ph type="dt" sz="half" idx="10"/>
          </p:nvPr>
        </p:nvSpPr>
        <p:spPr/>
        <p:txBody>
          <a:bodyPr/>
          <a:lstStyle/>
          <a:p>
            <a:r>
              <a:rPr lang="en-US" dirty="0" smtClean="0"/>
              <a:t>2015</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C00000"/>
                </a:solidFill>
                <a:latin typeface="Tahoma" pitchFamily="34" charset="0"/>
                <a:ea typeface="Tahoma" pitchFamily="34" charset="0"/>
                <a:cs typeface="Tahoma" pitchFamily="34" charset="0"/>
              </a:rPr>
              <a:t>Nội</a:t>
            </a:r>
            <a:r>
              <a:rPr lang="en-US" b="1" dirty="0" smtClean="0">
                <a:solidFill>
                  <a:srgbClr val="C00000"/>
                </a:solidFill>
                <a:latin typeface="Tahoma" pitchFamily="34" charset="0"/>
                <a:ea typeface="Tahoma" pitchFamily="34" charset="0"/>
                <a:cs typeface="Tahoma" pitchFamily="34" charset="0"/>
              </a:rPr>
              <a:t> dung</a:t>
            </a:r>
            <a:endParaRPr lang="en-US" b="1" dirty="0">
              <a:solidFill>
                <a:srgbClr val="C00000"/>
              </a:solidFill>
              <a:latin typeface="Tahoma" pitchFamily="34" charset="0"/>
              <a:ea typeface="Tahoma" pitchFamily="34" charset="0"/>
              <a:cs typeface="Tahoma" pitchFamily="34" charset="0"/>
            </a:endParaRPr>
          </a:p>
        </p:txBody>
      </p:sp>
      <p:sp>
        <p:nvSpPr>
          <p:cNvPr id="3" name="Content Placeholder 2"/>
          <p:cNvSpPr>
            <a:spLocks noGrp="1"/>
          </p:cNvSpPr>
          <p:nvPr>
            <p:ph idx="1"/>
          </p:nvPr>
        </p:nvSpPr>
        <p:spPr/>
        <p:txBody>
          <a:bodyPr/>
          <a:lstStyle/>
          <a:p>
            <a:r>
              <a:rPr lang="vi-VN" dirty="0" smtClean="0"/>
              <a:t>Giới thiệu về môn học</a:t>
            </a:r>
          </a:p>
          <a:p>
            <a:r>
              <a:rPr lang="vi-VN" dirty="0" smtClean="0"/>
              <a:t>Khái niệm về chương trình máy tính</a:t>
            </a:r>
          </a:p>
          <a:p>
            <a:r>
              <a:rPr lang="en-US" smtClean="0">
                <a:latin typeface="Arial" pitchFamily="34" charset="0"/>
                <a:cs typeface="Arial" pitchFamily="34" charset="0"/>
              </a:rPr>
              <a:t>Các</a:t>
            </a:r>
            <a:r>
              <a:rPr lang="vi-VN" smtClean="0">
                <a:latin typeface="Arial" pitchFamily="34" charset="0"/>
                <a:cs typeface="Arial" pitchFamily="34" charset="0"/>
              </a:rPr>
              <a:t> </a:t>
            </a:r>
            <a:r>
              <a:rPr lang="vi-VN" dirty="0" smtClean="0">
                <a:latin typeface="Arial" pitchFamily="34" charset="0"/>
                <a:cs typeface="Arial" pitchFamily="34" charset="0"/>
              </a:rPr>
              <a:t>ngôn </a:t>
            </a:r>
            <a:r>
              <a:rPr lang="vi-VN" dirty="0" smtClean="0"/>
              <a:t>ngữ lập trình</a:t>
            </a:r>
          </a:p>
          <a:p>
            <a:r>
              <a:rPr lang="vi-VN" dirty="0" smtClean="0"/>
              <a:t>Các khái niệm cơ bản về lập trình</a:t>
            </a:r>
          </a:p>
          <a:p>
            <a:r>
              <a:rPr lang="vi-VN" dirty="0" smtClean="0"/>
              <a:t>Các hệ đếm trên máy tính</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7A23AA34-D39B-4F23-8F7F-35D03225000B}" type="slidenum">
              <a:rPr lang="en-US" smtClean="0"/>
              <a:pPr/>
              <a:t>3</a:t>
            </a:fld>
            <a:endParaRPr lang="en-US"/>
          </a:p>
        </p:txBody>
      </p:sp>
      <p:sp>
        <p:nvSpPr>
          <p:cNvPr id="7" name="Date Placeholder 6"/>
          <p:cNvSpPr>
            <a:spLocks noGrp="1"/>
          </p:cNvSpPr>
          <p:nvPr>
            <p:ph type="dt" sz="half" idx="10"/>
          </p:nvPr>
        </p:nvSpPr>
        <p:spPr/>
        <p:txBody>
          <a:bodyPr/>
          <a:lstStyle/>
          <a:p>
            <a:r>
              <a:rPr lang="en-US" smtClean="0"/>
              <a:t>2015</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ahoma" pitchFamily="34" charset="0"/>
                <a:ea typeface="Tahoma" pitchFamily="34" charset="0"/>
                <a:cs typeface="Tahoma" pitchFamily="34" charset="0"/>
              </a:rPr>
              <a:t>1. </a:t>
            </a:r>
            <a:r>
              <a:rPr lang="en-US" sz="3200" b="1" dirty="0" err="1" smtClean="0">
                <a:solidFill>
                  <a:srgbClr val="C00000"/>
                </a:solidFill>
                <a:latin typeface="Tahoma" pitchFamily="34" charset="0"/>
                <a:ea typeface="Tahoma" pitchFamily="34" charset="0"/>
                <a:cs typeface="Tahoma" pitchFamily="34" charset="0"/>
              </a:rPr>
              <a:t>Giới</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thiệu</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môn</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học</a:t>
            </a:r>
            <a:endParaRPr lang="en-US" sz="3200" b="1" dirty="0">
              <a:solidFill>
                <a:srgbClr val="C00000"/>
              </a:solidFill>
              <a:latin typeface="Tahoma" pitchFamily="34" charset="0"/>
              <a:ea typeface="Tahoma" pitchFamily="34" charset="0"/>
              <a:cs typeface="Tahoma" pitchFamily="34" charset="0"/>
            </a:endParaRPr>
          </a:p>
        </p:txBody>
      </p:sp>
      <p:sp>
        <p:nvSpPr>
          <p:cNvPr id="3" name="Content Placeholder 2"/>
          <p:cNvSpPr>
            <a:spLocks noGrp="1"/>
          </p:cNvSpPr>
          <p:nvPr>
            <p:ph idx="1"/>
          </p:nvPr>
        </p:nvSpPr>
        <p:spPr/>
        <p:txBody>
          <a:bodyPr/>
          <a:lstStyle/>
          <a:p>
            <a:r>
              <a:rPr lang="en-US" dirty="0" err="1" smtClean="0"/>
              <a:t>Mã</a:t>
            </a:r>
            <a:r>
              <a:rPr lang="en-US" dirty="0" smtClean="0"/>
              <a:t> </a:t>
            </a:r>
            <a:r>
              <a:rPr lang="en-US" dirty="0" err="1" smtClean="0"/>
              <a:t>môn</a:t>
            </a:r>
            <a:r>
              <a:rPr lang="en-US" dirty="0" smtClean="0"/>
              <a:t> </a:t>
            </a:r>
            <a:r>
              <a:rPr lang="en-US" dirty="0" err="1" smtClean="0"/>
              <a:t>học</a:t>
            </a:r>
            <a:r>
              <a:rPr lang="en-US" dirty="0" smtClean="0"/>
              <a:t>: IT001</a:t>
            </a:r>
          </a:p>
          <a:p>
            <a:r>
              <a:rPr lang="en-US" dirty="0" err="1" smtClean="0"/>
              <a:t>Số</a:t>
            </a:r>
            <a:r>
              <a:rPr lang="en-US" dirty="0" smtClean="0"/>
              <a:t> </a:t>
            </a:r>
            <a:r>
              <a:rPr lang="en-US" dirty="0" err="1" smtClean="0"/>
              <a:t>tín</a:t>
            </a:r>
            <a:r>
              <a:rPr lang="en-US" dirty="0" smtClean="0"/>
              <a:t> </a:t>
            </a:r>
            <a:r>
              <a:rPr lang="en-US" dirty="0" err="1" smtClean="0"/>
              <a:t>chỉ</a:t>
            </a:r>
            <a:r>
              <a:rPr lang="en-US" dirty="0" smtClean="0"/>
              <a:t>: 4 ( 3 LT + 1 TH)</a:t>
            </a:r>
          </a:p>
          <a:p>
            <a:r>
              <a:rPr lang="vi-VN" dirty="0" smtClean="0"/>
              <a:t>Vai trò của môn học trong chương trình</a:t>
            </a:r>
            <a:endParaRPr lang="en-US" dirty="0" smtClean="0"/>
          </a:p>
          <a:p>
            <a:pPr lvl="1"/>
            <a:r>
              <a:rPr lang="en-US" dirty="0" err="1" smtClean="0"/>
              <a:t>Là</a:t>
            </a:r>
            <a:r>
              <a:rPr lang="en-US" dirty="0" smtClean="0"/>
              <a:t> </a:t>
            </a:r>
            <a:r>
              <a:rPr lang="en-US" dirty="0" err="1" smtClean="0"/>
              <a:t>môn</a:t>
            </a:r>
            <a:r>
              <a:rPr lang="en-US" dirty="0" smtClean="0"/>
              <a:t> </a:t>
            </a:r>
            <a:r>
              <a:rPr lang="en-US" dirty="0" err="1" smtClean="0"/>
              <a:t>học</a:t>
            </a:r>
            <a:r>
              <a:rPr lang="en-US" dirty="0" smtClean="0"/>
              <a:t> </a:t>
            </a:r>
            <a:r>
              <a:rPr lang="en-US" b="1" dirty="0" err="1" smtClean="0">
                <a:solidFill>
                  <a:srgbClr val="FF0000"/>
                </a:solidFill>
              </a:rPr>
              <a:t>bắt</a:t>
            </a:r>
            <a:r>
              <a:rPr lang="en-US" b="1" dirty="0" smtClean="0">
                <a:solidFill>
                  <a:srgbClr val="FF0000"/>
                </a:solidFill>
              </a:rPr>
              <a:t> </a:t>
            </a:r>
            <a:r>
              <a:rPr lang="en-US" b="1" dirty="0" err="1" smtClean="0">
                <a:solidFill>
                  <a:srgbClr val="FF0000"/>
                </a:solidFill>
              </a:rPr>
              <a:t>buộc</a:t>
            </a:r>
            <a:r>
              <a:rPr lang="en-US" b="1" dirty="0" smtClean="0">
                <a:solidFill>
                  <a:srgbClr val="FF0000"/>
                </a:solidFill>
              </a:rPr>
              <a:t> </a:t>
            </a:r>
            <a:r>
              <a:rPr lang="en-US" dirty="0" err="1" smtClean="0"/>
              <a:t>đối</a:t>
            </a:r>
            <a:r>
              <a:rPr lang="en-US" dirty="0" smtClean="0"/>
              <a:t> </a:t>
            </a:r>
            <a:r>
              <a:rPr lang="en-US" dirty="0" err="1" smtClean="0"/>
              <a:t>với</a:t>
            </a:r>
            <a:r>
              <a:rPr lang="en-US" dirty="0" smtClean="0"/>
              <a:t> </a:t>
            </a:r>
            <a:r>
              <a:rPr lang="en-US" dirty="0" err="1" smtClean="0"/>
              <a:t>tất</a:t>
            </a:r>
            <a:r>
              <a:rPr lang="en-US" dirty="0" smtClean="0"/>
              <a:t> </a:t>
            </a:r>
            <a:r>
              <a:rPr lang="en-US" dirty="0" err="1" smtClean="0"/>
              <a:t>cả</a:t>
            </a:r>
            <a:r>
              <a:rPr lang="en-US" dirty="0" smtClean="0"/>
              <a:t> </a:t>
            </a:r>
            <a:r>
              <a:rPr lang="en-US" dirty="0" err="1" smtClean="0"/>
              <a:t>các</a:t>
            </a:r>
            <a:r>
              <a:rPr lang="en-US" dirty="0" smtClean="0"/>
              <a:t> </a:t>
            </a:r>
            <a:r>
              <a:rPr lang="en-US" dirty="0" err="1" smtClean="0"/>
              <a:t>ngành</a:t>
            </a:r>
            <a:endParaRPr lang="en-US" dirty="0" smtClean="0"/>
          </a:p>
          <a:p>
            <a:pPr lvl="1"/>
            <a:r>
              <a:rPr lang="en-US" dirty="0" err="1" smtClean="0"/>
              <a:t>Là</a:t>
            </a:r>
            <a:r>
              <a:rPr lang="en-US" dirty="0" smtClean="0"/>
              <a:t> </a:t>
            </a:r>
            <a:r>
              <a:rPr lang="en-US" b="1" dirty="0" err="1" smtClean="0">
                <a:solidFill>
                  <a:srgbClr val="FF0000"/>
                </a:solidFill>
              </a:rPr>
              <a:t>môn</a:t>
            </a:r>
            <a:r>
              <a:rPr lang="en-US" b="1" dirty="0" smtClean="0">
                <a:solidFill>
                  <a:srgbClr val="FF0000"/>
                </a:solidFill>
              </a:rPr>
              <a:t> </a:t>
            </a:r>
            <a:r>
              <a:rPr lang="en-US" b="1" dirty="0" err="1" smtClean="0">
                <a:solidFill>
                  <a:srgbClr val="FF0000"/>
                </a:solidFill>
              </a:rPr>
              <a:t>học</a:t>
            </a:r>
            <a:r>
              <a:rPr lang="en-US" b="1" dirty="0" smtClean="0">
                <a:solidFill>
                  <a:srgbClr val="FF0000"/>
                </a:solidFill>
              </a:rPr>
              <a:t> </a:t>
            </a:r>
            <a:r>
              <a:rPr lang="en-US" b="1" dirty="0" err="1" smtClean="0">
                <a:solidFill>
                  <a:srgbClr val="FF0000"/>
                </a:solidFill>
              </a:rPr>
              <a:t>trước</a:t>
            </a:r>
            <a:r>
              <a:rPr lang="en-US" b="1" dirty="0" smtClean="0">
                <a:solidFill>
                  <a:srgbClr val="FF0000"/>
                </a:solidFill>
              </a:rPr>
              <a:t> </a:t>
            </a:r>
            <a:r>
              <a:rPr lang="en-US" dirty="0" err="1" smtClean="0"/>
              <a:t>của</a:t>
            </a:r>
            <a:r>
              <a:rPr lang="en-US" dirty="0" smtClean="0"/>
              <a:t> </a:t>
            </a:r>
            <a:r>
              <a:rPr lang="en-US" dirty="0" err="1" smtClean="0"/>
              <a:t>một</a:t>
            </a:r>
            <a:r>
              <a:rPr lang="en-US" dirty="0" smtClean="0"/>
              <a:t> </a:t>
            </a:r>
            <a:r>
              <a:rPr lang="en-US" dirty="0" err="1" smtClean="0"/>
              <a:t>số</a:t>
            </a:r>
            <a:r>
              <a:rPr lang="en-US" dirty="0" smtClean="0"/>
              <a:t> </a:t>
            </a:r>
            <a:r>
              <a:rPr lang="en-US" dirty="0" err="1" smtClean="0"/>
              <a:t>môn</a:t>
            </a:r>
            <a:r>
              <a:rPr lang="en-US" dirty="0" smtClean="0"/>
              <a:t> </a:t>
            </a:r>
            <a:r>
              <a:rPr lang="en-US" dirty="0" err="1" smtClean="0"/>
              <a:t>học</a:t>
            </a:r>
            <a:r>
              <a:rPr lang="en-US" dirty="0" smtClean="0"/>
              <a:t> </a:t>
            </a:r>
            <a:r>
              <a:rPr lang="en-US" dirty="0" err="1" smtClean="0"/>
              <a:t>bắt</a:t>
            </a:r>
            <a:r>
              <a:rPr lang="en-US" dirty="0" smtClean="0"/>
              <a:t> </a:t>
            </a:r>
            <a:r>
              <a:rPr lang="en-US" dirty="0" err="1" smtClean="0"/>
              <a:t>buộc</a:t>
            </a:r>
            <a:r>
              <a:rPr lang="en-US" dirty="0" smtClean="0"/>
              <a:t> </a:t>
            </a:r>
            <a:r>
              <a:rPr lang="en-US" dirty="0" err="1" smtClean="0"/>
              <a:t>khác</a:t>
            </a:r>
            <a:r>
              <a:rPr lang="en-US" dirty="0" smtClean="0"/>
              <a:t> </a:t>
            </a:r>
            <a:r>
              <a:rPr lang="en-US" dirty="0" err="1" smtClean="0"/>
              <a:t>như</a:t>
            </a:r>
            <a:r>
              <a:rPr lang="en-US" dirty="0" smtClean="0"/>
              <a:t>: </a:t>
            </a:r>
            <a:r>
              <a:rPr lang="en-US" dirty="0" err="1" smtClean="0"/>
              <a:t>Cấu</a:t>
            </a:r>
            <a:r>
              <a:rPr lang="en-US" dirty="0" smtClean="0"/>
              <a:t> </a:t>
            </a:r>
            <a:r>
              <a:rPr lang="en-US" dirty="0" err="1" smtClean="0"/>
              <a:t>trúc</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và</a:t>
            </a:r>
            <a:r>
              <a:rPr lang="en-US" dirty="0" smtClean="0"/>
              <a:t> </a:t>
            </a:r>
            <a:r>
              <a:rPr lang="en-US" dirty="0" err="1" smtClean="0"/>
              <a:t>giải</a:t>
            </a:r>
            <a:r>
              <a:rPr lang="en-US" dirty="0" smtClean="0"/>
              <a:t> </a:t>
            </a:r>
            <a:r>
              <a:rPr lang="en-US" dirty="0" err="1" smtClean="0"/>
              <a:t>thuật</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hướng</a:t>
            </a:r>
            <a:r>
              <a:rPr lang="en-US" dirty="0" smtClean="0"/>
              <a:t> </a:t>
            </a:r>
            <a:r>
              <a:rPr lang="en-US" dirty="0" err="1" smtClean="0"/>
              <a:t>đối</a:t>
            </a:r>
            <a:r>
              <a:rPr lang="en-US" dirty="0" smtClean="0"/>
              <a:t> </a:t>
            </a:r>
            <a:r>
              <a:rPr lang="en-US" dirty="0" err="1" smtClean="0"/>
              <a:t>tượng</a:t>
            </a:r>
            <a:r>
              <a:rPr lang="en-US" dirty="0" smtClean="0"/>
              <a:t>,….</a:t>
            </a:r>
            <a:endParaRPr lang="vi-VN" dirty="0" smtClean="0"/>
          </a:p>
          <a:p>
            <a:r>
              <a:rPr lang="en-US" dirty="0" smtClean="0"/>
              <a:t>https://courses.uit.edu.vn/</a:t>
            </a:r>
            <a:endParaRPr lang="en-US" dirty="0"/>
          </a:p>
        </p:txBody>
      </p:sp>
      <p:sp>
        <p:nvSpPr>
          <p:cNvPr id="4" name="Slide Number Placeholder 3"/>
          <p:cNvSpPr>
            <a:spLocks noGrp="1"/>
          </p:cNvSpPr>
          <p:nvPr>
            <p:ph type="sldNum" sz="quarter" idx="12"/>
          </p:nvPr>
        </p:nvSpPr>
        <p:spPr/>
        <p:txBody>
          <a:bodyPr/>
          <a:lstStyle/>
          <a:p>
            <a:fld id="{7A23AA34-D39B-4F23-8F7F-35D03225000B}" type="slidenum">
              <a:rPr lang="en-US" smtClean="0"/>
              <a:pPr/>
              <a:t>4</a:t>
            </a:fld>
            <a:endParaRPr lang="en-US"/>
          </a:p>
        </p:txBody>
      </p:sp>
      <p:sp>
        <p:nvSpPr>
          <p:cNvPr id="7" name="Date Placeholder 6"/>
          <p:cNvSpPr>
            <a:spLocks noGrp="1"/>
          </p:cNvSpPr>
          <p:nvPr>
            <p:ph type="dt" sz="half" idx="10"/>
          </p:nvPr>
        </p:nvSpPr>
        <p:spPr/>
        <p:txBody>
          <a:bodyPr/>
          <a:lstStyle/>
          <a:p>
            <a:r>
              <a:rPr lang="en-US" smtClean="0"/>
              <a:t>2015</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ahoma" pitchFamily="34" charset="0"/>
                <a:ea typeface="Tahoma" pitchFamily="34" charset="0"/>
                <a:cs typeface="Tahoma" pitchFamily="34" charset="0"/>
              </a:rPr>
              <a:t>1. </a:t>
            </a:r>
            <a:r>
              <a:rPr lang="en-US" sz="3200" b="1" dirty="0" err="1" smtClean="0">
                <a:solidFill>
                  <a:srgbClr val="C00000"/>
                </a:solidFill>
                <a:latin typeface="Tahoma" pitchFamily="34" charset="0"/>
                <a:ea typeface="Tahoma" pitchFamily="34" charset="0"/>
                <a:cs typeface="Tahoma" pitchFamily="34" charset="0"/>
              </a:rPr>
              <a:t>Giới</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thiệu</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môn</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học</a:t>
            </a:r>
            <a:endParaRPr lang="en-US" sz="3200" b="1" dirty="0">
              <a:solidFill>
                <a:srgbClr val="C00000"/>
              </a:solidFill>
              <a:latin typeface="Tahoma" pitchFamily="34" charset="0"/>
              <a:ea typeface="Tahoma" pitchFamily="34" charset="0"/>
              <a:cs typeface="Tahoma" pitchFamily="34" charset="0"/>
            </a:endParaRPr>
          </a:p>
        </p:txBody>
      </p:sp>
      <p:sp>
        <p:nvSpPr>
          <p:cNvPr id="3" name="Content Placeholder 2"/>
          <p:cNvSpPr>
            <a:spLocks noGrp="1"/>
          </p:cNvSpPr>
          <p:nvPr>
            <p:ph idx="1"/>
          </p:nvPr>
        </p:nvSpPr>
        <p:spPr/>
        <p:txBody>
          <a:bodyPr/>
          <a:lstStyle/>
          <a:p>
            <a:r>
              <a:rPr lang="en-US" dirty="0" err="1" smtClean="0"/>
              <a:t>Đánh</a:t>
            </a:r>
            <a:r>
              <a:rPr lang="en-US" dirty="0" smtClean="0"/>
              <a:t> </a:t>
            </a:r>
            <a:r>
              <a:rPr lang="en-US" dirty="0" err="1" smtClean="0"/>
              <a:t>giá</a:t>
            </a:r>
            <a:r>
              <a:rPr lang="en-US" dirty="0" smtClean="0"/>
              <a:t> </a:t>
            </a:r>
            <a:r>
              <a:rPr lang="en-US" dirty="0" err="1" smtClean="0"/>
              <a:t>môn</a:t>
            </a:r>
            <a:r>
              <a:rPr lang="en-US" dirty="0" smtClean="0"/>
              <a:t> </a:t>
            </a:r>
            <a:r>
              <a:rPr lang="en-US" dirty="0" err="1" smtClean="0"/>
              <a:t>học</a:t>
            </a:r>
            <a:endParaRPr lang="vi-VN" dirty="0" smtClean="0"/>
          </a:p>
          <a:p>
            <a:endParaRPr lang="en-US" dirty="0"/>
          </a:p>
        </p:txBody>
      </p:sp>
      <p:sp>
        <p:nvSpPr>
          <p:cNvPr id="4" name="Slide Number Placeholder 3"/>
          <p:cNvSpPr>
            <a:spLocks noGrp="1"/>
          </p:cNvSpPr>
          <p:nvPr>
            <p:ph type="sldNum" sz="quarter" idx="12"/>
          </p:nvPr>
        </p:nvSpPr>
        <p:spPr/>
        <p:txBody>
          <a:bodyPr/>
          <a:lstStyle/>
          <a:p>
            <a:fld id="{7A23AA34-D39B-4F23-8F7F-35D03225000B}" type="slidenum">
              <a:rPr lang="en-US" smtClean="0"/>
              <a:pPr/>
              <a:t>5</a:t>
            </a:fld>
            <a:endParaRPr lang="en-US"/>
          </a:p>
        </p:txBody>
      </p:sp>
      <p:sp>
        <p:nvSpPr>
          <p:cNvPr id="7" name="Date Placeholder 6"/>
          <p:cNvSpPr>
            <a:spLocks noGrp="1"/>
          </p:cNvSpPr>
          <p:nvPr>
            <p:ph type="dt" sz="half" idx="10"/>
          </p:nvPr>
        </p:nvSpPr>
        <p:spPr/>
        <p:txBody>
          <a:bodyPr/>
          <a:lstStyle/>
          <a:p>
            <a:r>
              <a:rPr lang="en-US" smtClean="0"/>
              <a:t>2015</a:t>
            </a:r>
            <a:endParaRPr lang="en-US"/>
          </a:p>
        </p:txBody>
      </p:sp>
      <p:graphicFrame>
        <p:nvGraphicFramePr>
          <p:cNvPr id="6" name="Table 5"/>
          <p:cNvGraphicFramePr>
            <a:graphicFrameLocks noGrp="1"/>
          </p:cNvGraphicFramePr>
          <p:nvPr/>
        </p:nvGraphicFramePr>
        <p:xfrm>
          <a:off x="1066800" y="2438400"/>
          <a:ext cx="7162800" cy="2057400"/>
        </p:xfrm>
        <a:graphic>
          <a:graphicData uri="http://schemas.openxmlformats.org/drawingml/2006/table">
            <a:tbl>
              <a:tblPr firstRow="1" bandRow="1">
                <a:tableStyleId>{5C22544A-7EE6-4342-B048-85BDC9FD1C3A}</a:tableStyleId>
              </a:tblPr>
              <a:tblGrid>
                <a:gridCol w="3263053"/>
                <a:gridCol w="2198582"/>
                <a:gridCol w="1701165"/>
              </a:tblGrid>
              <a:tr h="514350">
                <a:tc>
                  <a:txBody>
                    <a:bodyPr/>
                    <a:lstStyle/>
                    <a:p>
                      <a:r>
                        <a:rPr lang="en-US" sz="2400" dirty="0" err="1" smtClean="0"/>
                        <a:t>Thành</a:t>
                      </a:r>
                      <a:r>
                        <a:rPr lang="en-US" sz="2400" baseline="0" dirty="0" smtClean="0"/>
                        <a:t> </a:t>
                      </a:r>
                      <a:r>
                        <a:rPr lang="en-US" sz="2400" baseline="0" dirty="0" err="1" smtClean="0"/>
                        <a:t>phần</a:t>
                      </a:r>
                      <a:r>
                        <a:rPr lang="en-US" sz="2400" baseline="0" dirty="0" smtClean="0"/>
                        <a:t> </a:t>
                      </a:r>
                      <a:r>
                        <a:rPr lang="en-US" sz="2400" baseline="0" dirty="0" err="1" smtClean="0"/>
                        <a:t>đánh</a:t>
                      </a:r>
                      <a:r>
                        <a:rPr lang="en-US" sz="2400" baseline="0" dirty="0" smtClean="0"/>
                        <a:t> </a:t>
                      </a:r>
                      <a:r>
                        <a:rPr lang="en-US" sz="2400" baseline="0" dirty="0" err="1" smtClean="0"/>
                        <a:t>giá</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smtClean="0"/>
                        <a:t>Hìn</a:t>
                      </a:r>
                      <a:r>
                        <a:rPr lang="en-US" sz="2400" baseline="0" dirty="0" err="1" smtClean="0"/>
                        <a:t>h</a:t>
                      </a:r>
                      <a:r>
                        <a:rPr lang="en-US" sz="2400" baseline="0" dirty="0" smtClean="0"/>
                        <a:t> </a:t>
                      </a:r>
                      <a:r>
                        <a:rPr lang="en-US" sz="2400" baseline="0" dirty="0" err="1" smtClean="0"/>
                        <a:t>thức</a:t>
                      </a:r>
                      <a:endParaRPr lang="en-US" sz="2400" dirty="0" smtClean="0"/>
                    </a:p>
                  </a:txBody>
                  <a:tcPr/>
                </a:tc>
                <a:tc>
                  <a:txBody>
                    <a:bodyPr/>
                    <a:lstStyle/>
                    <a:p>
                      <a:r>
                        <a:rPr lang="en-US" sz="2400" dirty="0" err="1" smtClean="0"/>
                        <a:t>Tỷ</a:t>
                      </a:r>
                      <a:r>
                        <a:rPr lang="en-US" sz="2400" baseline="0" dirty="0" smtClean="0"/>
                        <a:t> </a:t>
                      </a:r>
                      <a:r>
                        <a:rPr lang="en-US" sz="2400" baseline="0" dirty="0" err="1" smtClean="0"/>
                        <a:t>lệ</a:t>
                      </a:r>
                      <a:endParaRPr lang="en-US" sz="2400" dirty="0"/>
                    </a:p>
                  </a:txBody>
                  <a:tcPr/>
                </a:tc>
              </a:tr>
              <a:tr h="514350">
                <a:tc>
                  <a:txBody>
                    <a:bodyPr/>
                    <a:lstStyle/>
                    <a:p>
                      <a:r>
                        <a:rPr lang="en-US" sz="2400" dirty="0" err="1" smtClean="0"/>
                        <a:t>Giữa</a:t>
                      </a:r>
                      <a:r>
                        <a:rPr lang="en-US" sz="2400" baseline="0" dirty="0" smtClean="0"/>
                        <a:t> </a:t>
                      </a:r>
                      <a:r>
                        <a:rPr lang="en-US" sz="2400" baseline="0" dirty="0" err="1" smtClean="0"/>
                        <a:t>kỳ</a:t>
                      </a:r>
                      <a:endParaRPr lang="en-US" sz="2400" dirty="0"/>
                    </a:p>
                  </a:txBody>
                  <a:tcPr/>
                </a:tc>
                <a:tc>
                  <a:txBody>
                    <a:bodyPr/>
                    <a:lstStyle/>
                    <a:p>
                      <a:r>
                        <a:rPr lang="en-US" sz="2400" dirty="0" err="1" smtClean="0"/>
                        <a:t>Thi</a:t>
                      </a:r>
                      <a:r>
                        <a:rPr lang="en-US" sz="2400" dirty="0" smtClean="0"/>
                        <a:t> </a:t>
                      </a:r>
                      <a:r>
                        <a:rPr lang="en-US" sz="2400" dirty="0" err="1" smtClean="0"/>
                        <a:t>viết</a:t>
                      </a:r>
                      <a:endParaRPr lang="en-US" sz="2400" dirty="0"/>
                    </a:p>
                  </a:txBody>
                  <a:tcPr/>
                </a:tc>
                <a:tc>
                  <a:txBody>
                    <a:bodyPr/>
                    <a:lstStyle/>
                    <a:p>
                      <a:r>
                        <a:rPr lang="en-US" sz="2400" dirty="0" smtClean="0"/>
                        <a:t>20%</a:t>
                      </a:r>
                      <a:endParaRPr lang="en-US" sz="2400" dirty="0"/>
                    </a:p>
                  </a:txBody>
                  <a:tcPr/>
                </a:tc>
              </a:tr>
              <a:tr h="514350">
                <a:tc>
                  <a:txBody>
                    <a:bodyPr/>
                    <a:lstStyle/>
                    <a:p>
                      <a:r>
                        <a:rPr lang="en-US" sz="2400" dirty="0" err="1" smtClean="0"/>
                        <a:t>Thực</a:t>
                      </a:r>
                      <a:r>
                        <a:rPr lang="en-US" sz="2400" baseline="0" dirty="0" smtClean="0"/>
                        <a:t> </a:t>
                      </a:r>
                      <a:r>
                        <a:rPr lang="en-US" sz="2400" baseline="0" dirty="0" err="1" smtClean="0"/>
                        <a:t>hành</a:t>
                      </a:r>
                      <a:endParaRPr lang="en-US" sz="2400" dirty="0"/>
                    </a:p>
                  </a:txBody>
                  <a:tcPr/>
                </a:tc>
                <a:tc>
                  <a:txBody>
                    <a:bodyPr/>
                    <a:lstStyle/>
                    <a:p>
                      <a:r>
                        <a:rPr lang="en-US" sz="2400" dirty="0" err="1" smtClean="0"/>
                        <a:t>Bài</a:t>
                      </a:r>
                      <a:r>
                        <a:rPr lang="en-US" sz="2400" baseline="0" dirty="0" smtClean="0"/>
                        <a:t> </a:t>
                      </a:r>
                      <a:r>
                        <a:rPr lang="en-US" sz="2400" baseline="0" dirty="0" err="1" smtClean="0"/>
                        <a:t>tập</a:t>
                      </a:r>
                      <a:r>
                        <a:rPr lang="en-US" sz="2400" baseline="0" dirty="0" smtClean="0"/>
                        <a:t> </a:t>
                      </a:r>
                      <a:r>
                        <a:rPr lang="en-US" sz="2400" baseline="0" dirty="0" err="1" smtClean="0"/>
                        <a:t>lập</a:t>
                      </a:r>
                      <a:r>
                        <a:rPr lang="en-US" sz="2400" baseline="0" dirty="0" smtClean="0"/>
                        <a:t> </a:t>
                      </a:r>
                      <a:r>
                        <a:rPr lang="en-US" sz="2400" baseline="0" dirty="0" err="1" smtClean="0"/>
                        <a:t>trình</a:t>
                      </a:r>
                      <a:endParaRPr lang="en-US" sz="2400" dirty="0"/>
                    </a:p>
                  </a:txBody>
                  <a:tcPr/>
                </a:tc>
                <a:tc>
                  <a:txBody>
                    <a:bodyPr/>
                    <a:lstStyle/>
                    <a:p>
                      <a:r>
                        <a:rPr lang="en-US" sz="2400" dirty="0" smtClean="0"/>
                        <a:t>30%</a:t>
                      </a:r>
                      <a:endParaRPr lang="en-US" sz="2400" dirty="0"/>
                    </a:p>
                  </a:txBody>
                  <a:tcPr/>
                </a:tc>
              </a:tr>
              <a:tr h="514350">
                <a:tc>
                  <a:txBody>
                    <a:bodyPr/>
                    <a:lstStyle/>
                    <a:p>
                      <a:r>
                        <a:rPr lang="en-US" sz="2400" dirty="0" err="1" smtClean="0"/>
                        <a:t>Cuối</a:t>
                      </a:r>
                      <a:r>
                        <a:rPr lang="en-US" sz="2400" baseline="0" dirty="0" smtClean="0"/>
                        <a:t> </a:t>
                      </a:r>
                      <a:r>
                        <a:rPr lang="en-US" sz="2400" baseline="0" dirty="0" err="1" smtClean="0"/>
                        <a:t>kỳ</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err="1" smtClean="0"/>
                        <a:t>Thi</a:t>
                      </a:r>
                      <a:r>
                        <a:rPr lang="en-US" sz="2400" dirty="0" smtClean="0"/>
                        <a:t> </a:t>
                      </a:r>
                      <a:r>
                        <a:rPr lang="en-US" sz="2400" dirty="0" err="1" smtClean="0"/>
                        <a:t>viết</a:t>
                      </a:r>
                      <a:endParaRPr lang="en-US" sz="2400" dirty="0" smtClean="0"/>
                    </a:p>
                  </a:txBody>
                  <a:tcPr/>
                </a:tc>
                <a:tc>
                  <a:txBody>
                    <a:bodyPr/>
                    <a:lstStyle/>
                    <a:p>
                      <a:r>
                        <a:rPr lang="en-US" sz="2400" dirty="0" smtClean="0"/>
                        <a:t>50%</a:t>
                      </a:r>
                      <a:endParaRPr lang="en-US" sz="2400" dirty="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C00000"/>
                </a:solidFill>
                <a:latin typeface="Tahoma" pitchFamily="34" charset="0"/>
                <a:ea typeface="Tahoma" pitchFamily="34" charset="0"/>
                <a:cs typeface="Tahoma" pitchFamily="34" charset="0"/>
              </a:rPr>
              <a:t>1. </a:t>
            </a:r>
            <a:r>
              <a:rPr lang="en-US" sz="3200" b="1" dirty="0" err="1" smtClean="0">
                <a:solidFill>
                  <a:srgbClr val="C00000"/>
                </a:solidFill>
                <a:latin typeface="Tahoma" pitchFamily="34" charset="0"/>
                <a:ea typeface="Tahoma" pitchFamily="34" charset="0"/>
                <a:cs typeface="Tahoma" pitchFamily="34" charset="0"/>
              </a:rPr>
              <a:t>Giới</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thiệu</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môn</a:t>
            </a:r>
            <a:r>
              <a:rPr lang="en-US" sz="3200" b="1" dirty="0" smtClean="0">
                <a:solidFill>
                  <a:srgbClr val="C00000"/>
                </a:solidFill>
                <a:latin typeface="Tahoma" pitchFamily="34" charset="0"/>
                <a:ea typeface="Tahoma" pitchFamily="34" charset="0"/>
                <a:cs typeface="Tahoma" pitchFamily="34" charset="0"/>
              </a:rPr>
              <a:t> </a:t>
            </a:r>
            <a:r>
              <a:rPr lang="en-US" sz="3200" b="1" dirty="0" err="1" smtClean="0">
                <a:solidFill>
                  <a:srgbClr val="C00000"/>
                </a:solidFill>
                <a:latin typeface="Tahoma" pitchFamily="34" charset="0"/>
                <a:ea typeface="Tahoma" pitchFamily="34" charset="0"/>
                <a:cs typeface="Tahoma" pitchFamily="34" charset="0"/>
              </a:rPr>
              <a:t>học</a:t>
            </a:r>
            <a:endParaRPr lang="en-US" sz="3200" b="1" dirty="0">
              <a:solidFill>
                <a:srgbClr val="C00000"/>
              </a:solidFill>
              <a:latin typeface="Tahoma" pitchFamily="34" charset="0"/>
              <a:ea typeface="Tahoma" pitchFamily="34" charset="0"/>
              <a:cs typeface="Tahoma" pitchFamily="34" charset="0"/>
            </a:endParaRPr>
          </a:p>
        </p:txBody>
      </p:sp>
      <p:sp>
        <p:nvSpPr>
          <p:cNvPr id="3" name="Content Placeholder 2"/>
          <p:cNvSpPr>
            <a:spLocks noGrp="1"/>
          </p:cNvSpPr>
          <p:nvPr>
            <p:ph idx="1"/>
          </p:nvPr>
        </p:nvSpPr>
        <p:spPr/>
        <p:txBody>
          <a:bodyPr>
            <a:normAutofit fontScale="85000" lnSpcReduction="20000"/>
          </a:bodyPr>
          <a:lstStyle/>
          <a:p>
            <a:r>
              <a:rPr lang="vi-VN" dirty="0" smtClean="0"/>
              <a:t>Các yêu cầu của môn học</a:t>
            </a:r>
          </a:p>
          <a:p>
            <a:pPr lvl="1"/>
            <a:r>
              <a:rPr lang="en-US" dirty="0" err="1" smtClean="0"/>
              <a:t>Sinh</a:t>
            </a:r>
            <a:r>
              <a:rPr lang="en-US" dirty="0" smtClean="0"/>
              <a:t> </a:t>
            </a:r>
            <a:r>
              <a:rPr lang="en-US" dirty="0" err="1" smtClean="0"/>
              <a:t>viên</a:t>
            </a:r>
            <a:r>
              <a:rPr lang="en-US" dirty="0" smtClean="0"/>
              <a:t> </a:t>
            </a:r>
            <a:r>
              <a:rPr lang="en-US" dirty="0" err="1" smtClean="0"/>
              <a:t>tham</a:t>
            </a:r>
            <a:r>
              <a:rPr lang="en-US" dirty="0" smtClean="0"/>
              <a:t> </a:t>
            </a:r>
            <a:r>
              <a:rPr lang="en-US" dirty="0" err="1" smtClean="0"/>
              <a:t>gia</a:t>
            </a:r>
            <a:r>
              <a:rPr lang="en-US" dirty="0" smtClean="0"/>
              <a:t> </a:t>
            </a:r>
            <a:r>
              <a:rPr lang="en-US" dirty="0" err="1" smtClean="0"/>
              <a:t>các</a:t>
            </a:r>
            <a:r>
              <a:rPr lang="en-US" dirty="0" smtClean="0"/>
              <a:t> </a:t>
            </a:r>
            <a:r>
              <a:rPr lang="en-US" dirty="0" err="1" smtClean="0"/>
              <a:t>buổi</a:t>
            </a:r>
            <a:r>
              <a:rPr lang="en-US" dirty="0" smtClean="0"/>
              <a:t> </a:t>
            </a:r>
            <a:r>
              <a:rPr lang="en-US" dirty="0" err="1" smtClean="0"/>
              <a:t>học</a:t>
            </a:r>
            <a:r>
              <a:rPr lang="en-US" dirty="0" smtClean="0"/>
              <a:t> </a:t>
            </a:r>
            <a:r>
              <a:rPr lang="en-US" dirty="0" err="1" smtClean="0"/>
              <a:t>lý</a:t>
            </a:r>
            <a:r>
              <a:rPr lang="en-US" dirty="0" smtClean="0"/>
              <a:t> </a:t>
            </a:r>
            <a:r>
              <a:rPr lang="en-US" dirty="0" err="1" smtClean="0"/>
              <a:t>thuyết</a:t>
            </a:r>
            <a:r>
              <a:rPr lang="en-US" dirty="0" smtClean="0"/>
              <a:t> </a:t>
            </a:r>
            <a:r>
              <a:rPr lang="en-US" dirty="0" err="1" smtClean="0"/>
              <a:t>và</a:t>
            </a:r>
            <a:r>
              <a:rPr lang="en-US" dirty="0" smtClean="0"/>
              <a:t> </a:t>
            </a:r>
            <a:r>
              <a:rPr lang="en-US" dirty="0" err="1" smtClean="0"/>
              <a:t>thực</a:t>
            </a:r>
            <a:r>
              <a:rPr lang="en-US" dirty="0" smtClean="0"/>
              <a:t> </a:t>
            </a:r>
            <a:r>
              <a:rPr lang="en-US" dirty="0" err="1" smtClean="0"/>
              <a:t>hành</a:t>
            </a:r>
            <a:r>
              <a:rPr lang="en-US" dirty="0" smtClean="0"/>
              <a:t>.</a:t>
            </a:r>
          </a:p>
          <a:p>
            <a:pPr lvl="1"/>
            <a:r>
              <a:rPr lang="en-US" dirty="0" err="1" smtClean="0"/>
              <a:t>Làm</a:t>
            </a:r>
            <a:r>
              <a:rPr lang="en-US" dirty="0" smtClean="0"/>
              <a:t> </a:t>
            </a:r>
            <a:r>
              <a:rPr lang="en-US" dirty="0" err="1" smtClean="0"/>
              <a:t>bài</a:t>
            </a:r>
            <a:r>
              <a:rPr lang="en-US" dirty="0" smtClean="0"/>
              <a:t> </a:t>
            </a:r>
            <a:r>
              <a:rPr lang="en-US" dirty="0" err="1" smtClean="0"/>
              <a:t>tập</a:t>
            </a:r>
            <a:r>
              <a:rPr lang="en-US" dirty="0" smtClean="0"/>
              <a:t> </a:t>
            </a:r>
            <a:r>
              <a:rPr lang="en-US" dirty="0" err="1" smtClean="0"/>
              <a:t>theo</a:t>
            </a:r>
            <a:r>
              <a:rPr lang="en-US" dirty="0" smtClean="0"/>
              <a:t> </a:t>
            </a:r>
            <a:r>
              <a:rPr lang="en-US" dirty="0" err="1" smtClean="0"/>
              <a:t>yêu</a:t>
            </a:r>
            <a:r>
              <a:rPr lang="en-US" dirty="0" smtClean="0"/>
              <a:t> </a:t>
            </a:r>
            <a:r>
              <a:rPr lang="en-US" dirty="0" err="1" smtClean="0"/>
              <a:t>cầu</a:t>
            </a:r>
            <a:r>
              <a:rPr lang="en-US" dirty="0" smtClean="0"/>
              <a:t> </a:t>
            </a:r>
            <a:r>
              <a:rPr lang="en-US" dirty="0" err="1" smtClean="0"/>
              <a:t>của</a:t>
            </a:r>
            <a:r>
              <a:rPr lang="en-US" dirty="0" smtClean="0"/>
              <a:t> </a:t>
            </a:r>
            <a:r>
              <a:rPr lang="en-US" dirty="0" err="1" smtClean="0"/>
              <a:t>giảng</a:t>
            </a:r>
            <a:r>
              <a:rPr lang="en-US" dirty="0" smtClean="0"/>
              <a:t> </a:t>
            </a:r>
            <a:r>
              <a:rPr lang="en-US" dirty="0" err="1" smtClean="0"/>
              <a:t>viên</a:t>
            </a:r>
            <a:r>
              <a:rPr lang="en-US" dirty="0" smtClean="0"/>
              <a:t>.</a:t>
            </a:r>
          </a:p>
          <a:p>
            <a:r>
              <a:rPr lang="en-US" dirty="0" err="1" smtClean="0"/>
              <a:t>Giáo</a:t>
            </a:r>
            <a:r>
              <a:rPr lang="en-US" dirty="0" smtClean="0"/>
              <a:t> </a:t>
            </a:r>
            <a:r>
              <a:rPr lang="en-US" dirty="0" err="1" smtClean="0"/>
              <a:t>trình</a:t>
            </a:r>
            <a:r>
              <a:rPr lang="en-US" dirty="0" smtClean="0"/>
              <a:t> &amp; </a:t>
            </a:r>
            <a:r>
              <a:rPr lang="en-US" dirty="0" err="1" smtClean="0"/>
              <a:t>tài</a:t>
            </a:r>
            <a:r>
              <a:rPr lang="en-US" dirty="0" smtClean="0"/>
              <a:t> </a:t>
            </a:r>
            <a:r>
              <a:rPr lang="en-US" dirty="0" err="1" smtClean="0"/>
              <a:t>liệu</a:t>
            </a:r>
            <a:r>
              <a:rPr lang="en-US" dirty="0" smtClean="0"/>
              <a:t> </a:t>
            </a:r>
            <a:r>
              <a:rPr lang="en-US" dirty="0" err="1" smtClean="0"/>
              <a:t>tham</a:t>
            </a:r>
            <a:r>
              <a:rPr lang="en-US" dirty="0" smtClean="0"/>
              <a:t> </a:t>
            </a:r>
            <a:r>
              <a:rPr lang="en-US" dirty="0" err="1" smtClean="0"/>
              <a:t>khảo</a:t>
            </a:r>
            <a:endParaRPr lang="vi-VN" dirty="0" smtClean="0"/>
          </a:p>
          <a:p>
            <a:pPr lvl="1"/>
            <a:r>
              <a:rPr lang="vi-VN" dirty="0" smtClean="0"/>
              <a:t>Giáo trình Tin học đại cương  – Trường ĐHCNTT, Nhiều tác giả, Nhà xuất bản ĐHQG, 2010.</a:t>
            </a:r>
          </a:p>
          <a:p>
            <a:pPr lvl="1"/>
            <a:r>
              <a:rPr lang="vi-VN" dirty="0" smtClean="0"/>
              <a:t>Giáo trình Nhập môn lập trình Khoa CNTT – Trường ĐHKHTN Tp.HCM.</a:t>
            </a:r>
          </a:p>
          <a:p>
            <a:pPr lvl="1"/>
            <a:r>
              <a:rPr lang="vi-VN" dirty="0" smtClean="0"/>
              <a:t>Thinking in C++, Bruce Eckel, ebook.</a:t>
            </a:r>
            <a:endParaRPr lang="en-US" dirty="0" smtClean="0"/>
          </a:p>
          <a:p>
            <a:pPr lvl="1"/>
            <a:r>
              <a:rPr lang="en-US" dirty="0" smtClean="0">
                <a:latin typeface="Arial" pitchFamily="34" charset="0"/>
                <a:cs typeface="Arial" pitchFamily="34" charset="0"/>
              </a:rPr>
              <a:t>Theory and Problems of Fundamentals of Computing with C++, John </a:t>
            </a:r>
            <a:r>
              <a:rPr lang="en-US" dirty="0" err="1" smtClean="0">
                <a:latin typeface="Arial" pitchFamily="34" charset="0"/>
                <a:cs typeface="Arial" pitchFamily="34" charset="0"/>
              </a:rPr>
              <a:t>R.Hubbard</a:t>
            </a:r>
            <a:r>
              <a:rPr lang="en-US" dirty="0" smtClean="0">
                <a:latin typeface="Arial" pitchFamily="34" charset="0"/>
                <a:cs typeface="Arial" pitchFamily="34" charset="0"/>
              </a:rPr>
              <a:t>, </a:t>
            </a:r>
            <a:r>
              <a:rPr lang="en-US" dirty="0" err="1" smtClean="0">
                <a:latin typeface="Arial" pitchFamily="34" charset="0"/>
                <a:cs typeface="Arial" pitchFamily="34" charset="0"/>
              </a:rPr>
              <a:t>Schaum’s</a:t>
            </a:r>
            <a:r>
              <a:rPr lang="en-US" dirty="0" smtClean="0">
                <a:latin typeface="Arial" pitchFamily="34" charset="0"/>
                <a:cs typeface="Arial" pitchFamily="34" charset="0"/>
              </a:rPr>
              <a:t> Outlines Series, McGraw-Hill, 1998</a:t>
            </a:r>
            <a:endParaRPr lang="vi-VN" dirty="0" err="1" smtClean="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A23AA34-D39B-4F23-8F7F-35D03225000B}" type="slidenum">
              <a:rPr lang="en-US" smtClean="0"/>
              <a:pPr/>
              <a:t>6</a:t>
            </a:fld>
            <a:endParaRPr lang="en-US"/>
          </a:p>
        </p:txBody>
      </p:sp>
      <p:sp>
        <p:nvSpPr>
          <p:cNvPr id="7" name="Date Placeholder 6"/>
          <p:cNvSpPr>
            <a:spLocks noGrp="1"/>
          </p:cNvSpPr>
          <p:nvPr>
            <p:ph type="dt" sz="half" idx="10"/>
          </p:nvPr>
        </p:nvSpPr>
        <p:spPr/>
        <p:txBody>
          <a:bodyPr/>
          <a:lstStyle/>
          <a:p>
            <a:r>
              <a:rPr lang="en-US" smtClean="0"/>
              <a:t>2015</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sz="3200" b="1" smtClean="0">
                <a:solidFill>
                  <a:srgbClr val="CC3300"/>
                </a:solidFill>
                <a:latin typeface="Tahoma" pitchFamily="34" charset="0"/>
              </a:rPr>
              <a:t>2. Khái niệm về </a:t>
            </a:r>
            <a:r>
              <a:rPr lang="en-US" sz="3200" b="1" smtClean="0">
                <a:solidFill>
                  <a:srgbClr val="CC3300"/>
                </a:solidFill>
                <a:latin typeface="Tahoma" pitchFamily="34" charset="0"/>
              </a:rPr>
              <a:t>chương trình</a:t>
            </a:r>
          </a:p>
        </p:txBody>
      </p:sp>
      <p:sp>
        <p:nvSpPr>
          <p:cNvPr id="117765" name="Rectangle 5"/>
          <p:cNvSpPr>
            <a:spLocks noChangeArrowheads="1"/>
          </p:cNvSpPr>
          <p:nvPr/>
        </p:nvSpPr>
        <p:spPr bwMode="auto">
          <a:xfrm>
            <a:off x="990600" y="2286000"/>
            <a:ext cx="2057400" cy="609600"/>
          </a:xfrm>
          <a:prstGeom prst="rect">
            <a:avLst/>
          </a:prstGeom>
          <a:gradFill rotWithShape="1">
            <a:gsLst>
              <a:gs pos="0">
                <a:schemeClr val="accent1">
                  <a:gamma/>
                  <a:shade val="46275"/>
                  <a:invGamma/>
                </a:schemeClr>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t>Chương trình</a:t>
            </a:r>
          </a:p>
        </p:txBody>
      </p:sp>
      <p:sp>
        <p:nvSpPr>
          <p:cNvPr id="117766" name="AutoShape 6"/>
          <p:cNvSpPr>
            <a:spLocks noChangeArrowheads="1"/>
          </p:cNvSpPr>
          <p:nvPr/>
        </p:nvSpPr>
        <p:spPr bwMode="auto">
          <a:xfrm>
            <a:off x="1828800" y="3048000"/>
            <a:ext cx="381000" cy="457200"/>
          </a:xfrm>
          <a:prstGeom prst="downArrow">
            <a:avLst>
              <a:gd name="adj1" fmla="val 50000"/>
              <a:gd name="adj2" fmla="val 3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67" name="Rectangle 7"/>
          <p:cNvSpPr>
            <a:spLocks noChangeArrowheads="1"/>
          </p:cNvSpPr>
          <p:nvPr/>
        </p:nvSpPr>
        <p:spPr bwMode="auto">
          <a:xfrm>
            <a:off x="762000" y="3657600"/>
            <a:ext cx="2743200" cy="1295400"/>
          </a:xfrm>
          <a:prstGeom prst="rect">
            <a:avLst/>
          </a:prstGeom>
          <a:gradFill rotWithShape="1">
            <a:gsLst>
              <a:gs pos="0">
                <a:srgbClr val="CCFFFF">
                  <a:gamma/>
                  <a:shade val="46275"/>
                  <a:invGamma/>
                </a:srgbClr>
              </a:gs>
              <a:gs pos="50000">
                <a:srgbClr val="CCFFFF"/>
              </a:gs>
              <a:gs pos="100000">
                <a:srgbClr val="CCFFFF">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800"/>
              <a:t>Kết quả của việc </a:t>
            </a:r>
          </a:p>
          <a:p>
            <a:r>
              <a:rPr lang="en-US" sz="1800"/>
              <a:t>thể hiện cách giải quyết </a:t>
            </a:r>
          </a:p>
          <a:p>
            <a:r>
              <a:rPr lang="en-US" sz="1800"/>
              <a:t>vấn đề trên máy tính</a:t>
            </a:r>
          </a:p>
        </p:txBody>
      </p:sp>
      <p:sp>
        <p:nvSpPr>
          <p:cNvPr id="117768" name="AutoShape 8"/>
          <p:cNvSpPr>
            <a:spLocks noChangeArrowheads="1"/>
          </p:cNvSpPr>
          <p:nvPr/>
        </p:nvSpPr>
        <p:spPr bwMode="auto">
          <a:xfrm>
            <a:off x="3200400" y="2514600"/>
            <a:ext cx="2362200" cy="381000"/>
          </a:xfrm>
          <a:prstGeom prst="rightArrow">
            <a:avLst>
              <a:gd name="adj1" fmla="val 50000"/>
              <a:gd name="adj2" fmla="val 155000"/>
            </a:avLst>
          </a:prstGeom>
          <a:solidFill>
            <a:srgbClr val="C0C0C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69" name="Rectangle 9"/>
          <p:cNvSpPr>
            <a:spLocks noChangeArrowheads="1"/>
          </p:cNvSpPr>
          <p:nvPr/>
        </p:nvSpPr>
        <p:spPr bwMode="auto">
          <a:xfrm>
            <a:off x="5683250" y="2286000"/>
            <a:ext cx="2622550" cy="630238"/>
          </a:xfrm>
          <a:prstGeom prst="rect">
            <a:avLst/>
          </a:prstGeom>
          <a:gradFill rotWithShape="1">
            <a:gsLst>
              <a:gs pos="0">
                <a:schemeClr val="accent1">
                  <a:gamma/>
                  <a:shade val="46275"/>
                  <a:invGamma/>
                </a:schemeClr>
              </a:gs>
              <a:gs pos="100000">
                <a:schemeClr val="accent1"/>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t>Ngôn ngữ thể hiện</a:t>
            </a:r>
          </a:p>
        </p:txBody>
      </p:sp>
      <p:sp>
        <p:nvSpPr>
          <p:cNvPr id="117770" name="AutoShape 10"/>
          <p:cNvSpPr>
            <a:spLocks noChangeArrowheads="1"/>
          </p:cNvSpPr>
          <p:nvPr/>
        </p:nvSpPr>
        <p:spPr bwMode="auto">
          <a:xfrm>
            <a:off x="6705600" y="2971800"/>
            <a:ext cx="381000" cy="457200"/>
          </a:xfrm>
          <a:prstGeom prst="downArrow">
            <a:avLst>
              <a:gd name="adj1" fmla="val 50000"/>
              <a:gd name="adj2" fmla="val 30000"/>
            </a:avLst>
          </a:prstGeom>
          <a:gradFill rotWithShape="1">
            <a:gsLst>
              <a:gs pos="0">
                <a:schemeClr val="accent1">
                  <a:gamma/>
                  <a:shade val="46275"/>
                  <a:invGamma/>
                </a:schemeClr>
              </a:gs>
              <a:gs pos="100000">
                <a:schemeClr val="accent1"/>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71" name="Text Box 11"/>
          <p:cNvSpPr txBox="1">
            <a:spLocks noChangeArrowheads="1"/>
          </p:cNvSpPr>
          <p:nvPr/>
        </p:nvSpPr>
        <p:spPr bwMode="auto">
          <a:xfrm>
            <a:off x="5410200" y="3735388"/>
            <a:ext cx="10668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r>
              <a:rPr lang="en-US">
                <a:solidFill>
                  <a:srgbClr val="A50021"/>
                </a:solidFill>
                <a:effectLst>
                  <a:outerShdw blurRad="38100" dist="38100" dir="2700000" algn="tl">
                    <a:srgbClr val="000000"/>
                  </a:outerShdw>
                </a:effectLst>
                <a:latin typeface="VNI-Times" pitchFamily="2" charset="0"/>
              </a:rPr>
              <a:t>Ñôn giaûn:</a:t>
            </a:r>
          </a:p>
          <a:p>
            <a:pPr algn="l"/>
            <a:r>
              <a:rPr lang="en-US" i="1">
                <a:solidFill>
                  <a:srgbClr val="000044"/>
                </a:solidFill>
                <a:latin typeface="VNI-Times" pitchFamily="2" charset="0"/>
              </a:rPr>
              <a:t>Caùc leänh maùy</a:t>
            </a:r>
            <a:r>
              <a:rPr lang="en-US" i="1">
                <a:solidFill>
                  <a:schemeClr val="tx1"/>
                </a:solidFill>
                <a:effectLst>
                  <a:outerShdw blurRad="38100" dist="38100" dir="2700000" algn="tl">
                    <a:srgbClr val="FFFFFF"/>
                  </a:outerShdw>
                </a:effectLst>
                <a:latin typeface="VNI-Times" pitchFamily="2" charset="0"/>
              </a:rPr>
              <a:t> </a:t>
            </a:r>
            <a:endParaRPr lang="en-US">
              <a:solidFill>
                <a:schemeClr val="tx1"/>
              </a:solidFill>
              <a:effectLst>
                <a:outerShdw blurRad="38100" dist="38100" dir="2700000" algn="tl">
                  <a:srgbClr val="FFFFFF"/>
                </a:outerShdw>
              </a:effectLst>
              <a:latin typeface="VNI-Times" pitchFamily="2" charset="0"/>
            </a:endParaRPr>
          </a:p>
        </p:txBody>
      </p:sp>
      <p:sp>
        <p:nvSpPr>
          <p:cNvPr id="117772" name="Line 12"/>
          <p:cNvSpPr>
            <a:spLocks noChangeShapeType="1"/>
          </p:cNvSpPr>
          <p:nvPr/>
        </p:nvSpPr>
        <p:spPr bwMode="auto">
          <a:xfrm>
            <a:off x="6477000" y="3962400"/>
            <a:ext cx="631825" cy="15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7773" name="Text Box 13"/>
          <p:cNvSpPr txBox="1">
            <a:spLocks noChangeArrowheads="1"/>
          </p:cNvSpPr>
          <p:nvPr/>
        </p:nvSpPr>
        <p:spPr bwMode="auto">
          <a:xfrm>
            <a:off x="7239000" y="3735388"/>
            <a:ext cx="1600200"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r>
              <a:rPr lang="en-US" b="1">
                <a:solidFill>
                  <a:srgbClr val="A50021"/>
                </a:solidFill>
                <a:latin typeface="VNI-Times" pitchFamily="2" charset="0"/>
              </a:rPr>
              <a:t>Phöùc taïp:</a:t>
            </a:r>
            <a:r>
              <a:rPr lang="en-US">
                <a:solidFill>
                  <a:schemeClr val="tx1"/>
                </a:solidFill>
                <a:latin typeface="VNI-Times" pitchFamily="2" charset="0"/>
              </a:rPr>
              <a:t> </a:t>
            </a:r>
          </a:p>
          <a:p>
            <a:pPr algn="l"/>
            <a:r>
              <a:rPr lang="en-US" i="1">
                <a:solidFill>
                  <a:srgbClr val="000044"/>
                </a:solidFill>
                <a:latin typeface="VNI-Times" pitchFamily="2" charset="0"/>
              </a:rPr>
              <a:t>caùc meänh ñeà theo vaên phaïm qui öôùc</a:t>
            </a:r>
            <a:r>
              <a:rPr lang="en-US">
                <a:solidFill>
                  <a:srgbClr val="000044"/>
                </a:solidFill>
                <a:latin typeface="VNI-Times" pitchFamily="2" charset="0"/>
              </a:rPr>
              <a:t> </a:t>
            </a:r>
          </a:p>
        </p:txBody>
      </p:sp>
      <p:sp>
        <p:nvSpPr>
          <p:cNvPr id="117774" name="AutoShape 14"/>
          <p:cNvSpPr>
            <a:spLocks/>
          </p:cNvSpPr>
          <p:nvPr/>
        </p:nvSpPr>
        <p:spPr bwMode="auto">
          <a:xfrm rot="5400000">
            <a:off x="6804025" y="2819400"/>
            <a:ext cx="228600" cy="1600200"/>
          </a:xfrm>
          <a:prstGeom prst="leftBrace">
            <a:avLst>
              <a:gd name="adj1" fmla="val 58333"/>
              <a:gd name="adj2" fmla="val 51588"/>
            </a:avLst>
          </a:prstGeom>
          <a:ln>
            <a:solidFill>
              <a:schemeClr val="tx1"/>
            </a:solidFill>
            <a:headEnd/>
            <a:tailEnd/>
          </a:ln>
        </p:spPr>
        <p:style>
          <a:lnRef idx="1">
            <a:schemeClr val="accent2"/>
          </a:lnRef>
          <a:fillRef idx="0">
            <a:schemeClr val="accent2"/>
          </a:fillRef>
          <a:effectRef idx="0">
            <a:schemeClr val="accent2"/>
          </a:effectRef>
          <a:fontRef idx="minor">
            <a:schemeClr val="tx1"/>
          </a:fontRef>
        </p:style>
        <p:txBody>
          <a:bodyPr/>
          <a:lstStyle/>
          <a:p>
            <a:endParaRPr lang="en-US">
              <a:solidFill>
                <a:srgbClr val="C00000"/>
              </a:solidFill>
            </a:endParaRPr>
          </a:p>
        </p:txBody>
      </p:sp>
    </p:spTree>
    <p:extLst>
      <p:ext uri="{BB962C8B-B14F-4D97-AF65-F5344CB8AC3E}">
        <p14:creationId xmlns:p14="http://schemas.microsoft.com/office/powerpoint/2010/main" val="6112710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762"/>
                                        </p:tgtEl>
                                        <p:attrNameLst>
                                          <p:attrName>style.visibility</p:attrName>
                                        </p:attrNameLst>
                                      </p:cBhvr>
                                      <p:to>
                                        <p:strVal val="visible"/>
                                      </p:to>
                                    </p:set>
                                    <p:anim calcmode="lin" valueType="num">
                                      <p:cBhvr additive="base">
                                        <p:cTn id="7" dur="500" fill="hold"/>
                                        <p:tgtEl>
                                          <p:spTgt spid="117762"/>
                                        </p:tgtEl>
                                        <p:attrNameLst>
                                          <p:attrName>ppt_x</p:attrName>
                                        </p:attrNameLst>
                                      </p:cBhvr>
                                      <p:tavLst>
                                        <p:tav tm="0">
                                          <p:val>
                                            <p:strVal val="0-#ppt_w/2"/>
                                          </p:val>
                                        </p:tav>
                                        <p:tav tm="100000">
                                          <p:val>
                                            <p:strVal val="#ppt_x"/>
                                          </p:val>
                                        </p:tav>
                                      </p:tavLst>
                                    </p:anim>
                                    <p:anim calcmode="lin" valueType="num">
                                      <p:cBhvr additive="base">
                                        <p:cTn id="8" dur="500" fill="hold"/>
                                        <p:tgtEl>
                                          <p:spTgt spid="1177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7765"/>
                                        </p:tgtEl>
                                        <p:attrNameLst>
                                          <p:attrName>style.visibility</p:attrName>
                                        </p:attrNameLst>
                                      </p:cBhvr>
                                      <p:to>
                                        <p:strVal val="visible"/>
                                      </p:to>
                                    </p:set>
                                    <p:anim calcmode="lin" valueType="num">
                                      <p:cBhvr additive="base">
                                        <p:cTn id="13" dur="500" fill="hold"/>
                                        <p:tgtEl>
                                          <p:spTgt spid="117765"/>
                                        </p:tgtEl>
                                        <p:attrNameLst>
                                          <p:attrName>ppt_x</p:attrName>
                                        </p:attrNameLst>
                                      </p:cBhvr>
                                      <p:tavLst>
                                        <p:tav tm="0">
                                          <p:val>
                                            <p:strVal val="0-#ppt_w/2"/>
                                          </p:val>
                                        </p:tav>
                                        <p:tav tm="100000">
                                          <p:val>
                                            <p:strVal val="#ppt_x"/>
                                          </p:val>
                                        </p:tav>
                                      </p:tavLst>
                                    </p:anim>
                                    <p:anim calcmode="lin" valueType="num">
                                      <p:cBhvr additive="base">
                                        <p:cTn id="14" dur="500" fill="hold"/>
                                        <p:tgtEl>
                                          <p:spTgt spid="11776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1" presetClass="entr" presetSubtype="4" fill="hold" grpId="0" nodeType="clickEffect">
                                  <p:stCondLst>
                                    <p:cond delay="0"/>
                                  </p:stCondLst>
                                  <p:childTnLst>
                                    <p:set>
                                      <p:cBhvr>
                                        <p:cTn id="18" dur="1" fill="hold">
                                          <p:stCondLst>
                                            <p:cond delay="0"/>
                                          </p:stCondLst>
                                        </p:cTn>
                                        <p:tgtEl>
                                          <p:spTgt spid="117766"/>
                                        </p:tgtEl>
                                        <p:attrNameLst>
                                          <p:attrName>style.visibility</p:attrName>
                                        </p:attrNameLst>
                                      </p:cBhvr>
                                      <p:to>
                                        <p:strVal val="visible"/>
                                      </p:to>
                                    </p:set>
                                    <p:animEffect transition="in" filter="wheel(4)">
                                      <p:cBhvr>
                                        <p:cTn id="19" dur="2000"/>
                                        <p:tgtEl>
                                          <p:spTgt spid="11776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1" presetClass="entr" presetSubtype="4" fill="hold" grpId="0" nodeType="clickEffect">
                                  <p:stCondLst>
                                    <p:cond delay="0"/>
                                  </p:stCondLst>
                                  <p:childTnLst>
                                    <p:set>
                                      <p:cBhvr>
                                        <p:cTn id="23" dur="1" fill="hold">
                                          <p:stCondLst>
                                            <p:cond delay="0"/>
                                          </p:stCondLst>
                                        </p:cTn>
                                        <p:tgtEl>
                                          <p:spTgt spid="117767"/>
                                        </p:tgtEl>
                                        <p:attrNameLst>
                                          <p:attrName>style.visibility</p:attrName>
                                        </p:attrNameLst>
                                      </p:cBhvr>
                                      <p:to>
                                        <p:strVal val="visible"/>
                                      </p:to>
                                    </p:set>
                                    <p:animEffect transition="in" filter="wheel(4)">
                                      <p:cBhvr>
                                        <p:cTn id="24" dur="2000"/>
                                        <p:tgtEl>
                                          <p:spTgt spid="11776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1" presetClass="entr" presetSubtype="4" fill="hold" grpId="0" nodeType="clickEffect">
                                  <p:stCondLst>
                                    <p:cond delay="0"/>
                                  </p:stCondLst>
                                  <p:childTnLst>
                                    <p:set>
                                      <p:cBhvr>
                                        <p:cTn id="28" dur="1" fill="hold">
                                          <p:stCondLst>
                                            <p:cond delay="0"/>
                                          </p:stCondLst>
                                        </p:cTn>
                                        <p:tgtEl>
                                          <p:spTgt spid="117768"/>
                                        </p:tgtEl>
                                        <p:attrNameLst>
                                          <p:attrName>style.visibility</p:attrName>
                                        </p:attrNameLst>
                                      </p:cBhvr>
                                      <p:to>
                                        <p:strVal val="visible"/>
                                      </p:to>
                                    </p:set>
                                    <p:animEffect transition="in" filter="wheel(4)">
                                      <p:cBhvr>
                                        <p:cTn id="29" dur="2000"/>
                                        <p:tgtEl>
                                          <p:spTgt spid="11776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1" presetClass="entr" presetSubtype="4" fill="hold" grpId="0" nodeType="clickEffect">
                                  <p:stCondLst>
                                    <p:cond delay="0"/>
                                  </p:stCondLst>
                                  <p:childTnLst>
                                    <p:set>
                                      <p:cBhvr>
                                        <p:cTn id="33" dur="1" fill="hold">
                                          <p:stCondLst>
                                            <p:cond delay="0"/>
                                          </p:stCondLst>
                                        </p:cTn>
                                        <p:tgtEl>
                                          <p:spTgt spid="117769"/>
                                        </p:tgtEl>
                                        <p:attrNameLst>
                                          <p:attrName>style.visibility</p:attrName>
                                        </p:attrNameLst>
                                      </p:cBhvr>
                                      <p:to>
                                        <p:strVal val="visible"/>
                                      </p:to>
                                    </p:set>
                                    <p:animEffect transition="in" filter="wheel(4)">
                                      <p:cBhvr>
                                        <p:cTn id="34" dur="2000"/>
                                        <p:tgtEl>
                                          <p:spTgt spid="11776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1" presetClass="entr" presetSubtype="4" fill="hold" grpId="0" nodeType="clickEffect">
                                  <p:stCondLst>
                                    <p:cond delay="0"/>
                                  </p:stCondLst>
                                  <p:childTnLst>
                                    <p:set>
                                      <p:cBhvr>
                                        <p:cTn id="38" dur="1" fill="hold">
                                          <p:stCondLst>
                                            <p:cond delay="0"/>
                                          </p:stCondLst>
                                        </p:cTn>
                                        <p:tgtEl>
                                          <p:spTgt spid="117770"/>
                                        </p:tgtEl>
                                        <p:attrNameLst>
                                          <p:attrName>style.visibility</p:attrName>
                                        </p:attrNameLst>
                                      </p:cBhvr>
                                      <p:to>
                                        <p:strVal val="visible"/>
                                      </p:to>
                                    </p:set>
                                    <p:animEffect transition="in" filter="wheel(4)">
                                      <p:cBhvr>
                                        <p:cTn id="39" dur="2000"/>
                                        <p:tgtEl>
                                          <p:spTgt spid="11777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1" presetClass="entr" presetSubtype="4" fill="hold" grpId="0" nodeType="clickEffect">
                                  <p:stCondLst>
                                    <p:cond delay="0"/>
                                  </p:stCondLst>
                                  <p:childTnLst>
                                    <p:set>
                                      <p:cBhvr>
                                        <p:cTn id="43" dur="1" fill="hold">
                                          <p:stCondLst>
                                            <p:cond delay="0"/>
                                          </p:stCondLst>
                                        </p:cTn>
                                        <p:tgtEl>
                                          <p:spTgt spid="117774"/>
                                        </p:tgtEl>
                                        <p:attrNameLst>
                                          <p:attrName>style.visibility</p:attrName>
                                        </p:attrNameLst>
                                      </p:cBhvr>
                                      <p:to>
                                        <p:strVal val="visible"/>
                                      </p:to>
                                    </p:set>
                                    <p:animEffect transition="in" filter="wheel(4)">
                                      <p:cBhvr>
                                        <p:cTn id="44" dur="2000"/>
                                        <p:tgtEl>
                                          <p:spTgt spid="11777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1" presetClass="entr" presetSubtype="4" fill="hold" grpId="0" nodeType="clickEffect">
                                  <p:stCondLst>
                                    <p:cond delay="0"/>
                                  </p:stCondLst>
                                  <p:childTnLst>
                                    <p:set>
                                      <p:cBhvr>
                                        <p:cTn id="48" dur="1" fill="hold">
                                          <p:stCondLst>
                                            <p:cond delay="0"/>
                                          </p:stCondLst>
                                        </p:cTn>
                                        <p:tgtEl>
                                          <p:spTgt spid="117771"/>
                                        </p:tgtEl>
                                        <p:attrNameLst>
                                          <p:attrName>style.visibility</p:attrName>
                                        </p:attrNameLst>
                                      </p:cBhvr>
                                      <p:to>
                                        <p:strVal val="visible"/>
                                      </p:to>
                                    </p:set>
                                    <p:animEffect transition="in" filter="wheel(4)">
                                      <p:cBhvr>
                                        <p:cTn id="49" dur="2000"/>
                                        <p:tgtEl>
                                          <p:spTgt spid="11777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1" presetClass="entr" presetSubtype="4" fill="hold" grpId="0" nodeType="clickEffect">
                                  <p:stCondLst>
                                    <p:cond delay="0"/>
                                  </p:stCondLst>
                                  <p:childTnLst>
                                    <p:set>
                                      <p:cBhvr>
                                        <p:cTn id="53" dur="1" fill="hold">
                                          <p:stCondLst>
                                            <p:cond delay="0"/>
                                          </p:stCondLst>
                                        </p:cTn>
                                        <p:tgtEl>
                                          <p:spTgt spid="117772"/>
                                        </p:tgtEl>
                                        <p:attrNameLst>
                                          <p:attrName>style.visibility</p:attrName>
                                        </p:attrNameLst>
                                      </p:cBhvr>
                                      <p:to>
                                        <p:strVal val="visible"/>
                                      </p:to>
                                    </p:set>
                                    <p:animEffect transition="in" filter="wheel(4)">
                                      <p:cBhvr>
                                        <p:cTn id="54" dur="2000"/>
                                        <p:tgtEl>
                                          <p:spTgt spid="11777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1" presetClass="entr" presetSubtype="4" fill="hold" grpId="0" nodeType="clickEffect">
                                  <p:stCondLst>
                                    <p:cond delay="0"/>
                                  </p:stCondLst>
                                  <p:childTnLst>
                                    <p:set>
                                      <p:cBhvr>
                                        <p:cTn id="58" dur="1" fill="hold">
                                          <p:stCondLst>
                                            <p:cond delay="0"/>
                                          </p:stCondLst>
                                        </p:cTn>
                                        <p:tgtEl>
                                          <p:spTgt spid="117773"/>
                                        </p:tgtEl>
                                        <p:attrNameLst>
                                          <p:attrName>style.visibility</p:attrName>
                                        </p:attrNameLst>
                                      </p:cBhvr>
                                      <p:to>
                                        <p:strVal val="visible"/>
                                      </p:to>
                                    </p:set>
                                    <p:animEffect transition="in" filter="wheel(4)">
                                      <p:cBhvr>
                                        <p:cTn id="59" dur="2000"/>
                                        <p:tgtEl>
                                          <p:spTgt spid="117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p:bldP spid="117765" grpId="0" animBg="1"/>
      <p:bldP spid="117766" grpId="0" animBg="1"/>
      <p:bldP spid="117767" grpId="0" animBg="1"/>
      <p:bldP spid="117768" grpId="0" animBg="1"/>
      <p:bldP spid="117769" grpId="0" animBg="1"/>
      <p:bldP spid="117770" grpId="0" animBg="1"/>
      <p:bldP spid="117771" grpId="0"/>
      <p:bldP spid="117772" grpId="0" animBg="1"/>
      <p:bldP spid="117773" grpId="0"/>
      <p:bldP spid="11777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sz="3200" b="1">
                <a:solidFill>
                  <a:srgbClr val="CC3300"/>
                </a:solidFill>
                <a:latin typeface="Tahoma" pitchFamily="34" charset="0"/>
              </a:rPr>
              <a:t>2. Khái niệm về chương trình</a:t>
            </a:r>
            <a:endParaRPr lang="en-US" sz="3200" b="1" smtClean="0">
              <a:solidFill>
                <a:srgbClr val="CC3300"/>
              </a:solidFill>
              <a:latin typeface="Tahoma" pitchFamily="34" charset="0"/>
            </a:endParaRPr>
          </a:p>
        </p:txBody>
      </p:sp>
      <p:sp>
        <p:nvSpPr>
          <p:cNvPr id="100355" name="Rectangle 3"/>
          <p:cNvSpPr>
            <a:spLocks noGrp="1" noChangeArrowheads="1"/>
          </p:cNvSpPr>
          <p:nvPr>
            <p:ph type="body" idx="1"/>
          </p:nvPr>
        </p:nvSpPr>
        <p:spPr/>
        <p:txBody>
          <a:bodyPr>
            <a:normAutofit/>
          </a:bodyPr>
          <a:lstStyle/>
          <a:p>
            <a:pPr algn="just">
              <a:buFont typeface="Wingdings" pitchFamily="2" charset="2"/>
              <a:buChar char="v"/>
            </a:pPr>
            <a:r>
              <a:rPr lang="en-US" sz="2400" b="1" smtClean="0">
                <a:solidFill>
                  <a:srgbClr val="CC3300"/>
                </a:solidFill>
                <a:latin typeface="Arial" pitchFamily="34" charset="0"/>
                <a:cs typeface="Arial" pitchFamily="34" charset="0"/>
              </a:rPr>
              <a:t>Một chương trình máy tính:</a:t>
            </a:r>
            <a:r>
              <a:rPr lang="en-US" sz="2400" smtClean="0">
                <a:solidFill>
                  <a:srgbClr val="000066"/>
                </a:solidFill>
                <a:latin typeface="Arial" pitchFamily="34" charset="0"/>
                <a:cs typeface="Arial" pitchFamily="34" charset="0"/>
              </a:rPr>
              <a:t> </a:t>
            </a:r>
            <a:r>
              <a:rPr lang="en-US" sz="2400" smtClean="0">
                <a:latin typeface="Arial" pitchFamily="34" charset="0"/>
                <a:cs typeface="Arial" pitchFamily="34" charset="0"/>
              </a:rPr>
              <a:t>là một</a:t>
            </a:r>
            <a:r>
              <a:rPr lang="en-US" sz="2400" smtClean="0">
                <a:solidFill>
                  <a:srgbClr val="000066"/>
                </a:solidFill>
                <a:latin typeface="Arial" pitchFamily="34" charset="0"/>
                <a:cs typeface="Arial" pitchFamily="34" charset="0"/>
              </a:rPr>
              <a:t> </a:t>
            </a:r>
            <a:r>
              <a:rPr lang="en-US" sz="2400" smtClean="0">
                <a:solidFill>
                  <a:srgbClr val="009900"/>
                </a:solidFill>
                <a:latin typeface="Arial" pitchFamily="34" charset="0"/>
                <a:cs typeface="Arial" pitchFamily="34" charset="0"/>
              </a:rPr>
              <a:t>dãy những chỉ thị</a:t>
            </a:r>
            <a:r>
              <a:rPr lang="en-US" sz="2400" smtClean="0">
                <a:solidFill>
                  <a:srgbClr val="000066"/>
                </a:solidFill>
                <a:latin typeface="Arial" pitchFamily="34" charset="0"/>
                <a:cs typeface="Arial" pitchFamily="34" charset="0"/>
              </a:rPr>
              <a:t> </a:t>
            </a:r>
            <a:r>
              <a:rPr lang="en-US" sz="2400" smtClean="0">
                <a:latin typeface="Arial" pitchFamily="34" charset="0"/>
                <a:cs typeface="Arial" pitchFamily="34" charset="0"/>
              </a:rPr>
              <a:t>nhắm tới việc </a:t>
            </a:r>
            <a:r>
              <a:rPr lang="en-US" sz="2400" smtClean="0">
                <a:solidFill>
                  <a:srgbClr val="009900"/>
                </a:solidFill>
                <a:latin typeface="Arial" pitchFamily="34" charset="0"/>
                <a:cs typeface="Arial" pitchFamily="34" charset="0"/>
              </a:rPr>
              <a:t>thực hiện một nhiệm vụ đã được xác định trước</a:t>
            </a:r>
            <a:r>
              <a:rPr lang="en-US" sz="2400" smtClean="0">
                <a:solidFill>
                  <a:srgbClr val="000066"/>
                </a:solidFill>
                <a:latin typeface="Arial" pitchFamily="34" charset="0"/>
                <a:cs typeface="Arial" pitchFamily="34" charset="0"/>
              </a:rPr>
              <a:t>. </a:t>
            </a:r>
            <a:r>
              <a:rPr lang="en-US" sz="2400" smtClean="0">
                <a:latin typeface="Arial" pitchFamily="34" charset="0"/>
                <a:cs typeface="Arial" pitchFamily="34" charset="0"/>
              </a:rPr>
              <a:t>Các chỉ thị này được mã hóa dưới dạng dãy các bit 0 hoặc 1, và chúng được lưu vào bộ nhớ giống như các dữ liệu thông thường. Nói cách khác, chương trình cũng là một loại dữ liệu, và máy tính chỉ làm việc đơn giản là đọc và thực thi một cách tuần tự trên những dữ liệu như vậy.</a:t>
            </a:r>
          </a:p>
          <a:p>
            <a:pPr algn="just">
              <a:buFont typeface="Wingdings" pitchFamily="2" charset="2"/>
              <a:buNone/>
            </a:pPr>
            <a:r>
              <a:rPr lang="en-US" sz="2400" smtClean="0">
                <a:solidFill>
                  <a:srgbClr val="99CC00"/>
                </a:solidFill>
                <a:latin typeface="Arial" pitchFamily="34" charset="0"/>
                <a:cs typeface="Arial" pitchFamily="34" charset="0"/>
              </a:rPr>
              <a:t>	</a:t>
            </a:r>
            <a:r>
              <a:rPr lang="en-US" sz="2400" i="1" smtClean="0">
                <a:solidFill>
                  <a:srgbClr val="99CC00"/>
                </a:solidFill>
                <a:latin typeface="Arial" pitchFamily="34" charset="0"/>
                <a:cs typeface="Arial" pitchFamily="34" charset="0"/>
              </a:rPr>
              <a:t>(Theo Bách khoa toàn thư - </a:t>
            </a:r>
            <a:r>
              <a:rPr lang="en-US" sz="2400" i="1" smtClean="0">
                <a:solidFill>
                  <a:srgbClr val="99CC00"/>
                </a:solidFill>
                <a:latin typeface="Arial" pitchFamily="34" charset="0"/>
                <a:cs typeface="Arial" pitchFamily="34" charset="0"/>
              </a:rPr>
              <a:t>WIKIPEDIA</a:t>
            </a:r>
            <a:r>
              <a:rPr lang="en-US" sz="2400" i="1" smtClean="0">
                <a:solidFill>
                  <a:srgbClr val="99CC00"/>
                </a:solidFill>
                <a:latin typeface="Arial" pitchFamily="34" charset="0"/>
                <a:cs typeface="Arial" pitchFamily="34" charset="0"/>
              </a:rPr>
              <a:t>)</a:t>
            </a:r>
            <a:endParaRPr lang="en-US" sz="2400" i="1" smtClean="0">
              <a:solidFill>
                <a:srgbClr val="99CC00"/>
              </a:solidFill>
              <a:latin typeface="Arial" pitchFamily="34" charset="0"/>
              <a:cs typeface="Arial" pitchFamily="34" charset="0"/>
            </a:endParaRPr>
          </a:p>
        </p:txBody>
      </p:sp>
    </p:spTree>
    <p:extLst>
      <p:ext uri="{BB962C8B-B14F-4D97-AF65-F5344CB8AC3E}">
        <p14:creationId xmlns:p14="http://schemas.microsoft.com/office/powerpoint/2010/main" val="1774191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sz="3200" b="1" smtClean="0">
                <a:solidFill>
                  <a:srgbClr val="CC0000"/>
                </a:solidFill>
                <a:latin typeface="Tahoma" pitchFamily="34" charset="0"/>
              </a:rPr>
              <a:t>3. Các ngôn ngữ lập trình</a:t>
            </a:r>
            <a:endParaRPr lang="en-US" sz="3200" b="1" smtClean="0">
              <a:solidFill>
                <a:srgbClr val="CC0000"/>
              </a:solidFill>
              <a:latin typeface="Tahoma" pitchFamily="34" charset="0"/>
            </a:endParaRPr>
          </a:p>
        </p:txBody>
      </p:sp>
      <p:sp>
        <p:nvSpPr>
          <p:cNvPr id="118788" name="Text Box 4"/>
          <p:cNvSpPr txBox="1">
            <a:spLocks noChangeArrowheads="1"/>
          </p:cNvSpPr>
          <p:nvPr/>
        </p:nvSpPr>
        <p:spPr bwMode="auto">
          <a:xfrm>
            <a:off x="1295400" y="38100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lIns="0" tIns="0" rIns="0" bIns="0"/>
          <a:lstStyle/>
          <a:p>
            <a:pPr algn="l" eaLnBrk="0" hangingPunct="0"/>
            <a:r>
              <a:rPr lang="en-US" altLang="ja-JP" b="1">
                <a:solidFill>
                  <a:srgbClr val="000044"/>
                </a:solidFill>
                <a:latin typeface="VNI-Times" pitchFamily="2" charset="0"/>
                <a:ea typeface="MS Mincho" pitchFamily="49" charset="-128"/>
              </a:rPr>
              <a:t>* Quaù trình laäp trình chuyeån ñoåi theo höôùng töø</a:t>
            </a:r>
            <a:endParaRPr lang="en-US" b="1">
              <a:solidFill>
                <a:srgbClr val="000044"/>
              </a:solidFill>
              <a:latin typeface="VNI-Times" pitchFamily="2" charset="0"/>
            </a:endParaRPr>
          </a:p>
        </p:txBody>
      </p:sp>
      <p:sp>
        <p:nvSpPr>
          <p:cNvPr id="118789" name="Text Box 5"/>
          <p:cNvSpPr txBox="1">
            <a:spLocks noChangeArrowheads="1"/>
          </p:cNvSpPr>
          <p:nvPr/>
        </p:nvSpPr>
        <p:spPr bwMode="auto">
          <a:xfrm>
            <a:off x="1295400" y="4533900"/>
            <a:ext cx="2819400" cy="571500"/>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hangingPunct="0">
              <a:lnSpc>
                <a:spcPct val="120000"/>
              </a:lnSpc>
              <a:spcBef>
                <a:spcPts val="600"/>
              </a:spcBef>
            </a:pPr>
            <a:r>
              <a:rPr lang="en-US" altLang="ja-JP" sz="2400" b="1">
                <a:solidFill>
                  <a:srgbClr val="FF3300"/>
                </a:solidFill>
                <a:latin typeface="VNI-Times" pitchFamily="2" charset="0"/>
                <a:ea typeface="MS Mincho" pitchFamily="49" charset="-128"/>
              </a:rPr>
              <a:t>KHOÙ LAÄP TRÌNH</a:t>
            </a:r>
            <a:endParaRPr lang="en-US" sz="2400" b="1">
              <a:solidFill>
                <a:srgbClr val="FF3300"/>
              </a:solidFill>
              <a:latin typeface="VNI-Times" pitchFamily="2" charset="0"/>
            </a:endParaRPr>
          </a:p>
        </p:txBody>
      </p:sp>
      <p:sp>
        <p:nvSpPr>
          <p:cNvPr id="118790" name="Text Box 6"/>
          <p:cNvSpPr txBox="1">
            <a:spLocks noChangeArrowheads="1"/>
          </p:cNvSpPr>
          <p:nvPr/>
        </p:nvSpPr>
        <p:spPr bwMode="auto">
          <a:xfrm>
            <a:off x="5715000" y="4533900"/>
            <a:ext cx="2514600" cy="571500"/>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pPr eaLnBrk="0" hangingPunct="0">
              <a:lnSpc>
                <a:spcPct val="120000"/>
              </a:lnSpc>
              <a:spcBef>
                <a:spcPts val="600"/>
              </a:spcBef>
            </a:pPr>
            <a:r>
              <a:rPr lang="en-US" altLang="ja-JP" sz="2400" b="1">
                <a:solidFill>
                  <a:srgbClr val="FF3300"/>
                </a:solidFill>
                <a:latin typeface="VNI-Times" pitchFamily="2" charset="0"/>
                <a:ea typeface="MS Mincho" pitchFamily="49" charset="-128"/>
              </a:rPr>
              <a:t>LAÄP TRÌNH DEÃ</a:t>
            </a:r>
            <a:endParaRPr lang="en-US" sz="2400" b="1">
              <a:solidFill>
                <a:srgbClr val="FF3300"/>
              </a:solidFill>
              <a:latin typeface="VNI-Times" pitchFamily="2" charset="0"/>
            </a:endParaRPr>
          </a:p>
        </p:txBody>
      </p:sp>
      <p:sp>
        <p:nvSpPr>
          <p:cNvPr id="118791" name="AutoShape 7"/>
          <p:cNvSpPr>
            <a:spLocks noChangeArrowheads="1"/>
          </p:cNvSpPr>
          <p:nvPr/>
        </p:nvSpPr>
        <p:spPr bwMode="auto">
          <a:xfrm>
            <a:off x="4457700" y="4648200"/>
            <a:ext cx="800100" cy="3429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folHlink"/>
          </a:solidFill>
          <a:ln w="38100">
            <a:solidFill>
              <a:schemeClr val="hlink"/>
            </a:solidFill>
            <a:miter lim="800000"/>
            <a:headEnd/>
            <a:tailEnd/>
          </a:ln>
        </p:spPr>
        <p:txBody>
          <a:bodyPr/>
          <a:lstStyle/>
          <a:p>
            <a:endParaRPr lang="en-US"/>
          </a:p>
        </p:txBody>
      </p:sp>
      <p:sp>
        <p:nvSpPr>
          <p:cNvPr id="118792" name="Freeform 8"/>
          <p:cNvSpPr>
            <a:spLocks/>
          </p:cNvSpPr>
          <p:nvPr/>
        </p:nvSpPr>
        <p:spPr bwMode="auto">
          <a:xfrm>
            <a:off x="4457700" y="4991100"/>
            <a:ext cx="342900" cy="571500"/>
          </a:xfrm>
          <a:custGeom>
            <a:avLst/>
            <a:gdLst>
              <a:gd name="T0" fmla="*/ 540 w 540"/>
              <a:gd name="T1" fmla="*/ 0 h 900"/>
              <a:gd name="T2" fmla="*/ 0 w 540"/>
              <a:gd name="T3" fmla="*/ 720 h 900"/>
              <a:gd name="T4" fmla="*/ 540 w 540"/>
              <a:gd name="T5" fmla="*/ 900 h 900"/>
            </a:gdLst>
            <a:ahLst/>
            <a:cxnLst>
              <a:cxn ang="0">
                <a:pos x="T0" y="T1"/>
              </a:cxn>
              <a:cxn ang="0">
                <a:pos x="T2" y="T3"/>
              </a:cxn>
              <a:cxn ang="0">
                <a:pos x="T4" y="T5"/>
              </a:cxn>
            </a:cxnLst>
            <a:rect l="0" t="0" r="r" b="b"/>
            <a:pathLst>
              <a:path w="540" h="900">
                <a:moveTo>
                  <a:pt x="540" y="0"/>
                </a:moveTo>
                <a:cubicBezTo>
                  <a:pt x="270" y="285"/>
                  <a:pt x="0" y="570"/>
                  <a:pt x="0" y="720"/>
                </a:cubicBezTo>
                <a:cubicBezTo>
                  <a:pt x="0" y="870"/>
                  <a:pt x="450" y="870"/>
                  <a:pt x="540" y="900"/>
                </a:cubicBezTo>
              </a:path>
            </a:pathLst>
          </a:custGeom>
          <a:noFill/>
          <a:ln w="28575" cmpd="sng">
            <a:solidFill>
              <a:srgbClr val="000044"/>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8793" name="Text Box 9"/>
          <p:cNvSpPr txBox="1">
            <a:spLocks noChangeArrowheads="1"/>
          </p:cNvSpPr>
          <p:nvPr/>
        </p:nvSpPr>
        <p:spPr bwMode="auto">
          <a:xfrm>
            <a:off x="4864100" y="5334000"/>
            <a:ext cx="27559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lIns="0" tIns="0" rIns="0" bIns="0"/>
          <a:lstStyle/>
          <a:p>
            <a:pPr algn="l" eaLnBrk="0" hangingPunct="0"/>
            <a:r>
              <a:rPr lang="en-US" altLang="ja-JP" sz="2400" b="1" i="1">
                <a:solidFill>
                  <a:srgbClr val="000044"/>
                </a:solidFill>
                <a:latin typeface="VNI-Times" pitchFamily="2" charset="0"/>
                <a:ea typeface="MS Mincho" pitchFamily="49" charset="-128"/>
              </a:rPr>
              <a:t>Quaù trình chuyeån ñoåi naøy raát khoù khaên</a:t>
            </a:r>
            <a:endParaRPr lang="en-US" sz="2400" b="1" i="1">
              <a:solidFill>
                <a:srgbClr val="000044"/>
              </a:solidFill>
              <a:latin typeface="VNI-Times" pitchFamily="2" charset="0"/>
            </a:endParaRPr>
          </a:p>
        </p:txBody>
      </p:sp>
      <p:sp>
        <p:nvSpPr>
          <p:cNvPr id="118794" name="Text Box 10"/>
          <p:cNvSpPr txBox="1">
            <a:spLocks noChangeArrowheads="1"/>
          </p:cNvSpPr>
          <p:nvPr/>
        </p:nvSpPr>
        <p:spPr bwMode="auto">
          <a:xfrm>
            <a:off x="2209800" y="1676400"/>
            <a:ext cx="1333500" cy="533400"/>
          </a:xfrm>
          <a:prstGeom prst="rect">
            <a:avLst/>
          </a:prstGeom>
          <a:solidFill>
            <a:srgbClr val="FFFFCC"/>
          </a:solidFill>
          <a:ln w="38100">
            <a:solidFill>
              <a:srgbClr val="FFFFCC"/>
            </a:solidFill>
            <a:miter lim="800000"/>
            <a:headEnd/>
            <a:tailEnd/>
          </a:ln>
        </p:spPr>
        <p:txBody>
          <a:bodyPr lIns="0" tIns="0" rIns="0" bIns="0"/>
          <a:lstStyle/>
          <a:p>
            <a:pPr eaLnBrk="0" hangingPunct="0">
              <a:lnSpc>
                <a:spcPct val="120000"/>
              </a:lnSpc>
              <a:spcBef>
                <a:spcPts val="600"/>
              </a:spcBef>
            </a:pPr>
            <a:r>
              <a:rPr lang="en-US" altLang="ja-JP" sz="2400" b="1">
                <a:solidFill>
                  <a:srgbClr val="FF3300"/>
                </a:solidFill>
                <a:effectLst>
                  <a:outerShdw blurRad="38100" dist="38100" dir="2700000" algn="tl">
                    <a:srgbClr val="000000"/>
                  </a:outerShdw>
                </a:effectLst>
                <a:latin typeface="Times New Roman" pitchFamily="18" charset="0"/>
                <a:ea typeface="MS Mincho" pitchFamily="49" charset="-128"/>
              </a:rPr>
              <a:t>WHAT</a:t>
            </a:r>
            <a:endParaRPr lang="en-US" sz="2400" b="1">
              <a:solidFill>
                <a:srgbClr val="FF3300"/>
              </a:solidFill>
              <a:effectLst>
                <a:outerShdw blurRad="38100" dist="38100" dir="2700000" algn="tl">
                  <a:srgbClr val="000000"/>
                </a:outerShdw>
              </a:effectLst>
              <a:latin typeface="VNI-Times" pitchFamily="2" charset="0"/>
            </a:endParaRPr>
          </a:p>
        </p:txBody>
      </p:sp>
      <p:sp>
        <p:nvSpPr>
          <p:cNvPr id="118795" name="Text Box 11"/>
          <p:cNvSpPr txBox="1">
            <a:spLocks noChangeArrowheads="1"/>
          </p:cNvSpPr>
          <p:nvPr/>
        </p:nvSpPr>
        <p:spPr bwMode="auto">
          <a:xfrm>
            <a:off x="5486400" y="1676400"/>
            <a:ext cx="1295400" cy="533400"/>
          </a:xfrm>
          <a:prstGeom prst="rect">
            <a:avLst/>
          </a:prstGeom>
          <a:solidFill>
            <a:srgbClr val="FFFFCC"/>
          </a:solidFill>
          <a:ln w="38100">
            <a:solidFill>
              <a:srgbClr val="FFFFCC"/>
            </a:solidFill>
            <a:miter lim="800000"/>
            <a:headEnd/>
            <a:tailEnd/>
          </a:ln>
        </p:spPr>
        <p:txBody>
          <a:bodyPr lIns="0" tIns="0" rIns="0" bIns="0"/>
          <a:lstStyle/>
          <a:p>
            <a:pPr eaLnBrk="0" hangingPunct="0">
              <a:lnSpc>
                <a:spcPct val="120000"/>
              </a:lnSpc>
              <a:spcBef>
                <a:spcPts val="600"/>
              </a:spcBef>
            </a:pPr>
            <a:r>
              <a:rPr lang="en-US" altLang="ja-JP" sz="2400" b="1">
                <a:solidFill>
                  <a:srgbClr val="FF3300"/>
                </a:solidFill>
                <a:effectLst>
                  <a:outerShdw blurRad="38100" dist="38100" dir="2700000" algn="tl">
                    <a:srgbClr val="000000"/>
                  </a:outerShdw>
                </a:effectLst>
                <a:latin typeface="Times New Roman" pitchFamily="18" charset="0"/>
                <a:ea typeface="MS Mincho" pitchFamily="49" charset="-128"/>
              </a:rPr>
              <a:t>HOW</a:t>
            </a:r>
            <a:endParaRPr lang="en-US" sz="2400" b="1">
              <a:solidFill>
                <a:srgbClr val="FF3300"/>
              </a:solidFill>
              <a:effectLst>
                <a:outerShdw blurRad="38100" dist="38100" dir="2700000" algn="tl">
                  <a:srgbClr val="000000"/>
                </a:outerShdw>
              </a:effectLst>
              <a:latin typeface="VNI-Times" pitchFamily="2" charset="0"/>
            </a:endParaRPr>
          </a:p>
        </p:txBody>
      </p:sp>
      <p:sp>
        <p:nvSpPr>
          <p:cNvPr id="118796" name="Line 12"/>
          <p:cNvSpPr>
            <a:spLocks noChangeShapeType="1"/>
          </p:cNvSpPr>
          <p:nvPr/>
        </p:nvSpPr>
        <p:spPr bwMode="auto">
          <a:xfrm>
            <a:off x="3590925" y="1981200"/>
            <a:ext cx="1828800" cy="0"/>
          </a:xfrm>
          <a:prstGeom prst="line">
            <a:avLst/>
          </a:prstGeom>
          <a:noFill/>
          <a:ln w="57150">
            <a:solidFill>
              <a:srgbClr val="A5002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8798" name="Text Box 14"/>
          <p:cNvSpPr txBox="1">
            <a:spLocks noChangeArrowheads="1"/>
          </p:cNvSpPr>
          <p:nvPr/>
        </p:nvSpPr>
        <p:spPr bwMode="auto">
          <a:xfrm>
            <a:off x="990600" y="2590800"/>
            <a:ext cx="304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lIns="0" tIns="0" rIns="0" bIns="0"/>
          <a:lstStyle/>
          <a:p>
            <a:pPr eaLnBrk="0" hangingPunct="0">
              <a:spcBef>
                <a:spcPts val="600"/>
              </a:spcBef>
            </a:pPr>
            <a:r>
              <a:rPr lang="en-US" altLang="ja-JP" b="1">
                <a:solidFill>
                  <a:srgbClr val="000044"/>
                </a:solidFill>
                <a:latin typeface="VNI-Times" pitchFamily="2" charset="0"/>
                <a:ea typeface="MS Mincho" pitchFamily="49" charset="-128"/>
              </a:rPr>
              <a:t>Moâ taû nhieäm vuï phaûi laøm</a:t>
            </a:r>
          </a:p>
          <a:p>
            <a:pPr eaLnBrk="0" hangingPunct="0">
              <a:spcBef>
                <a:spcPts val="600"/>
              </a:spcBef>
            </a:pPr>
            <a:r>
              <a:rPr lang="en-US" altLang="ja-JP" b="1">
                <a:solidFill>
                  <a:srgbClr val="000044"/>
                </a:solidFill>
                <a:latin typeface="VNI-Times" pitchFamily="2" charset="0"/>
                <a:ea typeface="MS Mincho" pitchFamily="49" charset="-128"/>
              </a:rPr>
              <a:t>P1 </a:t>
            </a:r>
            <a:r>
              <a:rPr lang="en-US" altLang="ja-JP" b="1">
                <a:solidFill>
                  <a:srgbClr val="000044"/>
                </a:solidFill>
                <a:latin typeface="VNI-Times" pitchFamily="2" charset="0"/>
                <a:ea typeface="MS Mincho" pitchFamily="49" charset="-128"/>
                <a:sym typeface="Wingdings" pitchFamily="2" charset="2"/>
              </a:rPr>
              <a:t> Pm</a:t>
            </a:r>
            <a:endParaRPr lang="en-US" b="1">
              <a:solidFill>
                <a:srgbClr val="000044"/>
              </a:solidFill>
              <a:latin typeface="VNI-Times" pitchFamily="2" charset="0"/>
            </a:endParaRPr>
          </a:p>
        </p:txBody>
      </p:sp>
      <p:sp>
        <p:nvSpPr>
          <p:cNvPr id="118799" name="Text Box 15"/>
          <p:cNvSpPr txBox="1">
            <a:spLocks noChangeArrowheads="1"/>
          </p:cNvSpPr>
          <p:nvPr/>
        </p:nvSpPr>
        <p:spPr bwMode="auto">
          <a:xfrm>
            <a:off x="4800600" y="2590800"/>
            <a:ext cx="3962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Lst>
        </p:spPr>
        <p:txBody>
          <a:bodyPr lIns="0" tIns="0" rIns="0" bIns="0"/>
          <a:lstStyle/>
          <a:p>
            <a:pPr eaLnBrk="0" hangingPunct="0">
              <a:spcBef>
                <a:spcPts val="600"/>
              </a:spcBef>
            </a:pPr>
            <a:r>
              <a:rPr lang="en-US" altLang="ja-JP" b="1">
                <a:solidFill>
                  <a:srgbClr val="000044"/>
                </a:solidFill>
                <a:latin typeface="VNI-Times" pitchFamily="2" charset="0"/>
                <a:ea typeface="MS Mincho" pitchFamily="49" charset="-128"/>
              </a:rPr>
              <a:t>Nhöõng leänh ñeå thöïc hieän vieäc chuyeån P1 </a:t>
            </a:r>
            <a:r>
              <a:rPr lang="en-US" altLang="ja-JP" b="1">
                <a:solidFill>
                  <a:srgbClr val="000044"/>
                </a:solidFill>
                <a:latin typeface="VNI-Times" pitchFamily="2" charset="0"/>
                <a:ea typeface="MS Mincho" pitchFamily="49" charset="-128"/>
                <a:sym typeface="Wingdings" pitchFamily="2" charset="2"/>
              </a:rPr>
              <a:t> </a:t>
            </a:r>
            <a:r>
              <a:rPr lang="en-US" altLang="ja-JP" b="1">
                <a:solidFill>
                  <a:srgbClr val="000044"/>
                </a:solidFill>
                <a:latin typeface="VNI-Times" pitchFamily="2" charset="0"/>
                <a:ea typeface="MS Mincho" pitchFamily="49" charset="-128"/>
              </a:rPr>
              <a:t>Pm</a:t>
            </a:r>
          </a:p>
          <a:p>
            <a:pPr eaLnBrk="0" hangingPunct="0">
              <a:spcBef>
                <a:spcPts val="600"/>
              </a:spcBef>
            </a:pPr>
            <a:r>
              <a:rPr lang="en-US" altLang="ja-JP" b="1">
                <a:solidFill>
                  <a:srgbClr val="000044"/>
                </a:solidFill>
                <a:latin typeface="VNI-Times" pitchFamily="2" charset="0"/>
                <a:ea typeface="MS Mincho" pitchFamily="49" charset="-128"/>
              </a:rPr>
              <a:t>Leänh L1, L2, ..Ln</a:t>
            </a:r>
            <a:endParaRPr lang="en-US" b="1">
              <a:solidFill>
                <a:srgbClr val="000044"/>
              </a:solidFill>
              <a:latin typeface="VNI-Times" pitchFamily="2" charset="0"/>
            </a:endParaRPr>
          </a:p>
        </p:txBody>
      </p:sp>
    </p:spTree>
    <p:extLst>
      <p:ext uri="{BB962C8B-B14F-4D97-AF65-F5344CB8AC3E}">
        <p14:creationId xmlns:p14="http://schemas.microsoft.com/office/powerpoint/2010/main" val="3417567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786"/>
                                        </p:tgtEl>
                                        <p:attrNameLst>
                                          <p:attrName>style.visibility</p:attrName>
                                        </p:attrNameLst>
                                      </p:cBhvr>
                                      <p:to>
                                        <p:strVal val="visible"/>
                                      </p:to>
                                    </p:set>
                                    <p:anim calcmode="lin" valueType="num">
                                      <p:cBhvr additive="base">
                                        <p:cTn id="7" dur="500" fill="hold"/>
                                        <p:tgtEl>
                                          <p:spTgt spid="118786"/>
                                        </p:tgtEl>
                                        <p:attrNameLst>
                                          <p:attrName>ppt_x</p:attrName>
                                        </p:attrNameLst>
                                      </p:cBhvr>
                                      <p:tavLst>
                                        <p:tav tm="0">
                                          <p:val>
                                            <p:strVal val="0-#ppt_w/2"/>
                                          </p:val>
                                        </p:tav>
                                        <p:tav tm="100000">
                                          <p:val>
                                            <p:strVal val="#ppt_x"/>
                                          </p:val>
                                        </p:tav>
                                      </p:tavLst>
                                    </p:anim>
                                    <p:anim calcmode="lin" valueType="num">
                                      <p:cBhvr additive="base">
                                        <p:cTn id="8" dur="500" fill="hold"/>
                                        <p:tgtEl>
                                          <p:spTgt spid="11878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8794"/>
                                        </p:tgtEl>
                                        <p:attrNameLst>
                                          <p:attrName>style.visibility</p:attrName>
                                        </p:attrNameLst>
                                      </p:cBhvr>
                                      <p:to>
                                        <p:strVal val="visible"/>
                                      </p:to>
                                    </p:set>
                                  </p:childTnLst>
                                </p:cTn>
                              </p:par>
                            </p:childTnLst>
                          </p:cTn>
                        </p:par>
                        <p:par>
                          <p:cTn id="13" fill="hold" nodeType="afterGroup">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118798"/>
                                        </p:tgtEl>
                                        <p:attrNameLst>
                                          <p:attrName>style.visibility</p:attrName>
                                        </p:attrNameLst>
                                      </p:cBhvr>
                                      <p:to>
                                        <p:strVal val="visible"/>
                                      </p:to>
                                    </p:set>
                                    <p:anim calcmode="lin" valueType="num">
                                      <p:cBhvr additive="base">
                                        <p:cTn id="16" dur="500" fill="hold"/>
                                        <p:tgtEl>
                                          <p:spTgt spid="118798"/>
                                        </p:tgtEl>
                                        <p:attrNameLst>
                                          <p:attrName>ppt_x</p:attrName>
                                        </p:attrNameLst>
                                      </p:cBhvr>
                                      <p:tavLst>
                                        <p:tav tm="0">
                                          <p:val>
                                            <p:strVal val="#ppt_x"/>
                                          </p:val>
                                        </p:tav>
                                        <p:tav tm="100000">
                                          <p:val>
                                            <p:strVal val="#ppt_x"/>
                                          </p:val>
                                        </p:tav>
                                      </p:tavLst>
                                    </p:anim>
                                    <p:anim calcmode="lin" valueType="num">
                                      <p:cBhvr additive="base">
                                        <p:cTn id="17" dur="500" fill="hold"/>
                                        <p:tgtEl>
                                          <p:spTgt spid="118798"/>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118796"/>
                                        </p:tgtEl>
                                        <p:attrNameLst>
                                          <p:attrName>style.visibility</p:attrName>
                                        </p:attrNameLst>
                                      </p:cBhvr>
                                      <p:to>
                                        <p:strVal val="visible"/>
                                      </p:to>
                                    </p:set>
                                    <p:animEffect transition="in" filter="wheel(4)">
                                      <p:cBhvr>
                                        <p:cTn id="22" dur="2000"/>
                                        <p:tgtEl>
                                          <p:spTgt spid="118796"/>
                                        </p:tgtEl>
                                      </p:cBhvr>
                                    </p:animEffect>
                                  </p:childTnLst>
                                </p:cTn>
                              </p:par>
                            </p:childTnLst>
                          </p:cTn>
                        </p:par>
                        <p:par>
                          <p:cTn id="23" fill="hold" nodeType="afterGroup">
                            <p:stCondLst>
                              <p:cond delay="2000"/>
                            </p:stCondLst>
                            <p:childTnLst>
                              <p:par>
                                <p:cTn id="24" presetID="1" presetClass="entr" presetSubtype="0" fill="hold" grpId="0" nodeType="afterEffect">
                                  <p:stCondLst>
                                    <p:cond delay="1000"/>
                                  </p:stCondLst>
                                  <p:childTnLst>
                                    <p:set>
                                      <p:cBhvr>
                                        <p:cTn id="25" dur="1" fill="hold">
                                          <p:stCondLst>
                                            <p:cond delay="499"/>
                                          </p:stCondLst>
                                        </p:cTn>
                                        <p:tgtEl>
                                          <p:spTgt spid="118795"/>
                                        </p:tgtEl>
                                        <p:attrNameLst>
                                          <p:attrName>style.visibility</p:attrName>
                                        </p:attrNameLst>
                                      </p:cBhvr>
                                      <p:to>
                                        <p:strVal val="visible"/>
                                      </p:to>
                                    </p:set>
                                  </p:childTnLst>
                                </p:cTn>
                              </p:par>
                            </p:childTnLst>
                          </p:cTn>
                        </p:par>
                        <p:par>
                          <p:cTn id="26" fill="hold" nodeType="afterGroup">
                            <p:stCondLst>
                              <p:cond delay="3500"/>
                            </p:stCondLst>
                            <p:childTnLst>
                              <p:par>
                                <p:cTn id="27" presetID="2" presetClass="entr" presetSubtype="4" fill="hold" grpId="0" nodeType="afterEffect">
                                  <p:stCondLst>
                                    <p:cond delay="1000"/>
                                  </p:stCondLst>
                                  <p:childTnLst>
                                    <p:set>
                                      <p:cBhvr>
                                        <p:cTn id="28" dur="1" fill="hold">
                                          <p:stCondLst>
                                            <p:cond delay="0"/>
                                          </p:stCondLst>
                                        </p:cTn>
                                        <p:tgtEl>
                                          <p:spTgt spid="118799"/>
                                        </p:tgtEl>
                                        <p:attrNameLst>
                                          <p:attrName>style.visibility</p:attrName>
                                        </p:attrNameLst>
                                      </p:cBhvr>
                                      <p:to>
                                        <p:strVal val="visible"/>
                                      </p:to>
                                    </p:set>
                                    <p:anim calcmode="lin" valueType="num">
                                      <p:cBhvr additive="base">
                                        <p:cTn id="29" dur="500" fill="hold"/>
                                        <p:tgtEl>
                                          <p:spTgt spid="118799"/>
                                        </p:tgtEl>
                                        <p:attrNameLst>
                                          <p:attrName>ppt_x</p:attrName>
                                        </p:attrNameLst>
                                      </p:cBhvr>
                                      <p:tavLst>
                                        <p:tav tm="0">
                                          <p:val>
                                            <p:strVal val="#ppt_x"/>
                                          </p:val>
                                        </p:tav>
                                        <p:tav tm="100000">
                                          <p:val>
                                            <p:strVal val="#ppt_x"/>
                                          </p:val>
                                        </p:tav>
                                      </p:tavLst>
                                    </p:anim>
                                    <p:anim calcmode="lin" valueType="num">
                                      <p:cBhvr additive="base">
                                        <p:cTn id="30" dur="500" fill="hold"/>
                                        <p:tgtEl>
                                          <p:spTgt spid="118799"/>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18788"/>
                                        </p:tgtEl>
                                        <p:attrNameLst>
                                          <p:attrName>style.visibility</p:attrName>
                                        </p:attrNameLst>
                                      </p:cBhvr>
                                      <p:to>
                                        <p:strVal val="visible"/>
                                      </p:to>
                                    </p:set>
                                    <p:animEffect transition="in" filter="box(in)">
                                      <p:cBhvr>
                                        <p:cTn id="35" dur="500"/>
                                        <p:tgtEl>
                                          <p:spTgt spid="118788"/>
                                        </p:tgtEl>
                                      </p:cBhvr>
                                    </p:animEffect>
                                  </p:childTnLst>
                                </p:cTn>
                              </p:par>
                            </p:childTnLst>
                          </p:cTn>
                        </p:par>
                        <p:par>
                          <p:cTn id="36" fill="hold" nodeType="afterGroup">
                            <p:stCondLst>
                              <p:cond delay="500"/>
                            </p:stCondLst>
                            <p:childTnLst>
                              <p:par>
                                <p:cTn id="37" presetID="4" presetClass="entr" presetSubtype="16" fill="hold" grpId="0" nodeType="afterEffect">
                                  <p:stCondLst>
                                    <p:cond delay="1000"/>
                                  </p:stCondLst>
                                  <p:childTnLst>
                                    <p:set>
                                      <p:cBhvr>
                                        <p:cTn id="38" dur="1" fill="hold">
                                          <p:stCondLst>
                                            <p:cond delay="0"/>
                                          </p:stCondLst>
                                        </p:cTn>
                                        <p:tgtEl>
                                          <p:spTgt spid="118789"/>
                                        </p:tgtEl>
                                        <p:attrNameLst>
                                          <p:attrName>style.visibility</p:attrName>
                                        </p:attrNameLst>
                                      </p:cBhvr>
                                      <p:to>
                                        <p:strVal val="visible"/>
                                      </p:to>
                                    </p:set>
                                    <p:animEffect transition="in" filter="box(in)">
                                      <p:cBhvr>
                                        <p:cTn id="39" dur="500"/>
                                        <p:tgtEl>
                                          <p:spTgt spid="118789"/>
                                        </p:tgtEl>
                                      </p:cBhvr>
                                    </p:animEffect>
                                  </p:childTnLst>
                                </p:cTn>
                              </p:par>
                            </p:childTnLst>
                          </p:cTn>
                        </p:par>
                        <p:par>
                          <p:cTn id="40" fill="hold" nodeType="afterGroup">
                            <p:stCondLst>
                              <p:cond delay="2000"/>
                            </p:stCondLst>
                            <p:childTnLst>
                              <p:par>
                                <p:cTn id="41" presetID="4" presetClass="entr" presetSubtype="16" fill="hold" grpId="0" nodeType="afterEffect">
                                  <p:stCondLst>
                                    <p:cond delay="1000"/>
                                  </p:stCondLst>
                                  <p:childTnLst>
                                    <p:set>
                                      <p:cBhvr>
                                        <p:cTn id="42" dur="1" fill="hold">
                                          <p:stCondLst>
                                            <p:cond delay="0"/>
                                          </p:stCondLst>
                                        </p:cTn>
                                        <p:tgtEl>
                                          <p:spTgt spid="118791"/>
                                        </p:tgtEl>
                                        <p:attrNameLst>
                                          <p:attrName>style.visibility</p:attrName>
                                        </p:attrNameLst>
                                      </p:cBhvr>
                                      <p:to>
                                        <p:strVal val="visible"/>
                                      </p:to>
                                    </p:set>
                                    <p:animEffect transition="in" filter="box(in)">
                                      <p:cBhvr>
                                        <p:cTn id="43" dur="500"/>
                                        <p:tgtEl>
                                          <p:spTgt spid="118791"/>
                                        </p:tgtEl>
                                      </p:cBhvr>
                                    </p:animEffect>
                                  </p:childTnLst>
                                </p:cTn>
                              </p:par>
                            </p:childTnLst>
                          </p:cTn>
                        </p:par>
                        <p:par>
                          <p:cTn id="44" fill="hold" nodeType="afterGroup">
                            <p:stCondLst>
                              <p:cond delay="3500"/>
                            </p:stCondLst>
                            <p:childTnLst>
                              <p:par>
                                <p:cTn id="45" presetID="4" presetClass="entr" presetSubtype="16" fill="hold" grpId="0" nodeType="afterEffect">
                                  <p:stCondLst>
                                    <p:cond delay="1000"/>
                                  </p:stCondLst>
                                  <p:childTnLst>
                                    <p:set>
                                      <p:cBhvr>
                                        <p:cTn id="46" dur="1" fill="hold">
                                          <p:stCondLst>
                                            <p:cond delay="0"/>
                                          </p:stCondLst>
                                        </p:cTn>
                                        <p:tgtEl>
                                          <p:spTgt spid="118790"/>
                                        </p:tgtEl>
                                        <p:attrNameLst>
                                          <p:attrName>style.visibility</p:attrName>
                                        </p:attrNameLst>
                                      </p:cBhvr>
                                      <p:to>
                                        <p:strVal val="visible"/>
                                      </p:to>
                                    </p:set>
                                    <p:animEffect transition="in" filter="box(in)">
                                      <p:cBhvr>
                                        <p:cTn id="47" dur="500"/>
                                        <p:tgtEl>
                                          <p:spTgt spid="118790"/>
                                        </p:tgtEl>
                                      </p:cBhvr>
                                    </p:animEffect>
                                  </p:childTnLst>
                                </p:cTn>
                              </p:par>
                            </p:childTnLst>
                          </p:cTn>
                        </p:par>
                        <p:par>
                          <p:cTn id="48" fill="hold" nodeType="afterGroup">
                            <p:stCondLst>
                              <p:cond delay="5000"/>
                            </p:stCondLst>
                            <p:childTnLst>
                              <p:par>
                                <p:cTn id="49" presetID="4" presetClass="entr" presetSubtype="16" fill="hold" grpId="0" nodeType="afterEffect">
                                  <p:stCondLst>
                                    <p:cond delay="1000"/>
                                  </p:stCondLst>
                                  <p:childTnLst>
                                    <p:set>
                                      <p:cBhvr>
                                        <p:cTn id="50" dur="1" fill="hold">
                                          <p:stCondLst>
                                            <p:cond delay="0"/>
                                          </p:stCondLst>
                                        </p:cTn>
                                        <p:tgtEl>
                                          <p:spTgt spid="118792"/>
                                        </p:tgtEl>
                                        <p:attrNameLst>
                                          <p:attrName>style.visibility</p:attrName>
                                        </p:attrNameLst>
                                      </p:cBhvr>
                                      <p:to>
                                        <p:strVal val="visible"/>
                                      </p:to>
                                    </p:set>
                                    <p:animEffect transition="in" filter="box(in)">
                                      <p:cBhvr>
                                        <p:cTn id="51" dur="500"/>
                                        <p:tgtEl>
                                          <p:spTgt spid="118792"/>
                                        </p:tgtEl>
                                      </p:cBhvr>
                                    </p:animEffect>
                                  </p:childTnLst>
                                </p:cTn>
                              </p:par>
                            </p:childTnLst>
                          </p:cTn>
                        </p:par>
                        <p:par>
                          <p:cTn id="52" fill="hold" nodeType="afterGroup">
                            <p:stCondLst>
                              <p:cond delay="6500"/>
                            </p:stCondLst>
                            <p:childTnLst>
                              <p:par>
                                <p:cTn id="53" presetID="4" presetClass="entr" presetSubtype="16" fill="hold" grpId="0" nodeType="afterEffect">
                                  <p:stCondLst>
                                    <p:cond delay="1000"/>
                                  </p:stCondLst>
                                  <p:childTnLst>
                                    <p:set>
                                      <p:cBhvr>
                                        <p:cTn id="54" dur="1" fill="hold">
                                          <p:stCondLst>
                                            <p:cond delay="0"/>
                                          </p:stCondLst>
                                        </p:cTn>
                                        <p:tgtEl>
                                          <p:spTgt spid="118793"/>
                                        </p:tgtEl>
                                        <p:attrNameLst>
                                          <p:attrName>style.visibility</p:attrName>
                                        </p:attrNameLst>
                                      </p:cBhvr>
                                      <p:to>
                                        <p:strVal val="visible"/>
                                      </p:to>
                                    </p:set>
                                    <p:animEffect transition="in" filter="box(in)">
                                      <p:cBhvr>
                                        <p:cTn id="55" dur="500"/>
                                        <p:tgtEl>
                                          <p:spTgt spid="118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P spid="118788" grpId="0" autoUpdateAnimBg="0"/>
      <p:bldP spid="118789" grpId="0" animBg="1" autoUpdateAnimBg="0"/>
      <p:bldP spid="118790" grpId="0" animBg="1" autoUpdateAnimBg="0"/>
      <p:bldP spid="118791" grpId="0" animBg="1"/>
      <p:bldP spid="118792" grpId="0" animBg="1"/>
      <p:bldP spid="118793" grpId="0" autoUpdateAnimBg="0"/>
      <p:bldP spid="118794" grpId="0" animBg="1" autoUpdateAnimBg="0"/>
      <p:bldP spid="118795" grpId="0" animBg="1" autoUpdateAnimBg="0"/>
      <p:bldP spid="118796" grpId="0" animBg="1"/>
      <p:bldP spid="118798" grpId="0" autoUpdateAnimBg="0"/>
      <p:bldP spid="11879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sz="3200" b="1">
                <a:solidFill>
                  <a:srgbClr val="CC0000"/>
                </a:solidFill>
                <a:latin typeface="Tahoma" pitchFamily="34" charset="0"/>
              </a:rPr>
              <a:t>3. Các ngôn ngữ lập trình</a:t>
            </a:r>
            <a:endParaRPr lang="en-US" sz="3200" b="1" smtClean="0">
              <a:solidFill>
                <a:srgbClr val="CC3300"/>
              </a:solidFill>
              <a:latin typeface="Tahoma" pitchFamily="34" charset="0"/>
            </a:endParaRPr>
          </a:p>
        </p:txBody>
      </p:sp>
      <p:sp>
        <p:nvSpPr>
          <p:cNvPr id="120835" name="Rectangle 3"/>
          <p:cNvSpPr>
            <a:spLocks noChangeArrowheads="1"/>
          </p:cNvSpPr>
          <p:nvPr/>
        </p:nvSpPr>
        <p:spPr bwMode="auto">
          <a:xfrm>
            <a:off x="2667000" y="1952625"/>
            <a:ext cx="1828800" cy="333375"/>
          </a:xfrm>
          <a:prstGeom prst="rect">
            <a:avLst/>
          </a:prstGeom>
          <a:solidFill>
            <a:schemeClr val="tx2">
              <a:lumMod val="40000"/>
              <a:lumOff val="60000"/>
            </a:schemeClr>
          </a:solidFill>
          <a:ln w="9525" algn="ctr">
            <a:solidFill>
              <a:srgbClr val="00B0F0"/>
            </a:solidFill>
            <a:miter lim="800000"/>
            <a:headEnd/>
            <a:tailEnd/>
          </a:ln>
          <a:effectLst/>
        </p:spPr>
        <p:txBody>
          <a:bodyPr wrap="none" anchor="ctr"/>
          <a:lstStyle/>
          <a:p>
            <a:r>
              <a:rPr lang="en-US"/>
              <a:t>NN đa năng</a:t>
            </a:r>
          </a:p>
        </p:txBody>
      </p:sp>
      <p:sp>
        <p:nvSpPr>
          <p:cNvPr id="120836" name="Rectangle 4"/>
          <p:cNvSpPr>
            <a:spLocks noChangeArrowheads="1"/>
          </p:cNvSpPr>
          <p:nvPr/>
        </p:nvSpPr>
        <p:spPr bwMode="auto">
          <a:xfrm>
            <a:off x="4572000" y="2409825"/>
            <a:ext cx="1828800" cy="333375"/>
          </a:xfrm>
          <a:prstGeom prst="rect">
            <a:avLst/>
          </a:prstGeom>
          <a:gradFill rotWithShape="1">
            <a:gsLst>
              <a:gs pos="0">
                <a:srgbClr val="CCFFFF">
                  <a:gamma/>
                  <a:shade val="46275"/>
                  <a:invGamma/>
                </a:srgbClr>
              </a:gs>
              <a:gs pos="100000">
                <a:srgbClr val="CCFFFF"/>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NN cấp thấp</a:t>
            </a:r>
          </a:p>
        </p:txBody>
      </p:sp>
      <p:sp>
        <p:nvSpPr>
          <p:cNvPr id="120837" name="Rectangle 5"/>
          <p:cNvSpPr>
            <a:spLocks noChangeArrowheads="1"/>
          </p:cNvSpPr>
          <p:nvPr/>
        </p:nvSpPr>
        <p:spPr bwMode="auto">
          <a:xfrm>
            <a:off x="4572000" y="3733800"/>
            <a:ext cx="1828800" cy="333375"/>
          </a:xfrm>
          <a:prstGeom prst="rect">
            <a:avLst/>
          </a:prstGeom>
          <a:gradFill rotWithShape="1">
            <a:gsLst>
              <a:gs pos="0">
                <a:srgbClr val="CCFFCC"/>
              </a:gs>
              <a:gs pos="100000">
                <a:srgbClr val="CCFFCC">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NN cấp cao</a:t>
            </a:r>
          </a:p>
        </p:txBody>
      </p:sp>
      <p:cxnSp>
        <p:nvCxnSpPr>
          <p:cNvPr id="120838" name="AutoShape 6"/>
          <p:cNvCxnSpPr>
            <a:cxnSpLocks noChangeShapeType="1"/>
            <a:stCxn id="120835" idx="2"/>
            <a:endCxn id="120836" idx="1"/>
          </p:cNvCxnSpPr>
          <p:nvPr/>
        </p:nvCxnSpPr>
        <p:spPr bwMode="auto">
          <a:xfrm rot="16200000" flipH="1">
            <a:off x="3931443" y="1935957"/>
            <a:ext cx="290513" cy="9906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39" name="AutoShape 7"/>
          <p:cNvCxnSpPr>
            <a:cxnSpLocks noChangeShapeType="1"/>
            <a:stCxn id="120835" idx="2"/>
            <a:endCxn id="120837" idx="1"/>
          </p:cNvCxnSpPr>
          <p:nvPr/>
        </p:nvCxnSpPr>
        <p:spPr bwMode="auto">
          <a:xfrm rot="16200000" flipH="1">
            <a:off x="3269456" y="2597944"/>
            <a:ext cx="1614488" cy="9906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840" name="Rectangle 8"/>
          <p:cNvSpPr>
            <a:spLocks noChangeArrowheads="1"/>
          </p:cNvSpPr>
          <p:nvPr/>
        </p:nvSpPr>
        <p:spPr bwMode="auto">
          <a:xfrm>
            <a:off x="6781800" y="2867025"/>
            <a:ext cx="1828800" cy="333375"/>
          </a:xfrm>
          <a:prstGeom prst="rect">
            <a:avLst/>
          </a:prstGeom>
          <a:gradFill rotWithShape="1">
            <a:gsLst>
              <a:gs pos="0">
                <a:srgbClr val="CCFFFF">
                  <a:gamma/>
                  <a:shade val="46275"/>
                  <a:invGamma/>
                </a:srgbClr>
              </a:gs>
              <a:gs pos="50000">
                <a:srgbClr val="CCFFFF"/>
              </a:gs>
              <a:gs pos="100000">
                <a:srgbClr val="CCFFFF">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NN máy</a:t>
            </a:r>
          </a:p>
        </p:txBody>
      </p:sp>
      <p:sp>
        <p:nvSpPr>
          <p:cNvPr id="120841" name="Rectangle 9"/>
          <p:cNvSpPr>
            <a:spLocks noChangeArrowheads="1"/>
          </p:cNvSpPr>
          <p:nvPr/>
        </p:nvSpPr>
        <p:spPr bwMode="auto">
          <a:xfrm>
            <a:off x="6781800" y="3324225"/>
            <a:ext cx="1828800" cy="333375"/>
          </a:xfrm>
          <a:prstGeom prst="rect">
            <a:avLst/>
          </a:prstGeom>
          <a:gradFill rotWithShape="1">
            <a:gsLst>
              <a:gs pos="0">
                <a:srgbClr val="CCFFFF">
                  <a:gamma/>
                  <a:shade val="46275"/>
                  <a:invGamma/>
                </a:srgbClr>
              </a:gs>
              <a:gs pos="50000">
                <a:srgbClr val="CCFFFF"/>
              </a:gs>
              <a:gs pos="100000">
                <a:srgbClr val="CCFFFF">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Hợp ngữ</a:t>
            </a:r>
          </a:p>
        </p:txBody>
      </p:sp>
      <p:cxnSp>
        <p:nvCxnSpPr>
          <p:cNvPr id="120842" name="AutoShape 10"/>
          <p:cNvCxnSpPr>
            <a:cxnSpLocks noChangeShapeType="1"/>
            <a:stCxn id="120836" idx="2"/>
            <a:endCxn id="120840" idx="1"/>
          </p:cNvCxnSpPr>
          <p:nvPr/>
        </p:nvCxnSpPr>
        <p:spPr bwMode="auto">
          <a:xfrm rot="16200000" flipH="1">
            <a:off x="5988843" y="2240757"/>
            <a:ext cx="290513" cy="12954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43" name="AutoShape 11"/>
          <p:cNvCxnSpPr>
            <a:cxnSpLocks noChangeShapeType="1"/>
            <a:stCxn id="120836" idx="2"/>
            <a:endCxn id="120841" idx="1"/>
          </p:cNvCxnSpPr>
          <p:nvPr/>
        </p:nvCxnSpPr>
        <p:spPr bwMode="auto">
          <a:xfrm rot="16200000" flipH="1">
            <a:off x="5760243" y="2469357"/>
            <a:ext cx="747713" cy="12954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844" name="Rectangle 12"/>
          <p:cNvSpPr>
            <a:spLocks noChangeArrowheads="1"/>
          </p:cNvSpPr>
          <p:nvPr/>
        </p:nvSpPr>
        <p:spPr bwMode="auto">
          <a:xfrm>
            <a:off x="6781800" y="4267200"/>
            <a:ext cx="1828800" cy="33337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NN thủ tục</a:t>
            </a:r>
          </a:p>
        </p:txBody>
      </p:sp>
      <p:sp>
        <p:nvSpPr>
          <p:cNvPr id="120845" name="Rectangle 13"/>
          <p:cNvSpPr>
            <a:spLocks noChangeArrowheads="1"/>
          </p:cNvSpPr>
          <p:nvPr/>
        </p:nvSpPr>
        <p:spPr bwMode="auto">
          <a:xfrm>
            <a:off x="6781800" y="4724400"/>
            <a:ext cx="1828800" cy="33337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NN phi thủ tục</a:t>
            </a:r>
          </a:p>
        </p:txBody>
      </p:sp>
      <p:cxnSp>
        <p:nvCxnSpPr>
          <p:cNvPr id="120846" name="AutoShape 14"/>
          <p:cNvCxnSpPr>
            <a:cxnSpLocks noChangeShapeType="1"/>
            <a:stCxn id="120837" idx="2"/>
            <a:endCxn id="120844" idx="1"/>
          </p:cNvCxnSpPr>
          <p:nvPr/>
        </p:nvCxnSpPr>
        <p:spPr bwMode="auto">
          <a:xfrm rot="16200000" flipH="1">
            <a:off x="5950743" y="3602832"/>
            <a:ext cx="366713" cy="12954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47" name="AutoShape 15"/>
          <p:cNvCxnSpPr>
            <a:cxnSpLocks noChangeShapeType="1"/>
            <a:stCxn id="120837" idx="2"/>
            <a:endCxn id="120845" idx="1"/>
          </p:cNvCxnSpPr>
          <p:nvPr/>
        </p:nvCxnSpPr>
        <p:spPr bwMode="auto">
          <a:xfrm rot="16200000" flipH="1">
            <a:off x="5722143" y="3831432"/>
            <a:ext cx="823913" cy="12954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848" name="Rectangle 16"/>
          <p:cNvSpPr>
            <a:spLocks noChangeArrowheads="1"/>
          </p:cNvSpPr>
          <p:nvPr/>
        </p:nvSpPr>
        <p:spPr bwMode="auto">
          <a:xfrm>
            <a:off x="2590800" y="4953000"/>
            <a:ext cx="2209800" cy="304800"/>
          </a:xfrm>
          <a:prstGeom prst="rect">
            <a:avLst/>
          </a:prstGeom>
          <a:gradFill rotWithShape="1">
            <a:gsLst>
              <a:gs pos="0">
                <a:srgbClr val="FFFF99">
                  <a:gamma/>
                  <a:shade val="46275"/>
                  <a:invGamma/>
                </a:srgbClr>
              </a:gs>
              <a:gs pos="50000">
                <a:srgbClr val="FFFF99"/>
              </a:gs>
              <a:gs pos="100000">
                <a:srgbClr val="FFFF99">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NN chuyên dùng</a:t>
            </a:r>
          </a:p>
        </p:txBody>
      </p:sp>
      <p:sp>
        <p:nvSpPr>
          <p:cNvPr id="120849" name="Rectangle 17"/>
          <p:cNvSpPr>
            <a:spLocks noChangeArrowheads="1"/>
          </p:cNvSpPr>
          <p:nvPr/>
        </p:nvSpPr>
        <p:spPr bwMode="auto">
          <a:xfrm>
            <a:off x="685800" y="1524000"/>
            <a:ext cx="2362200" cy="304800"/>
          </a:xfrm>
          <a:prstGeom prst="rect">
            <a:avLst/>
          </a:prstGeom>
          <a:gradFill rotWithShape="1">
            <a:gsLst>
              <a:gs pos="0">
                <a:srgbClr val="FFCC99">
                  <a:gamma/>
                  <a:shade val="46275"/>
                  <a:invGamma/>
                </a:srgbClr>
              </a:gs>
              <a:gs pos="50000">
                <a:srgbClr val="FFCC99"/>
              </a:gs>
              <a:gs pos="100000">
                <a:srgbClr val="FFCC99">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Phân loại NNLT</a:t>
            </a:r>
          </a:p>
        </p:txBody>
      </p:sp>
      <p:cxnSp>
        <p:nvCxnSpPr>
          <p:cNvPr id="120850" name="AutoShape 18"/>
          <p:cNvCxnSpPr>
            <a:cxnSpLocks noChangeShapeType="1"/>
            <a:stCxn id="120849" idx="2"/>
            <a:endCxn id="120835" idx="1"/>
          </p:cNvCxnSpPr>
          <p:nvPr/>
        </p:nvCxnSpPr>
        <p:spPr bwMode="auto">
          <a:xfrm rot="16200000" flipH="1">
            <a:off x="2121693" y="1574007"/>
            <a:ext cx="290513" cy="8001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1" name="AutoShape 19"/>
          <p:cNvCxnSpPr>
            <a:cxnSpLocks noChangeShapeType="1"/>
            <a:stCxn id="120849" idx="2"/>
            <a:endCxn id="120848" idx="1"/>
          </p:cNvCxnSpPr>
          <p:nvPr/>
        </p:nvCxnSpPr>
        <p:spPr bwMode="auto">
          <a:xfrm rot="16200000" flipH="1">
            <a:off x="590550" y="3105150"/>
            <a:ext cx="3276600" cy="7239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852" name="Rectangle 20"/>
          <p:cNvSpPr>
            <a:spLocks noChangeArrowheads="1"/>
          </p:cNvSpPr>
          <p:nvPr/>
        </p:nvSpPr>
        <p:spPr bwMode="auto">
          <a:xfrm>
            <a:off x="5181600" y="5486400"/>
            <a:ext cx="2971800" cy="333375"/>
          </a:xfrm>
          <a:prstGeom prst="rect">
            <a:avLst/>
          </a:prstGeom>
          <a:gradFill rotWithShape="1">
            <a:gsLst>
              <a:gs pos="0">
                <a:srgbClr val="FFFF99">
                  <a:gamma/>
                  <a:shade val="46275"/>
                  <a:invGamma/>
                </a:srgbClr>
              </a:gs>
              <a:gs pos="50000">
                <a:srgbClr val="FFFF99"/>
              </a:gs>
              <a:gs pos="100000">
                <a:srgbClr val="FFFF99">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Phạm vi ứng dụng</a:t>
            </a:r>
          </a:p>
        </p:txBody>
      </p:sp>
      <p:sp>
        <p:nvSpPr>
          <p:cNvPr id="120853" name="Rectangle 21"/>
          <p:cNvSpPr>
            <a:spLocks noChangeArrowheads="1"/>
          </p:cNvSpPr>
          <p:nvPr/>
        </p:nvSpPr>
        <p:spPr bwMode="auto">
          <a:xfrm>
            <a:off x="5181600" y="6019800"/>
            <a:ext cx="2971800" cy="352425"/>
          </a:xfrm>
          <a:prstGeom prst="rect">
            <a:avLst/>
          </a:prstGeom>
          <a:gradFill rotWithShape="1">
            <a:gsLst>
              <a:gs pos="0">
                <a:srgbClr val="FFFF99">
                  <a:gamma/>
                  <a:shade val="46275"/>
                  <a:invGamma/>
                </a:srgbClr>
              </a:gs>
              <a:gs pos="50000">
                <a:srgbClr val="FFFF99"/>
              </a:gs>
              <a:gs pos="100000">
                <a:srgbClr val="FFFF99">
                  <a:gamma/>
                  <a:shade val="46275"/>
                  <a:invGamma/>
                </a:srgbClr>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t>Môi trường ứng dụng</a:t>
            </a:r>
          </a:p>
        </p:txBody>
      </p:sp>
      <p:cxnSp>
        <p:nvCxnSpPr>
          <p:cNvPr id="120854" name="AutoShape 22"/>
          <p:cNvCxnSpPr>
            <a:cxnSpLocks noChangeShapeType="1"/>
            <a:stCxn id="120848" idx="2"/>
            <a:endCxn id="120852" idx="1"/>
          </p:cNvCxnSpPr>
          <p:nvPr/>
        </p:nvCxnSpPr>
        <p:spPr bwMode="auto">
          <a:xfrm rot="16200000" flipH="1">
            <a:off x="4241006" y="4712494"/>
            <a:ext cx="395288" cy="14859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5" name="AutoShape 23"/>
          <p:cNvCxnSpPr>
            <a:cxnSpLocks noChangeShapeType="1"/>
            <a:stCxn id="120848" idx="2"/>
            <a:endCxn id="120853" idx="1"/>
          </p:cNvCxnSpPr>
          <p:nvPr/>
        </p:nvCxnSpPr>
        <p:spPr bwMode="auto">
          <a:xfrm rot="16200000" flipH="1">
            <a:off x="3969543" y="4983957"/>
            <a:ext cx="938213" cy="14859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9576358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 calcmode="lin" valueType="num">
                                      <p:cBhvr additive="base">
                                        <p:cTn id="7" dur="500" fill="hold"/>
                                        <p:tgtEl>
                                          <p:spTgt spid="120834"/>
                                        </p:tgtEl>
                                        <p:attrNameLst>
                                          <p:attrName>ppt_x</p:attrName>
                                        </p:attrNameLst>
                                      </p:cBhvr>
                                      <p:tavLst>
                                        <p:tav tm="0">
                                          <p:val>
                                            <p:strVal val="0-#ppt_w/2"/>
                                          </p:val>
                                        </p:tav>
                                        <p:tav tm="100000">
                                          <p:val>
                                            <p:strVal val="#ppt_x"/>
                                          </p:val>
                                        </p:tav>
                                      </p:tavLst>
                                    </p:anim>
                                    <p:anim calcmode="lin" valueType="num">
                                      <p:cBhvr additive="base">
                                        <p:cTn id="8" dur="500" fill="hold"/>
                                        <p:tgtEl>
                                          <p:spTgt spid="1208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0849"/>
                                        </p:tgtEl>
                                        <p:attrNameLst>
                                          <p:attrName>style.visibility</p:attrName>
                                        </p:attrNameLst>
                                      </p:cBhvr>
                                      <p:to>
                                        <p:strVal val="visible"/>
                                      </p:to>
                                    </p:set>
                                    <p:anim calcmode="lin" valueType="num">
                                      <p:cBhvr additive="base">
                                        <p:cTn id="13" dur="500" fill="hold"/>
                                        <p:tgtEl>
                                          <p:spTgt spid="120849"/>
                                        </p:tgtEl>
                                        <p:attrNameLst>
                                          <p:attrName>ppt_x</p:attrName>
                                        </p:attrNameLst>
                                      </p:cBhvr>
                                      <p:tavLst>
                                        <p:tav tm="0">
                                          <p:val>
                                            <p:strVal val="0-#ppt_w/2"/>
                                          </p:val>
                                        </p:tav>
                                        <p:tav tm="100000">
                                          <p:val>
                                            <p:strVal val="#ppt_x"/>
                                          </p:val>
                                        </p:tav>
                                      </p:tavLst>
                                    </p:anim>
                                    <p:anim calcmode="lin" valueType="num">
                                      <p:cBhvr additive="base">
                                        <p:cTn id="14" dur="500" fill="hold"/>
                                        <p:tgtEl>
                                          <p:spTgt spid="120849"/>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1" presetClass="entr" presetSubtype="4" fill="hold" nodeType="afterEffect">
                                  <p:stCondLst>
                                    <p:cond delay="0"/>
                                  </p:stCondLst>
                                  <p:childTnLst>
                                    <p:set>
                                      <p:cBhvr>
                                        <p:cTn id="17" dur="1" fill="hold">
                                          <p:stCondLst>
                                            <p:cond delay="0"/>
                                          </p:stCondLst>
                                        </p:cTn>
                                        <p:tgtEl>
                                          <p:spTgt spid="120850"/>
                                        </p:tgtEl>
                                        <p:attrNameLst>
                                          <p:attrName>style.visibility</p:attrName>
                                        </p:attrNameLst>
                                      </p:cBhvr>
                                      <p:to>
                                        <p:strVal val="visible"/>
                                      </p:to>
                                    </p:set>
                                    <p:animEffect transition="in" filter="wheel(4)">
                                      <p:cBhvr>
                                        <p:cTn id="18" dur="2000"/>
                                        <p:tgtEl>
                                          <p:spTgt spid="120850"/>
                                        </p:tgtEl>
                                      </p:cBhvr>
                                    </p:animEffect>
                                  </p:childTnLst>
                                </p:cTn>
                              </p:par>
                            </p:childTnLst>
                          </p:cTn>
                        </p:par>
                        <p:par>
                          <p:cTn id="19" fill="hold" nodeType="afterGroup">
                            <p:stCondLst>
                              <p:cond delay="2500"/>
                            </p:stCondLst>
                            <p:childTnLst>
                              <p:par>
                                <p:cTn id="20" presetID="21" presetClass="entr" presetSubtype="4" fill="hold" grpId="0" nodeType="afterEffect">
                                  <p:stCondLst>
                                    <p:cond delay="0"/>
                                  </p:stCondLst>
                                  <p:childTnLst>
                                    <p:set>
                                      <p:cBhvr>
                                        <p:cTn id="21" dur="1" fill="hold">
                                          <p:stCondLst>
                                            <p:cond delay="0"/>
                                          </p:stCondLst>
                                        </p:cTn>
                                        <p:tgtEl>
                                          <p:spTgt spid="120835"/>
                                        </p:tgtEl>
                                        <p:attrNameLst>
                                          <p:attrName>style.visibility</p:attrName>
                                        </p:attrNameLst>
                                      </p:cBhvr>
                                      <p:to>
                                        <p:strVal val="visible"/>
                                      </p:to>
                                    </p:set>
                                    <p:animEffect transition="in" filter="wheel(4)">
                                      <p:cBhvr>
                                        <p:cTn id="22" dur="2000"/>
                                        <p:tgtEl>
                                          <p:spTgt spid="120835"/>
                                        </p:tgtEl>
                                      </p:cBhvr>
                                    </p:animEffect>
                                  </p:childTnLst>
                                </p:cTn>
                              </p:par>
                            </p:childTnLst>
                          </p:cTn>
                        </p:par>
                        <p:par>
                          <p:cTn id="23" fill="hold" nodeType="afterGroup">
                            <p:stCondLst>
                              <p:cond delay="4500"/>
                            </p:stCondLst>
                            <p:childTnLst>
                              <p:par>
                                <p:cTn id="24" presetID="21" presetClass="entr" presetSubtype="4" fill="hold" nodeType="afterEffect">
                                  <p:stCondLst>
                                    <p:cond delay="0"/>
                                  </p:stCondLst>
                                  <p:childTnLst>
                                    <p:set>
                                      <p:cBhvr>
                                        <p:cTn id="25" dur="1" fill="hold">
                                          <p:stCondLst>
                                            <p:cond delay="0"/>
                                          </p:stCondLst>
                                        </p:cTn>
                                        <p:tgtEl>
                                          <p:spTgt spid="120838"/>
                                        </p:tgtEl>
                                        <p:attrNameLst>
                                          <p:attrName>style.visibility</p:attrName>
                                        </p:attrNameLst>
                                      </p:cBhvr>
                                      <p:to>
                                        <p:strVal val="visible"/>
                                      </p:to>
                                    </p:set>
                                    <p:animEffect transition="in" filter="wheel(4)">
                                      <p:cBhvr>
                                        <p:cTn id="26" dur="2000"/>
                                        <p:tgtEl>
                                          <p:spTgt spid="120838"/>
                                        </p:tgtEl>
                                      </p:cBhvr>
                                    </p:animEffect>
                                  </p:childTnLst>
                                </p:cTn>
                              </p:par>
                            </p:childTnLst>
                          </p:cTn>
                        </p:par>
                        <p:par>
                          <p:cTn id="27" fill="hold" nodeType="afterGroup">
                            <p:stCondLst>
                              <p:cond delay="6500"/>
                            </p:stCondLst>
                            <p:childTnLst>
                              <p:par>
                                <p:cTn id="28" presetID="21" presetClass="entr" presetSubtype="4" fill="hold" grpId="0" nodeType="afterEffect">
                                  <p:stCondLst>
                                    <p:cond delay="0"/>
                                  </p:stCondLst>
                                  <p:childTnLst>
                                    <p:set>
                                      <p:cBhvr>
                                        <p:cTn id="29" dur="1" fill="hold">
                                          <p:stCondLst>
                                            <p:cond delay="0"/>
                                          </p:stCondLst>
                                        </p:cTn>
                                        <p:tgtEl>
                                          <p:spTgt spid="120836"/>
                                        </p:tgtEl>
                                        <p:attrNameLst>
                                          <p:attrName>style.visibility</p:attrName>
                                        </p:attrNameLst>
                                      </p:cBhvr>
                                      <p:to>
                                        <p:strVal val="visible"/>
                                      </p:to>
                                    </p:set>
                                    <p:animEffect transition="in" filter="wheel(4)">
                                      <p:cBhvr>
                                        <p:cTn id="30" dur="2000"/>
                                        <p:tgtEl>
                                          <p:spTgt spid="120836"/>
                                        </p:tgtEl>
                                      </p:cBhvr>
                                    </p:animEffect>
                                  </p:childTnLst>
                                </p:cTn>
                              </p:par>
                            </p:childTnLst>
                          </p:cTn>
                        </p:par>
                        <p:par>
                          <p:cTn id="31" fill="hold" nodeType="afterGroup">
                            <p:stCondLst>
                              <p:cond delay="8500"/>
                            </p:stCondLst>
                            <p:childTnLst>
                              <p:par>
                                <p:cTn id="32" presetID="21" presetClass="entr" presetSubtype="4" fill="hold" nodeType="afterEffect">
                                  <p:stCondLst>
                                    <p:cond delay="0"/>
                                  </p:stCondLst>
                                  <p:childTnLst>
                                    <p:set>
                                      <p:cBhvr>
                                        <p:cTn id="33" dur="1" fill="hold">
                                          <p:stCondLst>
                                            <p:cond delay="0"/>
                                          </p:stCondLst>
                                        </p:cTn>
                                        <p:tgtEl>
                                          <p:spTgt spid="120839"/>
                                        </p:tgtEl>
                                        <p:attrNameLst>
                                          <p:attrName>style.visibility</p:attrName>
                                        </p:attrNameLst>
                                      </p:cBhvr>
                                      <p:to>
                                        <p:strVal val="visible"/>
                                      </p:to>
                                    </p:set>
                                    <p:animEffect transition="in" filter="wheel(4)">
                                      <p:cBhvr>
                                        <p:cTn id="34" dur="2000"/>
                                        <p:tgtEl>
                                          <p:spTgt spid="120839"/>
                                        </p:tgtEl>
                                      </p:cBhvr>
                                    </p:animEffect>
                                  </p:childTnLst>
                                </p:cTn>
                              </p:par>
                            </p:childTnLst>
                          </p:cTn>
                        </p:par>
                        <p:par>
                          <p:cTn id="35" fill="hold" nodeType="afterGroup">
                            <p:stCondLst>
                              <p:cond delay="10500"/>
                            </p:stCondLst>
                            <p:childTnLst>
                              <p:par>
                                <p:cTn id="36" presetID="21" presetClass="entr" presetSubtype="4" fill="hold" grpId="0" nodeType="afterEffect">
                                  <p:stCondLst>
                                    <p:cond delay="0"/>
                                  </p:stCondLst>
                                  <p:childTnLst>
                                    <p:set>
                                      <p:cBhvr>
                                        <p:cTn id="37" dur="1" fill="hold">
                                          <p:stCondLst>
                                            <p:cond delay="0"/>
                                          </p:stCondLst>
                                        </p:cTn>
                                        <p:tgtEl>
                                          <p:spTgt spid="120837"/>
                                        </p:tgtEl>
                                        <p:attrNameLst>
                                          <p:attrName>style.visibility</p:attrName>
                                        </p:attrNameLst>
                                      </p:cBhvr>
                                      <p:to>
                                        <p:strVal val="visible"/>
                                      </p:to>
                                    </p:set>
                                    <p:animEffect transition="in" filter="wheel(4)">
                                      <p:cBhvr>
                                        <p:cTn id="38" dur="2000"/>
                                        <p:tgtEl>
                                          <p:spTgt spid="120837"/>
                                        </p:tgtEl>
                                      </p:cBhvr>
                                    </p:animEffect>
                                  </p:childTnLst>
                                </p:cTn>
                              </p:par>
                            </p:childTnLst>
                          </p:cTn>
                        </p:par>
                        <p:par>
                          <p:cTn id="39" fill="hold" nodeType="afterGroup">
                            <p:stCondLst>
                              <p:cond delay="12500"/>
                            </p:stCondLst>
                            <p:childTnLst>
                              <p:par>
                                <p:cTn id="40" presetID="21" presetClass="entr" presetSubtype="4" fill="hold" nodeType="afterEffect">
                                  <p:stCondLst>
                                    <p:cond delay="0"/>
                                  </p:stCondLst>
                                  <p:childTnLst>
                                    <p:set>
                                      <p:cBhvr>
                                        <p:cTn id="41" dur="1" fill="hold">
                                          <p:stCondLst>
                                            <p:cond delay="0"/>
                                          </p:stCondLst>
                                        </p:cTn>
                                        <p:tgtEl>
                                          <p:spTgt spid="120842"/>
                                        </p:tgtEl>
                                        <p:attrNameLst>
                                          <p:attrName>style.visibility</p:attrName>
                                        </p:attrNameLst>
                                      </p:cBhvr>
                                      <p:to>
                                        <p:strVal val="visible"/>
                                      </p:to>
                                    </p:set>
                                    <p:animEffect transition="in" filter="wheel(4)">
                                      <p:cBhvr>
                                        <p:cTn id="42" dur="2000"/>
                                        <p:tgtEl>
                                          <p:spTgt spid="120842"/>
                                        </p:tgtEl>
                                      </p:cBhvr>
                                    </p:animEffect>
                                  </p:childTnLst>
                                </p:cTn>
                              </p:par>
                            </p:childTnLst>
                          </p:cTn>
                        </p:par>
                        <p:par>
                          <p:cTn id="43" fill="hold" nodeType="afterGroup">
                            <p:stCondLst>
                              <p:cond delay="14500"/>
                            </p:stCondLst>
                            <p:childTnLst>
                              <p:par>
                                <p:cTn id="44" presetID="21" presetClass="entr" presetSubtype="4" fill="hold" nodeType="afterEffect">
                                  <p:stCondLst>
                                    <p:cond delay="0"/>
                                  </p:stCondLst>
                                  <p:childTnLst>
                                    <p:set>
                                      <p:cBhvr>
                                        <p:cTn id="45" dur="1" fill="hold">
                                          <p:stCondLst>
                                            <p:cond delay="0"/>
                                          </p:stCondLst>
                                        </p:cTn>
                                        <p:tgtEl>
                                          <p:spTgt spid="120843"/>
                                        </p:tgtEl>
                                        <p:attrNameLst>
                                          <p:attrName>style.visibility</p:attrName>
                                        </p:attrNameLst>
                                      </p:cBhvr>
                                      <p:to>
                                        <p:strVal val="visible"/>
                                      </p:to>
                                    </p:set>
                                    <p:animEffect transition="in" filter="wheel(4)">
                                      <p:cBhvr>
                                        <p:cTn id="46" dur="2000"/>
                                        <p:tgtEl>
                                          <p:spTgt spid="120843"/>
                                        </p:tgtEl>
                                      </p:cBhvr>
                                    </p:animEffect>
                                  </p:childTnLst>
                                </p:cTn>
                              </p:par>
                            </p:childTnLst>
                          </p:cTn>
                        </p:par>
                        <p:par>
                          <p:cTn id="47" fill="hold" nodeType="afterGroup">
                            <p:stCondLst>
                              <p:cond delay="16500"/>
                            </p:stCondLst>
                            <p:childTnLst>
                              <p:par>
                                <p:cTn id="48" presetID="21" presetClass="entr" presetSubtype="4" fill="hold" grpId="0" nodeType="afterEffect">
                                  <p:stCondLst>
                                    <p:cond delay="0"/>
                                  </p:stCondLst>
                                  <p:childTnLst>
                                    <p:set>
                                      <p:cBhvr>
                                        <p:cTn id="49" dur="1" fill="hold">
                                          <p:stCondLst>
                                            <p:cond delay="0"/>
                                          </p:stCondLst>
                                        </p:cTn>
                                        <p:tgtEl>
                                          <p:spTgt spid="120840"/>
                                        </p:tgtEl>
                                        <p:attrNameLst>
                                          <p:attrName>style.visibility</p:attrName>
                                        </p:attrNameLst>
                                      </p:cBhvr>
                                      <p:to>
                                        <p:strVal val="visible"/>
                                      </p:to>
                                    </p:set>
                                    <p:animEffect transition="in" filter="wheel(4)">
                                      <p:cBhvr>
                                        <p:cTn id="50" dur="2000"/>
                                        <p:tgtEl>
                                          <p:spTgt spid="120840"/>
                                        </p:tgtEl>
                                      </p:cBhvr>
                                    </p:animEffect>
                                  </p:childTnLst>
                                </p:cTn>
                              </p:par>
                            </p:childTnLst>
                          </p:cTn>
                        </p:par>
                        <p:par>
                          <p:cTn id="51" fill="hold" nodeType="afterGroup">
                            <p:stCondLst>
                              <p:cond delay="18500"/>
                            </p:stCondLst>
                            <p:childTnLst>
                              <p:par>
                                <p:cTn id="52" presetID="21" presetClass="entr" presetSubtype="4" fill="hold" grpId="0" nodeType="afterEffect">
                                  <p:stCondLst>
                                    <p:cond delay="0"/>
                                  </p:stCondLst>
                                  <p:childTnLst>
                                    <p:set>
                                      <p:cBhvr>
                                        <p:cTn id="53" dur="1" fill="hold">
                                          <p:stCondLst>
                                            <p:cond delay="0"/>
                                          </p:stCondLst>
                                        </p:cTn>
                                        <p:tgtEl>
                                          <p:spTgt spid="120841"/>
                                        </p:tgtEl>
                                        <p:attrNameLst>
                                          <p:attrName>style.visibility</p:attrName>
                                        </p:attrNameLst>
                                      </p:cBhvr>
                                      <p:to>
                                        <p:strVal val="visible"/>
                                      </p:to>
                                    </p:set>
                                    <p:animEffect transition="in" filter="wheel(4)">
                                      <p:cBhvr>
                                        <p:cTn id="54" dur="2000"/>
                                        <p:tgtEl>
                                          <p:spTgt spid="120841"/>
                                        </p:tgtEl>
                                      </p:cBhvr>
                                    </p:animEffect>
                                  </p:childTnLst>
                                </p:cTn>
                              </p:par>
                            </p:childTnLst>
                          </p:cTn>
                        </p:par>
                        <p:par>
                          <p:cTn id="55" fill="hold" nodeType="afterGroup">
                            <p:stCondLst>
                              <p:cond delay="20500"/>
                            </p:stCondLst>
                            <p:childTnLst>
                              <p:par>
                                <p:cTn id="56" presetID="21" presetClass="entr" presetSubtype="4" fill="hold" nodeType="afterEffect">
                                  <p:stCondLst>
                                    <p:cond delay="0"/>
                                  </p:stCondLst>
                                  <p:childTnLst>
                                    <p:set>
                                      <p:cBhvr>
                                        <p:cTn id="57" dur="1" fill="hold">
                                          <p:stCondLst>
                                            <p:cond delay="0"/>
                                          </p:stCondLst>
                                        </p:cTn>
                                        <p:tgtEl>
                                          <p:spTgt spid="120846"/>
                                        </p:tgtEl>
                                        <p:attrNameLst>
                                          <p:attrName>style.visibility</p:attrName>
                                        </p:attrNameLst>
                                      </p:cBhvr>
                                      <p:to>
                                        <p:strVal val="visible"/>
                                      </p:to>
                                    </p:set>
                                    <p:animEffect transition="in" filter="wheel(4)">
                                      <p:cBhvr>
                                        <p:cTn id="58" dur="2000"/>
                                        <p:tgtEl>
                                          <p:spTgt spid="120846"/>
                                        </p:tgtEl>
                                      </p:cBhvr>
                                    </p:animEffect>
                                  </p:childTnLst>
                                </p:cTn>
                              </p:par>
                            </p:childTnLst>
                          </p:cTn>
                        </p:par>
                        <p:par>
                          <p:cTn id="59" fill="hold" nodeType="afterGroup">
                            <p:stCondLst>
                              <p:cond delay="22500"/>
                            </p:stCondLst>
                            <p:childTnLst>
                              <p:par>
                                <p:cTn id="60" presetID="21" presetClass="entr" presetSubtype="4" fill="hold" nodeType="afterEffect">
                                  <p:stCondLst>
                                    <p:cond delay="0"/>
                                  </p:stCondLst>
                                  <p:childTnLst>
                                    <p:set>
                                      <p:cBhvr>
                                        <p:cTn id="61" dur="1" fill="hold">
                                          <p:stCondLst>
                                            <p:cond delay="0"/>
                                          </p:stCondLst>
                                        </p:cTn>
                                        <p:tgtEl>
                                          <p:spTgt spid="120847"/>
                                        </p:tgtEl>
                                        <p:attrNameLst>
                                          <p:attrName>style.visibility</p:attrName>
                                        </p:attrNameLst>
                                      </p:cBhvr>
                                      <p:to>
                                        <p:strVal val="visible"/>
                                      </p:to>
                                    </p:set>
                                    <p:animEffect transition="in" filter="wheel(4)">
                                      <p:cBhvr>
                                        <p:cTn id="62" dur="2000"/>
                                        <p:tgtEl>
                                          <p:spTgt spid="120847"/>
                                        </p:tgtEl>
                                      </p:cBhvr>
                                    </p:animEffect>
                                  </p:childTnLst>
                                </p:cTn>
                              </p:par>
                            </p:childTnLst>
                          </p:cTn>
                        </p:par>
                        <p:par>
                          <p:cTn id="63" fill="hold" nodeType="afterGroup">
                            <p:stCondLst>
                              <p:cond delay="24500"/>
                            </p:stCondLst>
                            <p:childTnLst>
                              <p:par>
                                <p:cTn id="64" presetID="21" presetClass="entr" presetSubtype="4" fill="hold" grpId="0" nodeType="afterEffect">
                                  <p:stCondLst>
                                    <p:cond delay="0"/>
                                  </p:stCondLst>
                                  <p:childTnLst>
                                    <p:set>
                                      <p:cBhvr>
                                        <p:cTn id="65" dur="1" fill="hold">
                                          <p:stCondLst>
                                            <p:cond delay="0"/>
                                          </p:stCondLst>
                                        </p:cTn>
                                        <p:tgtEl>
                                          <p:spTgt spid="120844"/>
                                        </p:tgtEl>
                                        <p:attrNameLst>
                                          <p:attrName>style.visibility</p:attrName>
                                        </p:attrNameLst>
                                      </p:cBhvr>
                                      <p:to>
                                        <p:strVal val="visible"/>
                                      </p:to>
                                    </p:set>
                                    <p:animEffect transition="in" filter="wheel(4)">
                                      <p:cBhvr>
                                        <p:cTn id="66" dur="2000"/>
                                        <p:tgtEl>
                                          <p:spTgt spid="120844"/>
                                        </p:tgtEl>
                                      </p:cBhvr>
                                    </p:animEffect>
                                  </p:childTnLst>
                                </p:cTn>
                              </p:par>
                            </p:childTnLst>
                          </p:cTn>
                        </p:par>
                        <p:par>
                          <p:cTn id="67" fill="hold" nodeType="afterGroup">
                            <p:stCondLst>
                              <p:cond delay="26500"/>
                            </p:stCondLst>
                            <p:childTnLst>
                              <p:par>
                                <p:cTn id="68" presetID="21" presetClass="entr" presetSubtype="4" fill="hold" grpId="0" nodeType="afterEffect">
                                  <p:stCondLst>
                                    <p:cond delay="0"/>
                                  </p:stCondLst>
                                  <p:childTnLst>
                                    <p:set>
                                      <p:cBhvr>
                                        <p:cTn id="69" dur="1" fill="hold">
                                          <p:stCondLst>
                                            <p:cond delay="0"/>
                                          </p:stCondLst>
                                        </p:cTn>
                                        <p:tgtEl>
                                          <p:spTgt spid="120845"/>
                                        </p:tgtEl>
                                        <p:attrNameLst>
                                          <p:attrName>style.visibility</p:attrName>
                                        </p:attrNameLst>
                                      </p:cBhvr>
                                      <p:to>
                                        <p:strVal val="visible"/>
                                      </p:to>
                                    </p:set>
                                    <p:animEffect transition="in" filter="wheel(4)">
                                      <p:cBhvr>
                                        <p:cTn id="70" dur="2000"/>
                                        <p:tgtEl>
                                          <p:spTgt spid="120845"/>
                                        </p:tgtEl>
                                      </p:cBhvr>
                                    </p:animEffect>
                                  </p:childTnLst>
                                </p:cTn>
                              </p:par>
                            </p:childTnLst>
                          </p:cTn>
                        </p:par>
                        <p:par>
                          <p:cTn id="71" fill="hold" nodeType="afterGroup">
                            <p:stCondLst>
                              <p:cond delay="28500"/>
                            </p:stCondLst>
                            <p:childTnLst>
                              <p:par>
                                <p:cTn id="72" presetID="21" presetClass="entr" presetSubtype="4" fill="hold" nodeType="afterEffect">
                                  <p:stCondLst>
                                    <p:cond delay="0"/>
                                  </p:stCondLst>
                                  <p:childTnLst>
                                    <p:set>
                                      <p:cBhvr>
                                        <p:cTn id="73" dur="1" fill="hold">
                                          <p:stCondLst>
                                            <p:cond delay="0"/>
                                          </p:stCondLst>
                                        </p:cTn>
                                        <p:tgtEl>
                                          <p:spTgt spid="120851"/>
                                        </p:tgtEl>
                                        <p:attrNameLst>
                                          <p:attrName>style.visibility</p:attrName>
                                        </p:attrNameLst>
                                      </p:cBhvr>
                                      <p:to>
                                        <p:strVal val="visible"/>
                                      </p:to>
                                    </p:set>
                                    <p:animEffect transition="in" filter="wheel(4)">
                                      <p:cBhvr>
                                        <p:cTn id="74" dur="2000"/>
                                        <p:tgtEl>
                                          <p:spTgt spid="120851"/>
                                        </p:tgtEl>
                                      </p:cBhvr>
                                    </p:animEffect>
                                  </p:childTnLst>
                                </p:cTn>
                              </p:par>
                            </p:childTnLst>
                          </p:cTn>
                        </p:par>
                        <p:par>
                          <p:cTn id="75" fill="hold" nodeType="afterGroup">
                            <p:stCondLst>
                              <p:cond delay="30500"/>
                            </p:stCondLst>
                            <p:childTnLst>
                              <p:par>
                                <p:cTn id="76" presetID="21" presetClass="entr" presetSubtype="4" fill="hold" grpId="0" nodeType="afterEffect">
                                  <p:stCondLst>
                                    <p:cond delay="0"/>
                                  </p:stCondLst>
                                  <p:childTnLst>
                                    <p:set>
                                      <p:cBhvr>
                                        <p:cTn id="77" dur="1" fill="hold">
                                          <p:stCondLst>
                                            <p:cond delay="0"/>
                                          </p:stCondLst>
                                        </p:cTn>
                                        <p:tgtEl>
                                          <p:spTgt spid="120848"/>
                                        </p:tgtEl>
                                        <p:attrNameLst>
                                          <p:attrName>style.visibility</p:attrName>
                                        </p:attrNameLst>
                                      </p:cBhvr>
                                      <p:to>
                                        <p:strVal val="visible"/>
                                      </p:to>
                                    </p:set>
                                    <p:animEffect transition="in" filter="wheel(4)">
                                      <p:cBhvr>
                                        <p:cTn id="78" dur="2000"/>
                                        <p:tgtEl>
                                          <p:spTgt spid="120848"/>
                                        </p:tgtEl>
                                      </p:cBhvr>
                                    </p:animEffect>
                                  </p:childTnLst>
                                </p:cTn>
                              </p:par>
                            </p:childTnLst>
                          </p:cTn>
                        </p:par>
                        <p:par>
                          <p:cTn id="79" fill="hold" nodeType="afterGroup">
                            <p:stCondLst>
                              <p:cond delay="32500"/>
                            </p:stCondLst>
                            <p:childTnLst>
                              <p:par>
                                <p:cTn id="80" presetID="21" presetClass="entr" presetSubtype="4" fill="hold" nodeType="afterEffect">
                                  <p:stCondLst>
                                    <p:cond delay="0"/>
                                  </p:stCondLst>
                                  <p:childTnLst>
                                    <p:set>
                                      <p:cBhvr>
                                        <p:cTn id="81" dur="1" fill="hold">
                                          <p:stCondLst>
                                            <p:cond delay="0"/>
                                          </p:stCondLst>
                                        </p:cTn>
                                        <p:tgtEl>
                                          <p:spTgt spid="120854"/>
                                        </p:tgtEl>
                                        <p:attrNameLst>
                                          <p:attrName>style.visibility</p:attrName>
                                        </p:attrNameLst>
                                      </p:cBhvr>
                                      <p:to>
                                        <p:strVal val="visible"/>
                                      </p:to>
                                    </p:set>
                                    <p:animEffect transition="in" filter="wheel(4)">
                                      <p:cBhvr>
                                        <p:cTn id="82" dur="2000"/>
                                        <p:tgtEl>
                                          <p:spTgt spid="120854"/>
                                        </p:tgtEl>
                                      </p:cBhvr>
                                    </p:animEffect>
                                  </p:childTnLst>
                                </p:cTn>
                              </p:par>
                            </p:childTnLst>
                          </p:cTn>
                        </p:par>
                        <p:par>
                          <p:cTn id="83" fill="hold" nodeType="afterGroup">
                            <p:stCondLst>
                              <p:cond delay="34500"/>
                            </p:stCondLst>
                            <p:childTnLst>
                              <p:par>
                                <p:cTn id="84" presetID="21" presetClass="entr" presetSubtype="4" fill="hold" grpId="0" nodeType="afterEffect">
                                  <p:stCondLst>
                                    <p:cond delay="0"/>
                                  </p:stCondLst>
                                  <p:childTnLst>
                                    <p:set>
                                      <p:cBhvr>
                                        <p:cTn id="85" dur="1" fill="hold">
                                          <p:stCondLst>
                                            <p:cond delay="0"/>
                                          </p:stCondLst>
                                        </p:cTn>
                                        <p:tgtEl>
                                          <p:spTgt spid="120852"/>
                                        </p:tgtEl>
                                        <p:attrNameLst>
                                          <p:attrName>style.visibility</p:attrName>
                                        </p:attrNameLst>
                                      </p:cBhvr>
                                      <p:to>
                                        <p:strVal val="visible"/>
                                      </p:to>
                                    </p:set>
                                    <p:animEffect transition="in" filter="wheel(4)">
                                      <p:cBhvr>
                                        <p:cTn id="86" dur="2000"/>
                                        <p:tgtEl>
                                          <p:spTgt spid="120852"/>
                                        </p:tgtEl>
                                      </p:cBhvr>
                                    </p:animEffect>
                                  </p:childTnLst>
                                </p:cTn>
                              </p:par>
                            </p:childTnLst>
                          </p:cTn>
                        </p:par>
                        <p:par>
                          <p:cTn id="87" fill="hold" nodeType="afterGroup">
                            <p:stCondLst>
                              <p:cond delay="36500"/>
                            </p:stCondLst>
                            <p:childTnLst>
                              <p:par>
                                <p:cTn id="88" presetID="21" presetClass="entr" presetSubtype="4" fill="hold" nodeType="afterEffect">
                                  <p:stCondLst>
                                    <p:cond delay="0"/>
                                  </p:stCondLst>
                                  <p:childTnLst>
                                    <p:set>
                                      <p:cBhvr>
                                        <p:cTn id="89" dur="1" fill="hold">
                                          <p:stCondLst>
                                            <p:cond delay="0"/>
                                          </p:stCondLst>
                                        </p:cTn>
                                        <p:tgtEl>
                                          <p:spTgt spid="120855"/>
                                        </p:tgtEl>
                                        <p:attrNameLst>
                                          <p:attrName>style.visibility</p:attrName>
                                        </p:attrNameLst>
                                      </p:cBhvr>
                                      <p:to>
                                        <p:strVal val="visible"/>
                                      </p:to>
                                    </p:set>
                                    <p:animEffect transition="in" filter="wheel(4)">
                                      <p:cBhvr>
                                        <p:cTn id="90" dur="2000"/>
                                        <p:tgtEl>
                                          <p:spTgt spid="120855"/>
                                        </p:tgtEl>
                                      </p:cBhvr>
                                    </p:animEffect>
                                  </p:childTnLst>
                                </p:cTn>
                              </p:par>
                            </p:childTnLst>
                          </p:cTn>
                        </p:par>
                        <p:par>
                          <p:cTn id="91" fill="hold" nodeType="afterGroup">
                            <p:stCondLst>
                              <p:cond delay="38500"/>
                            </p:stCondLst>
                            <p:childTnLst>
                              <p:par>
                                <p:cTn id="92" presetID="21" presetClass="entr" presetSubtype="4" fill="hold" grpId="0" nodeType="afterEffect">
                                  <p:stCondLst>
                                    <p:cond delay="0"/>
                                  </p:stCondLst>
                                  <p:childTnLst>
                                    <p:set>
                                      <p:cBhvr>
                                        <p:cTn id="93" dur="1" fill="hold">
                                          <p:stCondLst>
                                            <p:cond delay="0"/>
                                          </p:stCondLst>
                                        </p:cTn>
                                        <p:tgtEl>
                                          <p:spTgt spid="120853"/>
                                        </p:tgtEl>
                                        <p:attrNameLst>
                                          <p:attrName>style.visibility</p:attrName>
                                        </p:attrNameLst>
                                      </p:cBhvr>
                                      <p:to>
                                        <p:strVal val="visible"/>
                                      </p:to>
                                    </p:set>
                                    <p:animEffect transition="in" filter="wheel(4)">
                                      <p:cBhvr>
                                        <p:cTn id="94" dur="2000"/>
                                        <p:tgtEl>
                                          <p:spTgt spid="120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P spid="120835" grpId="0" animBg="1"/>
      <p:bldP spid="120836" grpId="0" animBg="1"/>
      <p:bldP spid="120837" grpId="0" animBg="1"/>
      <p:bldP spid="120840" grpId="0" animBg="1"/>
      <p:bldP spid="120841" grpId="0" animBg="1"/>
      <p:bldP spid="120844" grpId="0" animBg="1"/>
      <p:bldP spid="120845" grpId="0" animBg="1"/>
      <p:bldP spid="120848" grpId="0" animBg="1"/>
      <p:bldP spid="120849" grpId="0" animBg="1"/>
      <p:bldP spid="120852" grpId="0" animBg="1"/>
      <p:bldP spid="12085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sz="3200" b="1">
                <a:solidFill>
                  <a:srgbClr val="CC0000"/>
                </a:solidFill>
                <a:latin typeface="Tahoma" pitchFamily="34" charset="0"/>
              </a:rPr>
              <a:t>3. Các ngôn ngữ lập trình</a:t>
            </a:r>
            <a:endParaRPr lang="en-US" sz="3200" b="1" smtClean="0">
              <a:solidFill>
                <a:srgbClr val="CC3300"/>
              </a:solidFill>
              <a:latin typeface="Tahoma" pitchFamily="34" charset="0"/>
            </a:endParaRPr>
          </a:p>
        </p:txBody>
      </p:sp>
      <p:sp>
        <p:nvSpPr>
          <p:cNvPr id="86019" name="Rectangle 3"/>
          <p:cNvSpPr>
            <a:spLocks noGrp="1" noChangeArrowheads="1"/>
          </p:cNvSpPr>
          <p:nvPr>
            <p:ph type="body" idx="1"/>
          </p:nvPr>
        </p:nvSpPr>
        <p:spPr/>
        <p:txBody>
          <a:bodyPr/>
          <a:lstStyle/>
          <a:p>
            <a:pPr marL="533400" indent="-533400">
              <a:lnSpc>
                <a:spcPct val="80000"/>
              </a:lnSpc>
              <a:buFont typeface="Wingdings" pitchFamily="2" charset="2"/>
              <a:buChar char="v"/>
            </a:pPr>
            <a:r>
              <a:rPr lang="en-US" sz="2000" smtClean="0">
                <a:solidFill>
                  <a:srgbClr val="CC3300"/>
                </a:solidFill>
                <a:latin typeface="Tahoma" pitchFamily="34" charset="0"/>
              </a:rPr>
              <a:t>Ngôn ngữ cấp thấp (NN máy, Assembler)</a:t>
            </a:r>
          </a:p>
          <a:p>
            <a:pPr marL="952500" lvl="1" indent="-495300">
              <a:lnSpc>
                <a:spcPct val="80000"/>
              </a:lnSpc>
              <a:buFont typeface="Wingdings" pitchFamily="2" charset="2"/>
              <a:buChar char="ü"/>
            </a:pPr>
            <a:r>
              <a:rPr lang="en-US" sz="2000" smtClean="0">
                <a:latin typeface="Tahoma" pitchFamily="34" charset="0"/>
              </a:rPr>
              <a:t>Tốc độc thực hiện nhanh</a:t>
            </a:r>
          </a:p>
          <a:p>
            <a:pPr marL="952500" lvl="1" indent="-495300">
              <a:lnSpc>
                <a:spcPct val="80000"/>
              </a:lnSpc>
              <a:buFont typeface="Wingdings" pitchFamily="2" charset="2"/>
              <a:buChar char="ü"/>
            </a:pPr>
            <a:r>
              <a:rPr lang="en-US" sz="2000" smtClean="0">
                <a:latin typeface="Tahoma" pitchFamily="34" charset="0"/>
              </a:rPr>
              <a:t>Năng suất phần mềm thấp</a:t>
            </a:r>
          </a:p>
          <a:p>
            <a:pPr marL="952500" lvl="1" indent="-495300">
              <a:lnSpc>
                <a:spcPct val="80000"/>
              </a:lnSpc>
              <a:buFont typeface="Wingdings" pitchFamily="2" charset="2"/>
              <a:buChar char="ü"/>
            </a:pPr>
            <a:r>
              <a:rPr lang="en-US" sz="2000" smtClean="0">
                <a:latin typeface="Tahoma" pitchFamily="34" charset="0"/>
              </a:rPr>
              <a:t>Cần tri thức về phần cứng</a:t>
            </a:r>
          </a:p>
          <a:p>
            <a:pPr marL="952500" lvl="1" indent="-495300">
              <a:lnSpc>
                <a:spcPct val="80000"/>
              </a:lnSpc>
              <a:buFont typeface="Wingdings" pitchFamily="2" charset="2"/>
              <a:buChar char="ü"/>
            </a:pPr>
            <a:r>
              <a:rPr lang="en-US" sz="2000" smtClean="0">
                <a:latin typeface="Tahoma" pitchFamily="34" charset="0"/>
              </a:rPr>
              <a:t>Phần cứng khác nhau, thay đổi thì chương trình thay đổi theo.</a:t>
            </a:r>
          </a:p>
          <a:p>
            <a:pPr marL="533400" indent="-533400">
              <a:lnSpc>
                <a:spcPct val="80000"/>
              </a:lnSpc>
              <a:buFont typeface="Wingdings" pitchFamily="2" charset="2"/>
              <a:buChar char="v"/>
            </a:pPr>
            <a:r>
              <a:rPr lang="en-US" sz="2000" smtClean="0">
                <a:solidFill>
                  <a:srgbClr val="CC3300"/>
                </a:solidFill>
                <a:latin typeface="Tahoma" pitchFamily="34" charset="0"/>
              </a:rPr>
              <a:t>NN cấp cao </a:t>
            </a:r>
          </a:p>
          <a:p>
            <a:pPr marL="952500" lvl="1" indent="-495300">
              <a:lnSpc>
                <a:spcPct val="80000"/>
              </a:lnSpc>
              <a:buFont typeface="Wingdings" pitchFamily="2" charset="2"/>
              <a:buChar char="ü"/>
            </a:pPr>
            <a:r>
              <a:rPr lang="en-US" sz="2000" smtClean="0">
                <a:latin typeface="Tahoma" pitchFamily="34" charset="0"/>
              </a:rPr>
              <a:t>NN Thủ tục:  </a:t>
            </a:r>
          </a:p>
          <a:p>
            <a:pPr marL="1352550" lvl="2" indent="-438150">
              <a:lnSpc>
                <a:spcPct val="80000"/>
              </a:lnSpc>
              <a:buFont typeface="Wingdings" pitchFamily="2" charset="2"/>
              <a:buChar char="Ø"/>
            </a:pPr>
            <a:r>
              <a:rPr lang="en-US" sz="2000" smtClean="0">
                <a:solidFill>
                  <a:srgbClr val="000066"/>
                </a:solidFill>
                <a:latin typeface="Tahoma" pitchFamily="34" charset="0"/>
              </a:rPr>
              <a:t>FORTRAN – Formula Translator </a:t>
            </a:r>
          </a:p>
          <a:p>
            <a:pPr marL="1352550" lvl="2" indent="-438150">
              <a:lnSpc>
                <a:spcPct val="80000"/>
              </a:lnSpc>
              <a:buFont typeface="Wingdings" pitchFamily="2" charset="2"/>
              <a:buChar char="Ø"/>
            </a:pPr>
            <a:r>
              <a:rPr lang="en-US" sz="2000" smtClean="0">
                <a:solidFill>
                  <a:srgbClr val="000066"/>
                </a:solidFill>
                <a:latin typeface="Tahoma" pitchFamily="34" charset="0"/>
              </a:rPr>
              <a:t>COBOL – Common Business Oriented Language</a:t>
            </a:r>
          </a:p>
          <a:p>
            <a:pPr marL="1352550" lvl="2" indent="-438150">
              <a:lnSpc>
                <a:spcPct val="80000"/>
              </a:lnSpc>
              <a:buFont typeface="Wingdings" pitchFamily="2" charset="2"/>
              <a:buChar char="Ø"/>
            </a:pPr>
            <a:r>
              <a:rPr lang="en-US" sz="2000" smtClean="0">
                <a:solidFill>
                  <a:srgbClr val="000066"/>
                </a:solidFill>
                <a:latin typeface="Tahoma" pitchFamily="34" charset="0"/>
              </a:rPr>
              <a:t>ALGOL – ALROrithmic language</a:t>
            </a:r>
          </a:p>
          <a:p>
            <a:pPr marL="1352550" lvl="2" indent="-438150">
              <a:lnSpc>
                <a:spcPct val="80000"/>
              </a:lnSpc>
              <a:buFont typeface="Wingdings" pitchFamily="2" charset="2"/>
              <a:buNone/>
            </a:pPr>
            <a:r>
              <a:rPr lang="en-US" sz="2000" smtClean="0">
                <a:solidFill>
                  <a:srgbClr val="000066"/>
                </a:solidFill>
                <a:latin typeface="Tahoma" pitchFamily="34" charset="0"/>
              </a:rPr>
              <a:t>	(tính toán KH Kỹ Thuật)</a:t>
            </a:r>
          </a:p>
          <a:p>
            <a:pPr marL="1352550" lvl="2" indent="-438150">
              <a:lnSpc>
                <a:spcPct val="80000"/>
              </a:lnSpc>
              <a:buFont typeface="Wingdings" pitchFamily="2" charset="2"/>
              <a:buChar char="Ø"/>
            </a:pPr>
            <a:r>
              <a:rPr lang="en-US" sz="2000" smtClean="0">
                <a:solidFill>
                  <a:srgbClr val="000066"/>
                </a:solidFill>
                <a:latin typeface="Tahoma" pitchFamily="34" charset="0"/>
              </a:rPr>
              <a:t>Pascal, C ... (giảng dạy)</a:t>
            </a:r>
          </a:p>
          <a:p>
            <a:pPr marL="952500" lvl="1" indent="-495300">
              <a:lnSpc>
                <a:spcPct val="80000"/>
              </a:lnSpc>
              <a:buFont typeface="Wingdings" pitchFamily="2" charset="2"/>
              <a:buChar char="ü"/>
            </a:pPr>
            <a:endParaRPr lang="en-US" sz="2000" smtClean="0">
              <a:solidFill>
                <a:srgbClr val="000066"/>
              </a:solidFill>
              <a:latin typeface="Tahoma" pitchFamily="34" charset="0"/>
            </a:endParaRPr>
          </a:p>
        </p:txBody>
      </p:sp>
    </p:spTree>
    <p:extLst>
      <p:ext uri="{BB962C8B-B14F-4D97-AF65-F5344CB8AC3E}">
        <p14:creationId xmlns:p14="http://schemas.microsoft.com/office/powerpoint/2010/main" val="3078042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018"/>
                                        </p:tgtEl>
                                        <p:attrNameLst>
                                          <p:attrName>style.visibility</p:attrName>
                                        </p:attrNameLst>
                                      </p:cBhvr>
                                      <p:to>
                                        <p:strVal val="visible"/>
                                      </p:to>
                                    </p:set>
                                    <p:anim calcmode="lin" valueType="num">
                                      <p:cBhvr additive="base">
                                        <p:cTn id="7" dur="500" fill="hold"/>
                                        <p:tgtEl>
                                          <p:spTgt spid="86018"/>
                                        </p:tgtEl>
                                        <p:attrNameLst>
                                          <p:attrName>ppt_x</p:attrName>
                                        </p:attrNameLst>
                                      </p:cBhvr>
                                      <p:tavLst>
                                        <p:tav tm="0">
                                          <p:val>
                                            <p:strVal val="0-#ppt_w/2"/>
                                          </p:val>
                                        </p:tav>
                                        <p:tav tm="100000">
                                          <p:val>
                                            <p:strVal val="#ppt_x"/>
                                          </p:val>
                                        </p:tav>
                                      </p:tavLst>
                                    </p:anim>
                                    <p:anim calcmode="lin" valueType="num">
                                      <p:cBhvr additive="base">
                                        <p:cTn id="8" dur="500" fill="hold"/>
                                        <p:tgtEl>
                                          <p:spTgt spid="860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6019">
                                            <p:txEl>
                                              <p:pRg st="0" end="0"/>
                                            </p:txEl>
                                          </p:spTgt>
                                        </p:tgtEl>
                                        <p:attrNameLst>
                                          <p:attrName>style.visibility</p:attrName>
                                        </p:attrNameLst>
                                      </p:cBhvr>
                                      <p:to>
                                        <p:strVal val="visible"/>
                                      </p:to>
                                    </p:set>
                                    <p:anim calcmode="lin" valueType="num">
                                      <p:cBhvr additive="base">
                                        <p:cTn id="13" dur="500" fill="hold"/>
                                        <p:tgtEl>
                                          <p:spTgt spid="8601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60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6019">
                                            <p:txEl>
                                              <p:pRg st="1" end="1"/>
                                            </p:txEl>
                                          </p:spTgt>
                                        </p:tgtEl>
                                        <p:attrNameLst>
                                          <p:attrName>style.visibility</p:attrName>
                                        </p:attrNameLst>
                                      </p:cBhvr>
                                      <p:to>
                                        <p:strVal val="visible"/>
                                      </p:to>
                                    </p:set>
                                    <p:anim calcmode="lin" valueType="num">
                                      <p:cBhvr additive="base">
                                        <p:cTn id="19" dur="500" fill="hold"/>
                                        <p:tgtEl>
                                          <p:spTgt spid="86019">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6019">
                                            <p:txEl>
                                              <p:pRg st="1" end="1"/>
                                            </p:txEl>
                                          </p:spTgt>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nodeType="afterEffect">
                                  <p:stCondLst>
                                    <p:cond delay="0"/>
                                  </p:stCondLst>
                                  <p:childTnLst>
                                    <p:set>
                                      <p:cBhvr>
                                        <p:cTn id="23" dur="1" fill="hold">
                                          <p:stCondLst>
                                            <p:cond delay="0"/>
                                          </p:stCondLst>
                                        </p:cTn>
                                        <p:tgtEl>
                                          <p:spTgt spid="86019">
                                            <p:txEl>
                                              <p:pRg st="2" end="2"/>
                                            </p:txEl>
                                          </p:spTgt>
                                        </p:tgtEl>
                                        <p:attrNameLst>
                                          <p:attrName>style.visibility</p:attrName>
                                        </p:attrNameLst>
                                      </p:cBhvr>
                                      <p:to>
                                        <p:strVal val="visible"/>
                                      </p:to>
                                    </p:set>
                                    <p:anim calcmode="lin" valueType="num">
                                      <p:cBhvr additive="base">
                                        <p:cTn id="24" dur="500" fill="hold"/>
                                        <p:tgtEl>
                                          <p:spTgt spid="86019">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86019">
                                            <p:txEl>
                                              <p:pRg st="2" end="2"/>
                                            </p:txEl>
                                          </p:spTgt>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1000"/>
                            </p:stCondLst>
                            <p:childTnLst>
                              <p:par>
                                <p:cTn id="27" presetID="2" presetClass="entr" presetSubtype="8" fill="hold" nodeType="afterEffect">
                                  <p:stCondLst>
                                    <p:cond delay="0"/>
                                  </p:stCondLst>
                                  <p:childTnLst>
                                    <p:set>
                                      <p:cBhvr>
                                        <p:cTn id="28" dur="1" fill="hold">
                                          <p:stCondLst>
                                            <p:cond delay="0"/>
                                          </p:stCondLst>
                                        </p:cTn>
                                        <p:tgtEl>
                                          <p:spTgt spid="86019">
                                            <p:txEl>
                                              <p:pRg st="3" end="3"/>
                                            </p:txEl>
                                          </p:spTgt>
                                        </p:tgtEl>
                                        <p:attrNameLst>
                                          <p:attrName>style.visibility</p:attrName>
                                        </p:attrNameLst>
                                      </p:cBhvr>
                                      <p:to>
                                        <p:strVal val="visible"/>
                                      </p:to>
                                    </p:set>
                                    <p:anim calcmode="lin" valueType="num">
                                      <p:cBhvr additive="base">
                                        <p:cTn id="29" dur="500" fill="hold"/>
                                        <p:tgtEl>
                                          <p:spTgt spid="86019">
                                            <p:txEl>
                                              <p:pRg st="3" end="3"/>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86019">
                                            <p:txEl>
                                              <p:pRg st="3" end="3"/>
                                            </p:txEl>
                                          </p:spTgt>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1500"/>
                            </p:stCondLst>
                            <p:childTnLst>
                              <p:par>
                                <p:cTn id="32" presetID="2" presetClass="entr" presetSubtype="8" fill="hold" nodeType="afterEffect">
                                  <p:stCondLst>
                                    <p:cond delay="0"/>
                                  </p:stCondLst>
                                  <p:childTnLst>
                                    <p:set>
                                      <p:cBhvr>
                                        <p:cTn id="33" dur="1" fill="hold">
                                          <p:stCondLst>
                                            <p:cond delay="0"/>
                                          </p:stCondLst>
                                        </p:cTn>
                                        <p:tgtEl>
                                          <p:spTgt spid="86019">
                                            <p:txEl>
                                              <p:pRg st="4" end="4"/>
                                            </p:txEl>
                                          </p:spTgt>
                                        </p:tgtEl>
                                        <p:attrNameLst>
                                          <p:attrName>style.visibility</p:attrName>
                                        </p:attrNameLst>
                                      </p:cBhvr>
                                      <p:to>
                                        <p:strVal val="visible"/>
                                      </p:to>
                                    </p:set>
                                    <p:anim calcmode="lin" valueType="num">
                                      <p:cBhvr additive="base">
                                        <p:cTn id="34" dur="500" fill="hold"/>
                                        <p:tgtEl>
                                          <p:spTgt spid="86019">
                                            <p:txEl>
                                              <p:pRg st="4" end="4"/>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860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86019">
                                            <p:txEl>
                                              <p:pRg st="5" end="5"/>
                                            </p:txEl>
                                          </p:spTgt>
                                        </p:tgtEl>
                                        <p:attrNameLst>
                                          <p:attrName>style.visibility</p:attrName>
                                        </p:attrNameLst>
                                      </p:cBhvr>
                                      <p:to>
                                        <p:strVal val="visible"/>
                                      </p:to>
                                    </p:set>
                                    <p:anim calcmode="lin" valueType="num">
                                      <p:cBhvr additive="base">
                                        <p:cTn id="40" dur="500" fill="hold"/>
                                        <p:tgtEl>
                                          <p:spTgt spid="86019">
                                            <p:txEl>
                                              <p:pRg st="5" end="5"/>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860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nodeType="clickEffect">
                                  <p:stCondLst>
                                    <p:cond delay="0"/>
                                  </p:stCondLst>
                                  <p:childTnLst>
                                    <p:set>
                                      <p:cBhvr>
                                        <p:cTn id="45" dur="1" fill="hold">
                                          <p:stCondLst>
                                            <p:cond delay="0"/>
                                          </p:stCondLst>
                                        </p:cTn>
                                        <p:tgtEl>
                                          <p:spTgt spid="86019">
                                            <p:txEl>
                                              <p:pRg st="6" end="6"/>
                                            </p:txEl>
                                          </p:spTgt>
                                        </p:tgtEl>
                                        <p:attrNameLst>
                                          <p:attrName>style.visibility</p:attrName>
                                        </p:attrNameLst>
                                      </p:cBhvr>
                                      <p:to>
                                        <p:strVal val="visible"/>
                                      </p:to>
                                    </p:set>
                                    <p:anim calcmode="lin" valueType="num">
                                      <p:cBhvr additive="base">
                                        <p:cTn id="46" dur="500" fill="hold"/>
                                        <p:tgtEl>
                                          <p:spTgt spid="86019">
                                            <p:txEl>
                                              <p:pRg st="6" end="6"/>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86019">
                                            <p:txEl>
                                              <p:pRg st="6" end="6"/>
                                            </p:txEl>
                                          </p:spTgt>
                                        </p:tgtEl>
                                        <p:attrNameLst>
                                          <p:attrName>ppt_y</p:attrName>
                                        </p:attrNameLst>
                                      </p:cBhvr>
                                      <p:tavLst>
                                        <p:tav tm="0">
                                          <p:val>
                                            <p:strVal val="#ppt_y"/>
                                          </p:val>
                                        </p:tav>
                                        <p:tav tm="100000">
                                          <p:val>
                                            <p:strVal val="#ppt_y"/>
                                          </p:val>
                                        </p:tav>
                                      </p:tavLst>
                                    </p:anim>
                                  </p:childTnLst>
                                </p:cTn>
                              </p:par>
                            </p:childTnLst>
                          </p:cTn>
                        </p:par>
                        <p:par>
                          <p:cTn id="48" fill="hold" nodeType="afterGroup">
                            <p:stCondLst>
                              <p:cond delay="500"/>
                            </p:stCondLst>
                            <p:childTnLst>
                              <p:par>
                                <p:cTn id="49" presetID="2" presetClass="entr" presetSubtype="8" fill="hold" nodeType="afterEffect">
                                  <p:stCondLst>
                                    <p:cond delay="0"/>
                                  </p:stCondLst>
                                  <p:childTnLst>
                                    <p:set>
                                      <p:cBhvr>
                                        <p:cTn id="50" dur="1" fill="hold">
                                          <p:stCondLst>
                                            <p:cond delay="0"/>
                                          </p:stCondLst>
                                        </p:cTn>
                                        <p:tgtEl>
                                          <p:spTgt spid="86019">
                                            <p:txEl>
                                              <p:pRg st="7" end="7"/>
                                            </p:txEl>
                                          </p:spTgt>
                                        </p:tgtEl>
                                        <p:attrNameLst>
                                          <p:attrName>style.visibility</p:attrName>
                                        </p:attrNameLst>
                                      </p:cBhvr>
                                      <p:to>
                                        <p:strVal val="visible"/>
                                      </p:to>
                                    </p:set>
                                    <p:anim calcmode="lin" valueType="num">
                                      <p:cBhvr additive="base">
                                        <p:cTn id="51" dur="500" fill="hold"/>
                                        <p:tgtEl>
                                          <p:spTgt spid="86019">
                                            <p:txEl>
                                              <p:pRg st="7" end="7"/>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86019">
                                            <p:txEl>
                                              <p:pRg st="7" end="7"/>
                                            </p:txEl>
                                          </p:spTgt>
                                        </p:tgtEl>
                                        <p:attrNameLst>
                                          <p:attrName>ppt_y</p:attrName>
                                        </p:attrNameLst>
                                      </p:cBhvr>
                                      <p:tavLst>
                                        <p:tav tm="0">
                                          <p:val>
                                            <p:strVal val="#ppt_y"/>
                                          </p:val>
                                        </p:tav>
                                        <p:tav tm="100000">
                                          <p:val>
                                            <p:strVal val="#ppt_y"/>
                                          </p:val>
                                        </p:tav>
                                      </p:tavLst>
                                    </p:anim>
                                  </p:childTnLst>
                                </p:cTn>
                              </p:par>
                            </p:childTnLst>
                          </p:cTn>
                        </p:par>
                        <p:par>
                          <p:cTn id="53" fill="hold" nodeType="afterGroup">
                            <p:stCondLst>
                              <p:cond delay="1000"/>
                            </p:stCondLst>
                            <p:childTnLst>
                              <p:par>
                                <p:cTn id="54" presetID="2" presetClass="entr" presetSubtype="8" fill="hold" nodeType="afterEffect">
                                  <p:stCondLst>
                                    <p:cond delay="0"/>
                                  </p:stCondLst>
                                  <p:childTnLst>
                                    <p:set>
                                      <p:cBhvr>
                                        <p:cTn id="55" dur="1" fill="hold">
                                          <p:stCondLst>
                                            <p:cond delay="0"/>
                                          </p:stCondLst>
                                        </p:cTn>
                                        <p:tgtEl>
                                          <p:spTgt spid="86019">
                                            <p:txEl>
                                              <p:pRg st="8" end="8"/>
                                            </p:txEl>
                                          </p:spTgt>
                                        </p:tgtEl>
                                        <p:attrNameLst>
                                          <p:attrName>style.visibility</p:attrName>
                                        </p:attrNameLst>
                                      </p:cBhvr>
                                      <p:to>
                                        <p:strVal val="visible"/>
                                      </p:to>
                                    </p:set>
                                    <p:anim calcmode="lin" valueType="num">
                                      <p:cBhvr additive="base">
                                        <p:cTn id="56" dur="500" fill="hold"/>
                                        <p:tgtEl>
                                          <p:spTgt spid="86019">
                                            <p:txEl>
                                              <p:pRg st="8" end="8"/>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86019">
                                            <p:txEl>
                                              <p:pRg st="8" end="8"/>
                                            </p:txEl>
                                          </p:spTgt>
                                        </p:tgtEl>
                                        <p:attrNameLst>
                                          <p:attrName>ppt_y</p:attrName>
                                        </p:attrNameLst>
                                      </p:cBhvr>
                                      <p:tavLst>
                                        <p:tav tm="0">
                                          <p:val>
                                            <p:strVal val="#ppt_y"/>
                                          </p:val>
                                        </p:tav>
                                        <p:tav tm="100000">
                                          <p:val>
                                            <p:strVal val="#ppt_y"/>
                                          </p:val>
                                        </p:tav>
                                      </p:tavLst>
                                    </p:anim>
                                  </p:childTnLst>
                                </p:cTn>
                              </p:par>
                            </p:childTnLst>
                          </p:cTn>
                        </p:par>
                        <p:par>
                          <p:cTn id="58" fill="hold" nodeType="afterGroup">
                            <p:stCondLst>
                              <p:cond delay="1500"/>
                            </p:stCondLst>
                            <p:childTnLst>
                              <p:par>
                                <p:cTn id="59" presetID="2" presetClass="entr" presetSubtype="8" fill="hold" nodeType="afterEffect">
                                  <p:stCondLst>
                                    <p:cond delay="0"/>
                                  </p:stCondLst>
                                  <p:childTnLst>
                                    <p:set>
                                      <p:cBhvr>
                                        <p:cTn id="60" dur="1" fill="hold">
                                          <p:stCondLst>
                                            <p:cond delay="0"/>
                                          </p:stCondLst>
                                        </p:cTn>
                                        <p:tgtEl>
                                          <p:spTgt spid="86019">
                                            <p:txEl>
                                              <p:pRg st="9" end="9"/>
                                            </p:txEl>
                                          </p:spTgt>
                                        </p:tgtEl>
                                        <p:attrNameLst>
                                          <p:attrName>style.visibility</p:attrName>
                                        </p:attrNameLst>
                                      </p:cBhvr>
                                      <p:to>
                                        <p:strVal val="visible"/>
                                      </p:to>
                                    </p:set>
                                    <p:anim calcmode="lin" valueType="num">
                                      <p:cBhvr additive="base">
                                        <p:cTn id="61" dur="500" fill="hold"/>
                                        <p:tgtEl>
                                          <p:spTgt spid="86019">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86019">
                                            <p:txEl>
                                              <p:pRg st="9" end="9"/>
                                            </p:txEl>
                                          </p:spTgt>
                                        </p:tgtEl>
                                        <p:attrNameLst>
                                          <p:attrName>ppt_y</p:attrName>
                                        </p:attrNameLst>
                                      </p:cBhvr>
                                      <p:tavLst>
                                        <p:tav tm="0">
                                          <p:val>
                                            <p:strVal val="#ppt_y"/>
                                          </p:val>
                                        </p:tav>
                                        <p:tav tm="100000">
                                          <p:val>
                                            <p:strVal val="#ppt_y"/>
                                          </p:val>
                                        </p:tav>
                                      </p:tavLst>
                                    </p:anim>
                                  </p:childTnLst>
                                </p:cTn>
                              </p:par>
                            </p:childTnLst>
                          </p:cTn>
                        </p:par>
                        <p:par>
                          <p:cTn id="63" fill="hold" nodeType="afterGroup">
                            <p:stCondLst>
                              <p:cond delay="2000"/>
                            </p:stCondLst>
                            <p:childTnLst>
                              <p:par>
                                <p:cTn id="64" presetID="2" presetClass="entr" presetSubtype="8" fill="hold" nodeType="afterEffect">
                                  <p:stCondLst>
                                    <p:cond delay="0"/>
                                  </p:stCondLst>
                                  <p:childTnLst>
                                    <p:set>
                                      <p:cBhvr>
                                        <p:cTn id="65" dur="1" fill="hold">
                                          <p:stCondLst>
                                            <p:cond delay="0"/>
                                          </p:stCondLst>
                                        </p:cTn>
                                        <p:tgtEl>
                                          <p:spTgt spid="86019">
                                            <p:txEl>
                                              <p:pRg st="10" end="10"/>
                                            </p:txEl>
                                          </p:spTgt>
                                        </p:tgtEl>
                                        <p:attrNameLst>
                                          <p:attrName>style.visibility</p:attrName>
                                        </p:attrNameLst>
                                      </p:cBhvr>
                                      <p:to>
                                        <p:strVal val="visible"/>
                                      </p:to>
                                    </p:set>
                                    <p:anim calcmode="lin" valueType="num">
                                      <p:cBhvr additive="base">
                                        <p:cTn id="66" dur="500" fill="hold"/>
                                        <p:tgtEl>
                                          <p:spTgt spid="86019">
                                            <p:txEl>
                                              <p:pRg st="10" end="10"/>
                                            </p:txEl>
                                          </p:spTgt>
                                        </p:tgtEl>
                                        <p:attrNameLst>
                                          <p:attrName>ppt_x</p:attrName>
                                        </p:attrNameLst>
                                      </p:cBhvr>
                                      <p:tavLst>
                                        <p:tav tm="0">
                                          <p:val>
                                            <p:strVal val="0-#ppt_w/2"/>
                                          </p:val>
                                        </p:tav>
                                        <p:tav tm="100000">
                                          <p:val>
                                            <p:strVal val="#ppt_x"/>
                                          </p:val>
                                        </p:tav>
                                      </p:tavLst>
                                    </p:anim>
                                    <p:anim calcmode="lin" valueType="num">
                                      <p:cBhvr additive="base">
                                        <p:cTn id="67" dur="500" fill="hold"/>
                                        <p:tgtEl>
                                          <p:spTgt spid="86019">
                                            <p:txEl>
                                              <p:pRg st="10" end="10"/>
                                            </p:txEl>
                                          </p:spTgt>
                                        </p:tgtEl>
                                        <p:attrNameLst>
                                          <p:attrName>ppt_y</p:attrName>
                                        </p:attrNameLst>
                                      </p:cBhvr>
                                      <p:tavLst>
                                        <p:tav tm="0">
                                          <p:val>
                                            <p:strVal val="#ppt_y"/>
                                          </p:val>
                                        </p:tav>
                                        <p:tav tm="100000">
                                          <p:val>
                                            <p:strVal val="#ppt_y"/>
                                          </p:val>
                                        </p:tav>
                                      </p:tavLst>
                                    </p:anim>
                                  </p:childTnLst>
                                </p:cTn>
                              </p:par>
                            </p:childTnLst>
                          </p:cTn>
                        </p:par>
                        <p:par>
                          <p:cTn id="68" fill="hold" nodeType="afterGroup">
                            <p:stCondLst>
                              <p:cond delay="2500"/>
                            </p:stCondLst>
                            <p:childTnLst>
                              <p:par>
                                <p:cTn id="69" presetID="2" presetClass="entr" presetSubtype="8" fill="hold" nodeType="afterEffect">
                                  <p:stCondLst>
                                    <p:cond delay="0"/>
                                  </p:stCondLst>
                                  <p:childTnLst>
                                    <p:set>
                                      <p:cBhvr>
                                        <p:cTn id="70" dur="1" fill="hold">
                                          <p:stCondLst>
                                            <p:cond delay="0"/>
                                          </p:stCondLst>
                                        </p:cTn>
                                        <p:tgtEl>
                                          <p:spTgt spid="86019">
                                            <p:txEl>
                                              <p:pRg st="11" end="11"/>
                                            </p:txEl>
                                          </p:spTgt>
                                        </p:tgtEl>
                                        <p:attrNameLst>
                                          <p:attrName>style.visibility</p:attrName>
                                        </p:attrNameLst>
                                      </p:cBhvr>
                                      <p:to>
                                        <p:strVal val="visible"/>
                                      </p:to>
                                    </p:set>
                                    <p:anim calcmode="lin" valueType="num">
                                      <p:cBhvr additive="base">
                                        <p:cTn id="71" dur="500" fill="hold"/>
                                        <p:tgtEl>
                                          <p:spTgt spid="86019">
                                            <p:txEl>
                                              <p:pRg st="11" end="11"/>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86019">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sz="3200" b="1">
                <a:solidFill>
                  <a:srgbClr val="CC0000"/>
                </a:solidFill>
                <a:latin typeface="Tahoma" pitchFamily="34" charset="0"/>
              </a:rPr>
              <a:t>3. Các ngôn ngữ lập trình</a:t>
            </a:r>
            <a:endParaRPr lang="en-US" sz="3200" b="1" smtClean="0">
              <a:solidFill>
                <a:srgbClr val="CC3300"/>
              </a:solidFill>
              <a:latin typeface="Tahoma" pitchFamily="34" charset="0"/>
            </a:endParaRPr>
          </a:p>
        </p:txBody>
      </p:sp>
      <p:sp>
        <p:nvSpPr>
          <p:cNvPr id="122883" name="Rectangle 3"/>
          <p:cNvSpPr>
            <a:spLocks noGrp="1" noChangeArrowheads="1"/>
          </p:cNvSpPr>
          <p:nvPr>
            <p:ph type="body" idx="1"/>
          </p:nvPr>
        </p:nvSpPr>
        <p:spPr/>
        <p:txBody>
          <a:bodyPr/>
          <a:lstStyle/>
          <a:p>
            <a:pPr lvl="1">
              <a:lnSpc>
                <a:spcPct val="80000"/>
              </a:lnSpc>
              <a:buFont typeface="Wingdings" pitchFamily="2" charset="2"/>
              <a:buChar char="ü"/>
            </a:pPr>
            <a:r>
              <a:rPr lang="en-US" sz="2000" smtClean="0">
                <a:latin typeface="Tahoma" pitchFamily="34" charset="0"/>
              </a:rPr>
              <a:t>NN phi thủ tục: </a:t>
            </a:r>
          </a:p>
          <a:p>
            <a:pPr lvl="2">
              <a:lnSpc>
                <a:spcPct val="80000"/>
              </a:lnSpc>
              <a:buFont typeface="Wingdings" pitchFamily="2" charset="2"/>
              <a:buChar char="Ø"/>
            </a:pPr>
            <a:r>
              <a:rPr lang="en-US" sz="2000" smtClean="0">
                <a:solidFill>
                  <a:srgbClr val="000066"/>
                </a:solidFill>
                <a:latin typeface="Tahoma" pitchFamily="34" charset="0"/>
              </a:rPr>
              <a:t>Lisp – List processor (NN hàm dùng trong tính toán KHKT)</a:t>
            </a:r>
          </a:p>
          <a:p>
            <a:pPr lvl="3">
              <a:lnSpc>
                <a:spcPct val="80000"/>
              </a:lnSpc>
              <a:buFont typeface="Wingdings" pitchFamily="2" charset="2"/>
              <a:buChar char="§"/>
            </a:pPr>
            <a:r>
              <a:rPr lang="en-US" smtClean="0">
                <a:solidFill>
                  <a:srgbClr val="000066"/>
                </a:solidFill>
                <a:latin typeface="Tahoma" pitchFamily="34" charset="0"/>
              </a:rPr>
              <a:t>Chương </a:t>
            </a:r>
            <a:r>
              <a:rPr lang="en-US" smtClean="0">
                <a:solidFill>
                  <a:srgbClr val="000066"/>
                </a:solidFill>
                <a:latin typeface="Tahoma" pitchFamily="34" charset="0"/>
              </a:rPr>
              <a:t>trình là tổ hợp các hàm chuẩn và hàm do người dùng định nghĩa</a:t>
            </a:r>
          </a:p>
          <a:p>
            <a:pPr lvl="2">
              <a:lnSpc>
                <a:spcPct val="80000"/>
              </a:lnSpc>
              <a:buFont typeface="Wingdings" pitchFamily="2" charset="2"/>
              <a:buChar char="Ø"/>
            </a:pPr>
            <a:r>
              <a:rPr lang="en-US" sz="2000" smtClean="0">
                <a:solidFill>
                  <a:srgbClr val="000066"/>
                </a:solidFill>
                <a:latin typeface="Tahoma" pitchFamily="34" charset="0"/>
              </a:rPr>
              <a:t>Prolog – Programming in logic (nghiên cứu TTNT)</a:t>
            </a:r>
          </a:p>
          <a:p>
            <a:pPr lvl="3">
              <a:lnSpc>
                <a:spcPct val="80000"/>
              </a:lnSpc>
              <a:buFont typeface="Wingdings" pitchFamily="2" charset="2"/>
              <a:buChar char="§"/>
            </a:pPr>
            <a:r>
              <a:rPr lang="en-US" smtClean="0">
                <a:solidFill>
                  <a:srgbClr val="000066"/>
                </a:solidFill>
                <a:latin typeface="Tahoma" pitchFamily="34" charset="0"/>
              </a:rPr>
              <a:t>Ngôn ngữ logic mệnh đề</a:t>
            </a:r>
          </a:p>
          <a:p>
            <a:pPr lvl="3">
              <a:lnSpc>
                <a:spcPct val="80000"/>
              </a:lnSpc>
              <a:buFont typeface="Wingdings" pitchFamily="2" charset="2"/>
              <a:buChar char="§"/>
            </a:pPr>
            <a:r>
              <a:rPr lang="en-US" smtClean="0">
                <a:solidFill>
                  <a:srgbClr val="000066"/>
                </a:solidFill>
                <a:latin typeface="Tahoma" pitchFamily="34" charset="0"/>
              </a:rPr>
              <a:t>Cung cấp các hàm suy diễn</a:t>
            </a:r>
          </a:p>
          <a:p>
            <a:pPr lvl="2">
              <a:lnSpc>
                <a:spcPct val="80000"/>
              </a:lnSpc>
              <a:buFont typeface="Wingdings" pitchFamily="2" charset="2"/>
              <a:buChar char="Ø"/>
            </a:pPr>
            <a:r>
              <a:rPr lang="en-US" sz="2000" smtClean="0">
                <a:solidFill>
                  <a:srgbClr val="000066"/>
                </a:solidFill>
                <a:latin typeface="Tahoma" pitchFamily="34" charset="0"/>
              </a:rPr>
              <a:t>C++, Java, … </a:t>
            </a:r>
          </a:p>
          <a:p>
            <a:pPr lvl="3">
              <a:lnSpc>
                <a:spcPct val="80000"/>
              </a:lnSpc>
              <a:buFont typeface="Wingdings" pitchFamily="2" charset="2"/>
              <a:buChar char="§"/>
            </a:pPr>
            <a:r>
              <a:rPr lang="en-US" smtClean="0">
                <a:solidFill>
                  <a:srgbClr val="000066"/>
                </a:solidFill>
                <a:latin typeface="Tahoma" pitchFamily="34" charset="0"/>
              </a:rPr>
              <a:t>Phát </a:t>
            </a:r>
            <a:r>
              <a:rPr lang="en-US" smtClean="0">
                <a:solidFill>
                  <a:srgbClr val="000066"/>
                </a:solidFill>
                <a:latin typeface="Tahoma" pitchFamily="34" charset="0"/>
              </a:rPr>
              <a:t>triển </a:t>
            </a:r>
            <a:r>
              <a:rPr lang="en-US" smtClean="0">
                <a:solidFill>
                  <a:srgbClr val="000066"/>
                </a:solidFill>
                <a:latin typeface="Tahoma" pitchFamily="34" charset="0"/>
              </a:rPr>
              <a:t>phần mềm hướng đối tượng</a:t>
            </a:r>
            <a:endParaRPr lang="en-US" sz="2000" smtClean="0">
              <a:solidFill>
                <a:srgbClr val="CC3300"/>
              </a:solidFill>
              <a:latin typeface="Tahoma" pitchFamily="34" charset="0"/>
            </a:endParaRPr>
          </a:p>
        </p:txBody>
      </p:sp>
    </p:spTree>
    <p:extLst>
      <p:ext uri="{BB962C8B-B14F-4D97-AF65-F5344CB8AC3E}">
        <p14:creationId xmlns:p14="http://schemas.microsoft.com/office/powerpoint/2010/main" val="19123996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882"/>
                                        </p:tgtEl>
                                        <p:attrNameLst>
                                          <p:attrName>style.visibility</p:attrName>
                                        </p:attrNameLst>
                                      </p:cBhvr>
                                      <p:to>
                                        <p:strVal val="visible"/>
                                      </p:to>
                                    </p:set>
                                    <p:anim calcmode="lin" valueType="num">
                                      <p:cBhvr additive="base">
                                        <p:cTn id="7" dur="500" fill="hold"/>
                                        <p:tgtEl>
                                          <p:spTgt spid="122882"/>
                                        </p:tgtEl>
                                        <p:attrNameLst>
                                          <p:attrName>ppt_x</p:attrName>
                                        </p:attrNameLst>
                                      </p:cBhvr>
                                      <p:tavLst>
                                        <p:tav tm="0">
                                          <p:val>
                                            <p:strVal val="0-#ppt_w/2"/>
                                          </p:val>
                                        </p:tav>
                                        <p:tav tm="100000">
                                          <p:val>
                                            <p:strVal val="#ppt_x"/>
                                          </p:val>
                                        </p:tav>
                                      </p:tavLst>
                                    </p:anim>
                                    <p:anim calcmode="lin" valueType="num">
                                      <p:cBhvr additive="base">
                                        <p:cTn id="8" dur="500" fill="hold"/>
                                        <p:tgtEl>
                                          <p:spTgt spid="1228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2883">
                                            <p:txEl>
                                              <p:pRg st="0" end="0"/>
                                            </p:txEl>
                                          </p:spTgt>
                                        </p:tgtEl>
                                        <p:attrNameLst>
                                          <p:attrName>style.visibility</p:attrName>
                                        </p:attrNameLst>
                                      </p:cBhvr>
                                      <p:to>
                                        <p:strVal val="visible"/>
                                      </p:to>
                                    </p:set>
                                    <p:anim calcmode="lin" valueType="num">
                                      <p:cBhvr additive="base">
                                        <p:cTn id="13" dur="500" fill="hold"/>
                                        <p:tgtEl>
                                          <p:spTgt spid="12288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22883">
                                            <p:txEl>
                                              <p:pRg st="1" end="1"/>
                                            </p:txEl>
                                          </p:spTgt>
                                        </p:tgtEl>
                                        <p:attrNameLst>
                                          <p:attrName>style.visibility</p:attrName>
                                        </p:attrNameLst>
                                      </p:cBhvr>
                                      <p:to>
                                        <p:strVal val="visible"/>
                                      </p:to>
                                    </p:set>
                                    <p:anim calcmode="lin" valueType="num">
                                      <p:cBhvr additive="base">
                                        <p:cTn id="19" dur="500" fill="hold"/>
                                        <p:tgtEl>
                                          <p:spTgt spid="12288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22883">
                                            <p:txEl>
                                              <p:pRg st="2" end="2"/>
                                            </p:txEl>
                                          </p:spTgt>
                                        </p:tgtEl>
                                        <p:attrNameLst>
                                          <p:attrName>style.visibility</p:attrName>
                                        </p:attrNameLst>
                                      </p:cBhvr>
                                      <p:to>
                                        <p:strVal val="visible"/>
                                      </p:to>
                                    </p:set>
                                    <p:anim calcmode="lin" valueType="num">
                                      <p:cBhvr additive="base">
                                        <p:cTn id="25" dur="500" fill="hold"/>
                                        <p:tgtEl>
                                          <p:spTgt spid="12288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8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2883">
                                            <p:txEl>
                                              <p:pRg st="3" end="3"/>
                                            </p:txEl>
                                          </p:spTgt>
                                        </p:tgtEl>
                                        <p:attrNameLst>
                                          <p:attrName>style.visibility</p:attrName>
                                        </p:attrNameLst>
                                      </p:cBhvr>
                                      <p:to>
                                        <p:strVal val="visible"/>
                                      </p:to>
                                    </p:set>
                                    <p:anim calcmode="lin" valueType="num">
                                      <p:cBhvr additive="base">
                                        <p:cTn id="31" dur="500" fill="hold"/>
                                        <p:tgtEl>
                                          <p:spTgt spid="122883">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28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22883">
                                            <p:txEl>
                                              <p:pRg st="4" end="4"/>
                                            </p:txEl>
                                          </p:spTgt>
                                        </p:tgtEl>
                                        <p:attrNameLst>
                                          <p:attrName>style.visibility</p:attrName>
                                        </p:attrNameLst>
                                      </p:cBhvr>
                                      <p:to>
                                        <p:strVal val="visible"/>
                                      </p:to>
                                    </p:set>
                                    <p:anim calcmode="lin" valueType="num">
                                      <p:cBhvr additive="base">
                                        <p:cTn id="37" dur="500" fill="hold"/>
                                        <p:tgtEl>
                                          <p:spTgt spid="122883">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28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22883">
                                            <p:txEl>
                                              <p:pRg st="5" end="5"/>
                                            </p:txEl>
                                          </p:spTgt>
                                        </p:tgtEl>
                                        <p:attrNameLst>
                                          <p:attrName>style.visibility</p:attrName>
                                        </p:attrNameLst>
                                      </p:cBhvr>
                                      <p:to>
                                        <p:strVal val="visible"/>
                                      </p:to>
                                    </p:set>
                                    <p:anim calcmode="lin" valueType="num">
                                      <p:cBhvr additive="base">
                                        <p:cTn id="43" dur="500" fill="hold"/>
                                        <p:tgtEl>
                                          <p:spTgt spid="122883">
                                            <p:txEl>
                                              <p:pRg st="5" end="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228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22883">
                                            <p:txEl>
                                              <p:pRg st="6" end="6"/>
                                            </p:txEl>
                                          </p:spTgt>
                                        </p:tgtEl>
                                        <p:attrNameLst>
                                          <p:attrName>style.visibility</p:attrName>
                                        </p:attrNameLst>
                                      </p:cBhvr>
                                      <p:to>
                                        <p:strVal val="visible"/>
                                      </p:to>
                                    </p:set>
                                    <p:anim calcmode="lin" valueType="num">
                                      <p:cBhvr additive="base">
                                        <p:cTn id="49" dur="500" fill="hold"/>
                                        <p:tgtEl>
                                          <p:spTgt spid="122883">
                                            <p:txEl>
                                              <p:pRg st="6" end="6"/>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2288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122883">
                                            <p:txEl>
                                              <p:pRg st="7" end="7"/>
                                            </p:txEl>
                                          </p:spTgt>
                                        </p:tgtEl>
                                        <p:attrNameLst>
                                          <p:attrName>style.visibility</p:attrName>
                                        </p:attrNameLst>
                                      </p:cBhvr>
                                      <p:to>
                                        <p:strVal val="visible"/>
                                      </p:to>
                                    </p:set>
                                    <p:anim calcmode="lin" valueType="num">
                                      <p:cBhvr additive="base">
                                        <p:cTn id="55" dur="500" fill="hold"/>
                                        <p:tgtEl>
                                          <p:spTgt spid="122883">
                                            <p:txEl>
                                              <p:pRg st="7" end="7"/>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2288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sz="3200" b="1">
                <a:solidFill>
                  <a:srgbClr val="CC0000"/>
                </a:solidFill>
                <a:latin typeface="Tahoma" pitchFamily="34" charset="0"/>
              </a:rPr>
              <a:t>3. Các ngôn ngữ lập trình</a:t>
            </a:r>
            <a:endParaRPr lang="en-US" sz="3200" b="1" smtClean="0">
              <a:solidFill>
                <a:srgbClr val="CC3300"/>
              </a:solidFill>
              <a:latin typeface="Tahoma" pitchFamily="34" charset="0"/>
            </a:endParaRPr>
          </a:p>
        </p:txBody>
      </p:sp>
      <p:sp>
        <p:nvSpPr>
          <p:cNvPr id="124931" name="Rectangle 3"/>
          <p:cNvSpPr>
            <a:spLocks noGrp="1" noChangeArrowheads="1"/>
          </p:cNvSpPr>
          <p:nvPr>
            <p:ph type="body" idx="1"/>
          </p:nvPr>
        </p:nvSpPr>
        <p:spPr/>
        <p:txBody>
          <a:bodyPr/>
          <a:lstStyle/>
          <a:p>
            <a:pPr>
              <a:lnSpc>
                <a:spcPct val="90000"/>
              </a:lnSpc>
              <a:buFont typeface="Wingdings" pitchFamily="2" charset="2"/>
              <a:buChar char="v"/>
            </a:pPr>
            <a:r>
              <a:rPr lang="en-US" sz="2000" smtClean="0">
                <a:solidFill>
                  <a:srgbClr val="CC3300"/>
                </a:solidFill>
                <a:latin typeface="Tahoma" pitchFamily="34" charset="0"/>
              </a:rPr>
              <a:t>NN cấp cao có đặc điểm</a:t>
            </a:r>
          </a:p>
          <a:p>
            <a:pPr lvl="1">
              <a:lnSpc>
                <a:spcPct val="90000"/>
              </a:lnSpc>
              <a:buFont typeface="Wingdings" pitchFamily="2" charset="2"/>
              <a:buChar char="ü"/>
            </a:pPr>
            <a:r>
              <a:rPr lang="en-US" sz="2000" smtClean="0">
                <a:latin typeface="Tahoma" pitchFamily="34" charset="0"/>
              </a:rPr>
              <a:t>Dễ dàng mô tả các thủ tục xử lý</a:t>
            </a:r>
          </a:p>
          <a:p>
            <a:pPr lvl="1">
              <a:lnSpc>
                <a:spcPct val="90000"/>
              </a:lnSpc>
              <a:buFont typeface="Wingdings" pitchFamily="2" charset="2"/>
              <a:buChar char="ü"/>
            </a:pPr>
            <a:r>
              <a:rPr lang="en-US" sz="2000" smtClean="0">
                <a:latin typeface="Tahoma" pitchFamily="34" charset="0"/>
              </a:rPr>
              <a:t>Cấu trúc gần ngôn ngữ tự nhiên</a:t>
            </a:r>
          </a:p>
          <a:p>
            <a:pPr lvl="1">
              <a:lnSpc>
                <a:spcPct val="90000"/>
              </a:lnSpc>
              <a:buFont typeface="Wingdings" pitchFamily="2" charset="2"/>
              <a:buChar char="ü"/>
            </a:pPr>
            <a:r>
              <a:rPr lang="en-US" sz="2000" smtClean="0">
                <a:latin typeface="Tahoma" pitchFamily="34" charset="0"/>
              </a:rPr>
              <a:t>Số bước thực hiện ngắn hơn so với NN cấp thấp do một lệnh có thể chứa nhiều lệnh máy</a:t>
            </a:r>
          </a:p>
          <a:p>
            <a:pPr lvl="1">
              <a:lnSpc>
                <a:spcPct val="90000"/>
              </a:lnSpc>
              <a:buFont typeface="Wingdings" pitchFamily="2" charset="2"/>
              <a:buChar char="ü"/>
            </a:pPr>
            <a:r>
              <a:rPr lang="en-US" sz="2000" smtClean="0">
                <a:latin typeface="Tahoma" pitchFamily="34" charset="0"/>
              </a:rPr>
              <a:t>Giảm thời gian tạo chương trình</a:t>
            </a:r>
          </a:p>
          <a:p>
            <a:pPr lvl="1">
              <a:lnSpc>
                <a:spcPct val="90000"/>
              </a:lnSpc>
              <a:buFont typeface="Wingdings" pitchFamily="2" charset="2"/>
              <a:buChar char="ü"/>
            </a:pPr>
            <a:r>
              <a:rPr lang="en-US" sz="2000" smtClean="0">
                <a:latin typeface="Tahoma" pitchFamily="34" charset="0"/>
              </a:rPr>
              <a:t>Nâng cấp bảo trì dễ dàng hơn</a:t>
            </a:r>
          </a:p>
          <a:p>
            <a:pPr lvl="1">
              <a:lnSpc>
                <a:spcPct val="90000"/>
              </a:lnSpc>
              <a:buFont typeface="Wingdings" pitchFamily="2" charset="2"/>
              <a:buNone/>
            </a:pPr>
            <a:endParaRPr lang="en-US" sz="2000" b="1" smtClean="0">
              <a:latin typeface="Tahoma" pitchFamily="34" charset="0"/>
              <a:sym typeface="Symbol" pitchFamily="18" charset="2"/>
            </a:endParaRPr>
          </a:p>
          <a:p>
            <a:pPr lvl="1">
              <a:lnSpc>
                <a:spcPct val="90000"/>
              </a:lnSpc>
              <a:buFont typeface="Wingdings" pitchFamily="2" charset="2"/>
              <a:buNone/>
            </a:pPr>
            <a:r>
              <a:rPr lang="en-US" sz="2000" b="1" smtClean="0">
                <a:latin typeface="Tahoma" pitchFamily="34" charset="0"/>
                <a:sym typeface="Symbol" pitchFamily="18" charset="2"/>
              </a:rPr>
              <a:t> Tăng năng suất phát triển phần mềm</a:t>
            </a:r>
          </a:p>
          <a:p>
            <a:pPr>
              <a:lnSpc>
                <a:spcPct val="90000"/>
              </a:lnSpc>
              <a:buFont typeface="Wingdings" pitchFamily="2" charset="2"/>
              <a:buNone/>
            </a:pPr>
            <a:endParaRPr lang="en-US" sz="2000" smtClean="0"/>
          </a:p>
        </p:txBody>
      </p:sp>
    </p:spTree>
    <p:extLst>
      <p:ext uri="{BB962C8B-B14F-4D97-AF65-F5344CB8AC3E}">
        <p14:creationId xmlns:p14="http://schemas.microsoft.com/office/powerpoint/2010/main" val="38230024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4930"/>
                                        </p:tgtEl>
                                        <p:attrNameLst>
                                          <p:attrName>style.visibility</p:attrName>
                                        </p:attrNameLst>
                                      </p:cBhvr>
                                      <p:to>
                                        <p:strVal val="visible"/>
                                      </p:to>
                                    </p:set>
                                    <p:anim calcmode="lin" valueType="num">
                                      <p:cBhvr additive="base">
                                        <p:cTn id="7" dur="500" fill="hold"/>
                                        <p:tgtEl>
                                          <p:spTgt spid="124930"/>
                                        </p:tgtEl>
                                        <p:attrNameLst>
                                          <p:attrName>ppt_x</p:attrName>
                                        </p:attrNameLst>
                                      </p:cBhvr>
                                      <p:tavLst>
                                        <p:tav tm="0">
                                          <p:val>
                                            <p:strVal val="0-#ppt_w/2"/>
                                          </p:val>
                                        </p:tav>
                                        <p:tav tm="100000">
                                          <p:val>
                                            <p:strVal val="#ppt_x"/>
                                          </p:val>
                                        </p:tav>
                                      </p:tavLst>
                                    </p:anim>
                                    <p:anim calcmode="lin" valueType="num">
                                      <p:cBhvr additive="base">
                                        <p:cTn id="8" dur="500" fill="hold"/>
                                        <p:tgtEl>
                                          <p:spTgt spid="1249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4931">
                                            <p:txEl>
                                              <p:pRg st="0" end="0"/>
                                            </p:txEl>
                                          </p:spTgt>
                                        </p:tgtEl>
                                        <p:attrNameLst>
                                          <p:attrName>style.visibility</p:attrName>
                                        </p:attrNameLst>
                                      </p:cBhvr>
                                      <p:to>
                                        <p:strVal val="visible"/>
                                      </p:to>
                                    </p:set>
                                    <p:anim calcmode="lin" valueType="num">
                                      <p:cBhvr additive="base">
                                        <p:cTn id="13" dur="500" fill="hold"/>
                                        <p:tgtEl>
                                          <p:spTgt spid="12493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4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4931">
                                            <p:txEl>
                                              <p:pRg st="1" end="1"/>
                                            </p:txEl>
                                          </p:spTgt>
                                        </p:tgtEl>
                                        <p:attrNameLst>
                                          <p:attrName>style.visibility</p:attrName>
                                        </p:attrNameLst>
                                      </p:cBhvr>
                                      <p:to>
                                        <p:strVal val="visible"/>
                                      </p:to>
                                    </p:set>
                                    <p:anim calcmode="lin" valueType="num">
                                      <p:cBhvr additive="base">
                                        <p:cTn id="19" dur="500" fill="hold"/>
                                        <p:tgtEl>
                                          <p:spTgt spid="12493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4931">
                                            <p:txEl>
                                              <p:pRg st="1" end="1"/>
                                            </p:txEl>
                                          </p:spTgt>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124931">
                                            <p:txEl>
                                              <p:pRg st="2" end="2"/>
                                            </p:txEl>
                                          </p:spTgt>
                                        </p:tgtEl>
                                        <p:attrNameLst>
                                          <p:attrName>style.visibility</p:attrName>
                                        </p:attrNameLst>
                                      </p:cBhvr>
                                      <p:to>
                                        <p:strVal val="visible"/>
                                      </p:to>
                                    </p:set>
                                    <p:anim calcmode="lin" valueType="num">
                                      <p:cBhvr additive="base">
                                        <p:cTn id="24" dur="500" fill="hold"/>
                                        <p:tgtEl>
                                          <p:spTgt spid="124931">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24931">
                                            <p:txEl>
                                              <p:pRg st="2" end="2"/>
                                            </p:txEl>
                                          </p:spTgt>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124931">
                                            <p:txEl>
                                              <p:pRg st="3" end="3"/>
                                            </p:txEl>
                                          </p:spTgt>
                                        </p:tgtEl>
                                        <p:attrNameLst>
                                          <p:attrName>style.visibility</p:attrName>
                                        </p:attrNameLst>
                                      </p:cBhvr>
                                      <p:to>
                                        <p:strVal val="visible"/>
                                      </p:to>
                                    </p:set>
                                    <p:anim calcmode="lin" valueType="num">
                                      <p:cBhvr additive="base">
                                        <p:cTn id="29" dur="500" fill="hold"/>
                                        <p:tgtEl>
                                          <p:spTgt spid="124931">
                                            <p:txEl>
                                              <p:pRg st="3" end="3"/>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24931">
                                            <p:txEl>
                                              <p:pRg st="3" end="3"/>
                                            </p:txEl>
                                          </p:spTgt>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1500"/>
                            </p:stCondLst>
                            <p:childTnLst>
                              <p:par>
                                <p:cTn id="32" presetID="2" presetClass="entr" presetSubtype="8" fill="hold" grpId="0" nodeType="afterEffect">
                                  <p:stCondLst>
                                    <p:cond delay="0"/>
                                  </p:stCondLst>
                                  <p:childTnLst>
                                    <p:set>
                                      <p:cBhvr>
                                        <p:cTn id="33" dur="1" fill="hold">
                                          <p:stCondLst>
                                            <p:cond delay="0"/>
                                          </p:stCondLst>
                                        </p:cTn>
                                        <p:tgtEl>
                                          <p:spTgt spid="124931">
                                            <p:txEl>
                                              <p:pRg st="4" end="4"/>
                                            </p:txEl>
                                          </p:spTgt>
                                        </p:tgtEl>
                                        <p:attrNameLst>
                                          <p:attrName>style.visibility</p:attrName>
                                        </p:attrNameLst>
                                      </p:cBhvr>
                                      <p:to>
                                        <p:strVal val="visible"/>
                                      </p:to>
                                    </p:set>
                                    <p:anim calcmode="lin" valueType="num">
                                      <p:cBhvr additive="base">
                                        <p:cTn id="34" dur="500" fill="hold"/>
                                        <p:tgtEl>
                                          <p:spTgt spid="124931">
                                            <p:txEl>
                                              <p:pRg st="4" end="4"/>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124931">
                                            <p:txEl>
                                              <p:pRg st="4" end="4"/>
                                            </p:txEl>
                                          </p:spTgt>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2000"/>
                            </p:stCondLst>
                            <p:childTnLst>
                              <p:par>
                                <p:cTn id="37" presetID="2" presetClass="entr" presetSubtype="8" fill="hold" grpId="0" nodeType="afterEffect">
                                  <p:stCondLst>
                                    <p:cond delay="0"/>
                                  </p:stCondLst>
                                  <p:childTnLst>
                                    <p:set>
                                      <p:cBhvr>
                                        <p:cTn id="38" dur="1" fill="hold">
                                          <p:stCondLst>
                                            <p:cond delay="0"/>
                                          </p:stCondLst>
                                        </p:cTn>
                                        <p:tgtEl>
                                          <p:spTgt spid="124931">
                                            <p:txEl>
                                              <p:pRg st="5" end="5"/>
                                            </p:txEl>
                                          </p:spTgt>
                                        </p:tgtEl>
                                        <p:attrNameLst>
                                          <p:attrName>style.visibility</p:attrName>
                                        </p:attrNameLst>
                                      </p:cBhvr>
                                      <p:to>
                                        <p:strVal val="visible"/>
                                      </p:to>
                                    </p:set>
                                    <p:anim calcmode="lin" valueType="num">
                                      <p:cBhvr additive="base">
                                        <p:cTn id="39" dur="500" fill="hold"/>
                                        <p:tgtEl>
                                          <p:spTgt spid="124931">
                                            <p:txEl>
                                              <p:pRg st="5" end="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249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24931">
                                            <p:txEl>
                                              <p:pRg st="7" end="7"/>
                                            </p:txEl>
                                          </p:spTgt>
                                        </p:tgtEl>
                                        <p:attrNameLst>
                                          <p:attrName>style.visibility</p:attrName>
                                        </p:attrNameLst>
                                      </p:cBhvr>
                                      <p:to>
                                        <p:strVal val="visible"/>
                                      </p:to>
                                    </p:set>
                                    <p:anim calcmode="lin" valueType="num">
                                      <p:cBhvr additive="base">
                                        <p:cTn id="45" dur="500" fill="hold"/>
                                        <p:tgtEl>
                                          <p:spTgt spid="124931">
                                            <p:txEl>
                                              <p:pRg st="7" end="7"/>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12493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p:bldP spid="12493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sz="3200" b="1">
                <a:solidFill>
                  <a:srgbClr val="CC0000"/>
                </a:solidFill>
                <a:latin typeface="Tahoma" pitchFamily="34" charset="0"/>
              </a:rPr>
              <a:t>3. Các ngôn ngữ lập trình</a:t>
            </a:r>
            <a:endParaRPr lang="en-US" sz="3200" b="1" smtClean="0">
              <a:solidFill>
                <a:srgbClr val="CC3300"/>
              </a:solidFill>
              <a:latin typeface="Tahoma" pitchFamily="34" charset="0"/>
            </a:endParaRPr>
          </a:p>
        </p:txBody>
      </p:sp>
      <p:sp>
        <p:nvSpPr>
          <p:cNvPr id="123907" name="Rectangle 3"/>
          <p:cNvSpPr>
            <a:spLocks noGrp="1" noChangeArrowheads="1"/>
          </p:cNvSpPr>
          <p:nvPr>
            <p:ph type="body" idx="1"/>
          </p:nvPr>
        </p:nvSpPr>
        <p:spPr/>
        <p:txBody>
          <a:bodyPr/>
          <a:lstStyle/>
          <a:p>
            <a:pPr>
              <a:buFont typeface="Wingdings" pitchFamily="2" charset="2"/>
              <a:buChar char="v"/>
            </a:pPr>
            <a:r>
              <a:rPr lang="en-US" sz="2200" smtClean="0">
                <a:solidFill>
                  <a:srgbClr val="CC3300"/>
                </a:solidFill>
                <a:latin typeface="Tahoma" pitchFamily="34" charset="0"/>
              </a:rPr>
              <a:t>Ngôn ngữ script, mô tả</a:t>
            </a:r>
            <a:r>
              <a:rPr lang="en-US" sz="2200" smtClean="0">
                <a:solidFill>
                  <a:srgbClr val="000066"/>
                </a:solidFill>
                <a:latin typeface="Tahoma" pitchFamily="34" charset="0"/>
              </a:rPr>
              <a:t>: html, xml, css, java script, perl, cgi, asp, php, jsp, … (internet, web app)</a:t>
            </a:r>
          </a:p>
          <a:p>
            <a:pPr>
              <a:buFont typeface="Wingdings" pitchFamily="2" charset="2"/>
              <a:buNone/>
            </a:pPr>
            <a:endParaRPr lang="en-US" sz="2200" smtClean="0">
              <a:solidFill>
                <a:srgbClr val="000066"/>
              </a:solidFill>
              <a:latin typeface="Tahoma" pitchFamily="34" charset="0"/>
            </a:endParaRPr>
          </a:p>
          <a:p>
            <a:pPr>
              <a:buFont typeface="Wingdings" pitchFamily="2" charset="2"/>
              <a:buChar char="v"/>
            </a:pPr>
            <a:r>
              <a:rPr lang="en-US" sz="2200" smtClean="0">
                <a:solidFill>
                  <a:srgbClr val="CC3300"/>
                </a:solidFill>
                <a:latin typeface="Tahoma" pitchFamily="34" charset="0"/>
              </a:rPr>
              <a:t>Software Frameworks</a:t>
            </a:r>
          </a:p>
          <a:p>
            <a:pPr lvl="1">
              <a:buFont typeface="Wingdings" pitchFamily="2" charset="2"/>
              <a:buChar char="v"/>
            </a:pPr>
            <a:r>
              <a:rPr lang="en-US" sz="2200" smtClean="0">
                <a:solidFill>
                  <a:srgbClr val="000066"/>
                </a:solidFill>
                <a:latin typeface="Tahoma" pitchFamily="34" charset="0"/>
              </a:rPr>
              <a:t>Java Flatforms (J2SE, J2EE, J2ME) </a:t>
            </a:r>
          </a:p>
          <a:p>
            <a:pPr lvl="1">
              <a:buFont typeface="Wingdings" pitchFamily="2" charset="2"/>
              <a:buChar char="v"/>
            </a:pPr>
            <a:r>
              <a:rPr lang="en-US" sz="2200" smtClean="0">
                <a:solidFill>
                  <a:srgbClr val="000066"/>
                </a:solidFill>
                <a:latin typeface="Tahoma" pitchFamily="34" charset="0"/>
              </a:rPr>
              <a:t>NET Framework (ASP.NET, VB.NET, C#.NET, …)</a:t>
            </a:r>
          </a:p>
          <a:p>
            <a:pPr lvl="1">
              <a:buFont typeface="Wingdings" pitchFamily="2" charset="2"/>
              <a:buChar char="v"/>
            </a:pPr>
            <a:r>
              <a:rPr lang="en-US" sz="2200" smtClean="0">
                <a:solidFill>
                  <a:srgbClr val="000066"/>
                </a:solidFill>
                <a:latin typeface="Tahoma" pitchFamily="34" charset="0"/>
              </a:rPr>
              <a:t>Java Frameworks (Struts, Spring, Hibernate)</a:t>
            </a:r>
            <a:endParaRPr lang="en-US" sz="2200" baseline="30000" smtClean="0">
              <a:solidFill>
                <a:srgbClr val="000066"/>
              </a:solidFill>
              <a:latin typeface="Tahoma" pitchFamily="34" charset="0"/>
            </a:endParaRPr>
          </a:p>
          <a:p>
            <a:pPr>
              <a:buFont typeface="Wingdings" pitchFamily="2" charset="2"/>
              <a:buNone/>
            </a:pPr>
            <a:endParaRPr lang="en-US" sz="2200" smtClean="0">
              <a:solidFill>
                <a:srgbClr val="000066"/>
              </a:solidFill>
              <a:latin typeface="Tahoma" pitchFamily="34" charset="0"/>
            </a:endParaRPr>
          </a:p>
          <a:p>
            <a:pPr>
              <a:buFont typeface="Wingdings" pitchFamily="2" charset="2"/>
              <a:buChar char="v"/>
            </a:pPr>
            <a:r>
              <a:rPr lang="en-US" sz="2200" smtClean="0">
                <a:solidFill>
                  <a:srgbClr val="000066"/>
                </a:solidFill>
                <a:latin typeface="Tahoma" pitchFamily="34" charset="0"/>
              </a:rPr>
              <a:t>…</a:t>
            </a:r>
            <a:endParaRPr lang="en-US" sz="2200" smtClean="0"/>
          </a:p>
          <a:p>
            <a:pPr>
              <a:buFont typeface="Wingdings" pitchFamily="2" charset="2"/>
              <a:buNone/>
            </a:pPr>
            <a:endParaRPr lang="en-US" sz="2200" smtClean="0"/>
          </a:p>
        </p:txBody>
      </p:sp>
    </p:spTree>
    <p:extLst>
      <p:ext uri="{BB962C8B-B14F-4D97-AF65-F5344CB8AC3E}">
        <p14:creationId xmlns:p14="http://schemas.microsoft.com/office/powerpoint/2010/main" val="31599689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normAutofit fontScale="90000"/>
          </a:bodyPr>
          <a:lstStyle/>
          <a:p>
            <a:r>
              <a:rPr lang="en-US" b="1" dirty="0" smtClean="0">
                <a:solidFill>
                  <a:srgbClr val="C00000"/>
                </a:solidFill>
              </a:rPr>
              <a:t>4. </a:t>
            </a:r>
            <a:r>
              <a:rPr lang="en-US" b="1" dirty="0" err="1" smtClean="0">
                <a:solidFill>
                  <a:srgbClr val="C00000"/>
                </a:solidFill>
              </a:rPr>
              <a:t>Các</a:t>
            </a:r>
            <a:r>
              <a:rPr lang="en-US" b="1" dirty="0" smtClean="0">
                <a:solidFill>
                  <a:srgbClr val="C00000"/>
                </a:solidFill>
              </a:rPr>
              <a:t> </a:t>
            </a:r>
            <a:r>
              <a:rPr lang="en-US" b="1" dirty="0" err="1" smtClean="0">
                <a:solidFill>
                  <a:srgbClr val="C00000"/>
                </a:solidFill>
              </a:rPr>
              <a:t>khái</a:t>
            </a:r>
            <a:r>
              <a:rPr lang="en-US" b="1" dirty="0" smtClean="0">
                <a:solidFill>
                  <a:srgbClr val="C00000"/>
                </a:solidFill>
              </a:rPr>
              <a:t> </a:t>
            </a:r>
            <a:r>
              <a:rPr lang="en-US" b="1" dirty="0" err="1" smtClean="0">
                <a:solidFill>
                  <a:srgbClr val="C00000"/>
                </a:solidFill>
              </a:rPr>
              <a:t>niệm</a:t>
            </a:r>
            <a:r>
              <a:rPr lang="en-US" b="1" dirty="0" smtClean="0">
                <a:solidFill>
                  <a:srgbClr val="C00000"/>
                </a:solidFill>
              </a:rPr>
              <a:t> </a:t>
            </a:r>
            <a:r>
              <a:rPr lang="en-US" b="1" dirty="0" err="1" smtClean="0">
                <a:solidFill>
                  <a:srgbClr val="C00000"/>
                </a:solidFill>
              </a:rPr>
              <a:t>cơ</a:t>
            </a:r>
            <a:r>
              <a:rPr lang="en-US" b="1" dirty="0" smtClean="0">
                <a:solidFill>
                  <a:srgbClr val="C00000"/>
                </a:solidFill>
              </a:rPr>
              <a:t> </a:t>
            </a:r>
            <a:r>
              <a:rPr lang="en-US" b="1" dirty="0" err="1" smtClean="0">
                <a:solidFill>
                  <a:srgbClr val="C00000"/>
                </a:solidFill>
              </a:rPr>
              <a:t>bản</a:t>
            </a:r>
            <a:r>
              <a:rPr lang="en-US" b="1" dirty="0" smtClean="0">
                <a:solidFill>
                  <a:srgbClr val="C00000"/>
                </a:solidFill>
              </a:rPr>
              <a:t> </a:t>
            </a:r>
            <a:r>
              <a:rPr lang="en-US" b="1" dirty="0" err="1" smtClean="0">
                <a:solidFill>
                  <a:srgbClr val="C00000"/>
                </a:solidFill>
              </a:rPr>
              <a:t>về</a:t>
            </a:r>
            <a:r>
              <a:rPr lang="en-US" b="1" dirty="0" smtClean="0">
                <a:solidFill>
                  <a:srgbClr val="C00000"/>
                </a:solidFill>
              </a:rPr>
              <a:t> </a:t>
            </a:r>
            <a:r>
              <a:rPr lang="en-US" b="1" dirty="0" err="1" smtClean="0">
                <a:solidFill>
                  <a:srgbClr val="C00000"/>
                </a:solidFill>
              </a:rPr>
              <a:t>lập</a:t>
            </a:r>
            <a:r>
              <a:rPr lang="en-US" b="1" dirty="0" smtClean="0">
                <a:solidFill>
                  <a:srgbClr val="C00000"/>
                </a:solidFill>
              </a:rPr>
              <a:t> </a:t>
            </a:r>
            <a:r>
              <a:rPr lang="en-US" b="1" dirty="0" err="1" smtClean="0">
                <a:solidFill>
                  <a:srgbClr val="C00000"/>
                </a:solidFill>
              </a:rPr>
              <a:t>trình</a:t>
            </a:r>
            <a:endParaRPr lang="vi-VN" b="1" dirty="0" smtClean="0">
              <a:solidFill>
                <a:srgbClr val="C00000"/>
              </a:solidFill>
            </a:endParaRPr>
          </a:p>
        </p:txBody>
      </p:sp>
      <p:sp>
        <p:nvSpPr>
          <p:cNvPr id="3" name="Content Placeholder 2"/>
          <p:cNvSpPr>
            <a:spLocks noGrp="1"/>
          </p:cNvSpPr>
          <p:nvPr>
            <p:ph idx="1"/>
          </p:nvPr>
        </p:nvSpPr>
        <p:spPr/>
        <p:txBody>
          <a:bodyPr>
            <a:normAutofit lnSpcReduction="10000"/>
          </a:bodyPr>
          <a:lstStyle/>
          <a:p>
            <a:pPr>
              <a:defRPr/>
            </a:pPr>
            <a:r>
              <a:rPr lang="en-US" smtClean="0">
                <a:solidFill>
                  <a:schemeClr val="tx1">
                    <a:lumMod val="60000"/>
                    <a:lumOff val="40000"/>
                  </a:schemeClr>
                </a:solidFill>
              </a:rPr>
              <a:t>Lập trình máy tính</a:t>
            </a:r>
          </a:p>
          <a:p>
            <a:pPr lvl="1">
              <a:defRPr/>
            </a:pPr>
            <a:r>
              <a:rPr lang="en-US" smtClean="0"/>
              <a:t>Gọi tắt là </a:t>
            </a:r>
            <a:r>
              <a:rPr lang="en-US" smtClean="0">
                <a:solidFill>
                  <a:srgbClr val="FF0000"/>
                </a:solidFill>
              </a:rPr>
              <a:t>lập trình</a:t>
            </a:r>
            <a:r>
              <a:rPr lang="en-US" smtClean="0"/>
              <a:t> (programming).</a:t>
            </a:r>
          </a:p>
          <a:p>
            <a:pPr lvl="1">
              <a:defRPr/>
            </a:pPr>
            <a:r>
              <a:rPr lang="en-US" smtClean="0"/>
              <a:t>Nghệ thuật </a:t>
            </a:r>
            <a:r>
              <a:rPr lang="en-US" smtClean="0">
                <a:solidFill>
                  <a:srgbClr val="FF0000"/>
                </a:solidFill>
              </a:rPr>
              <a:t>cài </a:t>
            </a:r>
            <a:r>
              <a:rPr lang="vi-VN" smtClean="0">
                <a:solidFill>
                  <a:srgbClr val="FF0000"/>
                </a:solidFill>
              </a:rPr>
              <a:t>đặ</a:t>
            </a:r>
            <a:r>
              <a:rPr lang="en-US" smtClean="0">
                <a:solidFill>
                  <a:srgbClr val="FF0000"/>
                </a:solidFill>
              </a:rPr>
              <a:t>t</a:t>
            </a:r>
            <a:r>
              <a:rPr lang="en-US" smtClean="0"/>
              <a:t> một hoặc nhiều </a:t>
            </a:r>
            <a:r>
              <a:rPr lang="en-US" smtClean="0">
                <a:solidFill>
                  <a:srgbClr val="FF0000"/>
                </a:solidFill>
              </a:rPr>
              <a:t>thuật toán</a:t>
            </a:r>
            <a:r>
              <a:rPr lang="en-US" smtClean="0"/>
              <a:t> trừu t</a:t>
            </a:r>
            <a:r>
              <a:rPr lang="vi-VN" smtClean="0"/>
              <a:t>ượ</a:t>
            </a:r>
            <a:r>
              <a:rPr lang="en-US" smtClean="0"/>
              <a:t>ng có liên quan với nhau bằng một </a:t>
            </a:r>
            <a:r>
              <a:rPr lang="en-US" smtClean="0">
                <a:solidFill>
                  <a:srgbClr val="FF0000"/>
                </a:solidFill>
              </a:rPr>
              <a:t>ngôn ngữ lập trình</a:t>
            </a:r>
            <a:r>
              <a:rPr lang="en-US" smtClean="0"/>
              <a:t> </a:t>
            </a:r>
            <a:r>
              <a:rPr lang="vi-VN" smtClean="0"/>
              <a:t>để</a:t>
            </a:r>
            <a:r>
              <a:rPr lang="en-US" smtClean="0"/>
              <a:t> tạo ra một </a:t>
            </a:r>
            <a:r>
              <a:rPr lang="en-US" smtClean="0">
                <a:solidFill>
                  <a:srgbClr val="FF0000"/>
                </a:solidFill>
              </a:rPr>
              <a:t>ch</a:t>
            </a:r>
            <a:r>
              <a:rPr lang="vi-VN" smtClean="0">
                <a:solidFill>
                  <a:srgbClr val="FF0000"/>
                </a:solidFill>
              </a:rPr>
              <a:t>ươ</a:t>
            </a:r>
            <a:r>
              <a:rPr lang="en-US" smtClean="0">
                <a:solidFill>
                  <a:srgbClr val="FF0000"/>
                </a:solidFill>
              </a:rPr>
              <a:t>ng trình máy tính</a:t>
            </a:r>
            <a:r>
              <a:rPr lang="en-US" smtClean="0"/>
              <a:t>.</a:t>
            </a:r>
          </a:p>
          <a:p>
            <a:pPr>
              <a:defRPr/>
            </a:pPr>
            <a:r>
              <a:rPr lang="en-US" smtClean="0">
                <a:solidFill>
                  <a:schemeClr val="tx1">
                    <a:lumMod val="60000"/>
                    <a:lumOff val="40000"/>
                  </a:schemeClr>
                </a:solidFill>
              </a:rPr>
              <a:t>Thuật toán</a:t>
            </a:r>
          </a:p>
          <a:p>
            <a:pPr lvl="1">
              <a:defRPr/>
            </a:pPr>
            <a:r>
              <a:rPr lang="en-US" smtClean="0"/>
              <a:t>Là </a:t>
            </a:r>
            <a:r>
              <a:rPr lang="en-US" smtClean="0">
                <a:solidFill>
                  <a:srgbClr val="FF0000"/>
                </a:solidFill>
              </a:rPr>
              <a:t>tập hợp</a:t>
            </a:r>
            <a:r>
              <a:rPr lang="en-US" smtClean="0"/>
              <a:t> (dãy) </a:t>
            </a:r>
            <a:r>
              <a:rPr lang="en-US" smtClean="0">
                <a:solidFill>
                  <a:srgbClr val="FF0000"/>
                </a:solidFill>
              </a:rPr>
              <a:t>hữu hạn</a:t>
            </a:r>
            <a:r>
              <a:rPr lang="en-US" smtClean="0"/>
              <a:t> các </a:t>
            </a:r>
            <a:r>
              <a:rPr lang="en-US" smtClean="0">
                <a:solidFill>
                  <a:srgbClr val="FF0000"/>
                </a:solidFill>
              </a:rPr>
              <a:t>chỉ thị</a:t>
            </a:r>
            <a:r>
              <a:rPr lang="en-US" smtClean="0"/>
              <a:t> (hành </a:t>
            </a:r>
            <a:r>
              <a:rPr lang="vi-VN" smtClean="0"/>
              <a:t>độ</a:t>
            </a:r>
            <a:r>
              <a:rPr lang="en-US" smtClean="0"/>
              <a:t>ng) </a:t>
            </a:r>
            <a:r>
              <a:rPr lang="vi-VN" smtClean="0"/>
              <a:t>đượ</a:t>
            </a:r>
            <a:r>
              <a:rPr lang="en-US" smtClean="0"/>
              <a:t>c </a:t>
            </a:r>
            <a:r>
              <a:rPr lang="vi-VN" smtClean="0">
                <a:solidFill>
                  <a:srgbClr val="FF0000"/>
                </a:solidFill>
              </a:rPr>
              <a:t>đị</a:t>
            </a:r>
            <a:r>
              <a:rPr lang="en-US" smtClean="0">
                <a:solidFill>
                  <a:srgbClr val="FF0000"/>
                </a:solidFill>
              </a:rPr>
              <a:t>nh nghĩa rõ ràng</a:t>
            </a:r>
            <a:r>
              <a:rPr lang="en-US" smtClean="0"/>
              <a:t> nhằm </a:t>
            </a:r>
            <a:r>
              <a:rPr lang="en-US" smtClean="0">
                <a:solidFill>
                  <a:srgbClr val="FF0000"/>
                </a:solidFill>
              </a:rPr>
              <a:t>giải quyết một bài toán cụ thể</a:t>
            </a:r>
            <a:r>
              <a:rPr lang="en-US" smtClean="0"/>
              <a:t> nào </a:t>
            </a:r>
            <a:r>
              <a:rPr lang="vi-VN" smtClean="0"/>
              <a:t>đó</a:t>
            </a:r>
            <a:r>
              <a:rPr lang="en-US" smtClean="0"/>
              <a:t>.</a:t>
            </a:r>
            <a:endParaRPr lang="vi-VN"/>
          </a:p>
        </p:txBody>
      </p:sp>
      <p:sp>
        <p:nvSpPr>
          <p:cNvPr id="5" name="Slide Number Placeholder 4"/>
          <p:cNvSpPr>
            <a:spLocks noGrp="1"/>
          </p:cNvSpPr>
          <p:nvPr>
            <p:ph type="sldNum" sz="quarter" idx="12"/>
          </p:nvPr>
        </p:nvSpPr>
        <p:spPr/>
        <p:txBody>
          <a:bodyPr/>
          <a:lstStyle/>
          <a:p>
            <a:fld id="{3EE42D2C-CD8C-4326-A321-D508F4519716}"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fontScale="90000"/>
          </a:bodyPr>
          <a:lstStyle/>
          <a:p>
            <a:r>
              <a:rPr lang="en-US" b="1" dirty="0" smtClean="0">
                <a:solidFill>
                  <a:srgbClr val="C00000"/>
                </a:solidFill>
              </a:rPr>
              <a:t>4. </a:t>
            </a:r>
            <a:r>
              <a:rPr lang="en-US" b="1" dirty="0" err="1" smtClean="0">
                <a:solidFill>
                  <a:srgbClr val="C00000"/>
                </a:solidFill>
              </a:rPr>
              <a:t>Các</a:t>
            </a:r>
            <a:r>
              <a:rPr lang="en-US" b="1" dirty="0" smtClean="0">
                <a:solidFill>
                  <a:srgbClr val="C00000"/>
                </a:solidFill>
              </a:rPr>
              <a:t> </a:t>
            </a:r>
            <a:r>
              <a:rPr lang="en-US" b="1" dirty="0" err="1" smtClean="0">
                <a:solidFill>
                  <a:srgbClr val="C00000"/>
                </a:solidFill>
              </a:rPr>
              <a:t>khái</a:t>
            </a:r>
            <a:r>
              <a:rPr lang="en-US" b="1" dirty="0" smtClean="0">
                <a:solidFill>
                  <a:srgbClr val="C00000"/>
                </a:solidFill>
              </a:rPr>
              <a:t> </a:t>
            </a:r>
            <a:r>
              <a:rPr lang="en-US" b="1" dirty="0" err="1" smtClean="0">
                <a:solidFill>
                  <a:srgbClr val="C00000"/>
                </a:solidFill>
              </a:rPr>
              <a:t>niệm</a:t>
            </a:r>
            <a:r>
              <a:rPr lang="en-US" b="1" dirty="0" smtClean="0">
                <a:solidFill>
                  <a:srgbClr val="C00000"/>
                </a:solidFill>
              </a:rPr>
              <a:t> </a:t>
            </a:r>
            <a:r>
              <a:rPr lang="en-US" b="1" dirty="0" err="1" smtClean="0">
                <a:solidFill>
                  <a:srgbClr val="C00000"/>
                </a:solidFill>
              </a:rPr>
              <a:t>cơ</a:t>
            </a:r>
            <a:r>
              <a:rPr lang="en-US" b="1" dirty="0" smtClean="0">
                <a:solidFill>
                  <a:srgbClr val="C00000"/>
                </a:solidFill>
              </a:rPr>
              <a:t> </a:t>
            </a:r>
            <a:r>
              <a:rPr lang="en-US" b="1" dirty="0" err="1" smtClean="0">
                <a:solidFill>
                  <a:srgbClr val="C00000"/>
                </a:solidFill>
              </a:rPr>
              <a:t>bản</a:t>
            </a:r>
            <a:r>
              <a:rPr lang="en-US" b="1" dirty="0" smtClean="0">
                <a:solidFill>
                  <a:srgbClr val="C00000"/>
                </a:solidFill>
              </a:rPr>
              <a:t> </a:t>
            </a:r>
            <a:r>
              <a:rPr lang="en-US" b="1" dirty="0" err="1" smtClean="0">
                <a:solidFill>
                  <a:srgbClr val="C00000"/>
                </a:solidFill>
              </a:rPr>
              <a:t>về</a:t>
            </a:r>
            <a:r>
              <a:rPr lang="en-US" b="1" dirty="0" smtClean="0">
                <a:solidFill>
                  <a:srgbClr val="C00000"/>
                </a:solidFill>
              </a:rPr>
              <a:t> </a:t>
            </a:r>
            <a:r>
              <a:rPr lang="en-US" b="1" dirty="0" err="1" smtClean="0">
                <a:solidFill>
                  <a:srgbClr val="C00000"/>
                </a:solidFill>
              </a:rPr>
              <a:t>lập</a:t>
            </a:r>
            <a:r>
              <a:rPr lang="en-US" b="1" dirty="0" smtClean="0">
                <a:solidFill>
                  <a:srgbClr val="C00000"/>
                </a:solidFill>
              </a:rPr>
              <a:t> </a:t>
            </a:r>
            <a:r>
              <a:rPr lang="en-US" b="1" dirty="0" err="1" smtClean="0">
                <a:solidFill>
                  <a:srgbClr val="C00000"/>
                </a:solidFill>
              </a:rPr>
              <a:t>trình</a:t>
            </a:r>
            <a:endParaRPr lang="en-US" b="1" dirty="0" smtClean="0">
              <a:solidFill>
                <a:srgbClr val="C00000"/>
              </a:solidFill>
            </a:endParaRPr>
          </a:p>
        </p:txBody>
      </p:sp>
      <p:sp>
        <p:nvSpPr>
          <p:cNvPr id="3" name="Content Placeholder 2"/>
          <p:cNvSpPr>
            <a:spLocks noGrp="1"/>
          </p:cNvSpPr>
          <p:nvPr>
            <p:ph idx="1"/>
          </p:nvPr>
        </p:nvSpPr>
        <p:spPr/>
        <p:txBody>
          <a:bodyPr/>
          <a:lstStyle/>
          <a:p>
            <a:pPr>
              <a:defRPr/>
            </a:pPr>
            <a:r>
              <a:rPr lang="en-US" smtClean="0">
                <a:solidFill>
                  <a:schemeClr val="tx1">
                    <a:lumMod val="60000"/>
                    <a:lumOff val="40000"/>
                  </a:schemeClr>
                </a:solidFill>
              </a:rPr>
              <a:t>Ví dụ</a:t>
            </a:r>
          </a:p>
          <a:p>
            <a:pPr lvl="1">
              <a:defRPr/>
            </a:pPr>
            <a:r>
              <a:rPr lang="en-US" smtClean="0"/>
              <a:t>Thuật toán giải PT bậc nhất: ax + b = 0</a:t>
            </a:r>
          </a:p>
          <a:p>
            <a:pPr lvl="1">
              <a:buFont typeface="Wingdings" pitchFamily="2" charset="2"/>
              <a:buNone/>
              <a:defRPr/>
            </a:pPr>
            <a:r>
              <a:rPr lang="en-US" smtClean="0"/>
              <a:t>	(a, b là các số thực).</a:t>
            </a:r>
            <a:endParaRPr lang="en-US"/>
          </a:p>
        </p:txBody>
      </p:sp>
      <p:sp>
        <p:nvSpPr>
          <p:cNvPr id="6" name="Rounded Rectangle 5"/>
          <p:cNvSpPr/>
          <p:nvPr/>
        </p:nvSpPr>
        <p:spPr>
          <a:xfrm>
            <a:off x="685800" y="3886200"/>
            <a:ext cx="152400" cy="1676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7" name="TextBox 6"/>
          <p:cNvSpPr txBox="1">
            <a:spLocks noChangeArrowheads="1"/>
          </p:cNvSpPr>
          <p:nvPr/>
        </p:nvSpPr>
        <p:spPr bwMode="auto">
          <a:xfrm>
            <a:off x="838200" y="3962400"/>
            <a:ext cx="7010400" cy="1631950"/>
          </a:xfrm>
          <a:prstGeom prst="rect">
            <a:avLst/>
          </a:prstGeom>
          <a:noFill/>
          <a:ln w="9525">
            <a:noFill/>
            <a:miter lim="800000"/>
            <a:headEnd/>
            <a:tailEnd/>
          </a:ln>
        </p:spPr>
        <p:txBody>
          <a:bodyPr>
            <a:spAutoFit/>
          </a:bodyPr>
          <a:lstStyle/>
          <a:p>
            <a:pPr>
              <a:buFont typeface="Arial" charset="0"/>
              <a:buChar char="•"/>
            </a:pPr>
            <a:r>
              <a:rPr lang="en-US" sz="2000" b="1">
                <a:latin typeface="Courier New" pitchFamily="49" charset="0"/>
                <a:cs typeface="Courier New" pitchFamily="49" charset="0"/>
              </a:rPr>
              <a:t> Nếu a = 0</a:t>
            </a:r>
          </a:p>
          <a:p>
            <a:pPr lvl="1">
              <a:buFont typeface="Arial" charset="0"/>
              <a:buChar char="•"/>
            </a:pPr>
            <a:r>
              <a:rPr lang="en-US" sz="2000" b="1">
                <a:latin typeface="Courier New" pitchFamily="49" charset="0"/>
                <a:cs typeface="Courier New" pitchFamily="49" charset="0"/>
              </a:rPr>
              <a:t> b = 0 thì ph</a:t>
            </a:r>
            <a:r>
              <a:rPr lang="vi-VN" sz="2000" b="1">
                <a:latin typeface="Courier New" pitchFamily="49" charset="0"/>
                <a:cs typeface="Courier New" pitchFamily="49" charset="0"/>
              </a:rPr>
              <a:t>ươ</a:t>
            </a:r>
            <a:r>
              <a:rPr lang="en-US" sz="2000" b="1">
                <a:latin typeface="Courier New" pitchFamily="49" charset="0"/>
                <a:cs typeface="Courier New" pitchFamily="49" charset="0"/>
              </a:rPr>
              <a:t>ng trình có nghiệm bất kì.</a:t>
            </a:r>
          </a:p>
          <a:p>
            <a:pPr lvl="1">
              <a:buFont typeface="Arial" charset="0"/>
              <a:buChar char="•"/>
            </a:pPr>
            <a:r>
              <a:rPr lang="en-US" sz="2000" b="1">
                <a:latin typeface="Courier New" pitchFamily="49" charset="0"/>
                <a:cs typeface="Courier New" pitchFamily="49" charset="0"/>
              </a:rPr>
              <a:t> b ≠ 0 thì ph</a:t>
            </a:r>
            <a:r>
              <a:rPr lang="vi-VN" sz="2000" b="1">
                <a:latin typeface="Courier New" pitchFamily="49" charset="0"/>
                <a:cs typeface="Courier New" pitchFamily="49" charset="0"/>
              </a:rPr>
              <a:t>ươ</a:t>
            </a:r>
            <a:r>
              <a:rPr lang="en-US" sz="2000" b="1">
                <a:latin typeface="Courier New" pitchFamily="49" charset="0"/>
                <a:cs typeface="Courier New" pitchFamily="49" charset="0"/>
              </a:rPr>
              <a:t>ng trình vô nghiệm.</a:t>
            </a:r>
          </a:p>
          <a:p>
            <a:pPr>
              <a:buFont typeface="Arial" charset="0"/>
              <a:buChar char="•"/>
            </a:pPr>
            <a:r>
              <a:rPr lang="en-US" sz="2000" b="1">
                <a:latin typeface="Courier New" pitchFamily="49" charset="0"/>
                <a:cs typeface="Courier New" pitchFamily="49" charset="0"/>
              </a:rPr>
              <a:t> Nếu a ≠ 0</a:t>
            </a:r>
          </a:p>
          <a:p>
            <a:pPr lvl="1">
              <a:buFont typeface="Arial" charset="0"/>
              <a:buChar char="•"/>
            </a:pPr>
            <a:r>
              <a:rPr lang="en-US" sz="2000" b="1">
                <a:latin typeface="Courier New" pitchFamily="49" charset="0"/>
                <a:cs typeface="Courier New" pitchFamily="49" charset="0"/>
              </a:rPr>
              <a:t> Ph</a:t>
            </a:r>
            <a:r>
              <a:rPr lang="vi-VN" sz="2000" b="1">
                <a:latin typeface="Courier New" pitchFamily="49" charset="0"/>
                <a:cs typeface="Courier New" pitchFamily="49" charset="0"/>
              </a:rPr>
              <a:t>ươ</a:t>
            </a:r>
            <a:r>
              <a:rPr lang="en-US" sz="2000" b="1">
                <a:latin typeface="Courier New" pitchFamily="49" charset="0"/>
                <a:cs typeface="Courier New" pitchFamily="49" charset="0"/>
              </a:rPr>
              <a:t>ng trình có nghiệm duy nhất x = -b/a</a:t>
            </a:r>
          </a:p>
        </p:txBody>
      </p:sp>
      <p:sp>
        <p:nvSpPr>
          <p:cNvPr id="9" name="TextBox 8"/>
          <p:cNvSpPr txBox="1"/>
          <p:nvPr/>
        </p:nvSpPr>
        <p:spPr>
          <a:xfrm>
            <a:off x="685800" y="3200400"/>
            <a:ext cx="7162800" cy="708025"/>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2000" b="1">
                <a:solidFill>
                  <a:schemeClr val="tx1">
                    <a:lumMod val="60000"/>
                    <a:lumOff val="40000"/>
                  </a:schemeClr>
                </a:solidFill>
                <a:latin typeface="Courier New" pitchFamily="49" charset="0"/>
                <a:cs typeface="Courier New" pitchFamily="49" charset="0"/>
              </a:rPr>
              <a:t>Đầu vào:</a:t>
            </a:r>
            <a:r>
              <a:rPr lang="en-US" sz="2000" b="1">
                <a:latin typeface="Courier New" pitchFamily="49" charset="0"/>
                <a:cs typeface="Courier New" pitchFamily="49" charset="0"/>
              </a:rPr>
              <a:t> a, b thuộc R</a:t>
            </a:r>
          </a:p>
          <a:p>
            <a:pPr>
              <a:defRPr/>
            </a:pPr>
            <a:r>
              <a:rPr lang="en-US" sz="2000" b="1">
                <a:solidFill>
                  <a:schemeClr val="tx1">
                    <a:lumMod val="60000"/>
                    <a:lumOff val="40000"/>
                  </a:schemeClr>
                </a:solidFill>
                <a:latin typeface="Courier New" pitchFamily="49" charset="0"/>
                <a:cs typeface="Courier New" pitchFamily="49" charset="0"/>
              </a:rPr>
              <a:t>Đầu ra:</a:t>
            </a:r>
            <a:r>
              <a:rPr lang="en-US" sz="2000" b="1">
                <a:latin typeface="Courier New" pitchFamily="49" charset="0"/>
                <a:cs typeface="Courier New" pitchFamily="49" charset="0"/>
              </a:rPr>
              <a:t> nghiệm ph</a:t>
            </a:r>
            <a:r>
              <a:rPr lang="vi-VN" sz="2000" b="1">
                <a:latin typeface="Courier New" pitchFamily="49" charset="0"/>
                <a:cs typeface="Courier New" pitchFamily="49" charset="0"/>
              </a:rPr>
              <a:t>ươ</a:t>
            </a:r>
            <a:r>
              <a:rPr lang="en-US" sz="2000" b="1">
                <a:latin typeface="Courier New" pitchFamily="49" charset="0"/>
                <a:cs typeface="Courier New" pitchFamily="49" charset="0"/>
              </a:rPr>
              <a:t>ng trình ax + b = 0</a:t>
            </a:r>
          </a:p>
        </p:txBody>
      </p:sp>
      <p:sp>
        <p:nvSpPr>
          <p:cNvPr id="8" name="Slide Number Placeholder 7"/>
          <p:cNvSpPr>
            <a:spLocks noGrp="1"/>
          </p:cNvSpPr>
          <p:nvPr>
            <p:ph type="sldNum" sz="quarter" idx="12"/>
          </p:nvPr>
        </p:nvSpPr>
        <p:spPr/>
        <p:txBody>
          <a:bodyPr/>
          <a:lstStyle/>
          <a:p>
            <a:fld id="{3EE42D2C-CD8C-4326-A321-D508F4519716}"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5.Các </a:t>
            </a:r>
            <a:r>
              <a:rPr lang="en-US" b="1" dirty="0" err="1" smtClean="0">
                <a:solidFill>
                  <a:srgbClr val="C00000"/>
                </a:solidFill>
              </a:rPr>
              <a:t>hệ</a:t>
            </a:r>
            <a:r>
              <a:rPr lang="en-US" b="1" dirty="0" smtClean="0">
                <a:solidFill>
                  <a:srgbClr val="C00000"/>
                </a:solidFill>
              </a:rPr>
              <a:t> </a:t>
            </a:r>
            <a:r>
              <a:rPr lang="en-US" b="1" dirty="0" err="1" smtClean="0">
                <a:solidFill>
                  <a:srgbClr val="C00000"/>
                </a:solidFill>
              </a:rPr>
              <a:t>đếm</a:t>
            </a:r>
            <a:r>
              <a:rPr lang="en-US" b="1" dirty="0" smtClean="0">
                <a:solidFill>
                  <a:srgbClr val="C00000"/>
                </a:solidFill>
              </a:rPr>
              <a:t> </a:t>
            </a:r>
            <a:r>
              <a:rPr lang="en-US" b="1" dirty="0" err="1" smtClean="0">
                <a:solidFill>
                  <a:srgbClr val="C00000"/>
                </a:solidFill>
              </a:rPr>
              <a:t>trên</a:t>
            </a:r>
            <a:r>
              <a:rPr lang="en-US" b="1" dirty="0" smtClean="0">
                <a:solidFill>
                  <a:srgbClr val="C00000"/>
                </a:solidFill>
              </a:rPr>
              <a:t> </a:t>
            </a:r>
            <a:r>
              <a:rPr lang="en-US" b="1" dirty="0" err="1" smtClean="0">
                <a:solidFill>
                  <a:srgbClr val="C00000"/>
                </a:solidFill>
              </a:rPr>
              <a:t>máy</a:t>
            </a:r>
            <a:r>
              <a:rPr lang="en-US" b="1" dirty="0" smtClean="0">
                <a:solidFill>
                  <a:srgbClr val="C00000"/>
                </a:solidFill>
              </a:rPr>
              <a:t> </a:t>
            </a:r>
            <a:r>
              <a:rPr lang="en-US" b="1" dirty="0" err="1" smtClean="0">
                <a:solidFill>
                  <a:srgbClr val="C00000"/>
                </a:solidFill>
              </a:rPr>
              <a:t>tính</a:t>
            </a:r>
            <a:endParaRPr lang="en-US" b="1" dirty="0">
              <a:solidFill>
                <a:srgbClr val="C00000"/>
              </a:solidFill>
            </a:endParaRPr>
          </a:p>
        </p:txBody>
      </p:sp>
      <p:sp>
        <p:nvSpPr>
          <p:cNvPr id="3" name="Content Placeholder 2"/>
          <p:cNvSpPr>
            <a:spLocks noGrp="1"/>
          </p:cNvSpPr>
          <p:nvPr>
            <p:ph idx="1"/>
          </p:nvPr>
        </p:nvSpPr>
        <p:spPr/>
        <p:txBody>
          <a:bodyPr/>
          <a:lstStyle/>
          <a:p>
            <a:r>
              <a:rPr lang="en-US" dirty="0" err="1" smtClean="0">
                <a:latin typeface="Arial" charset="0"/>
                <a:cs typeface="Arial" charset="0"/>
              </a:rPr>
              <a:t>Hệ</a:t>
            </a:r>
            <a:r>
              <a:rPr lang="en-US" dirty="0" smtClean="0">
                <a:latin typeface="Arial" charset="0"/>
                <a:cs typeface="Arial" charset="0"/>
              </a:rPr>
              <a:t> </a:t>
            </a:r>
            <a:r>
              <a:rPr lang="en-US" dirty="0" err="1" smtClean="0">
                <a:latin typeface="Arial" charset="0"/>
                <a:cs typeface="Arial" charset="0"/>
              </a:rPr>
              <a:t>đếm</a:t>
            </a:r>
            <a:endParaRPr lang="en-US" dirty="0" smtClean="0">
              <a:latin typeface="Arial" charset="0"/>
              <a:cs typeface="Arial" charset="0"/>
            </a:endParaRPr>
          </a:p>
          <a:p>
            <a:r>
              <a:rPr lang="en-US" dirty="0" err="1" smtClean="0">
                <a:latin typeface="Arial" charset="0"/>
                <a:cs typeface="Arial" charset="0"/>
              </a:rPr>
              <a:t>Hệ</a:t>
            </a:r>
            <a:r>
              <a:rPr lang="en-US" dirty="0" smtClean="0">
                <a:latin typeface="Arial" charset="0"/>
                <a:cs typeface="Arial" charset="0"/>
              </a:rPr>
              <a:t> </a:t>
            </a:r>
            <a:r>
              <a:rPr lang="en-US" dirty="0" err="1" smtClean="0">
                <a:latin typeface="Arial" charset="0"/>
                <a:cs typeface="Arial" charset="0"/>
              </a:rPr>
              <a:t>đếm</a:t>
            </a:r>
            <a:r>
              <a:rPr lang="en-US" dirty="0" smtClean="0">
                <a:latin typeface="Arial" charset="0"/>
                <a:cs typeface="Arial" charset="0"/>
              </a:rPr>
              <a:t> </a:t>
            </a:r>
            <a:r>
              <a:rPr lang="en-US" dirty="0" err="1" smtClean="0">
                <a:latin typeface="Arial" charset="0"/>
                <a:cs typeface="Arial" charset="0"/>
              </a:rPr>
              <a:t>nhị</a:t>
            </a:r>
            <a:r>
              <a:rPr lang="en-US" dirty="0" smtClean="0">
                <a:latin typeface="Arial" charset="0"/>
                <a:cs typeface="Arial" charset="0"/>
              </a:rPr>
              <a:t> </a:t>
            </a:r>
            <a:r>
              <a:rPr lang="en-US" dirty="0" err="1" smtClean="0">
                <a:latin typeface="Arial" charset="0"/>
                <a:cs typeface="Arial" charset="0"/>
              </a:rPr>
              <a:t>phân</a:t>
            </a:r>
            <a:r>
              <a:rPr lang="en-US" dirty="0" smtClean="0">
                <a:latin typeface="Arial" charset="0"/>
                <a:cs typeface="Arial" charset="0"/>
              </a:rPr>
              <a:t> </a:t>
            </a:r>
            <a:r>
              <a:rPr lang="en-US" dirty="0" err="1" smtClean="0">
                <a:latin typeface="Arial" charset="0"/>
                <a:cs typeface="Arial" charset="0"/>
              </a:rPr>
              <a:t>và</a:t>
            </a:r>
            <a:r>
              <a:rPr lang="en-US" dirty="0" smtClean="0">
                <a:latin typeface="Arial" charset="0"/>
                <a:cs typeface="Arial" charset="0"/>
              </a:rPr>
              <a:t> </a:t>
            </a:r>
            <a:r>
              <a:rPr lang="en-US" dirty="0" err="1" smtClean="0">
                <a:latin typeface="Arial" charset="0"/>
                <a:cs typeface="Arial" charset="0"/>
              </a:rPr>
              <a:t>hệ</a:t>
            </a:r>
            <a:r>
              <a:rPr lang="en-US" dirty="0" smtClean="0">
                <a:latin typeface="Arial" charset="0"/>
                <a:cs typeface="Arial" charset="0"/>
              </a:rPr>
              <a:t> </a:t>
            </a:r>
            <a:r>
              <a:rPr lang="en-US" dirty="0" err="1" smtClean="0">
                <a:latin typeface="Arial" charset="0"/>
                <a:cs typeface="Arial" charset="0"/>
              </a:rPr>
              <a:t>đếm</a:t>
            </a:r>
            <a:r>
              <a:rPr lang="en-US" dirty="0" smtClean="0">
                <a:latin typeface="Arial" charset="0"/>
                <a:cs typeface="Arial" charset="0"/>
              </a:rPr>
              <a:t> </a:t>
            </a:r>
            <a:r>
              <a:rPr lang="en-US" dirty="0" err="1" smtClean="0">
                <a:latin typeface="Arial" charset="0"/>
                <a:cs typeface="Arial" charset="0"/>
              </a:rPr>
              <a:t>cơ</a:t>
            </a:r>
            <a:r>
              <a:rPr lang="en-US" dirty="0" smtClean="0">
                <a:latin typeface="Arial" charset="0"/>
                <a:cs typeface="Arial" charset="0"/>
              </a:rPr>
              <a:t> </a:t>
            </a:r>
            <a:r>
              <a:rPr lang="en-US" dirty="0" err="1" smtClean="0">
                <a:latin typeface="Arial" charset="0"/>
                <a:cs typeface="Arial" charset="0"/>
              </a:rPr>
              <a:t>số</a:t>
            </a:r>
            <a:r>
              <a:rPr lang="en-US" dirty="0" smtClean="0">
                <a:latin typeface="Arial" charset="0"/>
                <a:cs typeface="Arial" charset="0"/>
              </a:rPr>
              <a:t> 16</a:t>
            </a:r>
          </a:p>
          <a:p>
            <a:r>
              <a:rPr lang="en-US" smtClean="0">
                <a:latin typeface="Arial" charset="0"/>
                <a:cs typeface="Arial" charset="0"/>
              </a:rPr>
              <a:t>Chuyển đổi giữa </a:t>
            </a:r>
            <a:r>
              <a:rPr lang="en-US" dirty="0" err="1" smtClean="0">
                <a:latin typeface="Arial" charset="0"/>
                <a:cs typeface="Arial" charset="0"/>
              </a:rPr>
              <a:t>các</a:t>
            </a:r>
            <a:r>
              <a:rPr lang="en-US" dirty="0" smtClean="0">
                <a:latin typeface="Arial" charset="0"/>
                <a:cs typeface="Arial" charset="0"/>
              </a:rPr>
              <a:t> </a:t>
            </a:r>
            <a:r>
              <a:rPr lang="en-US" dirty="0" err="1" smtClean="0">
                <a:latin typeface="Arial" charset="0"/>
                <a:cs typeface="Arial" charset="0"/>
              </a:rPr>
              <a:t>hệ</a:t>
            </a:r>
            <a:r>
              <a:rPr lang="en-US" dirty="0" smtClean="0">
                <a:latin typeface="Arial" charset="0"/>
                <a:cs typeface="Arial" charset="0"/>
              </a:rPr>
              <a:t> </a:t>
            </a:r>
            <a:r>
              <a:rPr lang="en-US" dirty="0" err="1" smtClean="0">
                <a:latin typeface="Arial" charset="0"/>
                <a:cs typeface="Arial" charset="0"/>
              </a:rPr>
              <a:t>đếm</a:t>
            </a:r>
            <a:endParaRPr lang="en-US" dirty="0" smtClean="0">
              <a:latin typeface="Arial" charset="0"/>
              <a:cs typeface="Arial" charset="0"/>
            </a:endParaRPr>
          </a:p>
          <a:p>
            <a:pPr>
              <a:buNone/>
            </a:pPr>
            <a:endParaRPr lang="en-US" dirty="0" smtClean="0">
              <a:latin typeface="Arial" charset="0"/>
              <a:cs typeface="Arial" charset="0"/>
            </a:endParaRPr>
          </a:p>
          <a:p>
            <a:endParaRPr lang="en-US" dirty="0"/>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762000" y="1676400"/>
            <a:ext cx="8001000" cy="838200"/>
          </a:xfrm>
        </p:spPr>
        <p:txBody>
          <a:bodyPr/>
          <a:lstStyle/>
          <a:p>
            <a:pPr eaLnBrk="1" hangingPunct="1">
              <a:lnSpc>
                <a:spcPct val="90000"/>
              </a:lnSpc>
            </a:pPr>
            <a:r>
              <a:rPr lang="en-US" sz="2400" smtClean="0">
                <a:latin typeface="Arial" charset="0"/>
                <a:cs typeface="Arial" charset="0"/>
              </a:rPr>
              <a:t>Hệ đếm là một tập các ký hiệu (bảng chữ số) để biểu diễn các số và xác định giá trị của các biểu diễn sô</a:t>
            </a:r>
          </a:p>
        </p:txBody>
      </p:sp>
      <p:pic>
        <p:nvPicPr>
          <p:cNvPr id="10244" name="Picture 6"/>
          <p:cNvPicPr>
            <a:picLocks noChangeAspect="1" noChangeArrowheads="1"/>
          </p:cNvPicPr>
          <p:nvPr/>
        </p:nvPicPr>
        <p:blipFill>
          <a:blip r:embed="rId2"/>
          <a:srcRect/>
          <a:stretch>
            <a:fillRect/>
          </a:stretch>
        </p:blipFill>
        <p:spPr bwMode="auto">
          <a:xfrm>
            <a:off x="2819400" y="2692964"/>
            <a:ext cx="3429000" cy="1828800"/>
          </a:xfrm>
          <a:prstGeom prst="rect">
            <a:avLst/>
          </a:prstGeom>
          <a:noFill/>
          <a:ln w="9525" algn="ctr">
            <a:noFill/>
            <a:miter lim="800000"/>
            <a:headEnd/>
            <a:tailEnd/>
          </a:ln>
        </p:spPr>
      </p:pic>
      <p:pic>
        <p:nvPicPr>
          <p:cNvPr id="10245" name="Picture 9"/>
          <p:cNvPicPr>
            <a:picLocks noChangeAspect="1" noChangeArrowheads="1"/>
          </p:cNvPicPr>
          <p:nvPr/>
        </p:nvPicPr>
        <p:blipFill>
          <a:blip r:embed="rId3"/>
          <a:srcRect/>
          <a:stretch>
            <a:fillRect/>
          </a:stretch>
        </p:blipFill>
        <p:spPr bwMode="auto">
          <a:xfrm>
            <a:off x="2781300" y="4529138"/>
            <a:ext cx="3505200" cy="1603375"/>
          </a:xfrm>
          <a:prstGeom prst="rect">
            <a:avLst/>
          </a:prstGeom>
          <a:noFill/>
          <a:ln w="9525" algn="ctr">
            <a:noFill/>
            <a:miter lim="800000"/>
            <a:headEnd/>
            <a:tailEnd/>
          </a:ln>
        </p:spPr>
      </p:pic>
      <p:sp>
        <p:nvSpPr>
          <p:cNvPr id="6" name="Title 5"/>
          <p:cNvSpPr>
            <a:spLocks noGrp="1"/>
          </p:cNvSpPr>
          <p:nvPr>
            <p:ph type="title"/>
          </p:nvPr>
        </p:nvSpPr>
        <p:spPr/>
        <p:txBody>
          <a:bodyPr/>
          <a:lstStyle/>
          <a:p>
            <a:r>
              <a:rPr lang="en-US" b="1" dirty="0" err="1" smtClean="0">
                <a:solidFill>
                  <a:srgbClr val="C00000"/>
                </a:solidFill>
              </a:rPr>
              <a:t>Hệ</a:t>
            </a:r>
            <a:r>
              <a:rPr lang="en-US" b="1" dirty="0" smtClean="0">
                <a:solidFill>
                  <a:srgbClr val="C00000"/>
                </a:solidFill>
              </a:rPr>
              <a:t> </a:t>
            </a:r>
            <a:r>
              <a:rPr lang="en-US" b="1" dirty="0" err="1" smtClean="0">
                <a:solidFill>
                  <a:srgbClr val="C00000"/>
                </a:solidFill>
              </a:rPr>
              <a:t>đếm</a:t>
            </a:r>
            <a:endParaRPr lang="en-US" b="1" dirty="0">
              <a:solidFill>
                <a:srgbClr val="C00000"/>
              </a:solidFill>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82199751"/>
              </p:ext>
            </p:extLst>
          </p:nvPr>
        </p:nvGraphicFramePr>
        <p:xfrm>
          <a:off x="2971800" y="1600200"/>
          <a:ext cx="2895600" cy="2926080"/>
        </p:xfrm>
        <a:graphic>
          <a:graphicData uri="http://schemas.openxmlformats.org/drawingml/2006/table">
            <a:tbl>
              <a:tblPr firstRow="1" bandRow="1">
                <a:tableStyleId>{5C22544A-7EE6-4342-B048-85BDC9FD1C3A}</a:tableStyleId>
              </a:tblPr>
              <a:tblGrid>
                <a:gridCol w="1384852"/>
                <a:gridCol w="1510748"/>
              </a:tblGrid>
              <a:tr h="289560">
                <a:tc gridSpan="2">
                  <a:txBody>
                    <a:bodyPr/>
                    <a:lstStyle/>
                    <a:p>
                      <a:r>
                        <a:rPr lang="en-US" dirty="0" err="1" smtClean="0"/>
                        <a:t>Hệ</a:t>
                      </a:r>
                      <a:r>
                        <a:rPr lang="en-US" baseline="0" dirty="0" smtClean="0"/>
                        <a:t> </a:t>
                      </a:r>
                      <a:r>
                        <a:rPr lang="en-US" baseline="0" dirty="0" err="1" smtClean="0"/>
                        <a:t>đếm</a:t>
                      </a:r>
                      <a:r>
                        <a:rPr lang="en-US" baseline="0" dirty="0" smtClean="0"/>
                        <a:t> La </a:t>
                      </a:r>
                      <a:r>
                        <a:rPr lang="en-US" baseline="0" dirty="0" err="1" smtClean="0"/>
                        <a:t>mã</a:t>
                      </a:r>
                      <a:endParaRPr lang="en-US" dirty="0"/>
                    </a:p>
                  </a:txBody>
                  <a:tcPr/>
                </a:tc>
                <a:tc hMerge="1">
                  <a:txBody>
                    <a:bodyPr/>
                    <a:lstStyle/>
                    <a:p>
                      <a:pPr algn="r"/>
                      <a:endParaRPr lang="en-US" dirty="0"/>
                    </a:p>
                  </a:txBody>
                  <a:tcPr/>
                </a:tc>
              </a:tr>
              <a:tr h="289560">
                <a:tc>
                  <a:txBody>
                    <a:bodyPr/>
                    <a:lstStyle/>
                    <a:p>
                      <a:r>
                        <a:rPr lang="en-US" dirty="0" smtClean="0"/>
                        <a:t>I</a:t>
                      </a:r>
                      <a:endParaRPr lang="en-US" dirty="0"/>
                    </a:p>
                  </a:txBody>
                  <a:tcPr/>
                </a:tc>
                <a:tc>
                  <a:txBody>
                    <a:bodyPr/>
                    <a:lstStyle/>
                    <a:p>
                      <a:pPr algn="r"/>
                      <a:r>
                        <a:rPr lang="en-US" dirty="0" smtClean="0"/>
                        <a:t>1</a:t>
                      </a:r>
                      <a:endParaRPr lang="en-US" dirty="0"/>
                    </a:p>
                  </a:txBody>
                  <a:tcPr/>
                </a:tc>
              </a:tr>
              <a:tr h="289560">
                <a:tc>
                  <a:txBody>
                    <a:bodyPr/>
                    <a:lstStyle/>
                    <a:p>
                      <a:r>
                        <a:rPr lang="en-US" dirty="0" smtClean="0"/>
                        <a:t>V</a:t>
                      </a:r>
                      <a:endParaRPr lang="en-US" dirty="0"/>
                    </a:p>
                  </a:txBody>
                  <a:tcPr/>
                </a:tc>
                <a:tc>
                  <a:txBody>
                    <a:bodyPr/>
                    <a:lstStyle/>
                    <a:p>
                      <a:pPr algn="r"/>
                      <a:r>
                        <a:rPr lang="en-US" dirty="0" smtClean="0"/>
                        <a:t>5</a:t>
                      </a:r>
                      <a:endParaRPr lang="en-US" dirty="0"/>
                    </a:p>
                  </a:txBody>
                  <a:tcPr/>
                </a:tc>
              </a:tr>
              <a:tr h="289560">
                <a:tc>
                  <a:txBody>
                    <a:bodyPr/>
                    <a:lstStyle/>
                    <a:p>
                      <a:r>
                        <a:rPr lang="en-US" dirty="0" smtClean="0"/>
                        <a:t>X</a:t>
                      </a:r>
                      <a:endParaRPr lang="en-US" dirty="0"/>
                    </a:p>
                  </a:txBody>
                  <a:tcPr/>
                </a:tc>
                <a:tc>
                  <a:txBody>
                    <a:bodyPr/>
                    <a:lstStyle/>
                    <a:p>
                      <a:pPr algn="r"/>
                      <a:r>
                        <a:rPr lang="en-US" dirty="0" smtClean="0"/>
                        <a:t>10</a:t>
                      </a:r>
                      <a:endParaRPr lang="en-US" dirty="0"/>
                    </a:p>
                  </a:txBody>
                  <a:tcPr/>
                </a:tc>
              </a:tr>
              <a:tr h="289560">
                <a:tc>
                  <a:txBody>
                    <a:bodyPr/>
                    <a:lstStyle/>
                    <a:p>
                      <a:r>
                        <a:rPr lang="en-US" dirty="0" smtClean="0"/>
                        <a:t>L</a:t>
                      </a:r>
                      <a:endParaRPr lang="en-US" dirty="0"/>
                    </a:p>
                  </a:txBody>
                  <a:tcPr/>
                </a:tc>
                <a:tc>
                  <a:txBody>
                    <a:bodyPr/>
                    <a:lstStyle/>
                    <a:p>
                      <a:pPr algn="r"/>
                      <a:r>
                        <a:rPr lang="en-US" dirty="0" smtClean="0"/>
                        <a:t>50</a:t>
                      </a:r>
                      <a:endParaRPr lang="en-US" dirty="0"/>
                    </a:p>
                  </a:txBody>
                  <a:tcPr/>
                </a:tc>
              </a:tr>
              <a:tr h="289560">
                <a:tc>
                  <a:txBody>
                    <a:bodyPr/>
                    <a:lstStyle/>
                    <a:p>
                      <a:r>
                        <a:rPr lang="en-US" dirty="0" smtClean="0"/>
                        <a:t>C</a:t>
                      </a:r>
                      <a:endParaRPr lang="en-US" dirty="0"/>
                    </a:p>
                  </a:txBody>
                  <a:tcPr/>
                </a:tc>
                <a:tc>
                  <a:txBody>
                    <a:bodyPr/>
                    <a:lstStyle/>
                    <a:p>
                      <a:pPr algn="r"/>
                      <a:r>
                        <a:rPr lang="en-US" dirty="0" smtClean="0"/>
                        <a:t>100</a:t>
                      </a:r>
                      <a:endParaRPr lang="en-US" dirty="0"/>
                    </a:p>
                  </a:txBody>
                  <a:tcPr/>
                </a:tc>
              </a:tr>
              <a:tr h="289560">
                <a:tc>
                  <a:txBody>
                    <a:bodyPr/>
                    <a:lstStyle/>
                    <a:p>
                      <a:r>
                        <a:rPr lang="en-US" dirty="0" smtClean="0"/>
                        <a:t>D</a:t>
                      </a:r>
                      <a:endParaRPr lang="en-US" dirty="0"/>
                    </a:p>
                  </a:txBody>
                  <a:tcPr/>
                </a:tc>
                <a:tc>
                  <a:txBody>
                    <a:bodyPr/>
                    <a:lstStyle/>
                    <a:p>
                      <a:pPr algn="r"/>
                      <a:r>
                        <a:rPr lang="en-US" dirty="0" smtClean="0"/>
                        <a:t>500</a:t>
                      </a:r>
                      <a:endParaRPr lang="en-US" dirty="0"/>
                    </a:p>
                  </a:txBody>
                  <a:tcPr/>
                </a:tc>
              </a:tr>
              <a:tr h="289560">
                <a:tc>
                  <a:txBody>
                    <a:bodyPr/>
                    <a:lstStyle/>
                    <a:p>
                      <a:r>
                        <a:rPr lang="en-US" dirty="0" smtClean="0"/>
                        <a:t>M</a:t>
                      </a:r>
                      <a:endParaRPr lang="en-US" dirty="0"/>
                    </a:p>
                  </a:txBody>
                  <a:tcPr/>
                </a:tc>
                <a:tc>
                  <a:txBody>
                    <a:bodyPr/>
                    <a:lstStyle/>
                    <a:p>
                      <a:pPr algn="r"/>
                      <a:r>
                        <a:rPr lang="en-US" dirty="0" smtClean="0"/>
                        <a:t>1000</a:t>
                      </a:r>
                      <a:endParaRPr lang="en-US" dirty="0"/>
                    </a:p>
                  </a:txBody>
                  <a:tcPr/>
                </a:tc>
              </a:tr>
            </a:tbl>
          </a:graphicData>
        </a:graphic>
      </p:graphicFrame>
      <p:sp>
        <p:nvSpPr>
          <p:cNvPr id="6" name="Rectangle 5"/>
          <p:cNvSpPr/>
          <p:nvPr/>
        </p:nvSpPr>
        <p:spPr>
          <a:xfrm>
            <a:off x="1447800" y="4724400"/>
            <a:ext cx="6781800" cy="1338828"/>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nSpc>
                <a:spcPct val="90000"/>
              </a:lnSpc>
              <a:buFont typeface="Wingdings" pitchFamily="2" charset="2"/>
              <a:buNone/>
              <a:defRPr/>
            </a:pPr>
            <a:r>
              <a:rPr lang="en-US" dirty="0" err="1">
                <a:latin typeface="Arial" pitchFamily="34" charset="0"/>
                <a:cs typeface="Arial" pitchFamily="34" charset="0"/>
              </a:rPr>
              <a:t>Nếu</a:t>
            </a:r>
            <a:r>
              <a:rPr lang="en-US" dirty="0">
                <a:latin typeface="Arial" pitchFamily="34" charset="0"/>
                <a:cs typeface="Arial" pitchFamily="34" charset="0"/>
              </a:rPr>
              <a:t> </a:t>
            </a:r>
            <a:r>
              <a:rPr lang="en-US" dirty="0" err="1">
                <a:latin typeface="Arial" pitchFamily="34" charset="0"/>
                <a:cs typeface="Arial" pitchFamily="34" charset="0"/>
              </a:rPr>
              <a:t>một</a:t>
            </a:r>
            <a:r>
              <a:rPr lang="en-US" dirty="0">
                <a:latin typeface="Arial" pitchFamily="34" charset="0"/>
                <a:cs typeface="Arial" pitchFamily="34" charset="0"/>
              </a:rPr>
              <a:t> </a:t>
            </a:r>
            <a:r>
              <a:rPr lang="en-US" dirty="0" err="1">
                <a:latin typeface="Arial" pitchFamily="34" charset="0"/>
                <a:cs typeface="Arial" pitchFamily="34" charset="0"/>
              </a:rPr>
              <a:t>chữ</a:t>
            </a:r>
            <a:r>
              <a:rPr lang="en-US" dirty="0">
                <a:latin typeface="Arial" pitchFamily="34" charset="0"/>
                <a:cs typeface="Arial" pitchFamily="34" charset="0"/>
              </a:rPr>
              <a:t> </a:t>
            </a:r>
            <a:r>
              <a:rPr lang="en-US" dirty="0" err="1">
                <a:latin typeface="Arial" pitchFamily="34" charset="0"/>
                <a:cs typeface="Arial" pitchFamily="34" charset="0"/>
              </a:rPr>
              <a:t>số</a:t>
            </a:r>
            <a:r>
              <a:rPr lang="en-US" dirty="0">
                <a:latin typeface="Arial" pitchFamily="34" charset="0"/>
                <a:cs typeface="Arial" pitchFamily="34" charset="0"/>
              </a:rPr>
              <a:t> </a:t>
            </a:r>
            <a:r>
              <a:rPr lang="en-US" dirty="0" err="1">
                <a:latin typeface="Arial" pitchFamily="34" charset="0"/>
                <a:cs typeface="Arial" pitchFamily="34" charset="0"/>
              </a:rPr>
              <a:t>có</a:t>
            </a:r>
            <a:r>
              <a:rPr lang="en-US" dirty="0">
                <a:latin typeface="Arial" pitchFamily="34" charset="0"/>
                <a:cs typeface="Arial" pitchFamily="34" charset="0"/>
              </a:rPr>
              <a:t> </a:t>
            </a:r>
            <a:r>
              <a:rPr lang="en-US" dirty="0" err="1">
                <a:latin typeface="Arial" pitchFamily="34" charset="0"/>
                <a:cs typeface="Arial" pitchFamily="34" charset="0"/>
              </a:rPr>
              <a:t>một</a:t>
            </a:r>
            <a:r>
              <a:rPr lang="en-US" dirty="0">
                <a:latin typeface="Arial" pitchFamily="34" charset="0"/>
                <a:cs typeface="Arial" pitchFamily="34" charset="0"/>
              </a:rPr>
              <a:t> </a:t>
            </a:r>
            <a:r>
              <a:rPr lang="en-US" dirty="0" err="1">
                <a:latin typeface="Arial" pitchFamily="34" charset="0"/>
                <a:cs typeface="Arial" pitchFamily="34" charset="0"/>
              </a:rPr>
              <a:t>chữ</a:t>
            </a:r>
            <a:r>
              <a:rPr lang="en-US" dirty="0">
                <a:latin typeface="Arial" pitchFamily="34" charset="0"/>
                <a:cs typeface="Arial" pitchFamily="34" charset="0"/>
              </a:rPr>
              <a:t> </a:t>
            </a:r>
            <a:r>
              <a:rPr lang="en-US" dirty="0" err="1">
                <a:latin typeface="Arial" pitchFamily="34" charset="0"/>
                <a:cs typeface="Arial" pitchFamily="34" charset="0"/>
              </a:rPr>
              <a:t>số</a:t>
            </a:r>
            <a:r>
              <a:rPr lang="en-US" dirty="0">
                <a:latin typeface="Arial" pitchFamily="34" charset="0"/>
                <a:cs typeface="Arial" pitchFamily="34" charset="0"/>
              </a:rPr>
              <a:t> </a:t>
            </a:r>
            <a:r>
              <a:rPr lang="en-US" dirty="0" err="1">
                <a:latin typeface="Arial" pitchFamily="34" charset="0"/>
                <a:cs typeface="Arial" pitchFamily="34" charset="0"/>
              </a:rPr>
              <a:t>bên</a:t>
            </a:r>
            <a:r>
              <a:rPr lang="en-US" dirty="0">
                <a:latin typeface="Arial" pitchFamily="34" charset="0"/>
                <a:cs typeface="Arial" pitchFamily="34" charset="0"/>
              </a:rPr>
              <a:t> </a:t>
            </a:r>
            <a:r>
              <a:rPr lang="en-US" dirty="0" err="1">
                <a:latin typeface="Arial" pitchFamily="34" charset="0"/>
                <a:cs typeface="Arial" pitchFamily="34" charset="0"/>
              </a:rPr>
              <a:t>trái</a:t>
            </a:r>
            <a:r>
              <a:rPr lang="en-US" dirty="0">
                <a:latin typeface="Arial" pitchFamily="34" charset="0"/>
                <a:cs typeface="Arial" pitchFamily="34" charset="0"/>
              </a:rPr>
              <a:t> </a:t>
            </a:r>
            <a:r>
              <a:rPr lang="en-US" dirty="0" err="1">
                <a:latin typeface="Arial" pitchFamily="34" charset="0"/>
                <a:cs typeface="Arial" pitchFamily="34" charset="0"/>
              </a:rPr>
              <a:t>có</a:t>
            </a:r>
            <a:r>
              <a:rPr lang="en-US" dirty="0">
                <a:latin typeface="Arial" pitchFamily="34" charset="0"/>
                <a:cs typeface="Arial" pitchFamily="34" charset="0"/>
              </a:rPr>
              <a:t> </a:t>
            </a:r>
            <a:r>
              <a:rPr lang="en-US" dirty="0" err="1">
                <a:latin typeface="Arial" pitchFamily="34" charset="0"/>
                <a:cs typeface="Arial" pitchFamily="34" charset="0"/>
              </a:rPr>
              <a:t>giá</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r>
              <a:rPr lang="en-US" dirty="0" err="1">
                <a:latin typeface="Arial" pitchFamily="34" charset="0"/>
                <a:cs typeface="Arial" pitchFamily="34" charset="0"/>
              </a:rPr>
              <a:t>nhỏ</a:t>
            </a:r>
            <a:r>
              <a:rPr lang="en-US" dirty="0">
                <a:latin typeface="Arial" pitchFamily="34" charset="0"/>
                <a:cs typeface="Arial" pitchFamily="34" charset="0"/>
              </a:rPr>
              <a:t> </a:t>
            </a:r>
            <a:r>
              <a:rPr lang="en-US" dirty="0" err="1">
                <a:latin typeface="Arial" pitchFamily="34" charset="0"/>
                <a:cs typeface="Arial" pitchFamily="34" charset="0"/>
              </a:rPr>
              <a:t>hơn</a:t>
            </a:r>
            <a:r>
              <a:rPr lang="en-US" dirty="0">
                <a:latin typeface="Arial" pitchFamily="34" charset="0"/>
                <a:cs typeface="Arial" pitchFamily="34" charset="0"/>
              </a:rPr>
              <a:t> </a:t>
            </a:r>
            <a:r>
              <a:rPr lang="en-US" dirty="0" err="1">
                <a:latin typeface="Arial" pitchFamily="34" charset="0"/>
                <a:cs typeface="Arial" pitchFamily="34" charset="0"/>
              </a:rPr>
              <a:t>thì</a:t>
            </a:r>
            <a:r>
              <a:rPr lang="en-US" dirty="0">
                <a:latin typeface="Arial" pitchFamily="34" charset="0"/>
                <a:cs typeface="Arial" pitchFamily="34" charset="0"/>
              </a:rPr>
              <a:t> </a:t>
            </a:r>
            <a:r>
              <a:rPr lang="en-US" dirty="0" err="1">
                <a:latin typeface="Arial" pitchFamily="34" charset="0"/>
                <a:cs typeface="Arial" pitchFamily="34" charset="0"/>
              </a:rPr>
              <a:t>giá</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r>
              <a:rPr lang="en-US" dirty="0" err="1">
                <a:latin typeface="Arial" pitchFamily="34" charset="0"/>
                <a:cs typeface="Arial" pitchFamily="34" charset="0"/>
              </a:rPr>
              <a:t>của</a:t>
            </a:r>
            <a:r>
              <a:rPr lang="en-US" dirty="0">
                <a:latin typeface="Arial" pitchFamily="34" charset="0"/>
                <a:cs typeface="Arial" pitchFamily="34" charset="0"/>
              </a:rPr>
              <a:t> </a:t>
            </a:r>
            <a:r>
              <a:rPr lang="en-US" dirty="0" err="1">
                <a:latin typeface="Arial" pitchFamily="34" charset="0"/>
                <a:cs typeface="Arial" pitchFamily="34" charset="0"/>
              </a:rPr>
              <a:t>cặp</a:t>
            </a:r>
            <a:r>
              <a:rPr lang="en-US" dirty="0">
                <a:latin typeface="Arial" pitchFamily="34" charset="0"/>
                <a:cs typeface="Arial" pitchFamily="34" charset="0"/>
              </a:rPr>
              <a:t> </a:t>
            </a:r>
            <a:r>
              <a:rPr lang="en-US" dirty="0" err="1">
                <a:latin typeface="Arial" pitchFamily="34" charset="0"/>
                <a:cs typeface="Arial" pitchFamily="34" charset="0"/>
              </a:rPr>
              <a:t>số</a:t>
            </a:r>
            <a:r>
              <a:rPr lang="en-US" dirty="0">
                <a:latin typeface="Arial" pitchFamily="34" charset="0"/>
                <a:cs typeface="Arial" pitchFamily="34" charset="0"/>
              </a:rPr>
              <a:t> </a:t>
            </a:r>
            <a:r>
              <a:rPr lang="en-US" dirty="0" err="1">
                <a:latin typeface="Arial" pitchFamily="34" charset="0"/>
                <a:cs typeface="Arial" pitchFamily="34" charset="0"/>
              </a:rPr>
              <a:t>bị</a:t>
            </a:r>
            <a:r>
              <a:rPr lang="en-US" dirty="0">
                <a:latin typeface="Arial" pitchFamily="34" charset="0"/>
                <a:cs typeface="Arial" pitchFamily="34" charset="0"/>
              </a:rPr>
              <a:t> </a:t>
            </a:r>
            <a:r>
              <a:rPr lang="en-US" dirty="0" err="1">
                <a:latin typeface="Arial" pitchFamily="34" charset="0"/>
                <a:cs typeface="Arial" pitchFamily="34" charset="0"/>
              </a:rPr>
              <a:t>tình</a:t>
            </a:r>
            <a:r>
              <a:rPr lang="en-US" dirty="0">
                <a:latin typeface="Arial" pitchFamily="34" charset="0"/>
                <a:cs typeface="Arial" pitchFamily="34" charset="0"/>
              </a:rPr>
              <a:t> </a:t>
            </a:r>
            <a:r>
              <a:rPr lang="en-US" dirty="0" err="1">
                <a:latin typeface="Arial" pitchFamily="34" charset="0"/>
                <a:cs typeface="Arial" pitchFamily="34" charset="0"/>
              </a:rPr>
              <a:t>bằng</a:t>
            </a:r>
            <a:r>
              <a:rPr lang="en-US" dirty="0">
                <a:latin typeface="Arial" pitchFamily="34" charset="0"/>
                <a:cs typeface="Arial" pitchFamily="34" charset="0"/>
              </a:rPr>
              <a:t> </a:t>
            </a:r>
            <a:r>
              <a:rPr lang="en-US" dirty="0" err="1">
                <a:latin typeface="Arial" pitchFamily="34" charset="0"/>
                <a:cs typeface="Arial" pitchFamily="34" charset="0"/>
              </a:rPr>
              <a:t>hiệu</a:t>
            </a:r>
            <a:r>
              <a:rPr lang="en-US" dirty="0">
                <a:latin typeface="Arial" pitchFamily="34" charset="0"/>
                <a:cs typeface="Arial" pitchFamily="34" charset="0"/>
              </a:rPr>
              <a:t> </a:t>
            </a:r>
            <a:r>
              <a:rPr lang="en-US" dirty="0" err="1">
                <a:latin typeface="Arial" pitchFamily="34" charset="0"/>
                <a:cs typeface="Arial" pitchFamily="34" charset="0"/>
              </a:rPr>
              <a:t>hai</a:t>
            </a:r>
            <a:r>
              <a:rPr lang="en-US" dirty="0">
                <a:latin typeface="Arial" pitchFamily="34" charset="0"/>
                <a:cs typeface="Arial" pitchFamily="34" charset="0"/>
              </a:rPr>
              <a:t> </a:t>
            </a:r>
            <a:r>
              <a:rPr lang="en-US" dirty="0" err="1">
                <a:latin typeface="Arial" pitchFamily="34" charset="0"/>
                <a:cs typeface="Arial" pitchFamily="34" charset="0"/>
              </a:rPr>
              <a:t>giá</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r>
              <a:rPr lang="en-US" dirty="0" err="1">
                <a:latin typeface="Arial" pitchFamily="34" charset="0"/>
                <a:cs typeface="Arial" pitchFamily="34" charset="0"/>
              </a:rPr>
              <a:t>Còn</a:t>
            </a:r>
            <a:r>
              <a:rPr lang="en-US" dirty="0">
                <a:latin typeface="Arial" pitchFamily="34" charset="0"/>
                <a:cs typeface="Arial" pitchFamily="34" charset="0"/>
              </a:rPr>
              <a:t> </a:t>
            </a:r>
            <a:r>
              <a:rPr lang="en-US" dirty="0" err="1">
                <a:latin typeface="Arial" pitchFamily="34" charset="0"/>
                <a:cs typeface="Arial" pitchFamily="34" charset="0"/>
              </a:rPr>
              <a:t>nếu</a:t>
            </a:r>
            <a:r>
              <a:rPr lang="en-US" dirty="0">
                <a:latin typeface="Arial" pitchFamily="34" charset="0"/>
                <a:cs typeface="Arial" pitchFamily="34" charset="0"/>
              </a:rPr>
              <a:t> </a:t>
            </a:r>
            <a:r>
              <a:rPr lang="en-US" dirty="0" err="1">
                <a:latin typeface="Arial" pitchFamily="34" charset="0"/>
                <a:cs typeface="Arial" pitchFamily="34" charset="0"/>
              </a:rPr>
              <a:t>số</a:t>
            </a:r>
            <a:r>
              <a:rPr lang="en-US" dirty="0">
                <a:latin typeface="Arial" pitchFamily="34" charset="0"/>
                <a:cs typeface="Arial" pitchFamily="34" charset="0"/>
              </a:rPr>
              <a:t> </a:t>
            </a:r>
            <a:r>
              <a:rPr lang="en-US" dirty="0" err="1">
                <a:latin typeface="Arial" pitchFamily="34" charset="0"/>
                <a:cs typeface="Arial" pitchFamily="34" charset="0"/>
              </a:rPr>
              <a:t>có</a:t>
            </a:r>
            <a:r>
              <a:rPr lang="en-US" dirty="0">
                <a:latin typeface="Arial" pitchFamily="34" charset="0"/>
                <a:cs typeface="Arial" pitchFamily="34" charset="0"/>
              </a:rPr>
              <a:t> </a:t>
            </a:r>
            <a:r>
              <a:rPr lang="en-US" dirty="0" err="1">
                <a:latin typeface="Arial" pitchFamily="34" charset="0"/>
                <a:cs typeface="Arial" pitchFamily="34" charset="0"/>
              </a:rPr>
              <a:t>giá</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r>
              <a:rPr lang="en-US" dirty="0" err="1">
                <a:latin typeface="Arial" pitchFamily="34" charset="0"/>
                <a:cs typeface="Arial" pitchFamily="34" charset="0"/>
              </a:rPr>
              <a:t>nhỏ</a:t>
            </a:r>
            <a:r>
              <a:rPr lang="en-US" dirty="0">
                <a:latin typeface="Arial" pitchFamily="34" charset="0"/>
                <a:cs typeface="Arial" pitchFamily="34" charset="0"/>
              </a:rPr>
              <a:t> </a:t>
            </a:r>
            <a:r>
              <a:rPr lang="en-US" dirty="0" err="1">
                <a:latin typeface="Arial" pitchFamily="34" charset="0"/>
                <a:cs typeface="Arial" pitchFamily="34" charset="0"/>
              </a:rPr>
              <a:t>hơn</a:t>
            </a:r>
            <a:r>
              <a:rPr lang="en-US" dirty="0">
                <a:latin typeface="Arial" pitchFamily="34" charset="0"/>
                <a:cs typeface="Arial" pitchFamily="34" charset="0"/>
              </a:rPr>
              <a:t> </a:t>
            </a:r>
            <a:r>
              <a:rPr lang="en-US" dirty="0" err="1">
                <a:latin typeface="Arial" pitchFamily="34" charset="0"/>
                <a:cs typeface="Arial" pitchFamily="34" charset="0"/>
              </a:rPr>
              <a:t>đứng</a:t>
            </a:r>
            <a:r>
              <a:rPr lang="en-US" dirty="0">
                <a:latin typeface="Arial" pitchFamily="34" charset="0"/>
                <a:cs typeface="Arial" pitchFamily="34" charset="0"/>
              </a:rPr>
              <a:t> </a:t>
            </a:r>
            <a:r>
              <a:rPr lang="en-US" dirty="0" err="1">
                <a:latin typeface="Arial" pitchFamily="34" charset="0"/>
                <a:cs typeface="Arial" pitchFamily="34" charset="0"/>
              </a:rPr>
              <a:t>phía</a:t>
            </a:r>
            <a:r>
              <a:rPr lang="en-US" dirty="0">
                <a:latin typeface="Arial" pitchFamily="34" charset="0"/>
                <a:cs typeface="Arial" pitchFamily="34" charset="0"/>
              </a:rPr>
              <a:t> </a:t>
            </a:r>
            <a:r>
              <a:rPr lang="en-US" dirty="0" err="1">
                <a:latin typeface="Arial" pitchFamily="34" charset="0"/>
                <a:cs typeface="Arial" pitchFamily="34" charset="0"/>
              </a:rPr>
              <a:t>phải</a:t>
            </a:r>
            <a:r>
              <a:rPr lang="en-US" dirty="0">
                <a:latin typeface="Arial" pitchFamily="34" charset="0"/>
                <a:cs typeface="Arial" pitchFamily="34" charset="0"/>
              </a:rPr>
              <a:t> </a:t>
            </a:r>
            <a:r>
              <a:rPr lang="en-US" dirty="0" err="1">
                <a:latin typeface="Arial" pitchFamily="34" charset="0"/>
                <a:cs typeface="Arial" pitchFamily="34" charset="0"/>
              </a:rPr>
              <a:t>thì</a:t>
            </a:r>
            <a:r>
              <a:rPr lang="en-US" dirty="0">
                <a:latin typeface="Arial" pitchFamily="34" charset="0"/>
                <a:cs typeface="Arial" pitchFamily="34" charset="0"/>
              </a:rPr>
              <a:t> </a:t>
            </a:r>
            <a:r>
              <a:rPr lang="en-US" dirty="0" err="1">
                <a:latin typeface="Arial" pitchFamily="34" charset="0"/>
                <a:cs typeface="Arial" pitchFamily="34" charset="0"/>
              </a:rPr>
              <a:t>giá</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r>
              <a:rPr lang="en-US" dirty="0" err="1">
                <a:latin typeface="Arial" pitchFamily="34" charset="0"/>
                <a:cs typeface="Arial" pitchFamily="34" charset="0"/>
              </a:rPr>
              <a:t>chung</a:t>
            </a:r>
            <a:r>
              <a:rPr lang="en-US" dirty="0">
                <a:latin typeface="Arial" pitchFamily="34" charset="0"/>
                <a:cs typeface="Arial" pitchFamily="34" charset="0"/>
              </a:rPr>
              <a:t> </a:t>
            </a:r>
            <a:r>
              <a:rPr lang="en-US" dirty="0" err="1">
                <a:latin typeface="Arial" pitchFamily="34" charset="0"/>
                <a:cs typeface="Arial" pitchFamily="34" charset="0"/>
              </a:rPr>
              <a:t>bằng</a:t>
            </a:r>
            <a:r>
              <a:rPr lang="en-US" dirty="0">
                <a:latin typeface="Arial" pitchFamily="34" charset="0"/>
                <a:cs typeface="Arial" pitchFamily="34" charset="0"/>
              </a:rPr>
              <a:t> </a:t>
            </a:r>
            <a:r>
              <a:rPr lang="en-US" dirty="0" err="1">
                <a:latin typeface="Arial" pitchFamily="34" charset="0"/>
                <a:cs typeface="Arial" pitchFamily="34" charset="0"/>
              </a:rPr>
              <a:t>tổng</a:t>
            </a:r>
            <a:r>
              <a:rPr lang="en-US" dirty="0">
                <a:latin typeface="Arial" pitchFamily="34" charset="0"/>
                <a:cs typeface="Arial" pitchFamily="34" charset="0"/>
              </a:rPr>
              <a:t> </a:t>
            </a:r>
            <a:r>
              <a:rPr lang="en-US" dirty="0" err="1">
                <a:latin typeface="Arial" pitchFamily="34" charset="0"/>
                <a:cs typeface="Arial" pitchFamily="34" charset="0"/>
              </a:rPr>
              <a:t>hai</a:t>
            </a:r>
            <a:r>
              <a:rPr lang="en-US" dirty="0">
                <a:latin typeface="Arial" pitchFamily="34" charset="0"/>
                <a:cs typeface="Arial" pitchFamily="34" charset="0"/>
              </a:rPr>
              <a:t> </a:t>
            </a:r>
            <a:r>
              <a:rPr lang="en-US" dirty="0" err="1">
                <a:latin typeface="Arial" pitchFamily="34" charset="0"/>
                <a:cs typeface="Arial" pitchFamily="34" charset="0"/>
              </a:rPr>
              <a:t>giá</a:t>
            </a:r>
            <a:r>
              <a:rPr lang="en-US" dirty="0">
                <a:latin typeface="Arial" pitchFamily="34" charset="0"/>
                <a:cs typeface="Arial" pitchFamily="34" charset="0"/>
              </a:rPr>
              <a:t> </a:t>
            </a:r>
            <a:r>
              <a:rPr lang="en-US" dirty="0" err="1">
                <a:latin typeface="Arial" pitchFamily="34" charset="0"/>
                <a:cs typeface="Arial" pitchFamily="34" charset="0"/>
              </a:rPr>
              <a:t>trị</a:t>
            </a:r>
            <a:r>
              <a:rPr lang="en-US" dirty="0">
                <a:latin typeface="Arial" pitchFamily="34" charset="0"/>
                <a:cs typeface="Arial" pitchFamily="34" charset="0"/>
              </a:rPr>
              <a:t>.   </a:t>
            </a:r>
          </a:p>
          <a:p>
            <a:pPr algn="ctr">
              <a:lnSpc>
                <a:spcPct val="90000"/>
              </a:lnSpc>
              <a:buFont typeface="Wingdings" pitchFamily="2" charset="2"/>
              <a:buNone/>
              <a:defRPr/>
            </a:pPr>
            <a:r>
              <a:rPr lang="en-US" dirty="0">
                <a:latin typeface="Arial" pitchFamily="34" charset="0"/>
                <a:cs typeface="Arial" pitchFamily="34" charset="0"/>
              </a:rPr>
              <a:t>MLVI = 1000 + 50 + 5 +1 =1056</a:t>
            </a:r>
          </a:p>
          <a:p>
            <a:pPr algn="ctr">
              <a:lnSpc>
                <a:spcPct val="90000"/>
              </a:lnSpc>
              <a:buFont typeface="Wingdings" pitchFamily="2" charset="2"/>
              <a:buNone/>
              <a:defRPr/>
            </a:pPr>
            <a:r>
              <a:rPr lang="en-US" dirty="0">
                <a:latin typeface="Arial" pitchFamily="34" charset="0"/>
                <a:cs typeface="Arial" pitchFamily="34" charset="0"/>
              </a:rPr>
              <a:t>MLIV = 1000 + 50 + 5 -1 = 1054</a:t>
            </a:r>
          </a:p>
        </p:txBody>
      </p:sp>
      <p:sp>
        <p:nvSpPr>
          <p:cNvPr id="5" name="Title 4"/>
          <p:cNvSpPr>
            <a:spLocks noGrp="1"/>
          </p:cNvSpPr>
          <p:nvPr>
            <p:ph type="title"/>
          </p:nvPr>
        </p:nvSpPr>
        <p:spPr/>
        <p:txBody>
          <a:bodyPr/>
          <a:lstStyle/>
          <a:p>
            <a:r>
              <a:rPr lang="en-US" b="1" smtClean="0">
                <a:solidFill>
                  <a:srgbClr val="C00000"/>
                </a:solidFill>
              </a:rPr>
              <a:t>Hệ </a:t>
            </a:r>
            <a:r>
              <a:rPr lang="en-US" b="1" dirty="0" err="1" smtClean="0">
                <a:solidFill>
                  <a:srgbClr val="C00000"/>
                </a:solidFill>
              </a:rPr>
              <a:t>đếm</a:t>
            </a:r>
            <a:r>
              <a:rPr lang="en-US" b="1" dirty="0" smtClean="0">
                <a:solidFill>
                  <a:srgbClr val="C00000"/>
                </a:solidFill>
              </a:rPr>
              <a:t> La </a:t>
            </a:r>
            <a:r>
              <a:rPr lang="en-US" b="1" dirty="0" err="1" smtClean="0">
                <a:solidFill>
                  <a:srgbClr val="C00000"/>
                </a:solidFill>
              </a:rPr>
              <a:t>mã</a:t>
            </a:r>
            <a:endParaRPr lang="en-US" b="1"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AutoShape 2"/>
          <p:cNvSpPr>
            <a:spLocks noGrp="1" noChangeArrowheads="1"/>
          </p:cNvSpPr>
          <p:nvPr>
            <p:ph type="title"/>
          </p:nvPr>
        </p:nvSpPr>
        <p:spPr/>
        <p:txBody>
          <a:bodyPr/>
          <a:lstStyle/>
          <a:p>
            <a:pPr>
              <a:defRPr/>
            </a:pPr>
            <a:r>
              <a:rPr lang="en-US" b="1" dirty="0" err="1" smtClean="0">
                <a:solidFill>
                  <a:srgbClr val="C00000"/>
                </a:solidFill>
              </a:rPr>
              <a:t>Hệ</a:t>
            </a:r>
            <a:r>
              <a:rPr lang="en-US" b="1" dirty="0" smtClean="0">
                <a:solidFill>
                  <a:srgbClr val="C00000"/>
                </a:solidFill>
              </a:rPr>
              <a:t> </a:t>
            </a:r>
            <a:r>
              <a:rPr lang="en-US" b="1" dirty="0" err="1" smtClean="0">
                <a:solidFill>
                  <a:srgbClr val="C00000"/>
                </a:solidFill>
              </a:rPr>
              <a:t>đếm</a:t>
            </a:r>
            <a:r>
              <a:rPr lang="en-US" b="1" dirty="0" smtClean="0">
                <a:solidFill>
                  <a:srgbClr val="C00000"/>
                </a:solidFill>
              </a:rPr>
              <a:t> </a:t>
            </a:r>
            <a:r>
              <a:rPr lang="en-US" b="1" dirty="0" err="1" smtClean="0">
                <a:solidFill>
                  <a:srgbClr val="C00000"/>
                </a:solidFill>
              </a:rPr>
              <a:t>thập</a:t>
            </a:r>
            <a:r>
              <a:rPr lang="en-US" b="1" dirty="0" smtClean="0">
                <a:solidFill>
                  <a:srgbClr val="C00000"/>
                </a:solidFill>
              </a:rPr>
              <a:t> </a:t>
            </a:r>
            <a:r>
              <a:rPr lang="en-US" b="1" dirty="0" err="1" smtClean="0">
                <a:solidFill>
                  <a:srgbClr val="C00000"/>
                </a:solidFill>
              </a:rPr>
              <a:t>phân</a:t>
            </a:r>
            <a:endParaRPr lang="en-US" b="1" dirty="0">
              <a:solidFill>
                <a:srgbClr val="C00000"/>
              </a:solidFill>
            </a:endParaRPr>
          </a:p>
        </p:txBody>
      </p:sp>
      <p:sp>
        <p:nvSpPr>
          <p:cNvPr id="12291" name="Rectangle 3"/>
          <p:cNvSpPr>
            <a:spLocks noGrp="1" noChangeArrowheads="1"/>
          </p:cNvSpPr>
          <p:nvPr>
            <p:ph idx="1"/>
          </p:nvPr>
        </p:nvSpPr>
        <p:spPr>
          <a:xfrm>
            <a:off x="533400" y="1600200"/>
            <a:ext cx="7924800" cy="4648200"/>
          </a:xfrm>
        </p:spPr>
        <p:txBody>
          <a:bodyPr/>
          <a:lstStyle/>
          <a:p>
            <a:pPr marL="533400" indent="-533400" algn="just" eaLnBrk="1" hangingPunct="1"/>
            <a:r>
              <a:rPr lang="en-US" sz="2400" smtClean="0">
                <a:latin typeface="Arial" charset="0"/>
                <a:cs typeface="Arial" charset="0"/>
              </a:rPr>
              <a:t>Mỗi chữ số x đứng ở hàng thứ i tính từ bên phải có giá trị là x.10 </a:t>
            </a:r>
            <a:r>
              <a:rPr lang="en-US" sz="2400" baseline="30000" smtClean="0">
                <a:latin typeface="Arial" charset="0"/>
                <a:cs typeface="Arial" charset="0"/>
              </a:rPr>
              <a:t>i-1</a:t>
            </a:r>
            <a:r>
              <a:rPr lang="en-US" sz="2400" smtClean="0">
                <a:latin typeface="Arial" charset="0"/>
                <a:cs typeface="Arial" charset="0"/>
              </a:rPr>
              <a:t>. Như vậy một đơn vị ở một hàng sẽ có giá trị gấp 10 lần một đơn vị ở hàng kế cận bên phải</a:t>
            </a:r>
          </a:p>
          <a:p>
            <a:pPr marL="533400" indent="-533400" algn="just" eaLnBrk="1" hangingPunct="1"/>
            <a:r>
              <a:rPr lang="en-US" sz="2400" smtClean="0">
                <a:latin typeface="Arial" charset="0"/>
                <a:cs typeface="Arial" charset="0"/>
              </a:rPr>
              <a:t>Giá trị của số là tổng giá trị của các chữ số có tính tới vị trí của nó. Giá trị của 3294,5 là</a:t>
            </a:r>
          </a:p>
          <a:p>
            <a:pPr marL="533400" indent="-533400" algn="ctr" eaLnBrk="1" hangingPunct="1">
              <a:buFont typeface="Wingdings" pitchFamily="2" charset="2"/>
              <a:buNone/>
            </a:pPr>
            <a:r>
              <a:rPr lang="en-US" sz="2400" smtClean="0">
                <a:latin typeface="Arial" charset="0"/>
                <a:cs typeface="Arial" charset="0"/>
              </a:rPr>
              <a:t> 3.10</a:t>
            </a:r>
            <a:r>
              <a:rPr lang="en-US" sz="2400" baseline="30000" smtClean="0">
                <a:latin typeface="Arial" charset="0"/>
                <a:cs typeface="Arial" charset="0"/>
              </a:rPr>
              <a:t>3</a:t>
            </a:r>
            <a:r>
              <a:rPr lang="en-US" sz="2400" smtClean="0">
                <a:latin typeface="Arial" charset="0"/>
                <a:cs typeface="Arial" charset="0"/>
              </a:rPr>
              <a:t> + 2.10</a:t>
            </a:r>
            <a:r>
              <a:rPr lang="en-US" sz="2400" baseline="30000" smtClean="0">
                <a:latin typeface="Arial" charset="0"/>
                <a:cs typeface="Arial" charset="0"/>
              </a:rPr>
              <a:t>2</a:t>
            </a:r>
            <a:r>
              <a:rPr lang="en-US" sz="2400" smtClean="0">
                <a:latin typeface="Arial" charset="0"/>
                <a:cs typeface="Arial" charset="0"/>
              </a:rPr>
              <a:t> + 9.10</a:t>
            </a:r>
            <a:r>
              <a:rPr lang="en-US" sz="2400" baseline="30000" smtClean="0">
                <a:latin typeface="Arial" charset="0"/>
                <a:cs typeface="Arial" charset="0"/>
              </a:rPr>
              <a:t>1</a:t>
            </a:r>
            <a:r>
              <a:rPr lang="en-US" sz="2400" smtClean="0">
                <a:latin typeface="Arial" charset="0"/>
                <a:cs typeface="Arial" charset="0"/>
              </a:rPr>
              <a:t> + 4.10</a:t>
            </a:r>
            <a:r>
              <a:rPr lang="en-US" sz="2400" baseline="30000" smtClean="0">
                <a:latin typeface="Arial" charset="0"/>
                <a:cs typeface="Arial" charset="0"/>
              </a:rPr>
              <a:t>0</a:t>
            </a:r>
            <a:r>
              <a:rPr lang="en-US" sz="2400" smtClean="0">
                <a:latin typeface="Arial" charset="0"/>
                <a:cs typeface="Arial" charset="0"/>
              </a:rPr>
              <a:t> + 5.10</a:t>
            </a:r>
            <a:r>
              <a:rPr lang="en-US" sz="2400" baseline="30000" smtClean="0">
                <a:latin typeface="Arial" charset="0"/>
                <a:cs typeface="Arial" charset="0"/>
              </a:rPr>
              <a:t>-1</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609600" y="1752600"/>
            <a:ext cx="7693025" cy="3962400"/>
          </a:xfrm>
        </p:spPr>
        <p:txBody>
          <a:bodyPr/>
          <a:lstStyle/>
          <a:p>
            <a:pPr eaLnBrk="1" hangingPunct="1"/>
            <a:r>
              <a:rPr lang="en-US" sz="2400" smtClean="0">
                <a:latin typeface="Arial" charset="0"/>
                <a:cs typeface="Arial" charset="0"/>
              </a:rPr>
              <a:t>Có thể chọn các hệ đếm với cơ số khác 10.  </a:t>
            </a:r>
          </a:p>
          <a:p>
            <a:pPr eaLnBrk="1" hangingPunct="1"/>
            <a:r>
              <a:rPr lang="en-US" sz="2400" smtClean="0">
                <a:latin typeface="Arial" charset="0"/>
                <a:cs typeface="Arial" charset="0"/>
              </a:rPr>
              <a:t>Với một số tự nhiên b &gt; 1, với mỗi số tự nhiên n luôn tồn tại một cách phân tích duy nhất n dưới dạng một đa thức của b với các hệ số nằm từ 0 đến b-1</a:t>
            </a:r>
          </a:p>
          <a:p>
            <a:pPr algn="ctr" eaLnBrk="1" hangingPunct="1">
              <a:buFont typeface="Wingdings" pitchFamily="2" charset="2"/>
              <a:buNone/>
            </a:pPr>
            <a:r>
              <a:rPr lang="en-US" sz="2400" smtClean="0">
                <a:latin typeface="Arial" charset="0"/>
                <a:cs typeface="Arial" charset="0"/>
              </a:rPr>
              <a:t>n = a</a:t>
            </a:r>
            <a:r>
              <a:rPr lang="en-US" sz="2400" baseline="-25000" smtClean="0">
                <a:latin typeface="Arial" charset="0"/>
                <a:cs typeface="Arial" charset="0"/>
              </a:rPr>
              <a:t>k</a:t>
            </a:r>
            <a:r>
              <a:rPr lang="en-US" sz="2400" smtClean="0">
                <a:latin typeface="Arial" charset="0"/>
                <a:cs typeface="Arial" charset="0"/>
              </a:rPr>
              <a:t>.b</a:t>
            </a:r>
            <a:r>
              <a:rPr lang="en-US" sz="2400" baseline="30000" smtClean="0">
                <a:latin typeface="Arial" charset="0"/>
                <a:cs typeface="Arial" charset="0"/>
              </a:rPr>
              <a:t>k</a:t>
            </a:r>
            <a:r>
              <a:rPr lang="en-US" sz="2400" smtClean="0">
                <a:latin typeface="Arial" charset="0"/>
                <a:cs typeface="Arial" charset="0"/>
              </a:rPr>
              <a:t> + a</a:t>
            </a:r>
            <a:r>
              <a:rPr lang="en-US" sz="2400" baseline="-25000" smtClean="0">
                <a:latin typeface="Arial" charset="0"/>
                <a:cs typeface="Arial" charset="0"/>
              </a:rPr>
              <a:t>k-1</a:t>
            </a:r>
            <a:r>
              <a:rPr lang="en-US" sz="2400" smtClean="0">
                <a:latin typeface="Arial" charset="0"/>
                <a:cs typeface="Arial" charset="0"/>
              </a:rPr>
              <a:t>.b</a:t>
            </a:r>
            <a:r>
              <a:rPr lang="en-US" sz="2400" baseline="30000" smtClean="0">
                <a:latin typeface="Arial" charset="0"/>
                <a:cs typeface="Arial" charset="0"/>
              </a:rPr>
              <a:t>k-1</a:t>
            </a:r>
            <a:r>
              <a:rPr lang="en-US" sz="2400" smtClean="0">
                <a:latin typeface="Arial" charset="0"/>
                <a:cs typeface="Arial" charset="0"/>
              </a:rPr>
              <a:t> +…+ </a:t>
            </a:r>
            <a:r>
              <a:rPr lang="en-US" sz="2400" smtClean="0">
                <a:latin typeface="Arial" charset="0"/>
                <a:cs typeface="Arial" charset="0"/>
              </a:rPr>
              <a:t>a</a:t>
            </a:r>
            <a:r>
              <a:rPr lang="en-US" sz="2400" baseline="-25000" smtClean="0">
                <a:latin typeface="Arial" charset="0"/>
                <a:cs typeface="Arial" charset="0"/>
              </a:rPr>
              <a:t>1</a:t>
            </a:r>
            <a:r>
              <a:rPr lang="en-US" sz="2400" smtClean="0">
                <a:latin typeface="Arial" charset="0"/>
                <a:cs typeface="Arial" charset="0"/>
              </a:rPr>
              <a:t>.b</a:t>
            </a:r>
            <a:r>
              <a:rPr lang="en-US" sz="2400" baseline="30000" smtClean="0">
                <a:latin typeface="Arial" charset="0"/>
                <a:cs typeface="Arial" charset="0"/>
              </a:rPr>
              <a:t>1</a:t>
            </a:r>
            <a:r>
              <a:rPr lang="en-US" sz="2400" smtClean="0">
                <a:latin typeface="Arial" charset="0"/>
                <a:cs typeface="Arial" charset="0"/>
              </a:rPr>
              <a:t> +a</a:t>
            </a:r>
            <a:r>
              <a:rPr lang="en-US" sz="2400" baseline="-25000" smtClean="0">
                <a:latin typeface="Arial" charset="0"/>
                <a:cs typeface="Arial" charset="0"/>
              </a:rPr>
              <a:t>0</a:t>
            </a:r>
            <a:r>
              <a:rPr lang="en-US" sz="2400" smtClean="0">
                <a:latin typeface="Arial" charset="0"/>
                <a:cs typeface="Arial" charset="0"/>
              </a:rPr>
              <a:t> </a:t>
            </a:r>
            <a:r>
              <a:rPr lang="en-US" sz="2400" smtClean="0">
                <a:latin typeface="Arial" charset="0"/>
                <a:cs typeface="Arial" charset="0"/>
              </a:rPr>
              <a:t>, </a:t>
            </a:r>
            <a:r>
              <a:rPr lang="en-US" sz="2400" smtClean="0">
                <a:latin typeface="Arial" charset="0"/>
                <a:cs typeface="Arial" charset="0"/>
              </a:rPr>
              <a:t>0 ≤ a</a:t>
            </a:r>
            <a:r>
              <a:rPr lang="en-US" sz="2400" baseline="-25000">
                <a:latin typeface="Arial" charset="0"/>
                <a:cs typeface="Arial" charset="0"/>
              </a:rPr>
              <a:t>i</a:t>
            </a:r>
            <a:r>
              <a:rPr lang="en-US" sz="2400" smtClean="0">
                <a:latin typeface="Arial" charset="0"/>
                <a:cs typeface="Arial" charset="0"/>
              </a:rPr>
              <a:t> ≤ b-1</a:t>
            </a:r>
            <a:endParaRPr lang="en-US" sz="2400" smtClean="0">
              <a:latin typeface="Arial" charset="0"/>
              <a:cs typeface="Arial" charset="0"/>
            </a:endParaRPr>
          </a:p>
          <a:p>
            <a:pPr algn="ctr" eaLnBrk="1" hangingPunct="1">
              <a:buFont typeface="Wingdings" pitchFamily="2" charset="2"/>
              <a:buNone/>
            </a:pPr>
            <a:r>
              <a:rPr lang="en-US" sz="2400" smtClean="0">
                <a:latin typeface="Arial" charset="0"/>
                <a:cs typeface="Arial" charset="0"/>
              </a:rPr>
              <a:t>Khi đó biểu diễn của n trong cơ số b là a</a:t>
            </a:r>
            <a:r>
              <a:rPr lang="en-US" sz="2400" baseline="-25000" smtClean="0">
                <a:latin typeface="Arial" charset="0"/>
                <a:cs typeface="Arial" charset="0"/>
              </a:rPr>
              <a:t>k</a:t>
            </a:r>
            <a:r>
              <a:rPr lang="en-US" sz="2400" smtClean="0">
                <a:latin typeface="Arial" charset="0"/>
                <a:cs typeface="Arial" charset="0"/>
              </a:rPr>
              <a:t>a</a:t>
            </a:r>
            <a:r>
              <a:rPr lang="en-US" sz="2400" baseline="-25000" smtClean="0">
                <a:latin typeface="Arial" charset="0"/>
                <a:cs typeface="Arial" charset="0"/>
              </a:rPr>
              <a:t>k-1</a:t>
            </a:r>
            <a:r>
              <a:rPr lang="en-US" sz="2400" smtClean="0">
                <a:latin typeface="Arial" charset="0"/>
                <a:cs typeface="Arial" charset="0"/>
              </a:rPr>
              <a:t> …a</a:t>
            </a:r>
            <a:r>
              <a:rPr lang="en-US" sz="2400" baseline="-25000" smtClean="0">
                <a:latin typeface="Arial" charset="0"/>
                <a:cs typeface="Arial" charset="0"/>
              </a:rPr>
              <a:t>1</a:t>
            </a:r>
            <a:r>
              <a:rPr lang="en-US" sz="2400" smtClean="0">
                <a:latin typeface="Arial" charset="0"/>
                <a:cs typeface="Arial" charset="0"/>
              </a:rPr>
              <a:t>a</a:t>
            </a:r>
            <a:r>
              <a:rPr lang="en-US" sz="2400" baseline="-25000" smtClean="0">
                <a:latin typeface="Arial" charset="0"/>
                <a:cs typeface="Arial" charset="0"/>
              </a:rPr>
              <a:t>0</a:t>
            </a:r>
            <a:r>
              <a:rPr lang="en-US" sz="2400" smtClean="0">
                <a:latin typeface="Arial" charset="0"/>
                <a:cs typeface="Arial" charset="0"/>
              </a:rPr>
              <a:t> </a:t>
            </a:r>
            <a:endParaRPr lang="en-US" sz="2400" baseline="30000" smtClean="0">
              <a:latin typeface="Arial" charset="0"/>
              <a:cs typeface="Arial" charset="0"/>
            </a:endParaRPr>
          </a:p>
          <a:p>
            <a:pPr algn="ctr" eaLnBrk="1" hangingPunct="1">
              <a:buFont typeface="Wingdings" pitchFamily="2" charset="2"/>
              <a:buNone/>
            </a:pPr>
            <a:r>
              <a:rPr lang="en-US" sz="2400" smtClean="0">
                <a:latin typeface="Arial" charset="0"/>
                <a:cs typeface="Arial" charset="0"/>
              </a:rPr>
              <a:t> </a:t>
            </a:r>
            <a:r>
              <a:rPr lang="en-US" sz="2400" smtClean="0">
                <a:latin typeface="Arial" charset="0"/>
                <a:cs typeface="Arial" charset="0"/>
              </a:rPr>
              <a:t>VD:  </a:t>
            </a:r>
            <a:r>
              <a:rPr lang="en-US" sz="2400" smtClean="0">
                <a:latin typeface="Arial" charset="0"/>
                <a:cs typeface="Arial" charset="0"/>
              </a:rPr>
              <a:t>14 = 1.3</a:t>
            </a:r>
            <a:r>
              <a:rPr lang="en-US" sz="2400" baseline="30000" smtClean="0">
                <a:latin typeface="Arial" charset="0"/>
                <a:cs typeface="Arial" charset="0"/>
              </a:rPr>
              <a:t>2</a:t>
            </a:r>
            <a:r>
              <a:rPr lang="en-US" sz="2400" smtClean="0">
                <a:latin typeface="Arial" charset="0"/>
                <a:cs typeface="Arial" charset="0"/>
              </a:rPr>
              <a:t> + 1.3</a:t>
            </a:r>
            <a:r>
              <a:rPr lang="en-US" sz="2400" baseline="30000" smtClean="0">
                <a:latin typeface="Arial" charset="0"/>
                <a:cs typeface="Arial" charset="0"/>
              </a:rPr>
              <a:t>1</a:t>
            </a:r>
            <a:r>
              <a:rPr lang="en-US" sz="2400" smtClean="0">
                <a:latin typeface="Arial" charset="0"/>
                <a:cs typeface="Arial" charset="0"/>
              </a:rPr>
              <a:t> + 2.3</a:t>
            </a:r>
            <a:r>
              <a:rPr lang="en-US" sz="2400" baseline="30000" smtClean="0">
                <a:latin typeface="Arial" charset="0"/>
                <a:cs typeface="Arial" charset="0"/>
              </a:rPr>
              <a:t>0</a:t>
            </a:r>
            <a:r>
              <a:rPr lang="en-US" sz="2400" smtClean="0">
                <a:latin typeface="Arial" charset="0"/>
                <a:cs typeface="Arial" charset="0"/>
              </a:rPr>
              <a:t> = 1.2</a:t>
            </a:r>
            <a:r>
              <a:rPr lang="en-US" sz="2400" baseline="30000" smtClean="0">
                <a:latin typeface="Arial" charset="0"/>
                <a:cs typeface="Arial" charset="0"/>
              </a:rPr>
              <a:t>3</a:t>
            </a:r>
            <a:r>
              <a:rPr lang="en-US" sz="2400" smtClean="0">
                <a:latin typeface="Arial" charset="0"/>
                <a:cs typeface="Arial" charset="0"/>
              </a:rPr>
              <a:t>+1.2</a:t>
            </a:r>
            <a:r>
              <a:rPr lang="en-US" sz="2400" baseline="30000" smtClean="0">
                <a:latin typeface="Arial" charset="0"/>
                <a:cs typeface="Arial" charset="0"/>
              </a:rPr>
              <a:t>2</a:t>
            </a:r>
            <a:r>
              <a:rPr lang="en-US" sz="2400" smtClean="0">
                <a:latin typeface="Arial" charset="0"/>
                <a:cs typeface="Arial" charset="0"/>
              </a:rPr>
              <a:t>+1.2</a:t>
            </a:r>
            <a:r>
              <a:rPr lang="en-US" sz="2400" baseline="30000" smtClean="0">
                <a:latin typeface="Arial" charset="0"/>
                <a:cs typeface="Arial" charset="0"/>
              </a:rPr>
              <a:t>1</a:t>
            </a:r>
            <a:r>
              <a:rPr lang="en-US" sz="2400" smtClean="0">
                <a:latin typeface="Arial" charset="0"/>
                <a:cs typeface="Arial" charset="0"/>
              </a:rPr>
              <a:t> +0.2</a:t>
            </a:r>
            <a:r>
              <a:rPr lang="en-US" sz="2400" baseline="30000" smtClean="0">
                <a:latin typeface="Arial" charset="0"/>
                <a:cs typeface="Arial" charset="0"/>
              </a:rPr>
              <a:t>0</a:t>
            </a:r>
          </a:p>
          <a:p>
            <a:pPr algn="ctr" eaLnBrk="1" hangingPunct="1">
              <a:buFont typeface="Wingdings" pitchFamily="2" charset="2"/>
              <a:buNone/>
            </a:pPr>
            <a:r>
              <a:rPr lang="en-US" sz="2400" smtClean="0">
                <a:latin typeface="Arial" charset="0"/>
                <a:cs typeface="Arial" charset="0"/>
              </a:rPr>
              <a:t>Do đó  14</a:t>
            </a:r>
            <a:r>
              <a:rPr lang="en-US" sz="2400" baseline="-25000" smtClean="0">
                <a:solidFill>
                  <a:srgbClr val="CC3300"/>
                </a:solidFill>
                <a:latin typeface="Arial" charset="0"/>
                <a:cs typeface="Arial" charset="0"/>
              </a:rPr>
              <a:t>10</a:t>
            </a:r>
            <a:r>
              <a:rPr lang="en-US" sz="2400" smtClean="0">
                <a:latin typeface="Arial" charset="0"/>
                <a:cs typeface="Arial" charset="0"/>
              </a:rPr>
              <a:t> = 112</a:t>
            </a:r>
            <a:r>
              <a:rPr lang="en-US" sz="2400" baseline="-25000" smtClean="0">
                <a:solidFill>
                  <a:srgbClr val="CC3300"/>
                </a:solidFill>
                <a:latin typeface="Arial" charset="0"/>
                <a:cs typeface="Arial" charset="0"/>
              </a:rPr>
              <a:t>3 </a:t>
            </a:r>
            <a:r>
              <a:rPr lang="en-US" sz="2400" baseline="30000" smtClean="0">
                <a:latin typeface="Arial" charset="0"/>
                <a:cs typeface="Arial" charset="0"/>
              </a:rPr>
              <a:t>= </a:t>
            </a:r>
            <a:r>
              <a:rPr lang="en-US" sz="2400" smtClean="0">
                <a:latin typeface="Arial" charset="0"/>
                <a:cs typeface="Arial" charset="0"/>
              </a:rPr>
              <a:t>1110</a:t>
            </a:r>
            <a:r>
              <a:rPr lang="en-US" sz="2400" baseline="-25000" smtClean="0">
                <a:solidFill>
                  <a:srgbClr val="CC3300"/>
                </a:solidFill>
                <a:latin typeface="Arial" charset="0"/>
                <a:cs typeface="Arial" charset="0"/>
              </a:rPr>
              <a:t>2</a:t>
            </a:r>
          </a:p>
          <a:p>
            <a:pPr algn="ctr" eaLnBrk="1" hangingPunct="1">
              <a:buFont typeface="Wingdings" pitchFamily="2" charset="2"/>
              <a:buNone/>
            </a:pPr>
            <a:endParaRPr lang="en-US" sz="2400" baseline="-25000" smtClean="0">
              <a:solidFill>
                <a:srgbClr val="CC3300"/>
              </a:solidFill>
              <a:latin typeface="Arial" charset="0"/>
              <a:cs typeface="Arial" charset="0"/>
            </a:endParaRPr>
          </a:p>
        </p:txBody>
      </p:sp>
      <p:sp>
        <p:nvSpPr>
          <p:cNvPr id="4" name="Title 3"/>
          <p:cNvSpPr>
            <a:spLocks noGrp="1"/>
          </p:cNvSpPr>
          <p:nvPr>
            <p:ph type="title"/>
          </p:nvPr>
        </p:nvSpPr>
        <p:spPr/>
        <p:txBody>
          <a:bodyPr/>
          <a:lstStyle/>
          <a:p>
            <a:r>
              <a:rPr lang="en-US" b="1" dirty="0" err="1" smtClean="0">
                <a:solidFill>
                  <a:srgbClr val="C00000"/>
                </a:solidFill>
              </a:rPr>
              <a:t>Hệ</a:t>
            </a:r>
            <a:r>
              <a:rPr lang="en-US" b="1" dirty="0" smtClean="0">
                <a:solidFill>
                  <a:srgbClr val="C00000"/>
                </a:solidFill>
              </a:rPr>
              <a:t> </a:t>
            </a:r>
            <a:r>
              <a:rPr lang="en-US" b="1" dirty="0" err="1" smtClean="0">
                <a:solidFill>
                  <a:srgbClr val="C00000"/>
                </a:solidFill>
              </a:rPr>
              <a:t>đếm</a:t>
            </a:r>
            <a:r>
              <a:rPr lang="en-US" b="1" dirty="0" smtClean="0">
                <a:solidFill>
                  <a:srgbClr val="C00000"/>
                </a:solidFill>
              </a:rPr>
              <a:t> </a:t>
            </a:r>
            <a:r>
              <a:rPr lang="en-US" b="1" dirty="0" err="1" smtClean="0">
                <a:solidFill>
                  <a:srgbClr val="C00000"/>
                </a:solidFill>
              </a:rPr>
              <a:t>theo</a:t>
            </a:r>
            <a:r>
              <a:rPr lang="en-US" b="1" dirty="0" smtClean="0">
                <a:solidFill>
                  <a:srgbClr val="C00000"/>
                </a:solidFill>
              </a:rPr>
              <a:t> </a:t>
            </a:r>
            <a:r>
              <a:rPr lang="en-US" b="1" dirty="0" err="1" smtClean="0">
                <a:solidFill>
                  <a:srgbClr val="C00000"/>
                </a:solidFill>
              </a:rPr>
              <a:t>cơ</a:t>
            </a:r>
            <a:r>
              <a:rPr lang="en-US" b="1" dirty="0" smtClean="0">
                <a:solidFill>
                  <a:srgbClr val="C00000"/>
                </a:solidFill>
              </a:rPr>
              <a:t> </a:t>
            </a:r>
            <a:r>
              <a:rPr lang="en-US" b="1" dirty="0" err="1" smtClean="0">
                <a:solidFill>
                  <a:srgbClr val="C00000"/>
                </a:solidFill>
              </a:rPr>
              <a:t>số</a:t>
            </a:r>
            <a:r>
              <a:rPr lang="en-US" b="1" dirty="0" smtClean="0">
                <a:solidFill>
                  <a:srgbClr val="C00000"/>
                </a:solidFill>
              </a:rPr>
              <a:t> b</a:t>
            </a:r>
            <a:endParaRPr lang="en-US" b="1" dirty="0">
              <a:solidFill>
                <a:srgbClr val="C00000"/>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228600" y="1676400"/>
            <a:ext cx="8153400" cy="4724400"/>
          </a:xfrm>
        </p:spPr>
        <p:txBody>
          <a:bodyPr/>
          <a:lstStyle/>
          <a:p>
            <a:pPr algn="just" eaLnBrk="1" hangingPunct="1"/>
            <a:r>
              <a:rPr lang="en-US" sz="2800" dirty="0" err="1" smtClean="0">
                <a:latin typeface="Arial" charset="0"/>
                <a:cs typeface="Arial" charset="0"/>
              </a:rPr>
              <a:t>Hệ</a:t>
            </a:r>
            <a:r>
              <a:rPr lang="en-US" sz="2800" dirty="0" smtClean="0">
                <a:latin typeface="Arial" charset="0"/>
                <a:cs typeface="Arial" charset="0"/>
              </a:rPr>
              <a:t> </a:t>
            </a:r>
            <a:r>
              <a:rPr lang="en-US" sz="2800" dirty="0" err="1" smtClean="0">
                <a:latin typeface="Arial" charset="0"/>
                <a:cs typeface="Arial" charset="0"/>
              </a:rPr>
              <a:t>nhị</a:t>
            </a:r>
            <a:r>
              <a:rPr lang="en-US" sz="2800" dirty="0" smtClean="0">
                <a:latin typeface="Arial" charset="0"/>
                <a:cs typeface="Arial" charset="0"/>
              </a:rPr>
              <a:t> </a:t>
            </a:r>
            <a:r>
              <a:rPr lang="en-US" sz="2800" dirty="0" err="1" smtClean="0">
                <a:latin typeface="Arial" charset="0"/>
                <a:cs typeface="Arial" charset="0"/>
              </a:rPr>
              <a:t>phân</a:t>
            </a:r>
            <a:r>
              <a:rPr lang="en-US" sz="2800" dirty="0" smtClean="0">
                <a:latin typeface="Arial" charset="0"/>
                <a:cs typeface="Arial" charset="0"/>
              </a:rPr>
              <a:t> </a:t>
            </a:r>
            <a:r>
              <a:rPr lang="en-US" sz="2800" dirty="0" err="1" smtClean="0">
                <a:latin typeface="Arial" charset="0"/>
                <a:cs typeface="Arial" charset="0"/>
              </a:rPr>
              <a:t>dùng</a:t>
            </a:r>
            <a:r>
              <a:rPr lang="en-US" sz="2800" dirty="0" smtClean="0">
                <a:latin typeface="Arial" charset="0"/>
                <a:cs typeface="Arial" charset="0"/>
              </a:rPr>
              <a:t> 2 </a:t>
            </a:r>
            <a:r>
              <a:rPr lang="en-US" sz="2800" dirty="0" err="1" smtClean="0">
                <a:latin typeface="Arial" charset="0"/>
                <a:cs typeface="Arial" charset="0"/>
              </a:rPr>
              <a:t>chữ</a:t>
            </a:r>
            <a:r>
              <a:rPr lang="en-US" sz="2800" dirty="0" smtClean="0">
                <a:latin typeface="Arial" charset="0"/>
                <a:cs typeface="Arial" charset="0"/>
              </a:rPr>
              <a:t> </a:t>
            </a:r>
            <a:r>
              <a:rPr lang="en-US" sz="2800" dirty="0" err="1" smtClean="0">
                <a:latin typeface="Arial" charset="0"/>
                <a:cs typeface="Arial" charset="0"/>
              </a:rPr>
              <a:t>số</a:t>
            </a:r>
            <a:r>
              <a:rPr lang="en-US" sz="2800" dirty="0" smtClean="0">
                <a:latin typeface="Arial" charset="0"/>
                <a:cs typeface="Arial" charset="0"/>
              </a:rPr>
              <a:t> </a:t>
            </a:r>
            <a:r>
              <a:rPr lang="en-US" sz="2800" dirty="0" err="1" smtClean="0">
                <a:latin typeface="Arial" charset="0"/>
                <a:cs typeface="Arial" charset="0"/>
              </a:rPr>
              <a:t>là</a:t>
            </a:r>
            <a:r>
              <a:rPr lang="en-US" sz="2800" dirty="0" smtClean="0">
                <a:latin typeface="Arial" charset="0"/>
                <a:cs typeface="Arial" charset="0"/>
              </a:rPr>
              <a:t> {0,1} </a:t>
            </a:r>
            <a:r>
              <a:rPr lang="en-US" sz="2800" dirty="0" err="1" smtClean="0">
                <a:latin typeface="Arial" charset="0"/>
                <a:cs typeface="Arial" charset="0"/>
              </a:rPr>
              <a:t>và</a:t>
            </a:r>
            <a:r>
              <a:rPr lang="en-US" sz="2800" dirty="0" smtClean="0">
                <a:latin typeface="Arial" charset="0"/>
                <a:cs typeface="Arial" charset="0"/>
              </a:rPr>
              <a:t> </a:t>
            </a:r>
            <a:r>
              <a:rPr lang="en-US" sz="2800" dirty="0" err="1" smtClean="0">
                <a:latin typeface="Arial" charset="0"/>
                <a:cs typeface="Arial" charset="0"/>
              </a:rPr>
              <a:t>chữ</a:t>
            </a:r>
            <a:r>
              <a:rPr lang="en-US" sz="2800" dirty="0" smtClean="0">
                <a:latin typeface="Arial" charset="0"/>
                <a:cs typeface="Arial" charset="0"/>
              </a:rPr>
              <a:t> </a:t>
            </a:r>
            <a:r>
              <a:rPr lang="en-US" sz="2800" dirty="0" err="1" smtClean="0">
                <a:latin typeface="Arial" charset="0"/>
                <a:cs typeface="Arial" charset="0"/>
              </a:rPr>
              <a:t>số</a:t>
            </a:r>
            <a:r>
              <a:rPr lang="en-US" sz="2800" dirty="0" smtClean="0">
                <a:latin typeface="Arial" charset="0"/>
                <a:cs typeface="Arial" charset="0"/>
              </a:rPr>
              <a:t> 1 ở </a:t>
            </a:r>
            <a:r>
              <a:rPr lang="en-US" sz="2800" dirty="0" err="1" smtClean="0">
                <a:latin typeface="Arial" charset="0"/>
                <a:cs typeface="Arial" charset="0"/>
              </a:rPr>
              <a:t>một</a:t>
            </a:r>
            <a:r>
              <a:rPr lang="en-US" sz="2800" dirty="0" smtClean="0">
                <a:latin typeface="Arial" charset="0"/>
                <a:cs typeface="Arial" charset="0"/>
              </a:rPr>
              <a:t> </a:t>
            </a:r>
            <a:r>
              <a:rPr lang="en-US" sz="2800" dirty="0" err="1" smtClean="0">
                <a:latin typeface="Arial" charset="0"/>
                <a:cs typeface="Arial" charset="0"/>
              </a:rPr>
              <a:t>hàng</a:t>
            </a:r>
            <a:r>
              <a:rPr lang="en-US" sz="2800" dirty="0" smtClean="0">
                <a:latin typeface="Arial" charset="0"/>
                <a:cs typeface="Arial" charset="0"/>
              </a:rPr>
              <a:t> </a:t>
            </a:r>
            <a:r>
              <a:rPr lang="en-US" sz="2800" dirty="0" err="1" smtClean="0">
                <a:latin typeface="Arial" charset="0"/>
                <a:cs typeface="Arial" charset="0"/>
              </a:rPr>
              <a:t>có</a:t>
            </a:r>
            <a:r>
              <a:rPr lang="en-US" sz="2800" dirty="0" smtClean="0">
                <a:latin typeface="Arial" charset="0"/>
                <a:cs typeface="Arial" charset="0"/>
              </a:rPr>
              <a:t> </a:t>
            </a:r>
            <a:r>
              <a:rPr lang="en-US" sz="2800" dirty="0" err="1" smtClean="0">
                <a:latin typeface="Arial" charset="0"/>
                <a:cs typeface="Arial" charset="0"/>
              </a:rPr>
              <a:t>giá</a:t>
            </a:r>
            <a:r>
              <a:rPr lang="en-US" sz="2800" dirty="0" smtClean="0">
                <a:latin typeface="Arial" charset="0"/>
                <a:cs typeface="Arial" charset="0"/>
              </a:rPr>
              <a:t> </a:t>
            </a:r>
            <a:r>
              <a:rPr lang="en-US" sz="2800" dirty="0" err="1" smtClean="0">
                <a:latin typeface="Arial" charset="0"/>
                <a:cs typeface="Arial" charset="0"/>
              </a:rPr>
              <a:t>trị</a:t>
            </a:r>
            <a:r>
              <a:rPr lang="en-US" sz="2800" dirty="0" smtClean="0">
                <a:latin typeface="Arial" charset="0"/>
                <a:cs typeface="Arial" charset="0"/>
              </a:rPr>
              <a:t> </a:t>
            </a:r>
            <a:r>
              <a:rPr lang="en-US" sz="2800" dirty="0" err="1" smtClean="0">
                <a:latin typeface="Arial" charset="0"/>
                <a:cs typeface="Arial" charset="0"/>
              </a:rPr>
              <a:t>bằng</a:t>
            </a:r>
            <a:r>
              <a:rPr lang="en-US" sz="2800" dirty="0" smtClean="0">
                <a:latin typeface="Arial" charset="0"/>
                <a:cs typeface="Arial" charset="0"/>
              </a:rPr>
              <a:t> 2 </a:t>
            </a:r>
            <a:r>
              <a:rPr lang="en-US" sz="2800" dirty="0" err="1" smtClean="0">
                <a:latin typeface="Arial" charset="0"/>
                <a:cs typeface="Arial" charset="0"/>
              </a:rPr>
              <a:t>lần</a:t>
            </a:r>
            <a:r>
              <a:rPr lang="en-US" sz="2800" dirty="0" smtClean="0">
                <a:latin typeface="Arial" charset="0"/>
                <a:cs typeface="Arial" charset="0"/>
              </a:rPr>
              <a:t> </a:t>
            </a:r>
            <a:r>
              <a:rPr lang="en-US" sz="2800" dirty="0" err="1" smtClean="0">
                <a:latin typeface="Arial" charset="0"/>
                <a:cs typeface="Arial" charset="0"/>
              </a:rPr>
              <a:t>chữ</a:t>
            </a:r>
            <a:r>
              <a:rPr lang="en-US" sz="2800" dirty="0" smtClean="0">
                <a:latin typeface="Arial" charset="0"/>
                <a:cs typeface="Arial" charset="0"/>
              </a:rPr>
              <a:t> </a:t>
            </a:r>
            <a:r>
              <a:rPr lang="en-US" sz="2800" dirty="0" err="1" smtClean="0">
                <a:latin typeface="Arial" charset="0"/>
                <a:cs typeface="Arial" charset="0"/>
              </a:rPr>
              <a:t>số</a:t>
            </a:r>
            <a:r>
              <a:rPr lang="en-US" sz="2800" dirty="0" smtClean="0">
                <a:latin typeface="Arial" charset="0"/>
                <a:cs typeface="Arial" charset="0"/>
              </a:rPr>
              <a:t> 1 ở </a:t>
            </a:r>
            <a:r>
              <a:rPr lang="en-US" sz="2800" dirty="0" err="1" smtClean="0">
                <a:latin typeface="Arial" charset="0"/>
                <a:cs typeface="Arial" charset="0"/>
              </a:rPr>
              <a:t>hàng</a:t>
            </a:r>
            <a:r>
              <a:rPr lang="en-US" sz="2800" dirty="0" smtClean="0">
                <a:latin typeface="Arial" charset="0"/>
                <a:cs typeface="Arial" charset="0"/>
              </a:rPr>
              <a:t> </a:t>
            </a:r>
            <a:r>
              <a:rPr lang="en-US" sz="2800" dirty="0" err="1" smtClean="0">
                <a:latin typeface="Arial" charset="0"/>
                <a:cs typeface="Arial" charset="0"/>
              </a:rPr>
              <a:t>kế</a:t>
            </a:r>
            <a:r>
              <a:rPr lang="en-US" sz="2800" dirty="0" smtClean="0">
                <a:latin typeface="Arial" charset="0"/>
                <a:cs typeface="Arial" charset="0"/>
              </a:rPr>
              <a:t> </a:t>
            </a:r>
            <a:r>
              <a:rPr lang="en-US" sz="2800" dirty="0" err="1" smtClean="0">
                <a:latin typeface="Arial" charset="0"/>
                <a:cs typeface="Arial" charset="0"/>
              </a:rPr>
              <a:t>cận</a:t>
            </a:r>
            <a:r>
              <a:rPr lang="en-US" sz="2800" dirty="0" smtClean="0">
                <a:latin typeface="Arial" charset="0"/>
                <a:cs typeface="Arial" charset="0"/>
              </a:rPr>
              <a:t> </a:t>
            </a:r>
            <a:r>
              <a:rPr lang="en-US" sz="2800" err="1" smtClean="0">
                <a:latin typeface="Arial" charset="0"/>
                <a:cs typeface="Arial" charset="0"/>
              </a:rPr>
              <a:t>bên</a:t>
            </a:r>
            <a:r>
              <a:rPr lang="en-US" sz="2800" smtClean="0">
                <a:latin typeface="Arial" charset="0"/>
                <a:cs typeface="Arial" charset="0"/>
              </a:rPr>
              <a:t> </a:t>
            </a:r>
            <a:r>
              <a:rPr lang="en-US" sz="2800" smtClean="0">
                <a:latin typeface="Arial" charset="0"/>
                <a:cs typeface="Arial" charset="0"/>
              </a:rPr>
              <a:t>phải.</a:t>
            </a:r>
            <a:endParaRPr lang="en-US" sz="2800" dirty="0" smtClean="0">
              <a:latin typeface="Arial" charset="0"/>
              <a:cs typeface="Arial" charset="0"/>
            </a:endParaRPr>
          </a:p>
          <a:p>
            <a:pPr eaLnBrk="1" hangingPunct="1">
              <a:buFont typeface="Wingdings" pitchFamily="2" charset="2"/>
              <a:buNone/>
            </a:pPr>
            <a:r>
              <a:rPr lang="en-US" sz="2400" dirty="0" smtClean="0">
                <a:latin typeface="Arial" charset="0"/>
                <a:cs typeface="Arial" charset="0"/>
              </a:rPr>
              <a:t>		</a:t>
            </a:r>
            <a:r>
              <a:rPr lang="en-US" sz="2400" dirty="0" smtClean="0">
                <a:solidFill>
                  <a:srgbClr val="FF0000"/>
                </a:solidFill>
                <a:latin typeface="Arial" charset="0"/>
                <a:cs typeface="Arial" charset="0"/>
              </a:rPr>
              <a:t>14,625 = 1.2</a:t>
            </a:r>
            <a:r>
              <a:rPr lang="en-US" sz="2400" baseline="30000" dirty="0" smtClean="0">
                <a:solidFill>
                  <a:srgbClr val="FF0000"/>
                </a:solidFill>
                <a:latin typeface="Arial" charset="0"/>
                <a:cs typeface="Arial" charset="0"/>
              </a:rPr>
              <a:t>3</a:t>
            </a:r>
            <a:r>
              <a:rPr lang="en-US" sz="2400" dirty="0" smtClean="0">
                <a:solidFill>
                  <a:srgbClr val="FF0000"/>
                </a:solidFill>
                <a:latin typeface="Arial" charset="0"/>
                <a:cs typeface="Arial" charset="0"/>
              </a:rPr>
              <a:t>+1.2</a:t>
            </a:r>
            <a:r>
              <a:rPr lang="en-US" sz="2400" baseline="30000" dirty="0" smtClean="0">
                <a:solidFill>
                  <a:srgbClr val="FF0000"/>
                </a:solidFill>
                <a:latin typeface="Arial" charset="0"/>
                <a:cs typeface="Arial" charset="0"/>
              </a:rPr>
              <a:t>2</a:t>
            </a:r>
            <a:r>
              <a:rPr lang="en-US" sz="2400" dirty="0" smtClean="0">
                <a:solidFill>
                  <a:srgbClr val="FF0000"/>
                </a:solidFill>
                <a:latin typeface="Arial" charset="0"/>
                <a:cs typeface="Arial" charset="0"/>
              </a:rPr>
              <a:t>+1.2</a:t>
            </a:r>
            <a:r>
              <a:rPr lang="en-US" sz="2400" baseline="30000" dirty="0" smtClean="0">
                <a:solidFill>
                  <a:srgbClr val="FF0000"/>
                </a:solidFill>
                <a:latin typeface="Arial" charset="0"/>
                <a:cs typeface="Arial" charset="0"/>
              </a:rPr>
              <a:t>1</a:t>
            </a:r>
            <a:r>
              <a:rPr lang="en-US" sz="2400" dirty="0" smtClean="0">
                <a:solidFill>
                  <a:srgbClr val="FF0000"/>
                </a:solidFill>
                <a:latin typeface="Arial" charset="0"/>
                <a:cs typeface="Arial" charset="0"/>
              </a:rPr>
              <a:t> +0.2</a:t>
            </a:r>
            <a:r>
              <a:rPr lang="en-US" sz="2400" baseline="30000" dirty="0" smtClean="0">
                <a:solidFill>
                  <a:srgbClr val="FF0000"/>
                </a:solidFill>
                <a:latin typeface="Arial" charset="0"/>
                <a:cs typeface="Arial" charset="0"/>
              </a:rPr>
              <a:t>0</a:t>
            </a:r>
            <a:r>
              <a:rPr lang="en-US" sz="2400" dirty="0" smtClean="0">
                <a:solidFill>
                  <a:srgbClr val="FF0000"/>
                </a:solidFill>
                <a:latin typeface="Arial" charset="0"/>
                <a:cs typeface="Arial" charset="0"/>
              </a:rPr>
              <a:t>+1.2</a:t>
            </a:r>
            <a:r>
              <a:rPr lang="en-US" sz="2400" baseline="30000" dirty="0" smtClean="0">
                <a:solidFill>
                  <a:srgbClr val="FF0000"/>
                </a:solidFill>
                <a:latin typeface="Arial" charset="0"/>
                <a:cs typeface="Arial" charset="0"/>
              </a:rPr>
              <a:t>-1</a:t>
            </a:r>
            <a:r>
              <a:rPr lang="en-US" sz="2400" dirty="0" smtClean="0">
                <a:solidFill>
                  <a:srgbClr val="FF0000"/>
                </a:solidFill>
                <a:latin typeface="Arial" charset="0"/>
                <a:cs typeface="Arial" charset="0"/>
              </a:rPr>
              <a:t>+0.2</a:t>
            </a:r>
            <a:r>
              <a:rPr lang="en-US" sz="2400" baseline="30000" dirty="0" smtClean="0">
                <a:solidFill>
                  <a:srgbClr val="FF0000"/>
                </a:solidFill>
                <a:latin typeface="Arial" charset="0"/>
                <a:cs typeface="Arial" charset="0"/>
              </a:rPr>
              <a:t>-2 </a:t>
            </a:r>
            <a:r>
              <a:rPr lang="en-US" sz="2400" dirty="0" smtClean="0">
                <a:solidFill>
                  <a:srgbClr val="FF0000"/>
                </a:solidFill>
                <a:latin typeface="Arial" charset="0"/>
                <a:cs typeface="Arial" charset="0"/>
              </a:rPr>
              <a:t>+1.2</a:t>
            </a:r>
            <a:r>
              <a:rPr lang="en-US" sz="2400" baseline="30000" dirty="0" smtClean="0">
                <a:solidFill>
                  <a:srgbClr val="FF0000"/>
                </a:solidFill>
                <a:latin typeface="Arial" charset="0"/>
                <a:cs typeface="Arial" charset="0"/>
              </a:rPr>
              <a:t> -3</a:t>
            </a:r>
          </a:p>
          <a:p>
            <a:pPr algn="ctr" eaLnBrk="1" hangingPunct="1">
              <a:buFont typeface="Wingdings" pitchFamily="2" charset="2"/>
              <a:buNone/>
            </a:pPr>
            <a:r>
              <a:rPr lang="en-US" sz="2800" dirty="0" smtClean="0">
                <a:latin typeface="Arial" charset="0"/>
                <a:cs typeface="Arial" charset="0"/>
              </a:rPr>
              <a:t>Do </a:t>
            </a:r>
            <a:r>
              <a:rPr lang="en-US" sz="2800" dirty="0" err="1" smtClean="0">
                <a:latin typeface="Arial" charset="0"/>
                <a:cs typeface="Arial" charset="0"/>
              </a:rPr>
              <a:t>đó</a:t>
            </a:r>
            <a:r>
              <a:rPr lang="en-US" sz="2800" dirty="0" smtClean="0">
                <a:latin typeface="Arial" charset="0"/>
                <a:cs typeface="Arial" charset="0"/>
              </a:rPr>
              <a:t>  14,625</a:t>
            </a:r>
            <a:r>
              <a:rPr lang="en-US" sz="2800" baseline="-25000" dirty="0" smtClean="0">
                <a:solidFill>
                  <a:srgbClr val="CC3300"/>
                </a:solidFill>
                <a:latin typeface="Arial" charset="0"/>
                <a:cs typeface="Arial" charset="0"/>
              </a:rPr>
              <a:t>10</a:t>
            </a:r>
            <a:r>
              <a:rPr lang="en-US" sz="2800" dirty="0" smtClean="0">
                <a:latin typeface="Arial" charset="0"/>
                <a:cs typeface="Arial" charset="0"/>
              </a:rPr>
              <a:t> = 1110,101</a:t>
            </a:r>
            <a:r>
              <a:rPr lang="en-US" sz="2800" baseline="-25000" dirty="0" smtClean="0">
                <a:solidFill>
                  <a:srgbClr val="CC3300"/>
                </a:solidFill>
                <a:latin typeface="Arial" charset="0"/>
                <a:cs typeface="Arial" charset="0"/>
              </a:rPr>
              <a:t>2</a:t>
            </a:r>
          </a:p>
          <a:p>
            <a:pPr algn="just" eaLnBrk="1" hangingPunct="1"/>
            <a:r>
              <a:rPr lang="en-US" sz="2800" dirty="0" err="1" smtClean="0">
                <a:latin typeface="Arial" charset="0"/>
                <a:cs typeface="Arial" charset="0"/>
              </a:rPr>
              <a:t>Hệ</a:t>
            </a:r>
            <a:r>
              <a:rPr lang="en-US" sz="2800" dirty="0" smtClean="0">
                <a:latin typeface="Arial" charset="0"/>
                <a:cs typeface="Arial" charset="0"/>
              </a:rPr>
              <a:t> </a:t>
            </a:r>
            <a:r>
              <a:rPr lang="en-US" sz="2800" dirty="0" err="1" smtClean="0">
                <a:latin typeface="Arial" charset="0"/>
                <a:cs typeface="Arial" charset="0"/>
              </a:rPr>
              <a:t>đếm</a:t>
            </a:r>
            <a:r>
              <a:rPr lang="en-US" sz="2800" dirty="0" smtClean="0">
                <a:latin typeface="Arial" charset="0"/>
                <a:cs typeface="Arial" charset="0"/>
              </a:rPr>
              <a:t> </a:t>
            </a:r>
            <a:r>
              <a:rPr lang="en-US" sz="2800" dirty="0" err="1" smtClean="0">
                <a:latin typeface="Arial" charset="0"/>
                <a:cs typeface="Arial" charset="0"/>
              </a:rPr>
              <a:t>nhị</a:t>
            </a:r>
            <a:r>
              <a:rPr lang="en-US" sz="2800" dirty="0" smtClean="0">
                <a:latin typeface="Arial" charset="0"/>
                <a:cs typeface="Arial" charset="0"/>
              </a:rPr>
              <a:t> </a:t>
            </a:r>
            <a:r>
              <a:rPr lang="en-US" sz="2800" dirty="0" err="1" smtClean="0">
                <a:latin typeface="Arial" charset="0"/>
                <a:cs typeface="Arial" charset="0"/>
              </a:rPr>
              <a:t>phân</a:t>
            </a:r>
            <a:r>
              <a:rPr lang="en-US" sz="2800" dirty="0" smtClean="0">
                <a:latin typeface="Arial" charset="0"/>
                <a:cs typeface="Arial" charset="0"/>
              </a:rPr>
              <a:t> </a:t>
            </a:r>
            <a:r>
              <a:rPr lang="en-US" sz="2800" dirty="0" err="1" smtClean="0">
                <a:latin typeface="Arial" charset="0"/>
                <a:cs typeface="Arial" charset="0"/>
              </a:rPr>
              <a:t>là</a:t>
            </a:r>
            <a:r>
              <a:rPr lang="en-US" sz="2800" dirty="0" smtClean="0">
                <a:latin typeface="Arial" charset="0"/>
                <a:cs typeface="Arial" charset="0"/>
              </a:rPr>
              <a:t> </a:t>
            </a:r>
            <a:r>
              <a:rPr lang="en-US" sz="2800" dirty="0" err="1" smtClean="0">
                <a:latin typeface="Arial" charset="0"/>
                <a:cs typeface="Arial" charset="0"/>
              </a:rPr>
              <a:t>hệ</a:t>
            </a:r>
            <a:r>
              <a:rPr lang="en-US" sz="2800" dirty="0" smtClean="0">
                <a:latin typeface="Arial" charset="0"/>
                <a:cs typeface="Arial" charset="0"/>
              </a:rPr>
              <a:t> </a:t>
            </a:r>
            <a:r>
              <a:rPr lang="en-US" sz="2800" dirty="0" err="1" smtClean="0">
                <a:latin typeface="Arial" charset="0"/>
                <a:cs typeface="Arial" charset="0"/>
              </a:rPr>
              <a:t>được</a:t>
            </a:r>
            <a:r>
              <a:rPr lang="en-US" sz="2800" dirty="0" smtClean="0">
                <a:latin typeface="Arial" charset="0"/>
                <a:cs typeface="Arial" charset="0"/>
              </a:rPr>
              <a:t> </a:t>
            </a:r>
            <a:r>
              <a:rPr lang="en-US" sz="2800" dirty="0" err="1" smtClean="0">
                <a:latin typeface="Arial" charset="0"/>
                <a:cs typeface="Arial" charset="0"/>
              </a:rPr>
              <a:t>sử</a:t>
            </a:r>
            <a:r>
              <a:rPr lang="en-US" sz="2800" dirty="0" smtClean="0">
                <a:latin typeface="Arial" charset="0"/>
                <a:cs typeface="Arial" charset="0"/>
              </a:rPr>
              <a:t> </a:t>
            </a:r>
            <a:r>
              <a:rPr lang="en-US" sz="2800" dirty="0" err="1" smtClean="0">
                <a:latin typeface="Arial" charset="0"/>
                <a:cs typeface="Arial" charset="0"/>
              </a:rPr>
              <a:t>dụng</a:t>
            </a:r>
            <a:r>
              <a:rPr lang="en-US" sz="2800" dirty="0" smtClean="0">
                <a:latin typeface="Arial" charset="0"/>
                <a:cs typeface="Arial" charset="0"/>
              </a:rPr>
              <a:t> </a:t>
            </a:r>
            <a:r>
              <a:rPr lang="en-US" sz="2800" dirty="0" err="1" smtClean="0">
                <a:latin typeface="Arial" charset="0"/>
                <a:cs typeface="Arial" charset="0"/>
              </a:rPr>
              <a:t>nhiều</a:t>
            </a:r>
            <a:r>
              <a:rPr lang="en-US" sz="2800" dirty="0" smtClean="0">
                <a:latin typeface="Arial" charset="0"/>
                <a:cs typeface="Arial" charset="0"/>
              </a:rPr>
              <a:t> </a:t>
            </a:r>
            <a:r>
              <a:rPr lang="en-US" sz="2800" dirty="0" err="1" smtClean="0">
                <a:latin typeface="Arial" charset="0"/>
                <a:cs typeface="Arial" charset="0"/>
              </a:rPr>
              <a:t>đối</a:t>
            </a:r>
            <a:r>
              <a:rPr lang="en-US" sz="2800" dirty="0" smtClean="0">
                <a:latin typeface="Arial" charset="0"/>
                <a:cs typeface="Arial" charset="0"/>
              </a:rPr>
              <a:t> </a:t>
            </a:r>
            <a:r>
              <a:rPr lang="en-US" sz="2800" err="1" smtClean="0">
                <a:latin typeface="Arial" charset="0"/>
                <a:cs typeface="Arial" charset="0"/>
              </a:rPr>
              <a:t>với</a:t>
            </a:r>
            <a:r>
              <a:rPr lang="en-US" sz="2800" smtClean="0">
                <a:latin typeface="Arial" charset="0"/>
                <a:cs typeface="Arial" charset="0"/>
              </a:rPr>
              <a:t> </a:t>
            </a:r>
            <a:r>
              <a:rPr lang="en-US" sz="2800" smtClean="0">
                <a:latin typeface="Arial" charset="0"/>
                <a:cs typeface="Arial" charset="0"/>
              </a:rPr>
              <a:t>máy tính </a:t>
            </a:r>
            <a:r>
              <a:rPr lang="en-US" sz="2800" err="1" smtClean="0">
                <a:latin typeface="Arial" charset="0"/>
                <a:cs typeface="Arial" charset="0"/>
              </a:rPr>
              <a:t>vì</a:t>
            </a:r>
            <a:r>
              <a:rPr lang="en-US" sz="2800" smtClean="0">
                <a:latin typeface="Arial" charset="0"/>
                <a:cs typeface="Arial" charset="0"/>
              </a:rPr>
              <a:t> </a:t>
            </a:r>
            <a:r>
              <a:rPr lang="en-US" sz="2800" smtClean="0">
                <a:latin typeface="Arial" charset="0"/>
                <a:cs typeface="Arial" charset="0"/>
              </a:rPr>
              <a:t>máy tính </a:t>
            </a:r>
            <a:r>
              <a:rPr lang="en-US" sz="2800" dirty="0" err="1" smtClean="0">
                <a:latin typeface="Arial" charset="0"/>
                <a:cs typeface="Arial" charset="0"/>
              </a:rPr>
              <a:t>sử</a:t>
            </a:r>
            <a:r>
              <a:rPr lang="en-US" sz="2800" dirty="0" smtClean="0">
                <a:latin typeface="Arial" charset="0"/>
                <a:cs typeface="Arial" charset="0"/>
              </a:rPr>
              <a:t> </a:t>
            </a:r>
            <a:r>
              <a:rPr lang="en-US" sz="2800" dirty="0" err="1" smtClean="0">
                <a:latin typeface="Arial" charset="0"/>
                <a:cs typeface="Arial" charset="0"/>
              </a:rPr>
              <a:t>dụng</a:t>
            </a:r>
            <a:r>
              <a:rPr lang="en-US" sz="2800" dirty="0" smtClean="0">
                <a:latin typeface="Arial" charset="0"/>
                <a:cs typeface="Arial" charset="0"/>
              </a:rPr>
              <a:t> </a:t>
            </a:r>
            <a:r>
              <a:rPr lang="en-US" sz="2800" dirty="0" err="1" smtClean="0">
                <a:latin typeface="Arial" charset="0"/>
                <a:cs typeface="Arial" charset="0"/>
              </a:rPr>
              <a:t>các</a:t>
            </a:r>
            <a:r>
              <a:rPr lang="en-US" sz="2800" dirty="0" smtClean="0">
                <a:latin typeface="Arial" charset="0"/>
                <a:cs typeface="Arial" charset="0"/>
              </a:rPr>
              <a:t> </a:t>
            </a:r>
            <a:r>
              <a:rPr lang="en-US" sz="2800" dirty="0" err="1" smtClean="0">
                <a:latin typeface="Arial" charset="0"/>
                <a:cs typeface="Arial" charset="0"/>
              </a:rPr>
              <a:t>thành</a:t>
            </a:r>
            <a:r>
              <a:rPr lang="en-US" sz="2800" dirty="0" smtClean="0">
                <a:latin typeface="Arial" charset="0"/>
                <a:cs typeface="Arial" charset="0"/>
              </a:rPr>
              <a:t> </a:t>
            </a:r>
            <a:r>
              <a:rPr lang="en-US" sz="2800" dirty="0" err="1" smtClean="0">
                <a:latin typeface="Arial" charset="0"/>
                <a:cs typeface="Arial" charset="0"/>
              </a:rPr>
              <a:t>phần</a:t>
            </a:r>
            <a:r>
              <a:rPr lang="en-US" sz="2800" dirty="0" smtClean="0">
                <a:latin typeface="Arial" charset="0"/>
                <a:cs typeface="Arial" charset="0"/>
              </a:rPr>
              <a:t> </a:t>
            </a:r>
            <a:r>
              <a:rPr lang="en-US" sz="2800" dirty="0" err="1" smtClean="0">
                <a:latin typeface="Arial" charset="0"/>
                <a:cs typeface="Arial" charset="0"/>
              </a:rPr>
              <a:t>vật</a:t>
            </a:r>
            <a:r>
              <a:rPr lang="en-US" sz="2800" dirty="0" smtClean="0">
                <a:latin typeface="Arial" charset="0"/>
                <a:cs typeface="Arial" charset="0"/>
              </a:rPr>
              <a:t> </a:t>
            </a:r>
            <a:r>
              <a:rPr lang="en-US" sz="2800" dirty="0" err="1" smtClean="0">
                <a:latin typeface="Arial" charset="0"/>
                <a:cs typeface="Arial" charset="0"/>
              </a:rPr>
              <a:t>lý</a:t>
            </a:r>
            <a:r>
              <a:rPr lang="en-US" sz="2800" dirty="0" smtClean="0">
                <a:latin typeface="Arial" charset="0"/>
                <a:cs typeface="Arial" charset="0"/>
              </a:rPr>
              <a:t> </a:t>
            </a:r>
            <a:r>
              <a:rPr lang="en-US" sz="2800" dirty="0" err="1" smtClean="0">
                <a:latin typeface="Arial" charset="0"/>
                <a:cs typeface="Arial" charset="0"/>
              </a:rPr>
              <a:t>có</a:t>
            </a:r>
            <a:r>
              <a:rPr lang="en-US" sz="2800" dirty="0" smtClean="0">
                <a:latin typeface="Arial" charset="0"/>
                <a:cs typeface="Arial" charset="0"/>
              </a:rPr>
              <a:t> </a:t>
            </a:r>
            <a:r>
              <a:rPr lang="en-US" sz="2800" dirty="0" err="1" smtClean="0">
                <a:latin typeface="Arial" charset="0"/>
                <a:cs typeface="Arial" charset="0"/>
              </a:rPr>
              <a:t>hai</a:t>
            </a:r>
            <a:r>
              <a:rPr lang="en-US" sz="2800" dirty="0" smtClean="0">
                <a:latin typeface="Arial" charset="0"/>
                <a:cs typeface="Arial" charset="0"/>
              </a:rPr>
              <a:t> </a:t>
            </a:r>
            <a:r>
              <a:rPr lang="en-US" sz="2800" dirty="0" err="1" smtClean="0">
                <a:latin typeface="Arial" charset="0"/>
                <a:cs typeface="Arial" charset="0"/>
              </a:rPr>
              <a:t>trạng</a:t>
            </a:r>
            <a:r>
              <a:rPr lang="en-US" sz="2800" dirty="0" smtClean="0">
                <a:latin typeface="Arial" charset="0"/>
                <a:cs typeface="Arial" charset="0"/>
              </a:rPr>
              <a:t> </a:t>
            </a:r>
            <a:r>
              <a:rPr lang="en-US" sz="2800" dirty="0" err="1" smtClean="0">
                <a:latin typeface="Arial" charset="0"/>
                <a:cs typeface="Arial" charset="0"/>
              </a:rPr>
              <a:t>thái</a:t>
            </a:r>
            <a:r>
              <a:rPr lang="en-US" sz="2800" dirty="0" smtClean="0">
                <a:latin typeface="Arial" charset="0"/>
                <a:cs typeface="Arial" charset="0"/>
              </a:rPr>
              <a:t> </a:t>
            </a:r>
            <a:r>
              <a:rPr lang="en-US" sz="2800" dirty="0" err="1" smtClean="0">
                <a:latin typeface="Arial" charset="0"/>
                <a:cs typeface="Arial" charset="0"/>
              </a:rPr>
              <a:t>để</a:t>
            </a:r>
            <a:r>
              <a:rPr lang="en-US" sz="2800" dirty="0" smtClean="0">
                <a:latin typeface="Arial" charset="0"/>
                <a:cs typeface="Arial" charset="0"/>
              </a:rPr>
              <a:t> </a:t>
            </a:r>
            <a:r>
              <a:rPr lang="en-US" sz="2800" dirty="0" err="1" smtClean="0">
                <a:latin typeface="Arial" charset="0"/>
                <a:cs typeface="Arial" charset="0"/>
              </a:rPr>
              <a:t>nhớ</a:t>
            </a:r>
            <a:r>
              <a:rPr lang="en-US" sz="2800" dirty="0" smtClean="0">
                <a:latin typeface="Arial" charset="0"/>
                <a:cs typeface="Arial" charset="0"/>
              </a:rPr>
              <a:t> </a:t>
            </a:r>
            <a:r>
              <a:rPr lang="en-US" sz="2800" err="1" smtClean="0">
                <a:latin typeface="Arial" charset="0"/>
                <a:cs typeface="Arial" charset="0"/>
              </a:rPr>
              <a:t>các</a:t>
            </a:r>
            <a:r>
              <a:rPr lang="en-US" sz="2800" smtClean="0">
                <a:latin typeface="Arial" charset="0"/>
                <a:cs typeface="Arial" charset="0"/>
              </a:rPr>
              <a:t> </a:t>
            </a:r>
            <a:r>
              <a:rPr lang="en-US" sz="2800" smtClean="0">
                <a:latin typeface="Arial" charset="0"/>
                <a:cs typeface="Arial" charset="0"/>
              </a:rPr>
              <a:t>bit.</a:t>
            </a:r>
            <a:endParaRPr lang="en-US" sz="2800" dirty="0" smtClean="0">
              <a:latin typeface="Arial" charset="0"/>
              <a:cs typeface="Arial" charset="0"/>
            </a:endParaRPr>
          </a:p>
        </p:txBody>
      </p:sp>
      <p:sp>
        <p:nvSpPr>
          <p:cNvPr id="4" name="Title 3"/>
          <p:cNvSpPr>
            <a:spLocks noGrp="1"/>
          </p:cNvSpPr>
          <p:nvPr>
            <p:ph type="title"/>
          </p:nvPr>
        </p:nvSpPr>
        <p:spPr/>
        <p:txBody>
          <a:bodyPr/>
          <a:lstStyle/>
          <a:p>
            <a:r>
              <a:rPr lang="en-US" b="1" dirty="0" err="1" smtClean="0">
                <a:solidFill>
                  <a:srgbClr val="C00000"/>
                </a:solidFill>
              </a:rPr>
              <a:t>Hệ</a:t>
            </a:r>
            <a:r>
              <a:rPr lang="en-US" b="1" dirty="0" smtClean="0">
                <a:solidFill>
                  <a:srgbClr val="C00000"/>
                </a:solidFill>
              </a:rPr>
              <a:t> </a:t>
            </a:r>
            <a:r>
              <a:rPr lang="en-US" b="1" dirty="0" err="1" smtClean="0">
                <a:solidFill>
                  <a:srgbClr val="C00000"/>
                </a:solidFill>
              </a:rPr>
              <a:t>đếm</a:t>
            </a:r>
            <a:r>
              <a:rPr lang="en-US" b="1" dirty="0" smtClean="0">
                <a:solidFill>
                  <a:srgbClr val="C00000"/>
                </a:solidFill>
              </a:rPr>
              <a:t> </a:t>
            </a:r>
            <a:r>
              <a:rPr lang="en-US" b="1" dirty="0" err="1" smtClean="0">
                <a:solidFill>
                  <a:srgbClr val="C00000"/>
                </a:solidFill>
              </a:rPr>
              <a:t>nhị</a:t>
            </a:r>
            <a:r>
              <a:rPr lang="en-US" b="1" dirty="0" smtClean="0">
                <a:solidFill>
                  <a:srgbClr val="C00000"/>
                </a:solidFill>
              </a:rPr>
              <a:t> </a:t>
            </a:r>
            <a:r>
              <a:rPr lang="en-US" b="1" dirty="0" err="1" smtClean="0">
                <a:solidFill>
                  <a:srgbClr val="C00000"/>
                </a:solidFill>
              </a:rPr>
              <a:t>phân</a:t>
            </a:r>
            <a:endParaRPr lang="en-US" b="1" dirty="0">
              <a:solidFill>
                <a:srgbClr val="C00000"/>
              </a:solidFill>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1" name="Rectangle 3"/>
          <p:cNvSpPr>
            <a:spLocks noGrp="1" noChangeArrowheads="1"/>
          </p:cNvSpPr>
          <p:nvPr>
            <p:ph idx="1"/>
          </p:nvPr>
        </p:nvSpPr>
        <p:spPr>
          <a:xfrm>
            <a:off x="673049" y="1447800"/>
            <a:ext cx="7772400" cy="1981200"/>
          </a:xfrm>
        </p:spPr>
        <p:txBody>
          <a:bodyPr>
            <a:normAutofit fontScale="92500" lnSpcReduction="10000"/>
          </a:bodyPr>
          <a:lstStyle/>
          <a:p>
            <a:pPr marL="365760" indent="-283464" eaLnBrk="1" fontAlgn="auto" hangingPunct="1">
              <a:spcAft>
                <a:spcPts val="0"/>
              </a:spcAft>
              <a:buFont typeface="Wingdings 2"/>
              <a:buChar char=""/>
              <a:defRPr/>
            </a:pPr>
            <a:r>
              <a:rPr lang="en-US"/>
              <a:t>Bảng cộng: 0+0=0, 1+0=0+1=1, 1+1=10</a:t>
            </a:r>
          </a:p>
          <a:p>
            <a:pPr marL="365760" indent="-283464" eaLnBrk="1" fontAlgn="auto" hangingPunct="1">
              <a:spcAft>
                <a:spcPts val="0"/>
              </a:spcAft>
              <a:buFont typeface="Wingdings 2"/>
              <a:buChar char=""/>
              <a:defRPr/>
            </a:pPr>
            <a:r>
              <a:rPr lang="en-US"/>
              <a:t>Bảng nhân: 0x0=0x1=1x0=0 1x1=1</a:t>
            </a:r>
          </a:p>
          <a:p>
            <a:pPr marL="365760" indent="-283464" eaLnBrk="1" fontAlgn="auto" hangingPunct="1">
              <a:spcAft>
                <a:spcPts val="0"/>
              </a:spcAft>
              <a:buFont typeface="Wingdings 2"/>
              <a:buChar char=""/>
              <a:defRPr/>
            </a:pPr>
            <a:r>
              <a:rPr lang="en-US"/>
              <a:t>Ví dụ 7+5 = 12, 12-5 = 7, 6x5 = 30, 30:6=5 được thể hiện trong hệ nhị phân</a:t>
            </a:r>
          </a:p>
        </p:txBody>
      </p:sp>
      <p:sp>
        <p:nvSpPr>
          <p:cNvPr id="16388" name="Text Box 4"/>
          <p:cNvSpPr txBox="1">
            <a:spLocks noChangeArrowheads="1"/>
          </p:cNvSpPr>
          <p:nvPr/>
        </p:nvSpPr>
        <p:spPr bwMode="auto">
          <a:xfrm>
            <a:off x="990600" y="3452812"/>
            <a:ext cx="1295400" cy="1066800"/>
          </a:xfrm>
          <a:prstGeom prst="rect">
            <a:avLst/>
          </a:prstGeom>
          <a:noFill/>
          <a:ln w="9525" algn="ctr">
            <a:noFill/>
            <a:miter lim="800000"/>
            <a:headEnd/>
            <a:tailEnd/>
          </a:ln>
        </p:spPr>
        <p:txBody>
          <a:bodyPr>
            <a:spAutoFit/>
          </a:bodyPr>
          <a:lstStyle/>
          <a:p>
            <a:pPr algn="r">
              <a:spcBef>
                <a:spcPct val="0"/>
              </a:spcBef>
              <a:buClrTx/>
              <a:buSzTx/>
              <a:buFontTx/>
              <a:buNone/>
            </a:pPr>
            <a:r>
              <a:rPr lang="en-US" sz="3200"/>
              <a:t>111</a:t>
            </a:r>
          </a:p>
          <a:p>
            <a:pPr algn="r">
              <a:spcBef>
                <a:spcPct val="0"/>
              </a:spcBef>
              <a:buClrTx/>
              <a:buSzTx/>
              <a:buFontTx/>
              <a:buNone/>
            </a:pPr>
            <a:r>
              <a:rPr lang="en-US" sz="3200"/>
              <a:t>101</a:t>
            </a:r>
          </a:p>
        </p:txBody>
      </p:sp>
      <p:sp>
        <p:nvSpPr>
          <p:cNvPr id="16389" name="Line 5"/>
          <p:cNvSpPr>
            <a:spLocks noChangeShapeType="1"/>
          </p:cNvSpPr>
          <p:nvPr/>
        </p:nvSpPr>
        <p:spPr bwMode="auto">
          <a:xfrm>
            <a:off x="895350" y="4595812"/>
            <a:ext cx="1295400" cy="0"/>
          </a:xfrm>
          <a:prstGeom prst="line">
            <a:avLst/>
          </a:prstGeom>
          <a:noFill/>
          <a:ln w="9525">
            <a:solidFill>
              <a:schemeClr val="tx1"/>
            </a:solidFill>
            <a:round/>
            <a:headEnd/>
            <a:tailEnd/>
          </a:ln>
        </p:spPr>
        <p:txBody>
          <a:bodyPr anchor="ctr"/>
          <a:lstStyle/>
          <a:p>
            <a:endParaRPr lang="en-US"/>
          </a:p>
        </p:txBody>
      </p:sp>
      <p:sp>
        <p:nvSpPr>
          <p:cNvPr id="427014" name="Text Box 6"/>
          <p:cNvSpPr txBox="1">
            <a:spLocks noChangeArrowheads="1"/>
          </p:cNvSpPr>
          <p:nvPr/>
        </p:nvSpPr>
        <p:spPr bwMode="auto">
          <a:xfrm>
            <a:off x="1828800" y="4595812"/>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0</a:t>
            </a:r>
          </a:p>
        </p:txBody>
      </p:sp>
      <p:sp>
        <p:nvSpPr>
          <p:cNvPr id="427015" name="Text Box 7"/>
          <p:cNvSpPr txBox="1">
            <a:spLocks noChangeArrowheads="1"/>
          </p:cNvSpPr>
          <p:nvPr/>
        </p:nvSpPr>
        <p:spPr bwMode="auto">
          <a:xfrm>
            <a:off x="1600200" y="4595812"/>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0</a:t>
            </a:r>
          </a:p>
        </p:txBody>
      </p:sp>
      <p:sp>
        <p:nvSpPr>
          <p:cNvPr id="427016" name="Text Box 8"/>
          <p:cNvSpPr txBox="1">
            <a:spLocks noChangeArrowheads="1"/>
          </p:cNvSpPr>
          <p:nvPr/>
        </p:nvSpPr>
        <p:spPr bwMode="auto">
          <a:xfrm>
            <a:off x="1109663" y="4586287"/>
            <a:ext cx="6858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a:t>
            </a:r>
          </a:p>
        </p:txBody>
      </p:sp>
      <p:sp>
        <p:nvSpPr>
          <p:cNvPr id="427017" name="Text Box 9"/>
          <p:cNvSpPr txBox="1">
            <a:spLocks noChangeArrowheads="1"/>
          </p:cNvSpPr>
          <p:nvPr/>
        </p:nvSpPr>
        <p:spPr bwMode="auto">
          <a:xfrm>
            <a:off x="1200150" y="5205412"/>
            <a:ext cx="10668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r>
              <a:rPr lang="en-US" sz="3200">
                <a:sym typeface="Wingdings" pitchFamily="2" charset="2"/>
              </a:rPr>
              <a:t></a:t>
            </a:r>
          </a:p>
        </p:txBody>
      </p:sp>
      <p:sp>
        <p:nvSpPr>
          <p:cNvPr id="16394" name="Text Box 10"/>
          <p:cNvSpPr txBox="1">
            <a:spLocks noChangeArrowheads="1"/>
          </p:cNvSpPr>
          <p:nvPr/>
        </p:nvSpPr>
        <p:spPr bwMode="auto">
          <a:xfrm>
            <a:off x="838200" y="3705225"/>
            <a:ext cx="3810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a:t>
            </a:r>
          </a:p>
        </p:txBody>
      </p:sp>
      <p:sp>
        <p:nvSpPr>
          <p:cNvPr id="16395" name="Text Box 11"/>
          <p:cNvSpPr txBox="1">
            <a:spLocks noChangeArrowheads="1"/>
          </p:cNvSpPr>
          <p:nvPr/>
        </p:nvSpPr>
        <p:spPr bwMode="auto">
          <a:xfrm>
            <a:off x="2514600" y="3376612"/>
            <a:ext cx="1600200" cy="1066800"/>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1100</a:t>
            </a:r>
            <a:br>
              <a:rPr lang="en-US" sz="3200"/>
            </a:br>
            <a:r>
              <a:rPr lang="en-US" sz="3200"/>
              <a:t>101</a:t>
            </a:r>
          </a:p>
        </p:txBody>
      </p:sp>
      <p:sp>
        <p:nvSpPr>
          <p:cNvPr id="16396" name="Text Box 12"/>
          <p:cNvSpPr txBox="1">
            <a:spLocks noChangeArrowheads="1"/>
          </p:cNvSpPr>
          <p:nvPr/>
        </p:nvSpPr>
        <p:spPr bwMode="auto">
          <a:xfrm>
            <a:off x="2667000" y="3529012"/>
            <a:ext cx="381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_</a:t>
            </a:r>
          </a:p>
        </p:txBody>
      </p:sp>
      <p:sp>
        <p:nvSpPr>
          <p:cNvPr id="16397" name="Line 13"/>
          <p:cNvSpPr>
            <a:spLocks noChangeShapeType="1"/>
          </p:cNvSpPr>
          <p:nvPr/>
        </p:nvSpPr>
        <p:spPr bwMode="auto">
          <a:xfrm>
            <a:off x="2743200" y="4595812"/>
            <a:ext cx="1295400" cy="0"/>
          </a:xfrm>
          <a:prstGeom prst="line">
            <a:avLst/>
          </a:prstGeom>
          <a:noFill/>
          <a:ln w="9525">
            <a:solidFill>
              <a:schemeClr val="tx1"/>
            </a:solidFill>
            <a:round/>
            <a:headEnd/>
            <a:tailEnd/>
          </a:ln>
        </p:spPr>
        <p:txBody>
          <a:bodyPr anchor="ctr"/>
          <a:lstStyle/>
          <a:p>
            <a:endParaRPr lang="en-US"/>
          </a:p>
        </p:txBody>
      </p:sp>
      <p:sp>
        <p:nvSpPr>
          <p:cNvPr id="427022" name="Text Box 14"/>
          <p:cNvSpPr txBox="1">
            <a:spLocks noChangeArrowheads="1"/>
          </p:cNvSpPr>
          <p:nvPr/>
        </p:nvSpPr>
        <p:spPr bwMode="auto">
          <a:xfrm>
            <a:off x="3657600" y="4552950"/>
            <a:ext cx="4572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427023" name="Text Box 15"/>
          <p:cNvSpPr txBox="1">
            <a:spLocks noChangeArrowheads="1"/>
          </p:cNvSpPr>
          <p:nvPr/>
        </p:nvSpPr>
        <p:spPr bwMode="auto">
          <a:xfrm>
            <a:off x="3048000" y="5205412"/>
            <a:ext cx="10668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r>
              <a:rPr lang="en-US" sz="3200">
                <a:sym typeface="Wingdings" pitchFamily="2" charset="2"/>
              </a:rPr>
              <a:t></a:t>
            </a:r>
          </a:p>
        </p:txBody>
      </p:sp>
      <p:sp>
        <p:nvSpPr>
          <p:cNvPr id="427024" name="Text Box 16"/>
          <p:cNvSpPr txBox="1">
            <a:spLocks noChangeArrowheads="1"/>
          </p:cNvSpPr>
          <p:nvPr/>
        </p:nvSpPr>
        <p:spPr bwMode="auto">
          <a:xfrm>
            <a:off x="3400425" y="4552950"/>
            <a:ext cx="4572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427026" name="Text Box 18"/>
          <p:cNvSpPr txBox="1">
            <a:spLocks noChangeArrowheads="1"/>
          </p:cNvSpPr>
          <p:nvPr/>
        </p:nvSpPr>
        <p:spPr bwMode="auto">
          <a:xfrm>
            <a:off x="3181350" y="4562475"/>
            <a:ext cx="4572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16402" name="Text Box 19"/>
          <p:cNvSpPr txBox="1">
            <a:spLocks noChangeArrowheads="1"/>
          </p:cNvSpPr>
          <p:nvPr/>
        </p:nvSpPr>
        <p:spPr bwMode="auto">
          <a:xfrm>
            <a:off x="4572000" y="3381375"/>
            <a:ext cx="1600200" cy="1066800"/>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110</a:t>
            </a:r>
            <a:br>
              <a:rPr lang="en-US" sz="3200"/>
            </a:br>
            <a:r>
              <a:rPr lang="en-US" sz="3200"/>
              <a:t>101</a:t>
            </a:r>
          </a:p>
        </p:txBody>
      </p:sp>
      <p:sp>
        <p:nvSpPr>
          <p:cNvPr id="16403" name="Line 20"/>
          <p:cNvSpPr>
            <a:spLocks noChangeShapeType="1"/>
          </p:cNvSpPr>
          <p:nvPr/>
        </p:nvSpPr>
        <p:spPr bwMode="auto">
          <a:xfrm>
            <a:off x="5029200" y="4595812"/>
            <a:ext cx="1219200" cy="0"/>
          </a:xfrm>
          <a:prstGeom prst="line">
            <a:avLst/>
          </a:prstGeom>
          <a:noFill/>
          <a:ln w="9525">
            <a:solidFill>
              <a:schemeClr val="tx1"/>
            </a:solidFill>
            <a:round/>
            <a:headEnd/>
            <a:tailEnd/>
          </a:ln>
        </p:spPr>
        <p:txBody>
          <a:bodyPr anchor="ctr"/>
          <a:lstStyle/>
          <a:p>
            <a:endParaRPr lang="en-US"/>
          </a:p>
        </p:txBody>
      </p:sp>
      <p:sp>
        <p:nvSpPr>
          <p:cNvPr id="16404" name="Text Box 21"/>
          <p:cNvSpPr txBox="1">
            <a:spLocks noChangeArrowheads="1"/>
          </p:cNvSpPr>
          <p:nvPr/>
        </p:nvSpPr>
        <p:spPr bwMode="auto">
          <a:xfrm>
            <a:off x="4800600" y="3605212"/>
            <a:ext cx="381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x</a:t>
            </a:r>
          </a:p>
        </p:txBody>
      </p:sp>
      <p:sp>
        <p:nvSpPr>
          <p:cNvPr id="427030" name="Text Box 22"/>
          <p:cNvSpPr txBox="1">
            <a:spLocks noChangeArrowheads="1"/>
          </p:cNvSpPr>
          <p:nvPr/>
        </p:nvSpPr>
        <p:spPr bwMode="auto">
          <a:xfrm>
            <a:off x="5029200" y="4672012"/>
            <a:ext cx="1143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110</a:t>
            </a:r>
          </a:p>
        </p:txBody>
      </p:sp>
      <p:sp>
        <p:nvSpPr>
          <p:cNvPr id="427031" name="Text Box 23"/>
          <p:cNvSpPr txBox="1">
            <a:spLocks noChangeArrowheads="1"/>
          </p:cNvSpPr>
          <p:nvPr/>
        </p:nvSpPr>
        <p:spPr bwMode="auto">
          <a:xfrm>
            <a:off x="4591050" y="5053012"/>
            <a:ext cx="1143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110</a:t>
            </a:r>
          </a:p>
        </p:txBody>
      </p:sp>
      <p:sp>
        <p:nvSpPr>
          <p:cNvPr id="16407" name="Line 24"/>
          <p:cNvSpPr>
            <a:spLocks noChangeShapeType="1"/>
          </p:cNvSpPr>
          <p:nvPr/>
        </p:nvSpPr>
        <p:spPr bwMode="auto">
          <a:xfrm>
            <a:off x="4724400" y="5586412"/>
            <a:ext cx="1447800" cy="0"/>
          </a:xfrm>
          <a:prstGeom prst="line">
            <a:avLst/>
          </a:prstGeom>
          <a:noFill/>
          <a:ln w="9525">
            <a:solidFill>
              <a:schemeClr val="tx1"/>
            </a:solidFill>
            <a:round/>
            <a:headEnd/>
            <a:tailEnd/>
          </a:ln>
        </p:spPr>
        <p:txBody>
          <a:bodyPr anchor="ctr"/>
          <a:lstStyle/>
          <a:p>
            <a:endParaRPr lang="en-US"/>
          </a:p>
        </p:txBody>
      </p:sp>
      <p:sp>
        <p:nvSpPr>
          <p:cNvPr id="16408" name="Text Box 25"/>
          <p:cNvSpPr txBox="1">
            <a:spLocks noChangeArrowheads="1"/>
          </p:cNvSpPr>
          <p:nvPr/>
        </p:nvSpPr>
        <p:spPr bwMode="auto">
          <a:xfrm>
            <a:off x="4572000" y="4824412"/>
            <a:ext cx="381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a:t>
            </a:r>
          </a:p>
        </p:txBody>
      </p:sp>
      <p:sp>
        <p:nvSpPr>
          <p:cNvPr id="427034" name="Text Box 26"/>
          <p:cNvSpPr txBox="1">
            <a:spLocks noChangeArrowheads="1"/>
          </p:cNvSpPr>
          <p:nvPr/>
        </p:nvSpPr>
        <p:spPr bwMode="auto">
          <a:xfrm>
            <a:off x="4648200" y="5592762"/>
            <a:ext cx="1524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11110</a:t>
            </a:r>
          </a:p>
        </p:txBody>
      </p:sp>
      <p:sp>
        <p:nvSpPr>
          <p:cNvPr id="16410" name="Text Box 27"/>
          <p:cNvSpPr txBox="1">
            <a:spLocks noChangeArrowheads="1"/>
          </p:cNvSpPr>
          <p:nvPr/>
        </p:nvSpPr>
        <p:spPr bwMode="auto">
          <a:xfrm>
            <a:off x="6400800" y="3376612"/>
            <a:ext cx="1524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11110</a:t>
            </a:r>
          </a:p>
        </p:txBody>
      </p:sp>
      <p:sp>
        <p:nvSpPr>
          <p:cNvPr id="16411" name="Text Box 28"/>
          <p:cNvSpPr txBox="1">
            <a:spLocks noChangeArrowheads="1"/>
          </p:cNvSpPr>
          <p:nvPr/>
        </p:nvSpPr>
        <p:spPr bwMode="auto">
          <a:xfrm>
            <a:off x="7672388" y="3376612"/>
            <a:ext cx="1143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110</a:t>
            </a:r>
          </a:p>
        </p:txBody>
      </p:sp>
      <p:sp>
        <p:nvSpPr>
          <p:cNvPr id="16412" name="Line 29"/>
          <p:cNvSpPr>
            <a:spLocks noChangeShapeType="1"/>
          </p:cNvSpPr>
          <p:nvPr/>
        </p:nvSpPr>
        <p:spPr bwMode="auto">
          <a:xfrm>
            <a:off x="7924800" y="3376612"/>
            <a:ext cx="0" cy="990600"/>
          </a:xfrm>
          <a:prstGeom prst="line">
            <a:avLst/>
          </a:prstGeom>
          <a:noFill/>
          <a:ln w="9525">
            <a:solidFill>
              <a:schemeClr val="tx1"/>
            </a:solidFill>
            <a:round/>
            <a:headEnd/>
            <a:tailEnd/>
          </a:ln>
        </p:spPr>
        <p:txBody>
          <a:bodyPr anchor="ctr"/>
          <a:lstStyle/>
          <a:p>
            <a:endParaRPr lang="en-US"/>
          </a:p>
        </p:txBody>
      </p:sp>
      <p:sp>
        <p:nvSpPr>
          <p:cNvPr id="16413" name="Line 30"/>
          <p:cNvSpPr>
            <a:spLocks noChangeShapeType="1"/>
          </p:cNvSpPr>
          <p:nvPr/>
        </p:nvSpPr>
        <p:spPr bwMode="auto">
          <a:xfrm>
            <a:off x="7924800" y="3910012"/>
            <a:ext cx="990600" cy="0"/>
          </a:xfrm>
          <a:prstGeom prst="line">
            <a:avLst/>
          </a:prstGeom>
          <a:noFill/>
          <a:ln w="9525">
            <a:solidFill>
              <a:schemeClr val="tx1"/>
            </a:solidFill>
            <a:round/>
            <a:headEnd/>
            <a:tailEnd/>
          </a:ln>
        </p:spPr>
        <p:txBody>
          <a:bodyPr anchor="ctr"/>
          <a:lstStyle/>
          <a:p>
            <a:endParaRPr lang="en-US"/>
          </a:p>
        </p:txBody>
      </p:sp>
      <p:sp>
        <p:nvSpPr>
          <p:cNvPr id="427039" name="Text Box 31"/>
          <p:cNvSpPr txBox="1">
            <a:spLocks noChangeArrowheads="1"/>
          </p:cNvSpPr>
          <p:nvPr/>
        </p:nvSpPr>
        <p:spPr bwMode="auto">
          <a:xfrm>
            <a:off x="7877175" y="3895725"/>
            <a:ext cx="4572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427040" name="Text Box 32"/>
          <p:cNvSpPr txBox="1">
            <a:spLocks noChangeArrowheads="1"/>
          </p:cNvSpPr>
          <p:nvPr/>
        </p:nvSpPr>
        <p:spPr bwMode="auto">
          <a:xfrm>
            <a:off x="6315075" y="3757612"/>
            <a:ext cx="1143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110</a:t>
            </a:r>
          </a:p>
        </p:txBody>
      </p:sp>
      <p:sp>
        <p:nvSpPr>
          <p:cNvPr id="16416" name="Text Box 33"/>
          <p:cNvSpPr txBox="1">
            <a:spLocks noChangeArrowheads="1"/>
          </p:cNvSpPr>
          <p:nvPr/>
        </p:nvSpPr>
        <p:spPr bwMode="auto">
          <a:xfrm>
            <a:off x="6324600" y="3357562"/>
            <a:ext cx="381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_</a:t>
            </a:r>
          </a:p>
        </p:txBody>
      </p:sp>
      <p:sp>
        <p:nvSpPr>
          <p:cNvPr id="427043" name="Text Box 35"/>
          <p:cNvSpPr txBox="1">
            <a:spLocks noChangeArrowheads="1"/>
          </p:cNvSpPr>
          <p:nvPr/>
        </p:nvSpPr>
        <p:spPr bwMode="auto">
          <a:xfrm>
            <a:off x="6596063" y="4062412"/>
            <a:ext cx="838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427044" name="Text Box 36"/>
          <p:cNvSpPr txBox="1">
            <a:spLocks noChangeArrowheads="1"/>
          </p:cNvSpPr>
          <p:nvPr/>
        </p:nvSpPr>
        <p:spPr bwMode="auto">
          <a:xfrm>
            <a:off x="8153400" y="3910012"/>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0</a:t>
            </a:r>
          </a:p>
        </p:txBody>
      </p:sp>
      <p:sp>
        <p:nvSpPr>
          <p:cNvPr id="427045" name="Text Box 37"/>
          <p:cNvSpPr txBox="1">
            <a:spLocks noChangeArrowheads="1"/>
          </p:cNvSpPr>
          <p:nvPr/>
        </p:nvSpPr>
        <p:spPr bwMode="auto">
          <a:xfrm>
            <a:off x="7467600" y="4062412"/>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0</a:t>
            </a:r>
          </a:p>
        </p:txBody>
      </p:sp>
      <p:sp>
        <p:nvSpPr>
          <p:cNvPr id="427046" name="Text Box 38"/>
          <p:cNvSpPr txBox="1">
            <a:spLocks noChangeArrowheads="1"/>
          </p:cNvSpPr>
          <p:nvPr/>
        </p:nvSpPr>
        <p:spPr bwMode="auto">
          <a:xfrm>
            <a:off x="8353425" y="3910012"/>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427047" name="Text Box 39"/>
          <p:cNvSpPr txBox="1">
            <a:spLocks noChangeArrowheads="1"/>
          </p:cNvSpPr>
          <p:nvPr/>
        </p:nvSpPr>
        <p:spPr bwMode="auto">
          <a:xfrm>
            <a:off x="6781800" y="4462462"/>
            <a:ext cx="1143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110</a:t>
            </a:r>
          </a:p>
        </p:txBody>
      </p:sp>
      <p:sp>
        <p:nvSpPr>
          <p:cNvPr id="16422" name="Text Box 40"/>
          <p:cNvSpPr txBox="1">
            <a:spLocks noChangeArrowheads="1"/>
          </p:cNvSpPr>
          <p:nvPr/>
        </p:nvSpPr>
        <p:spPr bwMode="auto">
          <a:xfrm>
            <a:off x="6705600" y="4016375"/>
            <a:ext cx="3810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_</a:t>
            </a:r>
          </a:p>
        </p:txBody>
      </p:sp>
      <p:sp>
        <p:nvSpPr>
          <p:cNvPr id="427049" name="Line 41"/>
          <p:cNvSpPr>
            <a:spLocks noChangeShapeType="1"/>
          </p:cNvSpPr>
          <p:nvPr/>
        </p:nvSpPr>
        <p:spPr bwMode="auto">
          <a:xfrm>
            <a:off x="6934200" y="4976812"/>
            <a:ext cx="990600" cy="0"/>
          </a:xfrm>
          <a:prstGeom prst="line">
            <a:avLst/>
          </a:prstGeom>
          <a:noFill/>
          <a:ln w="9525">
            <a:solidFill>
              <a:schemeClr val="tx1"/>
            </a:solidFill>
            <a:round/>
            <a:headEnd/>
            <a:tailEnd/>
          </a:ln>
        </p:spPr>
        <p:txBody>
          <a:bodyPr anchor="ctr"/>
          <a:lstStyle/>
          <a:p>
            <a:endParaRPr lang="en-US"/>
          </a:p>
        </p:txBody>
      </p:sp>
      <p:sp>
        <p:nvSpPr>
          <p:cNvPr id="427050" name="Text Box 42"/>
          <p:cNvSpPr txBox="1">
            <a:spLocks noChangeArrowheads="1"/>
          </p:cNvSpPr>
          <p:nvPr/>
        </p:nvSpPr>
        <p:spPr bwMode="auto">
          <a:xfrm>
            <a:off x="6786563" y="4900612"/>
            <a:ext cx="11430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000</a:t>
            </a:r>
          </a:p>
        </p:txBody>
      </p:sp>
      <p:sp>
        <p:nvSpPr>
          <p:cNvPr id="427051" name="Text Box 43"/>
          <p:cNvSpPr txBox="1">
            <a:spLocks noChangeArrowheads="1"/>
          </p:cNvSpPr>
          <p:nvPr/>
        </p:nvSpPr>
        <p:spPr bwMode="auto">
          <a:xfrm>
            <a:off x="6858000" y="4062412"/>
            <a:ext cx="838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42" name="Title 41"/>
          <p:cNvSpPr>
            <a:spLocks noGrp="1"/>
          </p:cNvSpPr>
          <p:nvPr>
            <p:ph type="title"/>
          </p:nvPr>
        </p:nvSpPr>
        <p:spPr/>
        <p:txBody>
          <a:bodyPr/>
          <a:lstStyle/>
          <a:p>
            <a:r>
              <a:rPr lang="en-US" b="1" dirty="0" err="1" smtClean="0">
                <a:solidFill>
                  <a:srgbClr val="C00000"/>
                </a:solidFill>
              </a:rPr>
              <a:t>Số</a:t>
            </a:r>
            <a:r>
              <a:rPr lang="en-US" b="1" dirty="0" smtClean="0">
                <a:solidFill>
                  <a:srgbClr val="C00000"/>
                </a:solidFill>
              </a:rPr>
              <a:t> </a:t>
            </a:r>
            <a:r>
              <a:rPr lang="en-US" b="1" dirty="0" err="1" smtClean="0">
                <a:solidFill>
                  <a:srgbClr val="C00000"/>
                </a:solidFill>
              </a:rPr>
              <a:t>nhị</a:t>
            </a:r>
            <a:r>
              <a:rPr lang="en-US" b="1" dirty="0" smtClean="0">
                <a:solidFill>
                  <a:srgbClr val="C00000"/>
                </a:solidFill>
              </a:rPr>
              <a:t> </a:t>
            </a:r>
            <a:r>
              <a:rPr lang="en-US" b="1" dirty="0" err="1" smtClean="0">
                <a:solidFill>
                  <a:srgbClr val="C00000"/>
                </a:solidFill>
              </a:rPr>
              <a:t>phân</a:t>
            </a:r>
            <a:endParaRPr lang="en-US" b="1"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270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7014"/>
                                        </p:tgtEl>
                                        <p:attrNameLst>
                                          <p:attrName>style.visibility</p:attrName>
                                        </p:attrNameLst>
                                      </p:cBhvr>
                                      <p:to>
                                        <p:strVal val="visible"/>
                                      </p:to>
                                    </p:set>
                                  </p:childTnLst>
                                </p:cTn>
                              </p:par>
                            </p:childTnLst>
                          </p:cTn>
                        </p:par>
                        <p:par>
                          <p:cTn id="11" fill="hold">
                            <p:stCondLst>
                              <p:cond delay="0"/>
                            </p:stCondLst>
                            <p:childTnLst>
                              <p:par>
                                <p:cTn id="12" presetID="22" presetClass="entr" presetSubtype="2" fill="hold" grpId="0" nodeType="afterEffect">
                                  <p:stCondLst>
                                    <p:cond delay="0"/>
                                  </p:stCondLst>
                                  <p:childTnLst>
                                    <p:set>
                                      <p:cBhvr>
                                        <p:cTn id="13" dur="1" fill="hold">
                                          <p:stCondLst>
                                            <p:cond delay="0"/>
                                          </p:stCondLst>
                                        </p:cTn>
                                        <p:tgtEl>
                                          <p:spTgt spid="427017"/>
                                        </p:tgtEl>
                                        <p:attrNameLst>
                                          <p:attrName>style.visibility</p:attrName>
                                        </p:attrNameLst>
                                      </p:cBhvr>
                                      <p:to>
                                        <p:strVal val="visible"/>
                                      </p:to>
                                    </p:set>
                                    <p:animEffect transition="in" filter="wipe(right)">
                                      <p:cBhvr>
                                        <p:cTn id="14" dur="500"/>
                                        <p:tgtEl>
                                          <p:spTgt spid="427017"/>
                                        </p:tgtEl>
                                      </p:cBhvr>
                                    </p:animEffect>
                                  </p:childTnLst>
                                </p:cTn>
                              </p:par>
                            </p:childTnLst>
                          </p:cTn>
                        </p:par>
                        <p:par>
                          <p:cTn id="15" fill="hold">
                            <p:stCondLst>
                              <p:cond delay="500"/>
                            </p:stCondLst>
                            <p:childTnLst>
                              <p:par>
                                <p:cTn id="16" presetID="1" presetClass="exit" presetSubtype="0" fill="hold" grpId="1" nodeType="afterEffect">
                                  <p:stCondLst>
                                    <p:cond delay="0"/>
                                  </p:stCondLst>
                                  <p:childTnLst>
                                    <p:set>
                                      <p:cBhvr>
                                        <p:cTn id="17" dur="1" fill="hold">
                                          <p:stCondLst>
                                            <p:cond delay="0"/>
                                          </p:stCondLst>
                                        </p:cTn>
                                        <p:tgtEl>
                                          <p:spTgt spid="42701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701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3" nodeType="afterEffect">
                                  <p:stCondLst>
                                    <p:cond delay="0"/>
                                  </p:stCondLst>
                                  <p:childTnLst>
                                    <p:set>
                                      <p:cBhvr>
                                        <p:cTn id="24" dur="1" fill="hold">
                                          <p:stCondLst>
                                            <p:cond delay="0"/>
                                          </p:stCondLst>
                                        </p:cTn>
                                        <p:tgtEl>
                                          <p:spTgt spid="427017"/>
                                        </p:tgtEl>
                                        <p:attrNameLst>
                                          <p:attrName>style.visibility</p:attrName>
                                        </p:attrNameLst>
                                      </p:cBhvr>
                                      <p:to>
                                        <p:strVal val="visible"/>
                                      </p:to>
                                    </p:set>
                                  </p:childTnLst>
                                </p:cTn>
                              </p:par>
                            </p:childTnLst>
                          </p:cTn>
                        </p:par>
                        <p:par>
                          <p:cTn id="25" fill="hold">
                            <p:stCondLst>
                              <p:cond delay="0"/>
                            </p:stCondLst>
                            <p:childTnLst>
                              <p:par>
                                <p:cTn id="26" presetID="35" presetClass="path" presetSubtype="0" accel="50000" decel="50000" fill="hold" grpId="2" nodeType="afterEffect">
                                  <p:stCondLst>
                                    <p:cond delay="0"/>
                                  </p:stCondLst>
                                  <p:childTnLst>
                                    <p:animMotion origin="layout" path="M 0.01042 8.67052E-7 L -0.03125 8.67052E-7 " pathEditMode="relative" rAng="0" ptsTypes="AA">
                                      <p:cBhvr>
                                        <p:cTn id="27" dur="1000" fill="hold"/>
                                        <p:tgtEl>
                                          <p:spTgt spid="427017"/>
                                        </p:tgtEl>
                                        <p:attrNameLst>
                                          <p:attrName>ppt_x</p:attrName>
                                          <p:attrName>ppt_y</p:attrName>
                                        </p:attrNameLst>
                                      </p:cBhvr>
                                      <p:rCtr x="-21" y="0"/>
                                    </p:animMotion>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427016"/>
                                        </p:tgtEl>
                                        <p:attrNameLst>
                                          <p:attrName>style.visibility</p:attrName>
                                        </p:attrNameLst>
                                      </p:cBhvr>
                                      <p:to>
                                        <p:strVal val="visible"/>
                                      </p:to>
                                    </p:set>
                                  </p:childTnLst>
                                </p:cTn>
                              </p:par>
                            </p:childTnLst>
                          </p:cTn>
                        </p:par>
                        <p:par>
                          <p:cTn id="32" fill="hold">
                            <p:stCondLst>
                              <p:cond delay="0"/>
                            </p:stCondLst>
                            <p:childTnLst>
                              <p:par>
                                <p:cTn id="33" presetID="1" presetClass="exit" presetSubtype="0" fill="hold" grpId="4" nodeType="afterEffect">
                                  <p:stCondLst>
                                    <p:cond delay="0"/>
                                  </p:stCondLst>
                                  <p:childTnLst>
                                    <p:set>
                                      <p:cBhvr>
                                        <p:cTn id="34" dur="1" fill="hold">
                                          <p:stCondLst>
                                            <p:cond delay="0"/>
                                          </p:stCondLst>
                                        </p:cTn>
                                        <p:tgtEl>
                                          <p:spTgt spid="42701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7022"/>
                                        </p:tgtEl>
                                        <p:attrNameLst>
                                          <p:attrName>style.visibility</p:attrName>
                                        </p:attrNameLst>
                                      </p:cBhvr>
                                      <p:to>
                                        <p:strVal val="visible"/>
                                      </p:to>
                                    </p:set>
                                  </p:childTnLst>
                                </p:cTn>
                              </p:par>
                            </p:childTnLst>
                          </p:cTn>
                        </p:par>
                        <p:par>
                          <p:cTn id="39" fill="hold">
                            <p:stCondLst>
                              <p:cond delay="0"/>
                            </p:stCondLst>
                            <p:childTnLst>
                              <p:par>
                                <p:cTn id="40" presetID="22" presetClass="entr" presetSubtype="2" fill="hold" grpId="0" nodeType="afterEffect">
                                  <p:stCondLst>
                                    <p:cond delay="0"/>
                                  </p:stCondLst>
                                  <p:childTnLst>
                                    <p:set>
                                      <p:cBhvr>
                                        <p:cTn id="41" dur="1" fill="hold">
                                          <p:stCondLst>
                                            <p:cond delay="0"/>
                                          </p:stCondLst>
                                        </p:cTn>
                                        <p:tgtEl>
                                          <p:spTgt spid="427023"/>
                                        </p:tgtEl>
                                        <p:attrNameLst>
                                          <p:attrName>style.visibility</p:attrName>
                                        </p:attrNameLst>
                                      </p:cBhvr>
                                      <p:to>
                                        <p:strVal val="visible"/>
                                      </p:to>
                                    </p:set>
                                    <p:animEffect transition="in" filter="wipe(right)">
                                      <p:cBhvr>
                                        <p:cTn id="42" dur="500"/>
                                        <p:tgtEl>
                                          <p:spTgt spid="42702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42702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7024"/>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3" nodeType="afterEffect">
                                  <p:stCondLst>
                                    <p:cond delay="0"/>
                                  </p:stCondLst>
                                  <p:childTnLst>
                                    <p:set>
                                      <p:cBhvr>
                                        <p:cTn id="53" dur="1" fill="hold">
                                          <p:stCondLst>
                                            <p:cond delay="0"/>
                                          </p:stCondLst>
                                        </p:cTn>
                                        <p:tgtEl>
                                          <p:spTgt spid="427023"/>
                                        </p:tgtEl>
                                        <p:attrNameLst>
                                          <p:attrName>style.visibility</p:attrName>
                                        </p:attrNameLst>
                                      </p:cBhvr>
                                      <p:to>
                                        <p:strVal val="visible"/>
                                      </p:to>
                                    </p:set>
                                  </p:childTnLst>
                                </p:cTn>
                              </p:par>
                            </p:childTnLst>
                          </p:cTn>
                        </p:par>
                        <p:par>
                          <p:cTn id="54" fill="hold">
                            <p:stCondLst>
                              <p:cond delay="0"/>
                            </p:stCondLst>
                            <p:childTnLst>
                              <p:par>
                                <p:cTn id="55" presetID="35" presetClass="path" presetSubtype="0" accel="50000" decel="50000" fill="hold" grpId="2" nodeType="afterEffect">
                                  <p:stCondLst>
                                    <p:cond delay="0"/>
                                  </p:stCondLst>
                                  <p:childTnLst>
                                    <p:animMotion origin="layout" path="M 3.33333E-6 -1.27168E-6 L -0.04167 -1.27168E-6 " pathEditMode="relative" rAng="0" ptsTypes="AA">
                                      <p:cBhvr>
                                        <p:cTn id="56" dur="1000" fill="hold"/>
                                        <p:tgtEl>
                                          <p:spTgt spid="427023"/>
                                        </p:tgtEl>
                                        <p:attrNameLst>
                                          <p:attrName>ppt_x</p:attrName>
                                          <p:attrName>ppt_y</p:attrName>
                                        </p:attrNameLst>
                                      </p:cBhvr>
                                      <p:rCtr x="-21" y="0"/>
                                    </p:animMotion>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27026"/>
                                        </p:tgtEl>
                                        <p:attrNameLst>
                                          <p:attrName>style.visibility</p:attrName>
                                        </p:attrNameLst>
                                      </p:cBhvr>
                                      <p:to>
                                        <p:strVal val="visible"/>
                                      </p:to>
                                    </p:set>
                                  </p:childTnLst>
                                </p:cTn>
                              </p:par>
                            </p:childTnLst>
                          </p:cTn>
                        </p:par>
                        <p:par>
                          <p:cTn id="61" fill="hold">
                            <p:stCondLst>
                              <p:cond delay="0"/>
                            </p:stCondLst>
                            <p:childTnLst>
                              <p:par>
                                <p:cTn id="62" presetID="1" presetClass="exit" presetSubtype="0" fill="hold" grpId="4" nodeType="afterEffect">
                                  <p:stCondLst>
                                    <p:cond delay="0"/>
                                  </p:stCondLst>
                                  <p:childTnLst>
                                    <p:set>
                                      <p:cBhvr>
                                        <p:cTn id="63" dur="1" fill="hold">
                                          <p:stCondLst>
                                            <p:cond delay="0"/>
                                          </p:stCondLst>
                                        </p:cTn>
                                        <p:tgtEl>
                                          <p:spTgt spid="427023"/>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53" presetClass="entr" presetSubtype="0" fill="hold" grpId="0" nodeType="clickEffect">
                                  <p:stCondLst>
                                    <p:cond delay="0"/>
                                  </p:stCondLst>
                                  <p:childTnLst>
                                    <p:set>
                                      <p:cBhvr>
                                        <p:cTn id="67" dur="1" fill="hold">
                                          <p:stCondLst>
                                            <p:cond delay="0"/>
                                          </p:stCondLst>
                                        </p:cTn>
                                        <p:tgtEl>
                                          <p:spTgt spid="427030"/>
                                        </p:tgtEl>
                                        <p:attrNameLst>
                                          <p:attrName>style.visibility</p:attrName>
                                        </p:attrNameLst>
                                      </p:cBhvr>
                                      <p:to>
                                        <p:strVal val="visible"/>
                                      </p:to>
                                    </p:set>
                                    <p:anim calcmode="lin" valueType="num">
                                      <p:cBhvr>
                                        <p:cTn id="68" dur="500" fill="hold"/>
                                        <p:tgtEl>
                                          <p:spTgt spid="427030"/>
                                        </p:tgtEl>
                                        <p:attrNameLst>
                                          <p:attrName>ppt_w</p:attrName>
                                        </p:attrNameLst>
                                      </p:cBhvr>
                                      <p:tavLst>
                                        <p:tav tm="0">
                                          <p:val>
                                            <p:fltVal val="0"/>
                                          </p:val>
                                        </p:tav>
                                        <p:tav tm="100000">
                                          <p:val>
                                            <p:strVal val="#ppt_w"/>
                                          </p:val>
                                        </p:tav>
                                      </p:tavLst>
                                    </p:anim>
                                    <p:anim calcmode="lin" valueType="num">
                                      <p:cBhvr>
                                        <p:cTn id="69" dur="500" fill="hold"/>
                                        <p:tgtEl>
                                          <p:spTgt spid="427030"/>
                                        </p:tgtEl>
                                        <p:attrNameLst>
                                          <p:attrName>ppt_h</p:attrName>
                                        </p:attrNameLst>
                                      </p:cBhvr>
                                      <p:tavLst>
                                        <p:tav tm="0">
                                          <p:val>
                                            <p:fltVal val="0"/>
                                          </p:val>
                                        </p:tav>
                                        <p:tav tm="100000">
                                          <p:val>
                                            <p:strVal val="#ppt_h"/>
                                          </p:val>
                                        </p:tav>
                                      </p:tavLst>
                                    </p:anim>
                                    <p:animEffect transition="in" filter="fade">
                                      <p:cBhvr>
                                        <p:cTn id="70" dur="500"/>
                                        <p:tgtEl>
                                          <p:spTgt spid="427030"/>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0" fill="hold" grpId="0" nodeType="clickEffect">
                                  <p:stCondLst>
                                    <p:cond delay="0"/>
                                  </p:stCondLst>
                                  <p:childTnLst>
                                    <p:set>
                                      <p:cBhvr>
                                        <p:cTn id="74" dur="1" fill="hold">
                                          <p:stCondLst>
                                            <p:cond delay="0"/>
                                          </p:stCondLst>
                                        </p:cTn>
                                        <p:tgtEl>
                                          <p:spTgt spid="427031"/>
                                        </p:tgtEl>
                                        <p:attrNameLst>
                                          <p:attrName>style.visibility</p:attrName>
                                        </p:attrNameLst>
                                      </p:cBhvr>
                                      <p:to>
                                        <p:strVal val="visible"/>
                                      </p:to>
                                    </p:set>
                                    <p:anim calcmode="lin" valueType="num">
                                      <p:cBhvr>
                                        <p:cTn id="75" dur="500" fill="hold"/>
                                        <p:tgtEl>
                                          <p:spTgt spid="427031"/>
                                        </p:tgtEl>
                                        <p:attrNameLst>
                                          <p:attrName>ppt_w</p:attrName>
                                        </p:attrNameLst>
                                      </p:cBhvr>
                                      <p:tavLst>
                                        <p:tav tm="0">
                                          <p:val>
                                            <p:fltVal val="0"/>
                                          </p:val>
                                        </p:tav>
                                        <p:tav tm="100000">
                                          <p:val>
                                            <p:strVal val="#ppt_w"/>
                                          </p:val>
                                        </p:tav>
                                      </p:tavLst>
                                    </p:anim>
                                    <p:anim calcmode="lin" valueType="num">
                                      <p:cBhvr>
                                        <p:cTn id="76" dur="500" fill="hold"/>
                                        <p:tgtEl>
                                          <p:spTgt spid="427031"/>
                                        </p:tgtEl>
                                        <p:attrNameLst>
                                          <p:attrName>ppt_h</p:attrName>
                                        </p:attrNameLst>
                                      </p:cBhvr>
                                      <p:tavLst>
                                        <p:tav tm="0">
                                          <p:val>
                                            <p:fltVal val="0"/>
                                          </p:val>
                                        </p:tav>
                                        <p:tav tm="100000">
                                          <p:val>
                                            <p:strVal val="#ppt_h"/>
                                          </p:val>
                                        </p:tav>
                                      </p:tavLst>
                                    </p:anim>
                                    <p:animEffect transition="in" filter="fade">
                                      <p:cBhvr>
                                        <p:cTn id="77" dur="500"/>
                                        <p:tgtEl>
                                          <p:spTgt spid="4270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grpId="0" nodeType="clickEffect">
                                  <p:stCondLst>
                                    <p:cond delay="0"/>
                                  </p:stCondLst>
                                  <p:childTnLst>
                                    <p:set>
                                      <p:cBhvr>
                                        <p:cTn id="81" dur="1" fill="hold">
                                          <p:stCondLst>
                                            <p:cond delay="0"/>
                                          </p:stCondLst>
                                        </p:cTn>
                                        <p:tgtEl>
                                          <p:spTgt spid="427034"/>
                                        </p:tgtEl>
                                        <p:attrNameLst>
                                          <p:attrName>style.visibility</p:attrName>
                                        </p:attrNameLst>
                                      </p:cBhvr>
                                      <p:to>
                                        <p:strVal val="visible"/>
                                      </p:to>
                                    </p:set>
                                    <p:animEffect transition="in" filter="wipe(right)">
                                      <p:cBhvr>
                                        <p:cTn id="82" dur="500"/>
                                        <p:tgtEl>
                                          <p:spTgt spid="427034"/>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2703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53" presetClass="entr" presetSubtype="0" fill="hold" grpId="0" nodeType="clickEffect">
                                  <p:stCondLst>
                                    <p:cond delay="0"/>
                                  </p:stCondLst>
                                  <p:childTnLst>
                                    <p:set>
                                      <p:cBhvr>
                                        <p:cTn id="90" dur="1" fill="hold">
                                          <p:stCondLst>
                                            <p:cond delay="0"/>
                                          </p:stCondLst>
                                        </p:cTn>
                                        <p:tgtEl>
                                          <p:spTgt spid="427040"/>
                                        </p:tgtEl>
                                        <p:attrNameLst>
                                          <p:attrName>style.visibility</p:attrName>
                                        </p:attrNameLst>
                                      </p:cBhvr>
                                      <p:to>
                                        <p:strVal val="visible"/>
                                      </p:to>
                                    </p:set>
                                    <p:anim calcmode="lin" valueType="num">
                                      <p:cBhvr>
                                        <p:cTn id="91" dur="500" fill="hold"/>
                                        <p:tgtEl>
                                          <p:spTgt spid="427040"/>
                                        </p:tgtEl>
                                        <p:attrNameLst>
                                          <p:attrName>ppt_w</p:attrName>
                                        </p:attrNameLst>
                                      </p:cBhvr>
                                      <p:tavLst>
                                        <p:tav tm="0">
                                          <p:val>
                                            <p:fltVal val="0"/>
                                          </p:val>
                                        </p:tav>
                                        <p:tav tm="100000">
                                          <p:val>
                                            <p:strVal val="#ppt_w"/>
                                          </p:val>
                                        </p:tav>
                                      </p:tavLst>
                                    </p:anim>
                                    <p:anim calcmode="lin" valueType="num">
                                      <p:cBhvr>
                                        <p:cTn id="92" dur="500" fill="hold"/>
                                        <p:tgtEl>
                                          <p:spTgt spid="427040"/>
                                        </p:tgtEl>
                                        <p:attrNameLst>
                                          <p:attrName>ppt_h</p:attrName>
                                        </p:attrNameLst>
                                      </p:cBhvr>
                                      <p:tavLst>
                                        <p:tav tm="0">
                                          <p:val>
                                            <p:fltVal val="0"/>
                                          </p:val>
                                        </p:tav>
                                        <p:tav tm="100000">
                                          <p:val>
                                            <p:strVal val="#ppt_h"/>
                                          </p:val>
                                        </p:tav>
                                      </p:tavLst>
                                    </p:anim>
                                    <p:animEffect transition="in" filter="fade">
                                      <p:cBhvr>
                                        <p:cTn id="93" dur="500"/>
                                        <p:tgtEl>
                                          <p:spTgt spid="427040"/>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0" fill="hold" grpId="0" nodeType="clickEffect">
                                  <p:stCondLst>
                                    <p:cond delay="0"/>
                                  </p:stCondLst>
                                  <p:childTnLst>
                                    <p:set>
                                      <p:cBhvr>
                                        <p:cTn id="97" dur="1" fill="hold">
                                          <p:stCondLst>
                                            <p:cond delay="0"/>
                                          </p:stCondLst>
                                        </p:cTn>
                                        <p:tgtEl>
                                          <p:spTgt spid="427043"/>
                                        </p:tgtEl>
                                        <p:attrNameLst>
                                          <p:attrName>style.visibility</p:attrName>
                                        </p:attrNameLst>
                                      </p:cBhvr>
                                      <p:to>
                                        <p:strVal val="visible"/>
                                      </p:to>
                                    </p:set>
                                    <p:anim calcmode="lin" valueType="num">
                                      <p:cBhvr>
                                        <p:cTn id="98" dur="500" fill="hold"/>
                                        <p:tgtEl>
                                          <p:spTgt spid="427043"/>
                                        </p:tgtEl>
                                        <p:attrNameLst>
                                          <p:attrName>ppt_w</p:attrName>
                                        </p:attrNameLst>
                                      </p:cBhvr>
                                      <p:tavLst>
                                        <p:tav tm="0">
                                          <p:val>
                                            <p:fltVal val="0"/>
                                          </p:val>
                                        </p:tav>
                                        <p:tav tm="100000">
                                          <p:val>
                                            <p:strVal val="#ppt_w"/>
                                          </p:val>
                                        </p:tav>
                                      </p:tavLst>
                                    </p:anim>
                                    <p:anim calcmode="lin" valueType="num">
                                      <p:cBhvr>
                                        <p:cTn id="99" dur="500" fill="hold"/>
                                        <p:tgtEl>
                                          <p:spTgt spid="427043"/>
                                        </p:tgtEl>
                                        <p:attrNameLst>
                                          <p:attrName>ppt_h</p:attrName>
                                        </p:attrNameLst>
                                      </p:cBhvr>
                                      <p:tavLst>
                                        <p:tav tm="0">
                                          <p:val>
                                            <p:fltVal val="0"/>
                                          </p:val>
                                        </p:tav>
                                        <p:tav tm="100000">
                                          <p:val>
                                            <p:strVal val="#ppt_h"/>
                                          </p:val>
                                        </p:tav>
                                      </p:tavLst>
                                    </p:anim>
                                    <p:animEffect transition="in" filter="fade">
                                      <p:cBhvr>
                                        <p:cTn id="100" dur="500"/>
                                        <p:tgtEl>
                                          <p:spTgt spid="427043"/>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0" fill="hold" grpId="0" nodeType="clickEffect">
                                  <p:stCondLst>
                                    <p:cond delay="0"/>
                                  </p:stCondLst>
                                  <p:childTnLst>
                                    <p:set>
                                      <p:cBhvr>
                                        <p:cTn id="104" dur="1" fill="hold">
                                          <p:stCondLst>
                                            <p:cond delay="0"/>
                                          </p:stCondLst>
                                        </p:cTn>
                                        <p:tgtEl>
                                          <p:spTgt spid="427051"/>
                                        </p:tgtEl>
                                        <p:attrNameLst>
                                          <p:attrName>style.visibility</p:attrName>
                                        </p:attrNameLst>
                                      </p:cBhvr>
                                      <p:to>
                                        <p:strVal val="visible"/>
                                      </p:to>
                                    </p:set>
                                    <p:anim calcmode="lin" valueType="num">
                                      <p:cBhvr>
                                        <p:cTn id="105" dur="500" fill="hold"/>
                                        <p:tgtEl>
                                          <p:spTgt spid="427051"/>
                                        </p:tgtEl>
                                        <p:attrNameLst>
                                          <p:attrName>ppt_w</p:attrName>
                                        </p:attrNameLst>
                                      </p:cBhvr>
                                      <p:tavLst>
                                        <p:tav tm="0">
                                          <p:val>
                                            <p:fltVal val="0"/>
                                          </p:val>
                                        </p:tav>
                                        <p:tav tm="100000">
                                          <p:val>
                                            <p:strVal val="#ppt_w"/>
                                          </p:val>
                                        </p:tav>
                                      </p:tavLst>
                                    </p:anim>
                                    <p:anim calcmode="lin" valueType="num">
                                      <p:cBhvr>
                                        <p:cTn id="106" dur="500" fill="hold"/>
                                        <p:tgtEl>
                                          <p:spTgt spid="427051"/>
                                        </p:tgtEl>
                                        <p:attrNameLst>
                                          <p:attrName>ppt_h</p:attrName>
                                        </p:attrNameLst>
                                      </p:cBhvr>
                                      <p:tavLst>
                                        <p:tav tm="0">
                                          <p:val>
                                            <p:fltVal val="0"/>
                                          </p:val>
                                        </p:tav>
                                        <p:tav tm="100000">
                                          <p:val>
                                            <p:strVal val="#ppt_h"/>
                                          </p:val>
                                        </p:tav>
                                      </p:tavLst>
                                    </p:anim>
                                    <p:animEffect transition="in" filter="fade">
                                      <p:cBhvr>
                                        <p:cTn id="107" dur="500"/>
                                        <p:tgtEl>
                                          <p:spTgt spid="427051"/>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2704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427045"/>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427046"/>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53" presetClass="entr" presetSubtype="0" fill="hold" grpId="0" nodeType="clickEffect">
                                  <p:stCondLst>
                                    <p:cond delay="0"/>
                                  </p:stCondLst>
                                  <p:childTnLst>
                                    <p:set>
                                      <p:cBhvr>
                                        <p:cTn id="123" dur="1" fill="hold">
                                          <p:stCondLst>
                                            <p:cond delay="0"/>
                                          </p:stCondLst>
                                        </p:cTn>
                                        <p:tgtEl>
                                          <p:spTgt spid="427047"/>
                                        </p:tgtEl>
                                        <p:attrNameLst>
                                          <p:attrName>style.visibility</p:attrName>
                                        </p:attrNameLst>
                                      </p:cBhvr>
                                      <p:to>
                                        <p:strVal val="visible"/>
                                      </p:to>
                                    </p:set>
                                    <p:anim calcmode="lin" valueType="num">
                                      <p:cBhvr>
                                        <p:cTn id="124" dur="500" fill="hold"/>
                                        <p:tgtEl>
                                          <p:spTgt spid="427047"/>
                                        </p:tgtEl>
                                        <p:attrNameLst>
                                          <p:attrName>ppt_w</p:attrName>
                                        </p:attrNameLst>
                                      </p:cBhvr>
                                      <p:tavLst>
                                        <p:tav tm="0">
                                          <p:val>
                                            <p:fltVal val="0"/>
                                          </p:val>
                                        </p:tav>
                                        <p:tav tm="100000">
                                          <p:val>
                                            <p:strVal val="#ppt_w"/>
                                          </p:val>
                                        </p:tav>
                                      </p:tavLst>
                                    </p:anim>
                                    <p:anim calcmode="lin" valueType="num">
                                      <p:cBhvr>
                                        <p:cTn id="125" dur="500" fill="hold"/>
                                        <p:tgtEl>
                                          <p:spTgt spid="427047"/>
                                        </p:tgtEl>
                                        <p:attrNameLst>
                                          <p:attrName>ppt_h</p:attrName>
                                        </p:attrNameLst>
                                      </p:cBhvr>
                                      <p:tavLst>
                                        <p:tav tm="0">
                                          <p:val>
                                            <p:fltVal val="0"/>
                                          </p:val>
                                        </p:tav>
                                        <p:tav tm="100000">
                                          <p:val>
                                            <p:strVal val="#ppt_h"/>
                                          </p:val>
                                        </p:tav>
                                      </p:tavLst>
                                    </p:anim>
                                    <p:animEffect transition="in" filter="fade">
                                      <p:cBhvr>
                                        <p:cTn id="126" dur="500"/>
                                        <p:tgtEl>
                                          <p:spTgt spid="427047"/>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2704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53" presetClass="entr" presetSubtype="0" fill="hold" grpId="0" nodeType="clickEffect">
                                  <p:stCondLst>
                                    <p:cond delay="0"/>
                                  </p:stCondLst>
                                  <p:childTnLst>
                                    <p:set>
                                      <p:cBhvr>
                                        <p:cTn id="134" dur="1" fill="hold">
                                          <p:stCondLst>
                                            <p:cond delay="0"/>
                                          </p:stCondLst>
                                        </p:cTn>
                                        <p:tgtEl>
                                          <p:spTgt spid="427050"/>
                                        </p:tgtEl>
                                        <p:attrNameLst>
                                          <p:attrName>style.visibility</p:attrName>
                                        </p:attrNameLst>
                                      </p:cBhvr>
                                      <p:to>
                                        <p:strVal val="visible"/>
                                      </p:to>
                                    </p:set>
                                    <p:anim calcmode="lin" valueType="num">
                                      <p:cBhvr>
                                        <p:cTn id="135" dur="500" fill="hold"/>
                                        <p:tgtEl>
                                          <p:spTgt spid="427050"/>
                                        </p:tgtEl>
                                        <p:attrNameLst>
                                          <p:attrName>ppt_w</p:attrName>
                                        </p:attrNameLst>
                                      </p:cBhvr>
                                      <p:tavLst>
                                        <p:tav tm="0">
                                          <p:val>
                                            <p:fltVal val="0"/>
                                          </p:val>
                                        </p:tav>
                                        <p:tav tm="100000">
                                          <p:val>
                                            <p:strVal val="#ppt_w"/>
                                          </p:val>
                                        </p:tav>
                                      </p:tavLst>
                                    </p:anim>
                                    <p:anim calcmode="lin" valueType="num">
                                      <p:cBhvr>
                                        <p:cTn id="136" dur="500" fill="hold"/>
                                        <p:tgtEl>
                                          <p:spTgt spid="427050"/>
                                        </p:tgtEl>
                                        <p:attrNameLst>
                                          <p:attrName>ppt_h</p:attrName>
                                        </p:attrNameLst>
                                      </p:cBhvr>
                                      <p:tavLst>
                                        <p:tav tm="0">
                                          <p:val>
                                            <p:fltVal val="0"/>
                                          </p:val>
                                        </p:tav>
                                        <p:tav tm="100000">
                                          <p:val>
                                            <p:strVal val="#ppt_h"/>
                                          </p:val>
                                        </p:tav>
                                      </p:tavLst>
                                    </p:anim>
                                    <p:animEffect transition="in" filter="fade">
                                      <p:cBhvr>
                                        <p:cTn id="137" dur="500"/>
                                        <p:tgtEl>
                                          <p:spTgt spid="427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4" grpId="0"/>
      <p:bldP spid="427015" grpId="0"/>
      <p:bldP spid="427016" grpId="0"/>
      <p:bldP spid="427016" grpId="1"/>
      <p:bldP spid="427017" grpId="0"/>
      <p:bldP spid="427017" grpId="1"/>
      <p:bldP spid="427017" grpId="2"/>
      <p:bldP spid="427017" grpId="3"/>
      <p:bldP spid="427017" grpId="4"/>
      <p:bldP spid="427022" grpId="0"/>
      <p:bldP spid="427023" grpId="0"/>
      <p:bldP spid="427023" grpId="1"/>
      <p:bldP spid="427023" grpId="2"/>
      <p:bldP spid="427023" grpId="3"/>
      <p:bldP spid="427023" grpId="4"/>
      <p:bldP spid="427024" grpId="0"/>
      <p:bldP spid="427026" grpId="0"/>
      <p:bldP spid="427030" grpId="0"/>
      <p:bldP spid="427031" grpId="0"/>
      <p:bldP spid="427034" grpId="0"/>
      <p:bldP spid="427039" grpId="0"/>
      <p:bldP spid="427040" grpId="0"/>
      <p:bldP spid="427043" grpId="0"/>
      <p:bldP spid="427044" grpId="0"/>
      <p:bldP spid="427045" grpId="0"/>
      <p:bldP spid="427046" grpId="0"/>
      <p:bldP spid="427047" grpId="0"/>
      <p:bldP spid="427049" grpId="0" animBg="1"/>
      <p:bldP spid="427050" grpId="0"/>
      <p:bldP spid="4270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solidFill>
                  <a:srgbClr val="C00000"/>
                </a:solidFill>
              </a:rPr>
              <a:t>Chuyển đổi giữa các hệ đếm</a:t>
            </a:r>
            <a:endParaRPr lang="en-US" b="1">
              <a:solidFill>
                <a:srgbClr val="C00000"/>
              </a:solidFill>
            </a:endParaRPr>
          </a:p>
        </p:txBody>
      </p:sp>
      <p:sp>
        <p:nvSpPr>
          <p:cNvPr id="3" name="Content Placeholder 2"/>
          <p:cNvSpPr>
            <a:spLocks noGrp="1"/>
          </p:cNvSpPr>
          <p:nvPr>
            <p:ph idx="1"/>
          </p:nvPr>
        </p:nvSpPr>
        <p:spPr>
          <a:xfrm>
            <a:off x="457200" y="1600200"/>
            <a:ext cx="8686800" cy="4525963"/>
          </a:xfrm>
        </p:spPr>
        <p:txBody>
          <a:bodyPr>
            <a:normAutofit fontScale="92500"/>
          </a:bodyPr>
          <a:lstStyle/>
          <a:p>
            <a:pPr>
              <a:buFont typeface="Wingdings" pitchFamily="2" charset="2"/>
              <a:buChar char="v"/>
            </a:pPr>
            <a:r>
              <a:rPr lang="vi-VN" smtClean="0"/>
              <a:t>Đặc </a:t>
            </a:r>
            <a:r>
              <a:rPr lang="vi-VN"/>
              <a:t>điểm</a:t>
            </a:r>
          </a:p>
          <a:p>
            <a:pPr marL="696913"/>
            <a:r>
              <a:rPr lang="vi-VN" smtClean="0"/>
              <a:t>Con </a:t>
            </a:r>
            <a:r>
              <a:rPr lang="vi-VN"/>
              <a:t>người sử dụng hệ thập phân.</a:t>
            </a:r>
          </a:p>
          <a:p>
            <a:pPr marL="696913"/>
            <a:r>
              <a:rPr lang="vi-VN" smtClean="0"/>
              <a:t>Máy </a:t>
            </a:r>
            <a:r>
              <a:rPr lang="vi-VN"/>
              <a:t>tính sử dụng hệ nhị </a:t>
            </a:r>
            <a:r>
              <a:rPr lang="vi-VN"/>
              <a:t>phân</a:t>
            </a:r>
            <a:r>
              <a:rPr lang="vi-VN" smtClean="0"/>
              <a:t>, </a:t>
            </a:r>
            <a:r>
              <a:rPr lang="vi-VN"/>
              <a:t>thập </a:t>
            </a:r>
            <a:r>
              <a:rPr lang="vi-VN" smtClean="0"/>
              <a:t>lục </a:t>
            </a:r>
            <a:r>
              <a:rPr lang="vi-VN"/>
              <a:t>phân.</a:t>
            </a:r>
          </a:p>
          <a:p>
            <a:pPr>
              <a:buFont typeface="Wingdings" pitchFamily="2" charset="2"/>
              <a:buChar char="v"/>
            </a:pPr>
            <a:r>
              <a:rPr lang="vi-VN" smtClean="0"/>
              <a:t>Nhu </a:t>
            </a:r>
            <a:r>
              <a:rPr lang="vi-VN"/>
              <a:t>cầu</a:t>
            </a:r>
          </a:p>
          <a:p>
            <a:r>
              <a:rPr lang="vi-VN" smtClean="0"/>
              <a:t>Chuyển </a:t>
            </a:r>
            <a:r>
              <a:rPr lang="vi-VN"/>
              <a:t>đổi qua lại giữa các hệ đếm.</a:t>
            </a:r>
          </a:p>
          <a:p>
            <a:r>
              <a:rPr lang="vi-VN" smtClean="0"/>
              <a:t>Hệ </a:t>
            </a:r>
            <a:r>
              <a:rPr lang="vi-VN"/>
              <a:t>khác sang hệ </a:t>
            </a:r>
            <a:r>
              <a:rPr lang="vi-VN"/>
              <a:t>thập </a:t>
            </a:r>
            <a:r>
              <a:rPr lang="vi-VN" smtClean="0"/>
              <a:t>phân</a:t>
            </a:r>
            <a:endParaRPr lang="vi-VN"/>
          </a:p>
          <a:p>
            <a:r>
              <a:rPr lang="vi-VN" smtClean="0"/>
              <a:t>Hệ </a:t>
            </a:r>
            <a:r>
              <a:rPr lang="vi-VN"/>
              <a:t>thập phân sang hệ </a:t>
            </a:r>
            <a:r>
              <a:rPr lang="vi-VN"/>
              <a:t>khác </a:t>
            </a:r>
            <a:endParaRPr lang="en-US" smtClean="0"/>
          </a:p>
          <a:p>
            <a:r>
              <a:rPr lang="en-US" smtClean="0">
                <a:latin typeface="Arial" pitchFamily="34" charset="0"/>
                <a:cs typeface="Arial" pitchFamily="34" charset="0"/>
              </a:rPr>
              <a:t>Hệ nhị phân sang hệ thập lục phân</a:t>
            </a:r>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24</a:t>
            </a:fld>
            <a:endParaRPr lang="en-US"/>
          </a:p>
        </p:txBody>
      </p:sp>
    </p:spTree>
    <p:extLst>
      <p:ext uri="{BB962C8B-B14F-4D97-AF65-F5344CB8AC3E}">
        <p14:creationId xmlns:p14="http://schemas.microsoft.com/office/powerpoint/2010/main" val="2707549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839200" cy="1143000"/>
          </a:xfrm>
        </p:spPr>
        <p:txBody>
          <a:bodyPr>
            <a:normAutofit fontScale="90000"/>
          </a:bodyPr>
          <a:lstStyle/>
          <a:p>
            <a:r>
              <a:rPr lang="vi-VN" b="1">
                <a:solidFill>
                  <a:srgbClr val="C00000"/>
                </a:solidFill>
                <a:latin typeface="Calibri" pitchFamily="34" charset="0"/>
              </a:rPr>
              <a:t>Chuyển từ hệ cơ </a:t>
            </a:r>
            <a:r>
              <a:rPr lang="vi-VN" b="1">
                <a:solidFill>
                  <a:srgbClr val="C00000"/>
                </a:solidFill>
                <a:latin typeface="Calibri" pitchFamily="34" charset="0"/>
              </a:rPr>
              <a:t>sở </a:t>
            </a:r>
            <a:r>
              <a:rPr lang="en-US" b="1" smtClean="0">
                <a:solidFill>
                  <a:srgbClr val="C00000"/>
                </a:solidFill>
                <a:latin typeface="Calibri" pitchFamily="34" charset="0"/>
              </a:rPr>
              <a:t>b sang</a:t>
            </a:r>
            <a:r>
              <a:rPr lang="vi-VN" b="1" smtClean="0">
                <a:solidFill>
                  <a:srgbClr val="C00000"/>
                </a:solidFill>
                <a:latin typeface="Calibri" pitchFamily="34" charset="0"/>
              </a:rPr>
              <a:t> </a:t>
            </a:r>
            <a:r>
              <a:rPr lang="en-US" b="1" smtClean="0">
                <a:solidFill>
                  <a:srgbClr val="C00000"/>
                </a:solidFill>
                <a:latin typeface="Calibri" pitchFamily="34" charset="0"/>
              </a:rPr>
              <a:t>hệ thập phân</a:t>
            </a:r>
            <a:endParaRPr lang="en-US" b="1">
              <a:solidFill>
                <a:srgbClr val="C00000"/>
              </a:solidFill>
              <a:latin typeface="Calibri" pitchFamily="34" charset="0"/>
            </a:endParaRPr>
          </a:p>
        </p:txBody>
      </p:sp>
      <p:sp>
        <p:nvSpPr>
          <p:cNvPr id="3" name="Content Placeholder 2"/>
          <p:cNvSpPr>
            <a:spLocks noGrp="1"/>
          </p:cNvSpPr>
          <p:nvPr>
            <p:ph idx="1"/>
          </p:nvPr>
        </p:nvSpPr>
        <p:spPr>
          <a:xfrm>
            <a:off x="457200" y="1600200"/>
            <a:ext cx="8686800" cy="4525963"/>
          </a:xfrm>
        </p:spPr>
        <p:txBody>
          <a:bodyPr>
            <a:normAutofit fontScale="85000" lnSpcReduction="20000"/>
          </a:bodyPr>
          <a:lstStyle/>
          <a:p>
            <a:pPr>
              <a:buFont typeface="Wingdings" pitchFamily="2" charset="2"/>
              <a:buChar char="v"/>
            </a:pPr>
            <a:r>
              <a:rPr lang="en-US"/>
              <a:t>Cách 1</a:t>
            </a:r>
          </a:p>
          <a:p>
            <a:pPr>
              <a:buFont typeface="Wingdings" pitchFamily="2" charset="2"/>
              <a:buChar char="§"/>
            </a:pPr>
            <a:r>
              <a:rPr lang="en-US" smtClean="0"/>
              <a:t>Khai </a:t>
            </a:r>
            <a:r>
              <a:rPr lang="en-US"/>
              <a:t>triển biểu diễn và tính giá trị biểu thức.</a:t>
            </a:r>
          </a:p>
          <a:p>
            <a:pPr>
              <a:buFont typeface="Wingdings" pitchFamily="2" charset="2"/>
              <a:buChar char="§"/>
            </a:pPr>
            <a:r>
              <a:rPr lang="en-US" smtClean="0"/>
              <a:t>Ví dụ:</a:t>
            </a:r>
          </a:p>
          <a:p>
            <a:pPr marL="0" indent="0">
              <a:buNone/>
            </a:pPr>
            <a:r>
              <a:rPr lang="en-US" smtClean="0"/>
              <a:t>1011.01</a:t>
            </a:r>
            <a:r>
              <a:rPr lang="en-US" baseline="-25000" smtClean="0"/>
              <a:t>2</a:t>
            </a:r>
            <a:r>
              <a:rPr lang="en-US" smtClean="0"/>
              <a:t>=1*2</a:t>
            </a:r>
            <a:r>
              <a:rPr lang="en-US" baseline="30000" smtClean="0"/>
              <a:t>3</a:t>
            </a:r>
            <a:r>
              <a:rPr lang="en-US" smtClean="0"/>
              <a:t>+0*2</a:t>
            </a:r>
            <a:r>
              <a:rPr lang="en-US" baseline="30000" smtClean="0"/>
              <a:t>2</a:t>
            </a:r>
            <a:r>
              <a:rPr lang="en-US" smtClean="0"/>
              <a:t>+1*2</a:t>
            </a:r>
            <a:r>
              <a:rPr lang="en-US" baseline="30000" smtClean="0"/>
              <a:t>1</a:t>
            </a:r>
            <a:r>
              <a:rPr lang="en-US" smtClean="0"/>
              <a:t>+1*2</a:t>
            </a:r>
            <a:r>
              <a:rPr lang="en-US" baseline="30000" smtClean="0"/>
              <a:t>0</a:t>
            </a:r>
            <a:r>
              <a:rPr lang="en-US" smtClean="0"/>
              <a:t>+0*2</a:t>
            </a:r>
            <a:r>
              <a:rPr lang="en-US" baseline="30000" smtClean="0"/>
              <a:t>-1</a:t>
            </a:r>
            <a:r>
              <a:rPr lang="en-US" smtClean="0"/>
              <a:t>+1*2</a:t>
            </a:r>
            <a:r>
              <a:rPr lang="en-US" baseline="30000" smtClean="0"/>
              <a:t>-2</a:t>
            </a:r>
            <a:endParaRPr lang="en-US" smtClean="0"/>
          </a:p>
          <a:p>
            <a:pPr marL="0" indent="0">
              <a:buNone/>
            </a:pPr>
            <a:r>
              <a:rPr lang="en-US"/>
              <a:t>	      =8 + 0 + 2 + 1 + 0 + 0.25 </a:t>
            </a:r>
            <a:r>
              <a:rPr lang="en-US"/>
              <a:t>= </a:t>
            </a:r>
            <a:r>
              <a:rPr lang="en-US" smtClean="0"/>
              <a:t>11.25</a:t>
            </a:r>
            <a:r>
              <a:rPr lang="en-US" baseline="-25000" smtClean="0"/>
              <a:t>10</a:t>
            </a:r>
          </a:p>
          <a:p>
            <a:pPr>
              <a:buFont typeface="Wingdings" pitchFamily="2" charset="2"/>
              <a:buChar char="v"/>
            </a:pPr>
            <a:r>
              <a:rPr lang="en-US"/>
              <a:t>Cách 2</a:t>
            </a:r>
          </a:p>
          <a:p>
            <a:pPr>
              <a:buFont typeface="Wingdings" pitchFamily="2" charset="2"/>
              <a:buChar char="§"/>
            </a:pPr>
            <a:r>
              <a:rPr lang="en-US" smtClean="0"/>
              <a:t>Nhân/Chia </a:t>
            </a:r>
            <a:r>
              <a:rPr lang="en-US"/>
              <a:t>lồng nhau.</a:t>
            </a:r>
          </a:p>
          <a:p>
            <a:pPr>
              <a:buFont typeface="Wingdings" pitchFamily="2" charset="2"/>
              <a:buChar char="§"/>
            </a:pPr>
            <a:r>
              <a:rPr lang="en-US" smtClean="0"/>
              <a:t>Ví dụ:</a:t>
            </a:r>
          </a:p>
          <a:p>
            <a:pPr marL="0" indent="0">
              <a:buNone/>
            </a:pPr>
            <a:r>
              <a:rPr lang="en-US" u="sng" smtClean="0"/>
              <a:t>1011</a:t>
            </a:r>
            <a:r>
              <a:rPr lang="en-US" smtClean="0"/>
              <a:t>.01</a:t>
            </a:r>
            <a:r>
              <a:rPr lang="en-US" baseline="-25000" smtClean="0"/>
              <a:t>2 </a:t>
            </a:r>
            <a:r>
              <a:rPr lang="en-US" smtClean="0"/>
              <a:t>= </a:t>
            </a:r>
            <a:r>
              <a:rPr lang="en-US" u="sng" smtClean="0"/>
              <a:t>((</a:t>
            </a:r>
            <a:r>
              <a:rPr lang="en-US" u="sng"/>
              <a:t>1*2 + 0)*2 + 1)*2 + 1 </a:t>
            </a:r>
            <a:r>
              <a:rPr lang="en-US"/>
              <a:t>+ (1/2 + 0</a:t>
            </a:r>
            <a:r>
              <a:rPr lang="en-US"/>
              <a:t>)/</a:t>
            </a:r>
            <a:r>
              <a:rPr lang="en-US" smtClean="0"/>
              <a:t>2</a:t>
            </a:r>
          </a:p>
          <a:p>
            <a:pPr marL="0" indent="0">
              <a:buNone/>
            </a:pPr>
            <a:r>
              <a:rPr lang="en-US" smtClean="0"/>
              <a:t>	     = 11 + 0.25 = </a:t>
            </a:r>
            <a:r>
              <a:rPr lang="en-US"/>
              <a:t>11.25</a:t>
            </a:r>
            <a:r>
              <a:rPr lang="en-US" baseline="-25000"/>
              <a:t>10</a:t>
            </a:r>
          </a:p>
          <a:p>
            <a:pPr marL="0" indent="0">
              <a:buNone/>
            </a:pPr>
            <a:endParaRPr lang="en-US"/>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25</a:t>
            </a:fld>
            <a:endParaRPr lang="en-US"/>
          </a:p>
        </p:txBody>
      </p:sp>
    </p:spTree>
    <p:extLst>
      <p:ext uri="{BB962C8B-B14F-4D97-AF65-F5344CB8AC3E}">
        <p14:creationId xmlns:p14="http://schemas.microsoft.com/office/powerpoint/2010/main" val="2547750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1143000"/>
          </a:xfrm>
        </p:spPr>
        <p:txBody>
          <a:bodyPr>
            <a:normAutofit fontScale="90000"/>
          </a:bodyPr>
          <a:lstStyle/>
          <a:p>
            <a:r>
              <a:rPr lang="vi-VN" b="1">
                <a:solidFill>
                  <a:srgbClr val="C00000"/>
                </a:solidFill>
              </a:rPr>
              <a:t>Chuyển </a:t>
            </a:r>
            <a:r>
              <a:rPr lang="vi-VN" b="1">
                <a:solidFill>
                  <a:srgbClr val="C00000"/>
                </a:solidFill>
              </a:rPr>
              <a:t>từ </a:t>
            </a:r>
            <a:r>
              <a:rPr lang="en-US" b="1" smtClean="0">
                <a:solidFill>
                  <a:srgbClr val="C00000"/>
                </a:solidFill>
              </a:rPr>
              <a:t>hệ thập phân sang</a:t>
            </a:r>
            <a:r>
              <a:rPr lang="vi-VN" b="1" smtClean="0">
                <a:solidFill>
                  <a:srgbClr val="C00000"/>
                </a:solidFill>
              </a:rPr>
              <a:t> hệ </a:t>
            </a:r>
            <a:r>
              <a:rPr lang="vi-VN" b="1">
                <a:solidFill>
                  <a:srgbClr val="C00000"/>
                </a:solidFill>
              </a:rPr>
              <a:t>cơ sở b</a:t>
            </a:r>
            <a:endParaRPr lang="en-US" b="1">
              <a:solidFill>
                <a:srgbClr val="C00000"/>
              </a:solidFill>
            </a:endParaRPr>
          </a:p>
        </p:txBody>
      </p:sp>
      <p:sp>
        <p:nvSpPr>
          <p:cNvPr id="3" name="Content Placeholder 2"/>
          <p:cNvSpPr>
            <a:spLocks noGrp="1"/>
          </p:cNvSpPr>
          <p:nvPr>
            <p:ph idx="1"/>
          </p:nvPr>
        </p:nvSpPr>
        <p:spPr>
          <a:xfrm>
            <a:off x="457200" y="1600200"/>
            <a:ext cx="8686800" cy="4525963"/>
          </a:xfrm>
        </p:spPr>
        <p:txBody>
          <a:bodyPr>
            <a:normAutofit fontScale="92500" lnSpcReduction="20000"/>
          </a:bodyPr>
          <a:lstStyle/>
          <a:p>
            <a:pPr>
              <a:buFont typeface="Wingdings" pitchFamily="2" charset="2"/>
              <a:buChar char="v"/>
            </a:pPr>
            <a:r>
              <a:rPr lang="vi-VN">
                <a:latin typeface="Calibri" pitchFamily="34" charset="0"/>
              </a:rPr>
              <a:t>Đổi phần nguyên</a:t>
            </a:r>
          </a:p>
          <a:p>
            <a:pPr>
              <a:buFont typeface="Wingdings" pitchFamily="2" charset="2"/>
              <a:buChar char="§"/>
            </a:pPr>
            <a:r>
              <a:rPr lang="vi-VN" smtClean="0">
                <a:latin typeface="Calibri" pitchFamily="34" charset="0"/>
              </a:rPr>
              <a:t>Chia </a:t>
            </a:r>
            <a:r>
              <a:rPr lang="vi-VN">
                <a:latin typeface="Calibri" pitchFamily="34" charset="0"/>
              </a:rPr>
              <a:t>phần nguyên của số đó cho b và tiếp </a:t>
            </a:r>
            <a:r>
              <a:rPr lang="vi-VN">
                <a:latin typeface="Calibri" pitchFamily="34" charset="0"/>
              </a:rPr>
              <a:t>tục </a:t>
            </a:r>
            <a:r>
              <a:rPr lang="vi-VN" smtClean="0">
                <a:latin typeface="Calibri" pitchFamily="34" charset="0"/>
              </a:rPr>
              <a:t>lấy </a:t>
            </a:r>
            <a:r>
              <a:rPr lang="vi-VN">
                <a:latin typeface="Calibri" pitchFamily="34" charset="0"/>
              </a:rPr>
              <a:t>phần nguyên của kết quả chia cho b.</a:t>
            </a:r>
          </a:p>
          <a:p>
            <a:pPr>
              <a:buFont typeface="Wingdings" pitchFamily="2" charset="2"/>
              <a:buChar char="§"/>
            </a:pPr>
            <a:r>
              <a:rPr lang="vi-VN" smtClean="0">
                <a:latin typeface="Calibri" pitchFamily="34" charset="0"/>
              </a:rPr>
              <a:t>Dãy </a:t>
            </a:r>
            <a:r>
              <a:rPr lang="vi-VN">
                <a:latin typeface="Calibri" pitchFamily="34" charset="0"/>
              </a:rPr>
              <a:t>các số dư ở mỗi lần </a:t>
            </a:r>
            <a:r>
              <a:rPr lang="vi-VN">
                <a:latin typeface="Calibri" pitchFamily="34" charset="0"/>
              </a:rPr>
              <a:t>chia </a:t>
            </a:r>
            <a:r>
              <a:rPr lang="vi-VN" smtClean="0">
                <a:latin typeface="Calibri" pitchFamily="34" charset="0"/>
              </a:rPr>
              <a:t>là</a:t>
            </a:r>
            <a:r>
              <a:rPr lang="en-US" smtClean="0">
                <a:latin typeface="Calibri" pitchFamily="34" charset="0"/>
              </a:rPr>
              <a:t> a</a:t>
            </a:r>
            <a:r>
              <a:rPr lang="en-US" baseline="-25000" smtClean="0">
                <a:latin typeface="Calibri" pitchFamily="34" charset="0"/>
              </a:rPr>
              <a:t>0</a:t>
            </a:r>
            <a:r>
              <a:rPr lang="en-US" smtClean="0">
                <a:latin typeface="Calibri" pitchFamily="34" charset="0"/>
              </a:rPr>
              <a:t>, a</a:t>
            </a:r>
            <a:r>
              <a:rPr lang="en-US" baseline="-25000" smtClean="0">
                <a:latin typeface="Calibri" pitchFamily="34" charset="0"/>
              </a:rPr>
              <a:t>1</a:t>
            </a:r>
            <a:r>
              <a:rPr lang="en-US" smtClean="0">
                <a:latin typeface="Calibri" pitchFamily="34" charset="0"/>
              </a:rPr>
              <a:t>,…,a</a:t>
            </a:r>
            <a:r>
              <a:rPr lang="en-US" baseline="-25000" smtClean="0">
                <a:latin typeface="Calibri" pitchFamily="34" charset="0"/>
              </a:rPr>
              <a:t>n</a:t>
            </a:r>
            <a:endParaRPr lang="en-US" smtClean="0">
              <a:latin typeface="Calibri" pitchFamily="34" charset="0"/>
            </a:endParaRPr>
          </a:p>
          <a:p>
            <a:pPr>
              <a:buFont typeface="Wingdings" pitchFamily="2" charset="2"/>
              <a:buChar char="§"/>
            </a:pPr>
            <a:r>
              <a:rPr lang="en-US">
                <a:latin typeface="Calibri" pitchFamily="34" charset="0"/>
              </a:rPr>
              <a:t>Phần nguyên của số hệ cở sở </a:t>
            </a:r>
            <a:r>
              <a:rPr lang="en-US">
                <a:latin typeface="Calibri" pitchFamily="34" charset="0"/>
              </a:rPr>
              <a:t>b </a:t>
            </a:r>
            <a:r>
              <a:rPr lang="en-US" smtClean="0">
                <a:latin typeface="Calibri" pitchFamily="34" charset="0"/>
              </a:rPr>
              <a:t>là (a</a:t>
            </a:r>
            <a:r>
              <a:rPr lang="en-US" baseline="-25000" smtClean="0">
                <a:latin typeface="Calibri" pitchFamily="34" charset="0"/>
              </a:rPr>
              <a:t>n </a:t>
            </a:r>
            <a:r>
              <a:rPr lang="en-US" smtClean="0">
                <a:latin typeface="Calibri" pitchFamily="34" charset="0"/>
              </a:rPr>
              <a:t>…a</a:t>
            </a:r>
            <a:r>
              <a:rPr lang="en-US" baseline="-25000" smtClean="0">
                <a:latin typeface="Calibri" pitchFamily="34" charset="0"/>
              </a:rPr>
              <a:t>1</a:t>
            </a:r>
            <a:r>
              <a:rPr lang="en-US" smtClean="0">
                <a:latin typeface="Calibri" pitchFamily="34" charset="0"/>
              </a:rPr>
              <a:t>a</a:t>
            </a:r>
            <a:r>
              <a:rPr lang="en-US" baseline="-25000" smtClean="0">
                <a:latin typeface="Calibri" pitchFamily="34" charset="0"/>
              </a:rPr>
              <a:t>0</a:t>
            </a:r>
            <a:r>
              <a:rPr lang="en-US" smtClean="0">
                <a:latin typeface="Calibri" pitchFamily="34" charset="0"/>
              </a:rPr>
              <a:t>)</a:t>
            </a:r>
          </a:p>
          <a:p>
            <a:pPr>
              <a:buFont typeface="Wingdings" pitchFamily="2" charset="2"/>
              <a:buChar char="v"/>
            </a:pPr>
            <a:r>
              <a:rPr lang="vi-VN">
                <a:latin typeface="Calibri" pitchFamily="34" charset="0"/>
              </a:rPr>
              <a:t> Đổi phần lẻ</a:t>
            </a:r>
          </a:p>
          <a:p>
            <a:pPr>
              <a:buFont typeface="Wingdings" pitchFamily="2" charset="2"/>
              <a:buChar char="§"/>
            </a:pPr>
            <a:r>
              <a:rPr lang="vi-VN" smtClean="0">
                <a:latin typeface="Calibri" pitchFamily="34" charset="0"/>
              </a:rPr>
              <a:t>Nhân </a:t>
            </a:r>
            <a:r>
              <a:rPr lang="vi-VN">
                <a:latin typeface="Calibri" pitchFamily="34" charset="0"/>
              </a:rPr>
              <a:t>phần lẻ của số đó cho b và tiếp tục lấy </a:t>
            </a:r>
          </a:p>
          <a:p>
            <a:pPr>
              <a:buFont typeface="Wingdings" pitchFamily="2" charset="2"/>
              <a:buChar char="§"/>
            </a:pPr>
            <a:r>
              <a:rPr lang="vi-VN">
                <a:latin typeface="Calibri" pitchFamily="34" charset="0"/>
              </a:rPr>
              <a:t>phần lẻ của kết quả nhân cho b.</a:t>
            </a:r>
          </a:p>
          <a:p>
            <a:pPr>
              <a:buFont typeface="Wingdings" pitchFamily="2" charset="2"/>
              <a:buChar char="§"/>
            </a:pPr>
            <a:r>
              <a:rPr lang="vi-VN" smtClean="0">
                <a:latin typeface="Calibri" pitchFamily="34" charset="0"/>
              </a:rPr>
              <a:t>Dãy </a:t>
            </a:r>
            <a:r>
              <a:rPr lang="vi-VN">
                <a:latin typeface="Calibri" pitchFamily="34" charset="0"/>
              </a:rPr>
              <a:t>các số nguyên ở mỗi lần </a:t>
            </a:r>
            <a:r>
              <a:rPr lang="vi-VN">
                <a:latin typeface="Calibri" pitchFamily="34" charset="0"/>
              </a:rPr>
              <a:t>nhân </a:t>
            </a:r>
            <a:r>
              <a:rPr lang="en-US" smtClean="0">
                <a:latin typeface="Calibri" pitchFamily="34" charset="0"/>
              </a:rPr>
              <a:t>là a</a:t>
            </a:r>
            <a:r>
              <a:rPr lang="en-US" baseline="-25000" smtClean="0">
                <a:latin typeface="Calibri" pitchFamily="34" charset="0"/>
              </a:rPr>
              <a:t>-1</a:t>
            </a:r>
            <a:r>
              <a:rPr lang="en-US" smtClean="0">
                <a:latin typeface="Calibri" pitchFamily="34" charset="0"/>
              </a:rPr>
              <a:t>, a</a:t>
            </a:r>
            <a:r>
              <a:rPr lang="en-US" baseline="-25000" smtClean="0">
                <a:latin typeface="Calibri" pitchFamily="34" charset="0"/>
              </a:rPr>
              <a:t>-2</a:t>
            </a:r>
            <a:r>
              <a:rPr lang="en-US" smtClean="0">
                <a:latin typeface="Calibri" pitchFamily="34" charset="0"/>
              </a:rPr>
              <a:t>,…,a</a:t>
            </a:r>
            <a:r>
              <a:rPr lang="en-US" baseline="-25000" smtClean="0">
                <a:latin typeface="Calibri" pitchFamily="34" charset="0"/>
              </a:rPr>
              <a:t>-m</a:t>
            </a:r>
            <a:r>
              <a:rPr lang="en-US" smtClean="0">
                <a:latin typeface="Calibri" pitchFamily="34" charset="0"/>
              </a:rPr>
              <a:t> </a:t>
            </a:r>
            <a:r>
              <a:rPr lang="vi-VN">
                <a:latin typeface="Calibri" pitchFamily="34" charset="0"/>
              </a:rPr>
              <a:t>tạo thành phần lẻ ở hệ cơ sở b.</a:t>
            </a:r>
            <a:endParaRPr lang="en-US">
              <a:latin typeface="Calibri" pitchFamily="34" charset="0"/>
            </a:endParaRPr>
          </a:p>
          <a:p>
            <a:pPr marL="0" indent="0">
              <a:buNone/>
            </a:pPr>
            <a:endParaRPr lang="en-US" smtClean="0"/>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26</a:t>
            </a:fld>
            <a:endParaRPr lang="en-US"/>
          </a:p>
        </p:txBody>
      </p:sp>
    </p:spTree>
    <p:extLst>
      <p:ext uri="{BB962C8B-B14F-4D97-AF65-F5344CB8AC3E}">
        <p14:creationId xmlns:p14="http://schemas.microsoft.com/office/powerpoint/2010/main" val="2441839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838200" y="1905000"/>
            <a:ext cx="8001000" cy="4181475"/>
          </a:xfrm>
        </p:spPr>
        <p:txBody>
          <a:bodyPr/>
          <a:lstStyle/>
          <a:p>
            <a:pPr eaLnBrk="1" hangingPunct="1">
              <a:buFont typeface="Wingdings" pitchFamily="2" charset="2"/>
              <a:buNone/>
            </a:pPr>
            <a:r>
              <a:rPr lang="en-US" smtClean="0">
                <a:latin typeface="Arial" charset="0"/>
                <a:cs typeface="Arial" charset="0"/>
              </a:rPr>
              <a:t>23</a:t>
            </a:r>
            <a:r>
              <a:rPr lang="en-US" baseline="-25000" smtClean="0">
                <a:solidFill>
                  <a:srgbClr val="CC3300"/>
                </a:solidFill>
                <a:latin typeface="Arial" charset="0"/>
                <a:cs typeface="Arial" charset="0"/>
              </a:rPr>
              <a:t>10</a:t>
            </a:r>
            <a:r>
              <a:rPr lang="en-US" smtClean="0">
                <a:latin typeface="Arial" charset="0"/>
                <a:cs typeface="Arial" charset="0"/>
              </a:rPr>
              <a:t> = ?</a:t>
            </a:r>
            <a:r>
              <a:rPr lang="en-US" baseline="-25000" smtClean="0">
                <a:solidFill>
                  <a:srgbClr val="CC3300"/>
                </a:solidFill>
                <a:latin typeface="Arial" charset="0"/>
                <a:cs typeface="Arial" charset="0"/>
              </a:rPr>
              <a:t>2                                       </a:t>
            </a:r>
            <a:r>
              <a:rPr lang="en-US" smtClean="0">
                <a:solidFill>
                  <a:srgbClr val="CC3300"/>
                </a:solidFill>
                <a:latin typeface="Arial" charset="0"/>
                <a:cs typeface="Arial" charset="0"/>
              </a:rPr>
              <a:t> </a:t>
            </a:r>
            <a:r>
              <a:rPr lang="en-US" smtClean="0">
                <a:latin typeface="Arial" charset="0"/>
                <a:cs typeface="Arial" charset="0"/>
              </a:rPr>
              <a:t>923</a:t>
            </a:r>
            <a:r>
              <a:rPr lang="en-US" baseline="-25000" smtClean="0">
                <a:solidFill>
                  <a:srgbClr val="CC3300"/>
                </a:solidFill>
                <a:latin typeface="Arial" charset="0"/>
                <a:cs typeface="Arial" charset="0"/>
              </a:rPr>
              <a:t>10</a:t>
            </a:r>
            <a:r>
              <a:rPr lang="en-US" smtClean="0">
                <a:solidFill>
                  <a:srgbClr val="CC3300"/>
                </a:solidFill>
                <a:latin typeface="Arial" charset="0"/>
                <a:cs typeface="Arial" charset="0"/>
              </a:rPr>
              <a:t>= </a:t>
            </a:r>
            <a:r>
              <a:rPr lang="en-US" smtClean="0">
                <a:latin typeface="Arial" charset="0"/>
                <a:cs typeface="Arial" charset="0"/>
              </a:rPr>
              <a:t>?</a:t>
            </a:r>
            <a:r>
              <a:rPr lang="en-US" baseline="-25000" smtClean="0">
                <a:solidFill>
                  <a:srgbClr val="CC3300"/>
                </a:solidFill>
                <a:latin typeface="Arial" charset="0"/>
                <a:cs typeface="Arial" charset="0"/>
              </a:rPr>
              <a:t> 16</a:t>
            </a:r>
          </a:p>
        </p:txBody>
      </p:sp>
      <p:sp>
        <p:nvSpPr>
          <p:cNvPr id="429060" name="Text Box 4"/>
          <p:cNvSpPr txBox="1">
            <a:spLocks noChangeArrowheads="1"/>
          </p:cNvSpPr>
          <p:nvPr/>
        </p:nvSpPr>
        <p:spPr bwMode="auto">
          <a:xfrm>
            <a:off x="838200" y="2514600"/>
            <a:ext cx="6858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23</a:t>
            </a:r>
          </a:p>
        </p:txBody>
      </p:sp>
      <p:grpSp>
        <p:nvGrpSpPr>
          <p:cNvPr id="2" name="Group 10"/>
          <p:cNvGrpSpPr>
            <a:grpSpLocks/>
          </p:cNvGrpSpPr>
          <p:nvPr/>
        </p:nvGrpSpPr>
        <p:grpSpPr bwMode="auto">
          <a:xfrm>
            <a:off x="1600200" y="2514600"/>
            <a:ext cx="533400" cy="914400"/>
            <a:chOff x="1008" y="1584"/>
            <a:chExt cx="336" cy="576"/>
          </a:xfrm>
        </p:grpSpPr>
        <p:grpSp>
          <p:nvGrpSpPr>
            <p:cNvPr id="3" name="Group 9"/>
            <p:cNvGrpSpPr>
              <a:grpSpLocks/>
            </p:cNvGrpSpPr>
            <p:nvPr/>
          </p:nvGrpSpPr>
          <p:grpSpPr bwMode="auto">
            <a:xfrm>
              <a:off x="1008" y="1680"/>
              <a:ext cx="336" cy="480"/>
              <a:chOff x="1008" y="1680"/>
              <a:chExt cx="336" cy="480"/>
            </a:xfrm>
          </p:grpSpPr>
          <p:sp>
            <p:nvSpPr>
              <p:cNvPr id="18494" name="Line 5"/>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95" name="Line 6"/>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93" name="Text Box 7"/>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2</a:t>
              </a:r>
            </a:p>
          </p:txBody>
        </p:sp>
      </p:grpSp>
      <p:sp>
        <p:nvSpPr>
          <p:cNvPr id="429067" name="Text Box 11"/>
          <p:cNvSpPr txBox="1">
            <a:spLocks noChangeArrowheads="1"/>
          </p:cNvSpPr>
          <p:nvPr/>
        </p:nvSpPr>
        <p:spPr bwMode="auto">
          <a:xfrm>
            <a:off x="1600200" y="3048000"/>
            <a:ext cx="6858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11</a:t>
            </a:r>
          </a:p>
        </p:txBody>
      </p:sp>
      <p:grpSp>
        <p:nvGrpSpPr>
          <p:cNvPr id="4" name="Group 12"/>
          <p:cNvGrpSpPr>
            <a:grpSpLocks/>
          </p:cNvGrpSpPr>
          <p:nvPr/>
        </p:nvGrpSpPr>
        <p:grpSpPr bwMode="auto">
          <a:xfrm>
            <a:off x="2286000" y="2971800"/>
            <a:ext cx="533400" cy="914400"/>
            <a:chOff x="1008" y="1584"/>
            <a:chExt cx="336" cy="576"/>
          </a:xfrm>
        </p:grpSpPr>
        <p:grpSp>
          <p:nvGrpSpPr>
            <p:cNvPr id="5" name="Group 13"/>
            <p:cNvGrpSpPr>
              <a:grpSpLocks/>
            </p:cNvGrpSpPr>
            <p:nvPr/>
          </p:nvGrpSpPr>
          <p:grpSpPr bwMode="auto">
            <a:xfrm>
              <a:off x="1008" y="1680"/>
              <a:ext cx="336" cy="480"/>
              <a:chOff x="1008" y="1680"/>
              <a:chExt cx="336" cy="480"/>
            </a:xfrm>
          </p:grpSpPr>
          <p:sp>
            <p:nvSpPr>
              <p:cNvPr id="18490" name="Line 14"/>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91" name="Line 15"/>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89" name="Text Box 16"/>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2</a:t>
              </a:r>
            </a:p>
          </p:txBody>
        </p:sp>
      </p:grpSp>
      <p:sp>
        <p:nvSpPr>
          <p:cNvPr id="429073" name="Text Box 17"/>
          <p:cNvSpPr txBox="1">
            <a:spLocks noChangeArrowheads="1"/>
          </p:cNvSpPr>
          <p:nvPr/>
        </p:nvSpPr>
        <p:spPr bwMode="auto">
          <a:xfrm>
            <a:off x="1066800" y="29718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1</a:t>
            </a:r>
          </a:p>
        </p:txBody>
      </p:sp>
      <p:sp>
        <p:nvSpPr>
          <p:cNvPr id="429074" name="Text Box 18"/>
          <p:cNvSpPr txBox="1">
            <a:spLocks noChangeArrowheads="1"/>
          </p:cNvSpPr>
          <p:nvPr/>
        </p:nvSpPr>
        <p:spPr bwMode="auto">
          <a:xfrm>
            <a:off x="2209800" y="3505200"/>
            <a:ext cx="6096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5</a:t>
            </a:r>
          </a:p>
        </p:txBody>
      </p:sp>
      <p:grpSp>
        <p:nvGrpSpPr>
          <p:cNvPr id="6" name="Group 19"/>
          <p:cNvGrpSpPr>
            <a:grpSpLocks/>
          </p:cNvGrpSpPr>
          <p:nvPr/>
        </p:nvGrpSpPr>
        <p:grpSpPr bwMode="auto">
          <a:xfrm>
            <a:off x="2895600" y="3429000"/>
            <a:ext cx="533400" cy="914400"/>
            <a:chOff x="1008" y="1584"/>
            <a:chExt cx="336" cy="576"/>
          </a:xfrm>
        </p:grpSpPr>
        <p:grpSp>
          <p:nvGrpSpPr>
            <p:cNvPr id="7" name="Group 20"/>
            <p:cNvGrpSpPr>
              <a:grpSpLocks/>
            </p:cNvGrpSpPr>
            <p:nvPr/>
          </p:nvGrpSpPr>
          <p:grpSpPr bwMode="auto">
            <a:xfrm>
              <a:off x="1008" y="1680"/>
              <a:ext cx="336" cy="480"/>
              <a:chOff x="1008" y="1680"/>
              <a:chExt cx="336" cy="480"/>
            </a:xfrm>
          </p:grpSpPr>
          <p:sp>
            <p:nvSpPr>
              <p:cNvPr id="18486" name="Line 21"/>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87" name="Line 22"/>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85" name="Text Box 23"/>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2</a:t>
              </a:r>
            </a:p>
          </p:txBody>
        </p:sp>
      </p:grpSp>
      <p:sp>
        <p:nvSpPr>
          <p:cNvPr id="429080" name="Text Box 24"/>
          <p:cNvSpPr txBox="1">
            <a:spLocks noChangeArrowheads="1"/>
          </p:cNvSpPr>
          <p:nvPr/>
        </p:nvSpPr>
        <p:spPr bwMode="auto">
          <a:xfrm>
            <a:off x="1828800" y="35052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1</a:t>
            </a:r>
          </a:p>
        </p:txBody>
      </p:sp>
      <p:sp>
        <p:nvSpPr>
          <p:cNvPr id="429081" name="Text Box 25"/>
          <p:cNvSpPr txBox="1">
            <a:spLocks noChangeArrowheads="1"/>
          </p:cNvSpPr>
          <p:nvPr/>
        </p:nvSpPr>
        <p:spPr bwMode="auto">
          <a:xfrm>
            <a:off x="2819400" y="3962400"/>
            <a:ext cx="6096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2</a:t>
            </a:r>
          </a:p>
        </p:txBody>
      </p:sp>
      <p:grpSp>
        <p:nvGrpSpPr>
          <p:cNvPr id="8" name="Group 26"/>
          <p:cNvGrpSpPr>
            <a:grpSpLocks/>
          </p:cNvGrpSpPr>
          <p:nvPr/>
        </p:nvGrpSpPr>
        <p:grpSpPr bwMode="auto">
          <a:xfrm>
            <a:off x="3505200" y="3886200"/>
            <a:ext cx="533400" cy="914400"/>
            <a:chOff x="1008" y="1584"/>
            <a:chExt cx="336" cy="576"/>
          </a:xfrm>
        </p:grpSpPr>
        <p:grpSp>
          <p:nvGrpSpPr>
            <p:cNvPr id="9" name="Group 27"/>
            <p:cNvGrpSpPr>
              <a:grpSpLocks/>
            </p:cNvGrpSpPr>
            <p:nvPr/>
          </p:nvGrpSpPr>
          <p:grpSpPr bwMode="auto">
            <a:xfrm>
              <a:off x="1008" y="1680"/>
              <a:ext cx="336" cy="480"/>
              <a:chOff x="1008" y="1680"/>
              <a:chExt cx="336" cy="480"/>
            </a:xfrm>
          </p:grpSpPr>
          <p:sp>
            <p:nvSpPr>
              <p:cNvPr id="18482" name="Line 28"/>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83" name="Line 29"/>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81" name="Text Box 30"/>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2</a:t>
              </a:r>
            </a:p>
          </p:txBody>
        </p:sp>
      </p:grpSp>
      <p:sp>
        <p:nvSpPr>
          <p:cNvPr id="429087" name="Text Box 31"/>
          <p:cNvSpPr txBox="1">
            <a:spLocks noChangeArrowheads="1"/>
          </p:cNvSpPr>
          <p:nvPr/>
        </p:nvSpPr>
        <p:spPr bwMode="auto">
          <a:xfrm>
            <a:off x="3581400" y="44196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a:t>
            </a:r>
          </a:p>
        </p:txBody>
      </p:sp>
      <p:sp>
        <p:nvSpPr>
          <p:cNvPr id="429088" name="Text Box 32"/>
          <p:cNvSpPr txBox="1">
            <a:spLocks noChangeArrowheads="1"/>
          </p:cNvSpPr>
          <p:nvPr/>
        </p:nvSpPr>
        <p:spPr bwMode="auto">
          <a:xfrm>
            <a:off x="2438400" y="39624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1</a:t>
            </a:r>
          </a:p>
        </p:txBody>
      </p:sp>
      <p:sp>
        <p:nvSpPr>
          <p:cNvPr id="429089" name="Text Box 33"/>
          <p:cNvSpPr txBox="1">
            <a:spLocks noChangeArrowheads="1"/>
          </p:cNvSpPr>
          <p:nvPr/>
        </p:nvSpPr>
        <p:spPr bwMode="auto">
          <a:xfrm>
            <a:off x="3048000" y="44196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0</a:t>
            </a:r>
          </a:p>
        </p:txBody>
      </p:sp>
      <p:grpSp>
        <p:nvGrpSpPr>
          <p:cNvPr id="10" name="Group 34"/>
          <p:cNvGrpSpPr>
            <a:grpSpLocks/>
          </p:cNvGrpSpPr>
          <p:nvPr/>
        </p:nvGrpSpPr>
        <p:grpSpPr bwMode="auto">
          <a:xfrm>
            <a:off x="4114800" y="4267200"/>
            <a:ext cx="533400" cy="914400"/>
            <a:chOff x="1008" y="1584"/>
            <a:chExt cx="336" cy="576"/>
          </a:xfrm>
        </p:grpSpPr>
        <p:grpSp>
          <p:nvGrpSpPr>
            <p:cNvPr id="11" name="Group 35"/>
            <p:cNvGrpSpPr>
              <a:grpSpLocks/>
            </p:cNvGrpSpPr>
            <p:nvPr/>
          </p:nvGrpSpPr>
          <p:grpSpPr bwMode="auto">
            <a:xfrm>
              <a:off x="1008" y="1680"/>
              <a:ext cx="336" cy="480"/>
              <a:chOff x="1008" y="1680"/>
              <a:chExt cx="336" cy="480"/>
            </a:xfrm>
          </p:grpSpPr>
          <p:sp>
            <p:nvSpPr>
              <p:cNvPr id="18478" name="Line 36"/>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79" name="Line 37"/>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77" name="Text Box 38"/>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2</a:t>
              </a:r>
            </a:p>
          </p:txBody>
        </p:sp>
      </p:grpSp>
      <p:sp>
        <p:nvSpPr>
          <p:cNvPr id="429095" name="Text Box 39"/>
          <p:cNvSpPr txBox="1">
            <a:spLocks noChangeArrowheads="1"/>
          </p:cNvSpPr>
          <p:nvPr/>
        </p:nvSpPr>
        <p:spPr bwMode="auto">
          <a:xfrm>
            <a:off x="4191000" y="48006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0</a:t>
            </a:r>
          </a:p>
        </p:txBody>
      </p:sp>
      <p:sp>
        <p:nvSpPr>
          <p:cNvPr id="429096" name="Text Box 40"/>
          <p:cNvSpPr txBox="1">
            <a:spLocks noChangeArrowheads="1"/>
          </p:cNvSpPr>
          <p:nvPr/>
        </p:nvSpPr>
        <p:spPr bwMode="auto">
          <a:xfrm>
            <a:off x="3581400" y="48768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1</a:t>
            </a:r>
          </a:p>
        </p:txBody>
      </p:sp>
      <p:sp>
        <p:nvSpPr>
          <p:cNvPr id="429097" name="Text Box 41"/>
          <p:cNvSpPr txBox="1">
            <a:spLocks noChangeArrowheads="1"/>
          </p:cNvSpPr>
          <p:nvPr/>
        </p:nvSpPr>
        <p:spPr bwMode="auto">
          <a:xfrm>
            <a:off x="1066800" y="5715000"/>
            <a:ext cx="2895600" cy="822325"/>
          </a:xfrm>
          <a:prstGeom prst="rect">
            <a:avLst/>
          </a:prstGeom>
          <a:noFill/>
          <a:ln w="9525" algn="ctr">
            <a:noFill/>
            <a:miter lim="800000"/>
            <a:headEnd/>
            <a:tailEnd/>
          </a:ln>
        </p:spPr>
        <p:txBody>
          <a:bodyPr>
            <a:spAutoFit/>
          </a:bodyPr>
          <a:lstStyle/>
          <a:p>
            <a:pPr algn="r">
              <a:spcBef>
                <a:spcPct val="50000"/>
              </a:spcBef>
              <a:buClrTx/>
              <a:buSzTx/>
              <a:buFontTx/>
              <a:buNone/>
            </a:pPr>
            <a:r>
              <a:rPr lang="en-US" sz="2400">
                <a:solidFill>
                  <a:srgbClr val="CC3300"/>
                </a:solidFill>
              </a:rPr>
              <a:t>Lấy các số dư theo thứ tự ngược lại</a:t>
            </a:r>
          </a:p>
        </p:txBody>
      </p:sp>
      <p:sp>
        <p:nvSpPr>
          <p:cNvPr id="429098" name="Text Box 42"/>
          <p:cNvSpPr txBox="1">
            <a:spLocks noChangeArrowheads="1"/>
          </p:cNvSpPr>
          <p:nvPr/>
        </p:nvSpPr>
        <p:spPr bwMode="auto">
          <a:xfrm>
            <a:off x="4724400" y="2620963"/>
            <a:ext cx="10668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923</a:t>
            </a:r>
          </a:p>
        </p:txBody>
      </p:sp>
      <p:grpSp>
        <p:nvGrpSpPr>
          <p:cNvPr id="12" name="Group 43"/>
          <p:cNvGrpSpPr>
            <a:grpSpLocks/>
          </p:cNvGrpSpPr>
          <p:nvPr/>
        </p:nvGrpSpPr>
        <p:grpSpPr bwMode="auto">
          <a:xfrm>
            <a:off x="5867400" y="2620963"/>
            <a:ext cx="685800" cy="914400"/>
            <a:chOff x="1008" y="1584"/>
            <a:chExt cx="336" cy="576"/>
          </a:xfrm>
        </p:grpSpPr>
        <p:grpSp>
          <p:nvGrpSpPr>
            <p:cNvPr id="13" name="Group 44"/>
            <p:cNvGrpSpPr>
              <a:grpSpLocks/>
            </p:cNvGrpSpPr>
            <p:nvPr/>
          </p:nvGrpSpPr>
          <p:grpSpPr bwMode="auto">
            <a:xfrm>
              <a:off x="1008" y="1680"/>
              <a:ext cx="336" cy="480"/>
              <a:chOff x="1008" y="1680"/>
              <a:chExt cx="336" cy="480"/>
            </a:xfrm>
          </p:grpSpPr>
          <p:sp>
            <p:nvSpPr>
              <p:cNvPr id="18474" name="Line 45"/>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75" name="Line 46"/>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73" name="Text Box 47"/>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16</a:t>
              </a:r>
            </a:p>
          </p:txBody>
        </p:sp>
      </p:grpSp>
      <p:sp>
        <p:nvSpPr>
          <p:cNvPr id="429104" name="Text Box 48"/>
          <p:cNvSpPr txBox="1">
            <a:spLocks noChangeArrowheads="1"/>
          </p:cNvSpPr>
          <p:nvPr/>
        </p:nvSpPr>
        <p:spPr bwMode="auto">
          <a:xfrm>
            <a:off x="5867400" y="3154363"/>
            <a:ext cx="6858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57</a:t>
            </a:r>
          </a:p>
        </p:txBody>
      </p:sp>
      <p:grpSp>
        <p:nvGrpSpPr>
          <p:cNvPr id="14" name="Group 49"/>
          <p:cNvGrpSpPr>
            <a:grpSpLocks/>
          </p:cNvGrpSpPr>
          <p:nvPr/>
        </p:nvGrpSpPr>
        <p:grpSpPr bwMode="auto">
          <a:xfrm>
            <a:off x="6553200" y="3078163"/>
            <a:ext cx="762000" cy="914400"/>
            <a:chOff x="1008" y="1584"/>
            <a:chExt cx="336" cy="576"/>
          </a:xfrm>
        </p:grpSpPr>
        <p:grpSp>
          <p:nvGrpSpPr>
            <p:cNvPr id="15" name="Group 50"/>
            <p:cNvGrpSpPr>
              <a:grpSpLocks/>
            </p:cNvGrpSpPr>
            <p:nvPr/>
          </p:nvGrpSpPr>
          <p:grpSpPr bwMode="auto">
            <a:xfrm>
              <a:off x="1008" y="1680"/>
              <a:ext cx="336" cy="480"/>
              <a:chOff x="1008" y="1680"/>
              <a:chExt cx="336" cy="480"/>
            </a:xfrm>
          </p:grpSpPr>
          <p:sp>
            <p:nvSpPr>
              <p:cNvPr id="18470" name="Line 51"/>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71" name="Line 52"/>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69" name="Text Box 53"/>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16</a:t>
              </a:r>
            </a:p>
          </p:txBody>
        </p:sp>
      </p:grpSp>
      <p:sp>
        <p:nvSpPr>
          <p:cNvPr id="429110" name="Text Box 54"/>
          <p:cNvSpPr txBox="1">
            <a:spLocks noChangeArrowheads="1"/>
          </p:cNvSpPr>
          <p:nvPr/>
        </p:nvSpPr>
        <p:spPr bwMode="auto">
          <a:xfrm>
            <a:off x="4953000" y="3048000"/>
            <a:ext cx="838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11</a:t>
            </a:r>
          </a:p>
        </p:txBody>
      </p:sp>
      <p:sp>
        <p:nvSpPr>
          <p:cNvPr id="429111" name="Text Box 55"/>
          <p:cNvSpPr txBox="1">
            <a:spLocks noChangeArrowheads="1"/>
          </p:cNvSpPr>
          <p:nvPr/>
        </p:nvSpPr>
        <p:spPr bwMode="auto">
          <a:xfrm>
            <a:off x="6477000" y="3611563"/>
            <a:ext cx="6096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3</a:t>
            </a:r>
          </a:p>
        </p:txBody>
      </p:sp>
      <p:grpSp>
        <p:nvGrpSpPr>
          <p:cNvPr id="16" name="Group 56"/>
          <p:cNvGrpSpPr>
            <a:grpSpLocks/>
          </p:cNvGrpSpPr>
          <p:nvPr/>
        </p:nvGrpSpPr>
        <p:grpSpPr bwMode="auto">
          <a:xfrm>
            <a:off x="7162800" y="3535363"/>
            <a:ext cx="685800" cy="914400"/>
            <a:chOff x="1008" y="1584"/>
            <a:chExt cx="336" cy="576"/>
          </a:xfrm>
        </p:grpSpPr>
        <p:grpSp>
          <p:nvGrpSpPr>
            <p:cNvPr id="17" name="Group 57"/>
            <p:cNvGrpSpPr>
              <a:grpSpLocks/>
            </p:cNvGrpSpPr>
            <p:nvPr/>
          </p:nvGrpSpPr>
          <p:grpSpPr bwMode="auto">
            <a:xfrm>
              <a:off x="1008" y="1680"/>
              <a:ext cx="336" cy="480"/>
              <a:chOff x="1008" y="1680"/>
              <a:chExt cx="336" cy="480"/>
            </a:xfrm>
          </p:grpSpPr>
          <p:sp>
            <p:nvSpPr>
              <p:cNvPr id="18466" name="Line 58"/>
              <p:cNvSpPr>
                <a:spLocks noChangeShapeType="1"/>
              </p:cNvSpPr>
              <p:nvPr/>
            </p:nvSpPr>
            <p:spPr bwMode="auto">
              <a:xfrm>
                <a:off x="1008" y="1680"/>
                <a:ext cx="0" cy="480"/>
              </a:xfrm>
              <a:prstGeom prst="line">
                <a:avLst/>
              </a:prstGeom>
              <a:noFill/>
              <a:ln w="9525">
                <a:solidFill>
                  <a:schemeClr val="tx1"/>
                </a:solidFill>
                <a:round/>
                <a:headEnd/>
                <a:tailEnd/>
              </a:ln>
            </p:spPr>
            <p:txBody>
              <a:bodyPr anchor="ctr"/>
              <a:lstStyle/>
              <a:p>
                <a:endParaRPr lang="en-US"/>
              </a:p>
            </p:txBody>
          </p:sp>
          <p:sp>
            <p:nvSpPr>
              <p:cNvPr id="18467" name="Line 59"/>
              <p:cNvSpPr>
                <a:spLocks noChangeShapeType="1"/>
              </p:cNvSpPr>
              <p:nvPr/>
            </p:nvSpPr>
            <p:spPr bwMode="auto">
              <a:xfrm>
                <a:off x="1008" y="1920"/>
                <a:ext cx="336" cy="0"/>
              </a:xfrm>
              <a:prstGeom prst="line">
                <a:avLst/>
              </a:prstGeom>
              <a:noFill/>
              <a:ln w="9525">
                <a:solidFill>
                  <a:schemeClr val="tx1"/>
                </a:solidFill>
                <a:round/>
                <a:headEnd/>
                <a:tailEnd/>
              </a:ln>
            </p:spPr>
            <p:txBody>
              <a:bodyPr anchor="ctr"/>
              <a:lstStyle/>
              <a:p>
                <a:endParaRPr lang="en-US"/>
              </a:p>
            </p:txBody>
          </p:sp>
        </p:grpSp>
        <p:sp>
          <p:nvSpPr>
            <p:cNvPr id="18465" name="Text Box 60"/>
            <p:cNvSpPr txBox="1">
              <a:spLocks noChangeArrowheads="1"/>
            </p:cNvSpPr>
            <p:nvPr/>
          </p:nvSpPr>
          <p:spPr bwMode="auto">
            <a:xfrm>
              <a:off x="1008" y="1584"/>
              <a:ext cx="336" cy="365"/>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16</a:t>
              </a:r>
            </a:p>
          </p:txBody>
        </p:sp>
      </p:grpSp>
      <p:sp>
        <p:nvSpPr>
          <p:cNvPr id="429117" name="Text Box 61"/>
          <p:cNvSpPr txBox="1">
            <a:spLocks noChangeArrowheads="1"/>
          </p:cNvSpPr>
          <p:nvPr/>
        </p:nvSpPr>
        <p:spPr bwMode="auto">
          <a:xfrm>
            <a:off x="6096000" y="3611563"/>
            <a:ext cx="4572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9</a:t>
            </a:r>
          </a:p>
        </p:txBody>
      </p:sp>
      <p:sp>
        <p:nvSpPr>
          <p:cNvPr id="429118" name="Text Box 62"/>
          <p:cNvSpPr txBox="1">
            <a:spLocks noChangeArrowheads="1"/>
          </p:cNvSpPr>
          <p:nvPr/>
        </p:nvSpPr>
        <p:spPr bwMode="auto">
          <a:xfrm>
            <a:off x="7086600" y="4068763"/>
            <a:ext cx="6096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t>0</a:t>
            </a:r>
          </a:p>
        </p:txBody>
      </p:sp>
      <p:sp>
        <p:nvSpPr>
          <p:cNvPr id="429125" name="Text Box 69"/>
          <p:cNvSpPr txBox="1">
            <a:spLocks noChangeArrowheads="1"/>
          </p:cNvSpPr>
          <p:nvPr/>
        </p:nvSpPr>
        <p:spPr bwMode="auto">
          <a:xfrm>
            <a:off x="6705600" y="4068763"/>
            <a:ext cx="457200" cy="579437"/>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3</a:t>
            </a:r>
          </a:p>
        </p:txBody>
      </p:sp>
      <p:sp>
        <p:nvSpPr>
          <p:cNvPr id="429133" name="Text Box 77"/>
          <p:cNvSpPr txBox="1">
            <a:spLocks noChangeArrowheads="1"/>
          </p:cNvSpPr>
          <p:nvPr/>
        </p:nvSpPr>
        <p:spPr bwMode="auto">
          <a:xfrm>
            <a:off x="5257800" y="3505200"/>
            <a:ext cx="457200" cy="579438"/>
          </a:xfrm>
          <a:prstGeom prst="rect">
            <a:avLst/>
          </a:prstGeom>
          <a:noFill/>
          <a:ln w="9525" algn="ctr">
            <a:noFill/>
            <a:miter lim="800000"/>
            <a:headEnd/>
            <a:tailEnd/>
          </a:ln>
        </p:spPr>
        <p:txBody>
          <a:bodyPr>
            <a:spAutoFit/>
          </a:bodyPr>
          <a:lstStyle/>
          <a:p>
            <a:pPr algn="r">
              <a:spcBef>
                <a:spcPct val="50000"/>
              </a:spcBef>
              <a:buClrTx/>
              <a:buSzTx/>
              <a:buFontTx/>
              <a:buNone/>
            </a:pPr>
            <a:r>
              <a:rPr lang="en-US" sz="3200">
                <a:solidFill>
                  <a:srgbClr val="CC3300"/>
                </a:solidFill>
              </a:rPr>
              <a:t>B</a:t>
            </a:r>
          </a:p>
        </p:txBody>
      </p:sp>
      <p:sp>
        <p:nvSpPr>
          <p:cNvPr id="65" name="Title 41"/>
          <p:cNvSpPr>
            <a:spLocks noGrp="1"/>
          </p:cNvSpPr>
          <p:nvPr>
            <p:ph type="title"/>
          </p:nvPr>
        </p:nvSpPr>
        <p:spPr>
          <a:xfrm>
            <a:off x="152400" y="274638"/>
            <a:ext cx="8839200" cy="1143000"/>
          </a:xfrm>
        </p:spPr>
        <p:txBody>
          <a:bodyPr>
            <a:normAutofit fontScale="90000"/>
          </a:bodyPr>
          <a:lstStyle/>
          <a:p>
            <a:r>
              <a:rPr lang="vi-VN" b="1">
                <a:solidFill>
                  <a:srgbClr val="C00000"/>
                </a:solidFill>
              </a:rPr>
              <a:t>Chuyển từ </a:t>
            </a:r>
            <a:r>
              <a:rPr lang="en-US" b="1">
                <a:solidFill>
                  <a:srgbClr val="C00000"/>
                </a:solidFill>
              </a:rPr>
              <a:t>hệ thập phân sang</a:t>
            </a:r>
            <a:r>
              <a:rPr lang="vi-VN" b="1">
                <a:solidFill>
                  <a:srgbClr val="C00000"/>
                </a:solidFill>
              </a:rPr>
              <a:t> hệ cơ sở b</a:t>
            </a:r>
            <a:endParaRPr lang="en-US" b="1" dirty="0">
              <a:solidFill>
                <a:srgbClr val="C00000"/>
              </a:solidFill>
            </a:endParaRPr>
          </a:p>
        </p:txBody>
      </p:sp>
    </p:spTree>
    <p:extLst>
      <p:ext uri="{BB962C8B-B14F-4D97-AF65-F5344CB8AC3E}">
        <p14:creationId xmlns:p14="http://schemas.microsoft.com/office/powerpoint/2010/main" val="12417168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290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906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2907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29074"/>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42908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9081"/>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42908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29087"/>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42908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9095"/>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42909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429097"/>
                                        </p:tgtEl>
                                        <p:attrNameLst>
                                          <p:attrName>style.visibility</p:attrName>
                                        </p:attrNameLst>
                                      </p:cBhvr>
                                      <p:to>
                                        <p:strVal val="visible"/>
                                      </p:to>
                                    </p:set>
                                    <p:anim calcmode="lin" valueType="num">
                                      <p:cBhvr additive="base">
                                        <p:cTn id="66" dur="500" fill="hold"/>
                                        <p:tgtEl>
                                          <p:spTgt spid="429097"/>
                                        </p:tgtEl>
                                        <p:attrNameLst>
                                          <p:attrName>ppt_x</p:attrName>
                                        </p:attrNameLst>
                                      </p:cBhvr>
                                      <p:tavLst>
                                        <p:tav tm="0">
                                          <p:val>
                                            <p:strVal val="#ppt_x"/>
                                          </p:val>
                                        </p:tav>
                                        <p:tav tm="100000">
                                          <p:val>
                                            <p:strVal val="#ppt_x"/>
                                          </p:val>
                                        </p:tav>
                                      </p:tavLst>
                                    </p:anim>
                                    <p:anim calcmode="lin" valueType="num">
                                      <p:cBhvr additive="base">
                                        <p:cTn id="67" dur="500" fill="hold"/>
                                        <p:tgtEl>
                                          <p:spTgt spid="429097"/>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56" presetClass="path" presetSubtype="0" accel="50000" decel="50000" fill="hold" grpId="1" nodeType="clickEffect">
                                  <p:stCondLst>
                                    <p:cond delay="0"/>
                                  </p:stCondLst>
                                  <p:childTnLst>
                                    <p:animMotion origin="layout" path="M 3.33333E-6 5.78035E-8 L -0.11667 -0.41942 " pathEditMode="relative" rAng="0" ptsTypes="AA">
                                      <p:cBhvr>
                                        <p:cTn id="71" dur="500" fill="hold"/>
                                        <p:tgtEl>
                                          <p:spTgt spid="429096"/>
                                        </p:tgtEl>
                                        <p:attrNameLst>
                                          <p:attrName>ppt_x</p:attrName>
                                          <p:attrName>ppt_y</p:attrName>
                                        </p:attrNameLst>
                                      </p:cBhvr>
                                      <p:rCtr x="-5800" y="-21000"/>
                                    </p:animMotion>
                                  </p:childTnLst>
                                </p:cTn>
                              </p:par>
                            </p:childTnLst>
                          </p:cTn>
                        </p:par>
                        <p:par>
                          <p:cTn id="72" fill="hold">
                            <p:stCondLst>
                              <p:cond delay="500"/>
                            </p:stCondLst>
                            <p:childTnLst>
                              <p:par>
                                <p:cTn id="73" presetID="56" presetClass="path" presetSubtype="0" accel="50000" decel="50000" fill="hold" grpId="1" nodeType="afterEffect">
                                  <p:stCondLst>
                                    <p:cond delay="0"/>
                                  </p:stCondLst>
                                  <p:childTnLst>
                                    <p:animMotion origin="layout" path="M -3.33333E-6 -3.46821E-7 L -0.00833 -0.35283 " pathEditMode="relative" rAng="0" ptsTypes="AA">
                                      <p:cBhvr>
                                        <p:cTn id="74" dur="1000" fill="hold"/>
                                        <p:tgtEl>
                                          <p:spTgt spid="429089"/>
                                        </p:tgtEl>
                                        <p:attrNameLst>
                                          <p:attrName>ppt_x</p:attrName>
                                          <p:attrName>ppt_y</p:attrName>
                                        </p:attrNameLst>
                                      </p:cBhvr>
                                      <p:rCtr x="-400" y="-17600"/>
                                    </p:animMotion>
                                  </p:childTnLst>
                                </p:cTn>
                              </p:par>
                            </p:childTnLst>
                          </p:cTn>
                        </p:par>
                        <p:par>
                          <p:cTn id="75" fill="hold">
                            <p:stCondLst>
                              <p:cond delay="1500"/>
                            </p:stCondLst>
                            <p:childTnLst>
                              <p:par>
                                <p:cTn id="76" presetID="56" presetClass="path" presetSubtype="0" accel="50000" decel="50000" fill="hold" grpId="1" nodeType="afterEffect">
                                  <p:stCondLst>
                                    <p:cond delay="0"/>
                                  </p:stCondLst>
                                  <p:childTnLst>
                                    <p:animMotion origin="layout" path="M 3.33333E-6 -7.51445E-7 L 0.1 -0.28624 " pathEditMode="relative" rAng="0" ptsTypes="AA">
                                      <p:cBhvr>
                                        <p:cTn id="77" dur="1000" fill="hold"/>
                                        <p:tgtEl>
                                          <p:spTgt spid="429088"/>
                                        </p:tgtEl>
                                        <p:attrNameLst>
                                          <p:attrName>ppt_x</p:attrName>
                                          <p:attrName>ppt_y</p:attrName>
                                        </p:attrNameLst>
                                      </p:cBhvr>
                                      <p:rCtr x="5000" y="-14300"/>
                                    </p:animMotion>
                                  </p:childTnLst>
                                </p:cTn>
                              </p:par>
                            </p:childTnLst>
                          </p:cTn>
                        </p:par>
                        <p:par>
                          <p:cTn id="78" fill="hold">
                            <p:stCondLst>
                              <p:cond delay="2500"/>
                            </p:stCondLst>
                            <p:childTnLst>
                              <p:par>
                                <p:cTn id="79" presetID="56" presetClass="path" presetSubtype="0" accel="50000" decel="50000" fill="hold" grpId="1" nodeType="afterEffect">
                                  <p:stCondLst>
                                    <p:cond delay="0"/>
                                  </p:stCondLst>
                                  <p:childTnLst>
                                    <p:animMotion origin="layout" path="M 2.77556E-17 -1.15607E-6 L 0.20833 -0.21965 " pathEditMode="relative" rAng="0" ptsTypes="AA">
                                      <p:cBhvr>
                                        <p:cTn id="80" dur="1000" fill="hold"/>
                                        <p:tgtEl>
                                          <p:spTgt spid="429080"/>
                                        </p:tgtEl>
                                        <p:attrNameLst>
                                          <p:attrName>ppt_x</p:attrName>
                                          <p:attrName>ppt_y</p:attrName>
                                        </p:attrNameLst>
                                      </p:cBhvr>
                                      <p:rCtr x="10400" y="-11000"/>
                                    </p:animMotion>
                                  </p:childTnLst>
                                </p:cTn>
                              </p:par>
                            </p:childTnLst>
                          </p:cTn>
                        </p:par>
                        <p:par>
                          <p:cTn id="81" fill="hold">
                            <p:stCondLst>
                              <p:cond delay="3500"/>
                            </p:stCondLst>
                            <p:childTnLst>
                              <p:par>
                                <p:cTn id="82" presetID="56" presetClass="path" presetSubtype="0" accel="50000" decel="50000" fill="hold" grpId="1" nodeType="afterEffect">
                                  <p:stCondLst>
                                    <p:cond delay="0"/>
                                  </p:stCondLst>
                                  <p:childTnLst>
                                    <p:animMotion origin="layout" path="M 3.33333E-6 -3.2948E-6 L 0.325 -0.14196 " pathEditMode="relative" rAng="0" ptsTypes="AA">
                                      <p:cBhvr>
                                        <p:cTn id="83" dur="1000" fill="hold"/>
                                        <p:tgtEl>
                                          <p:spTgt spid="429073"/>
                                        </p:tgtEl>
                                        <p:attrNameLst>
                                          <p:attrName>ppt_x</p:attrName>
                                          <p:attrName>ppt_y</p:attrName>
                                        </p:attrNameLst>
                                      </p:cBhvr>
                                      <p:rCtr x="16200" y="-7100"/>
                                    </p:animMotion>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2909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1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29104"/>
                                        </p:tgtEl>
                                        <p:attrNameLst>
                                          <p:attrName>style.visibility</p:attrName>
                                        </p:attrNameLst>
                                      </p:cBhvr>
                                      <p:to>
                                        <p:strVal val="visible"/>
                                      </p:to>
                                    </p:set>
                                  </p:childTnLst>
                                </p:cTn>
                              </p:par>
                            </p:childTnLst>
                          </p:cTn>
                        </p:par>
                        <p:par>
                          <p:cTn id="96" fill="hold">
                            <p:stCondLst>
                              <p:cond delay="0"/>
                            </p:stCondLst>
                            <p:childTnLst>
                              <p:par>
                                <p:cTn id="97" presetID="1" presetClass="entr" presetSubtype="0" fill="hold" grpId="0" nodeType="afterEffect">
                                  <p:stCondLst>
                                    <p:cond delay="0"/>
                                  </p:stCondLst>
                                  <p:childTnLst>
                                    <p:set>
                                      <p:cBhvr>
                                        <p:cTn id="98" dur="1" fill="hold">
                                          <p:stCondLst>
                                            <p:cond delay="0"/>
                                          </p:stCondLst>
                                        </p:cTn>
                                        <p:tgtEl>
                                          <p:spTgt spid="42911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29111"/>
                                        </p:tgtEl>
                                        <p:attrNameLst>
                                          <p:attrName>style.visibility</p:attrName>
                                        </p:attrNameLst>
                                      </p:cBhvr>
                                      <p:to>
                                        <p:strVal val="visible"/>
                                      </p:to>
                                    </p:set>
                                  </p:childTnLst>
                                </p:cTn>
                              </p:par>
                            </p:childTnLst>
                          </p:cTn>
                        </p:par>
                        <p:par>
                          <p:cTn id="107" fill="hold">
                            <p:stCondLst>
                              <p:cond delay="0"/>
                            </p:stCondLst>
                            <p:childTnLst>
                              <p:par>
                                <p:cTn id="108" presetID="1" presetClass="entr" presetSubtype="0" fill="hold" grpId="0" nodeType="afterEffect">
                                  <p:stCondLst>
                                    <p:cond delay="0"/>
                                  </p:stCondLst>
                                  <p:childTnLst>
                                    <p:set>
                                      <p:cBhvr>
                                        <p:cTn id="109" dur="1" fill="hold">
                                          <p:stCondLst>
                                            <p:cond delay="0"/>
                                          </p:stCondLst>
                                        </p:cTn>
                                        <p:tgtEl>
                                          <p:spTgt spid="429117"/>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6"/>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429118"/>
                                        </p:tgtEl>
                                        <p:attrNameLst>
                                          <p:attrName>style.visibility</p:attrName>
                                        </p:attrNameLst>
                                      </p:cBhvr>
                                      <p:to>
                                        <p:strVal val="visible"/>
                                      </p:to>
                                    </p:set>
                                  </p:childTnLst>
                                </p:cTn>
                              </p:par>
                            </p:childTnLst>
                          </p:cTn>
                        </p:par>
                        <p:par>
                          <p:cTn id="118" fill="hold">
                            <p:stCondLst>
                              <p:cond delay="0"/>
                            </p:stCondLst>
                            <p:childTnLst>
                              <p:par>
                                <p:cTn id="119" presetID="1" presetClass="entr" presetSubtype="0" fill="hold" grpId="0" nodeType="afterEffect">
                                  <p:stCondLst>
                                    <p:cond delay="0"/>
                                  </p:stCondLst>
                                  <p:childTnLst>
                                    <p:set>
                                      <p:cBhvr>
                                        <p:cTn id="120" dur="1" fill="hold">
                                          <p:stCondLst>
                                            <p:cond delay="0"/>
                                          </p:stCondLst>
                                        </p:cTn>
                                        <p:tgtEl>
                                          <p:spTgt spid="429125"/>
                                        </p:tgtEl>
                                        <p:attrNameLst>
                                          <p:attrName>style.visibility</p:attrName>
                                        </p:attrNameLst>
                                      </p:cBhvr>
                                      <p:to>
                                        <p:strVal val="visible"/>
                                      </p:to>
                                    </p:set>
                                  </p:childTnLst>
                                </p:cTn>
                              </p:par>
                            </p:childTnLst>
                          </p:cTn>
                        </p:par>
                        <p:par>
                          <p:cTn id="121" fill="hold">
                            <p:stCondLst>
                              <p:cond delay="0"/>
                            </p:stCondLst>
                            <p:childTnLst>
                              <p:par>
                                <p:cTn id="122" presetID="1" presetClass="entr" presetSubtype="0" fill="hold" grpId="0" nodeType="afterEffect">
                                  <p:stCondLst>
                                    <p:cond delay="0"/>
                                  </p:stCondLst>
                                  <p:childTnLst>
                                    <p:set>
                                      <p:cBhvr>
                                        <p:cTn id="123" dur="1" fill="hold">
                                          <p:stCondLst>
                                            <p:cond delay="0"/>
                                          </p:stCondLst>
                                        </p:cTn>
                                        <p:tgtEl>
                                          <p:spTgt spid="429133"/>
                                        </p:tgtEl>
                                        <p:attrNameLst>
                                          <p:attrName>style.visibility</p:attrName>
                                        </p:attrNameLst>
                                      </p:cBhvr>
                                      <p:to>
                                        <p:strVal val="visible"/>
                                      </p:to>
                                    </p:set>
                                  </p:childTnLst>
                                </p:cTn>
                              </p:par>
                            </p:childTnLst>
                          </p:cTn>
                        </p:par>
                        <p:par>
                          <p:cTn id="124" fill="hold">
                            <p:stCondLst>
                              <p:cond delay="0"/>
                            </p:stCondLst>
                            <p:childTnLst>
                              <p:par>
                                <p:cTn id="125" presetID="56" presetClass="path" presetSubtype="0" accel="50000" decel="50000" fill="hold" grpId="1" nodeType="afterEffect">
                                  <p:stCondLst>
                                    <p:cond delay="0"/>
                                  </p:stCondLst>
                                  <p:childTnLst>
                                    <p:animMotion origin="layout" path="M -3.33333E-6 -2.08092E-6 L -0.00833 -0.32393 " pathEditMode="relative" rAng="0" ptsTypes="AA">
                                      <p:cBhvr>
                                        <p:cTn id="126" dur="1000" fill="hold"/>
                                        <p:tgtEl>
                                          <p:spTgt spid="429125"/>
                                        </p:tgtEl>
                                        <p:attrNameLst>
                                          <p:attrName>ppt_x</p:attrName>
                                          <p:attrName>ppt_y</p:attrName>
                                        </p:attrNameLst>
                                      </p:cBhvr>
                                      <p:rCtr x="-400" y="-16200"/>
                                    </p:animMotion>
                                  </p:childTnLst>
                                </p:cTn>
                              </p:par>
                            </p:childTnLst>
                          </p:cTn>
                        </p:par>
                        <p:par>
                          <p:cTn id="127" fill="hold">
                            <p:stCondLst>
                              <p:cond delay="1000"/>
                            </p:stCondLst>
                            <p:childTnLst>
                              <p:par>
                                <p:cTn id="128" presetID="56" presetClass="path" presetSubtype="0" accel="50000" decel="50000" fill="hold" grpId="1" nodeType="afterEffect">
                                  <p:stCondLst>
                                    <p:cond delay="0"/>
                                  </p:stCondLst>
                                  <p:childTnLst>
                                    <p:animMotion origin="layout" path="M 3.33333E-6 -2.48555E-6 L 0.09166 -0.25734 " pathEditMode="relative" rAng="0" ptsTypes="AA">
                                      <p:cBhvr>
                                        <p:cTn id="129" dur="1000" fill="hold"/>
                                        <p:tgtEl>
                                          <p:spTgt spid="429117"/>
                                        </p:tgtEl>
                                        <p:attrNameLst>
                                          <p:attrName>ppt_x</p:attrName>
                                          <p:attrName>ppt_y</p:attrName>
                                        </p:attrNameLst>
                                      </p:cBhvr>
                                      <p:rCtr x="4600" y="-12900"/>
                                    </p:animMotion>
                                  </p:childTnLst>
                                </p:cTn>
                              </p:par>
                            </p:childTnLst>
                          </p:cTn>
                        </p:par>
                        <p:par>
                          <p:cTn id="130" fill="hold">
                            <p:stCondLst>
                              <p:cond delay="2000"/>
                            </p:stCondLst>
                            <p:childTnLst>
                              <p:par>
                                <p:cTn id="131" presetID="56" presetClass="path" presetSubtype="0" accel="50000" decel="50000" fill="hold" grpId="1" nodeType="afterEffect">
                                  <p:stCondLst>
                                    <p:cond delay="0"/>
                                  </p:stCondLst>
                                  <p:childTnLst>
                                    <p:animMotion origin="layout" path="M 1.11022E-16 -1.15607E-6 L 0.21667 -0.24185 " pathEditMode="relative" rAng="0" ptsTypes="AA">
                                      <p:cBhvr>
                                        <p:cTn id="132" dur="500" fill="hold"/>
                                        <p:tgtEl>
                                          <p:spTgt spid="429133"/>
                                        </p:tgtEl>
                                        <p:attrNameLst>
                                          <p:attrName>ppt_x</p:attrName>
                                          <p:attrName>ppt_y</p:attrName>
                                        </p:attrNameLst>
                                      </p:cBhvr>
                                      <p:rCtr x="10800" y="-12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60" grpId="0"/>
      <p:bldP spid="429067" grpId="0"/>
      <p:bldP spid="429073" grpId="0"/>
      <p:bldP spid="429073" grpId="1"/>
      <p:bldP spid="429080" grpId="0"/>
      <p:bldP spid="429080" grpId="1"/>
      <p:bldP spid="429081" grpId="0"/>
      <p:bldP spid="429087" grpId="0"/>
      <p:bldP spid="429088" grpId="0"/>
      <p:bldP spid="429088" grpId="1"/>
      <p:bldP spid="429089" grpId="0"/>
      <p:bldP spid="429089" grpId="1"/>
      <p:bldP spid="429095" grpId="0"/>
      <p:bldP spid="429096" grpId="0"/>
      <p:bldP spid="429096" grpId="1"/>
      <p:bldP spid="429097" grpId="0"/>
      <p:bldP spid="429098" grpId="0"/>
      <p:bldP spid="429104" grpId="0"/>
      <p:bldP spid="429110" grpId="0"/>
      <p:bldP spid="429117" grpId="0"/>
      <p:bldP spid="429117" grpId="1"/>
      <p:bldP spid="429118" grpId="0"/>
      <p:bldP spid="429125" grpId="0"/>
      <p:bldP spid="429125" grpId="1"/>
      <p:bldP spid="429133" grpId="0"/>
      <p:bldP spid="429133"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15400" cy="1143000"/>
          </a:xfrm>
        </p:spPr>
        <p:txBody>
          <a:bodyPr>
            <a:normAutofit fontScale="90000"/>
          </a:bodyPr>
          <a:lstStyle/>
          <a:p>
            <a:r>
              <a:rPr lang="vi-VN" b="1">
                <a:solidFill>
                  <a:srgbClr val="C00000"/>
                </a:solidFill>
              </a:rPr>
              <a:t>Chuyển </a:t>
            </a:r>
            <a:r>
              <a:rPr lang="vi-VN" b="1">
                <a:solidFill>
                  <a:srgbClr val="C00000"/>
                </a:solidFill>
              </a:rPr>
              <a:t>từ </a:t>
            </a:r>
            <a:r>
              <a:rPr lang="en-US" b="1" smtClean="0">
                <a:solidFill>
                  <a:srgbClr val="C00000"/>
                </a:solidFill>
              </a:rPr>
              <a:t>hệ thập phân sang</a:t>
            </a:r>
            <a:r>
              <a:rPr lang="vi-VN" b="1" smtClean="0">
                <a:solidFill>
                  <a:srgbClr val="C00000"/>
                </a:solidFill>
              </a:rPr>
              <a:t> hệ </a:t>
            </a:r>
            <a:r>
              <a:rPr lang="vi-VN" b="1">
                <a:solidFill>
                  <a:srgbClr val="C00000"/>
                </a:solidFill>
              </a:rPr>
              <a:t>cơ sở b</a:t>
            </a:r>
            <a:endParaRPr lang="en-US" b="1">
              <a:solidFill>
                <a:srgbClr val="C00000"/>
              </a:solidFill>
            </a:endParaRPr>
          </a:p>
        </p:txBody>
      </p:sp>
      <p:sp>
        <p:nvSpPr>
          <p:cNvPr id="3" name="Content Placeholder 2"/>
          <p:cNvSpPr>
            <a:spLocks noGrp="1"/>
          </p:cNvSpPr>
          <p:nvPr>
            <p:ph idx="1"/>
          </p:nvPr>
        </p:nvSpPr>
        <p:spPr>
          <a:xfrm>
            <a:off x="457200" y="1600200"/>
            <a:ext cx="8686800" cy="4525963"/>
          </a:xfrm>
        </p:spPr>
        <p:txBody>
          <a:bodyPr>
            <a:normAutofit/>
          </a:bodyPr>
          <a:lstStyle/>
          <a:p>
            <a:pPr marL="0" indent="0">
              <a:buNone/>
            </a:pPr>
            <a:r>
              <a:rPr lang="en-US" sz="4400" smtClean="0">
                <a:latin typeface="+mj-lt"/>
              </a:rPr>
              <a:t>Đổi 11.25</a:t>
            </a:r>
            <a:r>
              <a:rPr lang="en-US" sz="4400" baseline="-25000" smtClean="0">
                <a:latin typeface="+mj-lt"/>
              </a:rPr>
              <a:t>10</a:t>
            </a:r>
            <a:r>
              <a:rPr lang="en-US" sz="4400">
                <a:latin typeface="+mj-lt"/>
              </a:rPr>
              <a:t> sang hệ nhị phân (b = </a:t>
            </a:r>
            <a:r>
              <a:rPr lang="en-US" sz="4400">
                <a:latin typeface="+mj-lt"/>
              </a:rPr>
              <a:t>2</a:t>
            </a:r>
            <a:r>
              <a:rPr lang="en-US" sz="4400" smtClean="0">
                <a:latin typeface="+mj-lt"/>
              </a:rPr>
              <a:t>)?</a:t>
            </a:r>
          </a:p>
          <a:p>
            <a:pPr marL="0" indent="0">
              <a:buNone/>
            </a:pPr>
            <a:endParaRPr lang="en-US" sz="4400">
              <a:latin typeface="+mj-lt"/>
            </a:endParaRPr>
          </a:p>
          <a:p>
            <a:pPr marL="0" indent="0">
              <a:buNone/>
            </a:pPr>
            <a:r>
              <a:rPr lang="en-US" sz="4400">
                <a:latin typeface="+mj-lt"/>
              </a:rPr>
              <a:t>Đổi </a:t>
            </a:r>
            <a:r>
              <a:rPr lang="en-US" sz="4400" smtClean="0">
                <a:latin typeface="+mj-lt"/>
              </a:rPr>
              <a:t>1208.676</a:t>
            </a:r>
            <a:r>
              <a:rPr lang="en-US" sz="4400" baseline="-25000" smtClean="0">
                <a:latin typeface="+mj-lt"/>
              </a:rPr>
              <a:t>10 </a:t>
            </a:r>
            <a:r>
              <a:rPr lang="en-US" sz="4400" smtClean="0">
                <a:latin typeface="+mj-lt"/>
              </a:rPr>
              <a:t>sang </a:t>
            </a:r>
            <a:r>
              <a:rPr lang="en-US" sz="4400">
                <a:latin typeface="+mj-lt"/>
              </a:rPr>
              <a:t>hệ 16 (lấy 2 số </a:t>
            </a:r>
            <a:r>
              <a:rPr lang="en-US" sz="4400">
                <a:latin typeface="+mj-lt"/>
              </a:rPr>
              <a:t>lẻ</a:t>
            </a:r>
            <a:r>
              <a:rPr lang="en-US" sz="4400" smtClean="0">
                <a:latin typeface="+mj-lt"/>
              </a:rPr>
              <a:t>)?</a:t>
            </a:r>
          </a:p>
          <a:p>
            <a:pPr marL="0" indent="0">
              <a:buNone/>
            </a:pPr>
            <a:endParaRPr lang="en-US" sz="4400">
              <a:latin typeface="+mj-lt"/>
            </a:endParaRPr>
          </a:p>
          <a:p>
            <a:pPr marL="0" indent="0">
              <a:buNone/>
            </a:pPr>
            <a:endParaRPr lang="en-US" smtClean="0"/>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28</a:t>
            </a:fld>
            <a:endParaRPr lang="en-US"/>
          </a:p>
        </p:txBody>
      </p:sp>
    </p:spTree>
    <p:extLst>
      <p:ext uri="{BB962C8B-B14F-4D97-AF65-F5344CB8AC3E}">
        <p14:creationId xmlns:p14="http://schemas.microsoft.com/office/powerpoint/2010/main" val="13373654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15400" cy="1143000"/>
          </a:xfrm>
        </p:spPr>
        <p:txBody>
          <a:bodyPr>
            <a:normAutofit fontScale="90000"/>
          </a:bodyPr>
          <a:lstStyle/>
          <a:p>
            <a:r>
              <a:rPr lang="vi-VN" b="1">
                <a:solidFill>
                  <a:srgbClr val="C00000"/>
                </a:solidFill>
              </a:rPr>
              <a:t>Chuyển </a:t>
            </a:r>
            <a:r>
              <a:rPr lang="vi-VN" b="1">
                <a:solidFill>
                  <a:srgbClr val="C00000"/>
                </a:solidFill>
              </a:rPr>
              <a:t>từ </a:t>
            </a:r>
            <a:r>
              <a:rPr lang="en-US" b="1" smtClean="0">
                <a:solidFill>
                  <a:srgbClr val="C00000"/>
                </a:solidFill>
              </a:rPr>
              <a:t>hệ thập phân sang</a:t>
            </a:r>
            <a:r>
              <a:rPr lang="vi-VN" b="1" smtClean="0">
                <a:solidFill>
                  <a:srgbClr val="C00000"/>
                </a:solidFill>
              </a:rPr>
              <a:t> hệ </a:t>
            </a:r>
            <a:r>
              <a:rPr lang="vi-VN" b="1">
                <a:solidFill>
                  <a:srgbClr val="C00000"/>
                </a:solidFill>
              </a:rPr>
              <a:t>cơ sở b</a:t>
            </a:r>
            <a:endParaRPr lang="en-US" b="1">
              <a:solidFill>
                <a:srgbClr val="C00000"/>
              </a:solidFill>
            </a:endParaRPr>
          </a:p>
        </p:txBody>
      </p:sp>
      <p:sp>
        <p:nvSpPr>
          <p:cNvPr id="3" name="Content Placeholder 2"/>
          <p:cNvSpPr>
            <a:spLocks noGrp="1"/>
          </p:cNvSpPr>
          <p:nvPr>
            <p:ph idx="1"/>
          </p:nvPr>
        </p:nvSpPr>
        <p:spPr>
          <a:xfrm>
            <a:off x="457200" y="1600200"/>
            <a:ext cx="8686800" cy="4525963"/>
          </a:xfrm>
        </p:spPr>
        <p:txBody>
          <a:bodyPr>
            <a:normAutofit fontScale="55000" lnSpcReduction="20000"/>
          </a:bodyPr>
          <a:lstStyle/>
          <a:p>
            <a:pPr marL="0" indent="0">
              <a:buNone/>
            </a:pPr>
            <a:r>
              <a:rPr lang="en-US" sz="4400" smtClean="0">
                <a:latin typeface="+mj-lt"/>
              </a:rPr>
              <a:t>	Đổi 11.25</a:t>
            </a:r>
            <a:r>
              <a:rPr lang="en-US" sz="4400" baseline="-25000" smtClean="0">
                <a:latin typeface="+mj-lt"/>
              </a:rPr>
              <a:t>10</a:t>
            </a:r>
            <a:r>
              <a:rPr lang="en-US" sz="4400">
                <a:latin typeface="+mj-lt"/>
              </a:rPr>
              <a:t> sang hệ nhị phân (b = </a:t>
            </a:r>
            <a:r>
              <a:rPr lang="en-US" sz="4400">
                <a:latin typeface="+mj-lt"/>
              </a:rPr>
              <a:t>2</a:t>
            </a:r>
            <a:r>
              <a:rPr lang="en-US" sz="4400" smtClean="0">
                <a:latin typeface="+mj-lt"/>
              </a:rPr>
              <a:t>)?</a:t>
            </a:r>
            <a:endParaRPr lang="en-US" sz="4400">
              <a:latin typeface="+mj-lt"/>
            </a:endParaRPr>
          </a:p>
          <a:p>
            <a:pPr>
              <a:buFont typeface="Wingdings" pitchFamily="2" charset="2"/>
              <a:buChar char="Ø"/>
            </a:pPr>
            <a:r>
              <a:rPr lang="en-US" sz="4400">
                <a:latin typeface="+mj-lt"/>
              </a:rPr>
              <a:t>Đổi phần </a:t>
            </a:r>
            <a:r>
              <a:rPr lang="en-US" sz="4400">
                <a:latin typeface="+mj-lt"/>
              </a:rPr>
              <a:t>nguyên </a:t>
            </a:r>
            <a:r>
              <a:rPr lang="en-US" sz="4400" smtClean="0">
                <a:latin typeface="+mj-lt"/>
              </a:rPr>
              <a:t>11</a:t>
            </a:r>
            <a:r>
              <a:rPr lang="en-US" sz="4400" baseline="-25000" smtClean="0">
                <a:latin typeface="+mj-lt"/>
              </a:rPr>
              <a:t>10</a:t>
            </a:r>
            <a:endParaRPr lang="en-US" sz="4400" smtClean="0">
              <a:latin typeface="+mj-lt"/>
            </a:endParaRPr>
          </a:p>
          <a:p>
            <a:pPr marL="0" indent="0">
              <a:buNone/>
            </a:pPr>
            <a:r>
              <a:rPr lang="en-US" sz="4400" smtClean="0">
                <a:latin typeface="+mj-lt"/>
              </a:rPr>
              <a:t>	</a:t>
            </a:r>
            <a:r>
              <a:rPr lang="vi-VN" sz="4400" smtClean="0">
                <a:latin typeface="+mj-lt"/>
              </a:rPr>
              <a:t>11 </a:t>
            </a:r>
            <a:r>
              <a:rPr lang="vi-VN" sz="4400">
                <a:latin typeface="+mj-lt"/>
              </a:rPr>
              <a:t>: 2 = 5 dư 1, </a:t>
            </a:r>
            <a:r>
              <a:rPr lang="vi-VN" sz="4400">
                <a:latin typeface="+mj-lt"/>
              </a:rPr>
              <a:t>vậy </a:t>
            </a:r>
            <a:r>
              <a:rPr lang="vi-VN" sz="4400" smtClean="0">
                <a:latin typeface="+mj-lt"/>
              </a:rPr>
              <a:t>a</a:t>
            </a:r>
            <a:r>
              <a:rPr lang="en-US" sz="4400" baseline="-25000" smtClean="0">
                <a:latin typeface="+mj-lt"/>
              </a:rPr>
              <a:t>0</a:t>
            </a:r>
            <a:r>
              <a:rPr lang="en-US" sz="4400" smtClean="0">
                <a:latin typeface="+mj-lt"/>
              </a:rPr>
              <a:t>=1</a:t>
            </a:r>
            <a:endParaRPr lang="vi-VN" sz="4400">
              <a:latin typeface="+mj-lt"/>
            </a:endParaRPr>
          </a:p>
          <a:p>
            <a:pPr marL="0" indent="0">
              <a:buNone/>
            </a:pPr>
            <a:r>
              <a:rPr lang="en-US" sz="4400" smtClean="0">
                <a:latin typeface="+mj-lt"/>
              </a:rPr>
              <a:t>	</a:t>
            </a:r>
            <a:r>
              <a:rPr lang="vi-VN" sz="4400" smtClean="0">
                <a:latin typeface="+mj-lt"/>
              </a:rPr>
              <a:t>5 </a:t>
            </a:r>
            <a:r>
              <a:rPr lang="vi-VN" sz="4400">
                <a:latin typeface="+mj-lt"/>
              </a:rPr>
              <a:t>: 2 = 2 dư 1, </a:t>
            </a:r>
            <a:r>
              <a:rPr lang="vi-VN" sz="4400">
                <a:latin typeface="+mj-lt"/>
              </a:rPr>
              <a:t>vậy </a:t>
            </a:r>
            <a:r>
              <a:rPr lang="vi-VN" sz="4400" smtClean="0">
                <a:latin typeface="+mj-lt"/>
              </a:rPr>
              <a:t>a</a:t>
            </a:r>
            <a:r>
              <a:rPr lang="en-US" sz="4400" baseline="-25000" smtClean="0">
                <a:latin typeface="+mj-lt"/>
              </a:rPr>
              <a:t>1</a:t>
            </a:r>
            <a:r>
              <a:rPr lang="en-US" sz="4400" smtClean="0">
                <a:latin typeface="+mj-lt"/>
              </a:rPr>
              <a:t>=1</a:t>
            </a:r>
            <a:endParaRPr lang="vi-VN" sz="4400">
              <a:latin typeface="+mj-lt"/>
            </a:endParaRPr>
          </a:p>
          <a:p>
            <a:pPr marL="0" indent="0">
              <a:buNone/>
            </a:pPr>
            <a:r>
              <a:rPr lang="en-US" sz="4400" smtClean="0">
                <a:latin typeface="+mj-lt"/>
              </a:rPr>
              <a:t>	</a:t>
            </a:r>
            <a:r>
              <a:rPr lang="vi-VN" sz="4400" smtClean="0">
                <a:latin typeface="+mj-lt"/>
              </a:rPr>
              <a:t>2 </a:t>
            </a:r>
            <a:r>
              <a:rPr lang="vi-VN" sz="4400">
                <a:latin typeface="+mj-lt"/>
              </a:rPr>
              <a:t>: 2 = 1 dư 0, </a:t>
            </a:r>
            <a:r>
              <a:rPr lang="vi-VN" sz="4400">
                <a:latin typeface="+mj-lt"/>
              </a:rPr>
              <a:t>vậy </a:t>
            </a:r>
            <a:r>
              <a:rPr lang="vi-VN" sz="4400" smtClean="0">
                <a:latin typeface="+mj-lt"/>
              </a:rPr>
              <a:t>a</a:t>
            </a:r>
            <a:r>
              <a:rPr lang="en-US" sz="4400" baseline="-25000" smtClean="0">
                <a:latin typeface="+mj-lt"/>
              </a:rPr>
              <a:t>2</a:t>
            </a:r>
            <a:r>
              <a:rPr lang="en-US" sz="4400" smtClean="0">
                <a:latin typeface="+mj-lt"/>
              </a:rPr>
              <a:t>=0</a:t>
            </a:r>
            <a:endParaRPr lang="vi-VN" sz="4400">
              <a:latin typeface="+mj-lt"/>
            </a:endParaRPr>
          </a:p>
          <a:p>
            <a:pPr marL="0" indent="0">
              <a:buNone/>
            </a:pPr>
            <a:r>
              <a:rPr lang="en-US" sz="4400" smtClean="0">
                <a:latin typeface="+mj-lt"/>
              </a:rPr>
              <a:t>	</a:t>
            </a:r>
            <a:r>
              <a:rPr lang="vi-VN" sz="4400" smtClean="0">
                <a:latin typeface="+mj-lt"/>
              </a:rPr>
              <a:t>1 </a:t>
            </a:r>
            <a:r>
              <a:rPr lang="vi-VN" sz="4400">
                <a:latin typeface="+mj-lt"/>
              </a:rPr>
              <a:t>: 2 = 0 dư 1, </a:t>
            </a:r>
            <a:r>
              <a:rPr lang="vi-VN" sz="4400">
                <a:latin typeface="+mj-lt"/>
              </a:rPr>
              <a:t>vậy </a:t>
            </a:r>
            <a:r>
              <a:rPr lang="vi-VN" sz="4400" smtClean="0">
                <a:latin typeface="+mj-lt"/>
              </a:rPr>
              <a:t>a</a:t>
            </a:r>
            <a:r>
              <a:rPr lang="en-US" sz="4400" baseline="-25000" smtClean="0">
                <a:latin typeface="+mj-lt"/>
              </a:rPr>
              <a:t>3</a:t>
            </a:r>
            <a:r>
              <a:rPr lang="en-US" sz="4400" smtClean="0">
                <a:latin typeface="+mj-lt"/>
              </a:rPr>
              <a:t>=1</a:t>
            </a:r>
            <a:endParaRPr lang="vi-VN" sz="4400">
              <a:latin typeface="+mj-lt"/>
            </a:endParaRPr>
          </a:p>
          <a:p>
            <a:pPr lvl="1">
              <a:buFont typeface="Symbol"/>
              <a:buChar char="Þ"/>
            </a:pPr>
            <a:r>
              <a:rPr lang="vi-VN" sz="4000" smtClean="0">
                <a:latin typeface="+mj-lt"/>
              </a:rPr>
              <a:t>phần </a:t>
            </a:r>
            <a:r>
              <a:rPr lang="vi-VN" sz="4000">
                <a:latin typeface="+mj-lt"/>
              </a:rPr>
              <a:t>nguyên </a:t>
            </a:r>
            <a:r>
              <a:rPr lang="vi-VN" sz="4000" smtClean="0">
                <a:latin typeface="+mj-lt"/>
              </a:rPr>
              <a:t>11</a:t>
            </a:r>
            <a:r>
              <a:rPr lang="en-US" sz="4000" baseline="-25000" smtClean="0">
                <a:latin typeface="+mj-lt"/>
              </a:rPr>
              <a:t>10</a:t>
            </a:r>
            <a:r>
              <a:rPr lang="en-US" sz="4000" smtClean="0">
                <a:latin typeface="+mj-lt"/>
              </a:rPr>
              <a:t>=1011</a:t>
            </a:r>
            <a:r>
              <a:rPr lang="en-US" sz="4000" baseline="-25000" smtClean="0">
                <a:latin typeface="+mj-lt"/>
              </a:rPr>
              <a:t>2</a:t>
            </a:r>
          </a:p>
          <a:p>
            <a:pPr>
              <a:buFont typeface="Wingdings" pitchFamily="2" charset="2"/>
              <a:buChar char="Ø"/>
            </a:pPr>
            <a:r>
              <a:rPr lang="en-US" sz="4400">
                <a:latin typeface="+mj-lt"/>
              </a:rPr>
              <a:t>Đổi phần </a:t>
            </a:r>
            <a:r>
              <a:rPr lang="en-US" sz="4400">
                <a:latin typeface="+mj-lt"/>
              </a:rPr>
              <a:t>lẻ </a:t>
            </a:r>
            <a:r>
              <a:rPr lang="en-US" sz="4400" smtClean="0">
                <a:latin typeface="+mj-lt"/>
              </a:rPr>
              <a:t>0.25</a:t>
            </a:r>
            <a:r>
              <a:rPr lang="en-US" sz="4400" baseline="-25000" smtClean="0">
                <a:latin typeface="+mj-lt"/>
              </a:rPr>
              <a:t>10</a:t>
            </a:r>
            <a:endParaRPr lang="en-US" sz="4400" smtClean="0">
              <a:latin typeface="+mj-lt"/>
            </a:endParaRPr>
          </a:p>
          <a:p>
            <a:pPr marL="0" indent="0">
              <a:buNone/>
            </a:pPr>
            <a:r>
              <a:rPr lang="en-US" sz="4400" smtClean="0">
                <a:latin typeface="+mj-lt"/>
              </a:rPr>
              <a:t>	0.25 </a:t>
            </a:r>
            <a:r>
              <a:rPr lang="en-US" sz="4400">
                <a:latin typeface="+mj-lt"/>
              </a:rPr>
              <a:t>* 2 = 0.5, </a:t>
            </a:r>
            <a:r>
              <a:rPr lang="en-US" sz="4400">
                <a:latin typeface="+mj-lt"/>
              </a:rPr>
              <a:t>vậy </a:t>
            </a:r>
            <a:r>
              <a:rPr lang="en-US" sz="4400" smtClean="0">
                <a:latin typeface="+mj-lt"/>
              </a:rPr>
              <a:t>a</a:t>
            </a:r>
            <a:r>
              <a:rPr lang="en-US" sz="4400" baseline="-25000" smtClean="0">
                <a:latin typeface="+mj-lt"/>
              </a:rPr>
              <a:t>-1</a:t>
            </a:r>
            <a:r>
              <a:rPr lang="en-US" sz="4400" smtClean="0">
                <a:latin typeface="+mj-lt"/>
              </a:rPr>
              <a:t>=0</a:t>
            </a:r>
          </a:p>
          <a:p>
            <a:pPr marL="0" indent="0">
              <a:buNone/>
            </a:pPr>
            <a:r>
              <a:rPr lang="en-US" sz="4400" smtClean="0">
                <a:latin typeface="+mj-lt"/>
              </a:rPr>
              <a:t>	0.50 </a:t>
            </a:r>
            <a:r>
              <a:rPr lang="en-US" sz="4400">
                <a:latin typeface="+mj-lt"/>
              </a:rPr>
              <a:t>* 2 = 1.0, </a:t>
            </a:r>
            <a:r>
              <a:rPr lang="en-US" sz="4400">
                <a:latin typeface="+mj-lt"/>
              </a:rPr>
              <a:t>vậy </a:t>
            </a:r>
            <a:r>
              <a:rPr lang="en-US" sz="4400" smtClean="0">
                <a:latin typeface="+mj-lt"/>
              </a:rPr>
              <a:t>a</a:t>
            </a:r>
            <a:r>
              <a:rPr lang="en-US" sz="4400" baseline="-25000" smtClean="0">
                <a:latin typeface="+mj-lt"/>
              </a:rPr>
              <a:t>-2</a:t>
            </a:r>
            <a:r>
              <a:rPr lang="en-US" sz="4400" smtClean="0">
                <a:latin typeface="+mj-lt"/>
              </a:rPr>
              <a:t>=1</a:t>
            </a:r>
          </a:p>
          <a:p>
            <a:pPr lvl="1">
              <a:buFont typeface="Symbol"/>
              <a:buChar char="Þ"/>
            </a:pPr>
            <a:r>
              <a:rPr lang="en-US" sz="4000" smtClean="0">
                <a:latin typeface="+mj-lt"/>
              </a:rPr>
              <a:t>phần </a:t>
            </a:r>
            <a:r>
              <a:rPr lang="en-US" sz="4000">
                <a:latin typeface="+mj-lt"/>
              </a:rPr>
              <a:t>lẻ </a:t>
            </a:r>
            <a:r>
              <a:rPr lang="en-US" sz="4000" smtClean="0">
                <a:latin typeface="+mj-lt"/>
              </a:rPr>
              <a:t>0.25</a:t>
            </a:r>
            <a:r>
              <a:rPr lang="en-US" sz="4000" baseline="-25000" smtClean="0">
                <a:latin typeface="+mj-lt"/>
              </a:rPr>
              <a:t>10</a:t>
            </a:r>
            <a:r>
              <a:rPr lang="en-US" sz="4000" smtClean="0">
                <a:latin typeface="+mj-lt"/>
              </a:rPr>
              <a:t>=.01</a:t>
            </a:r>
            <a:r>
              <a:rPr lang="en-US" sz="4000" baseline="-25000" smtClean="0">
                <a:latin typeface="+mj-lt"/>
              </a:rPr>
              <a:t>2</a:t>
            </a:r>
            <a:endParaRPr lang="en-US" sz="4000" smtClean="0">
              <a:latin typeface="+mj-lt"/>
            </a:endParaRPr>
          </a:p>
          <a:p>
            <a:pPr>
              <a:buFont typeface="Wingdings" pitchFamily="2" charset="2"/>
              <a:buChar char="Ø"/>
            </a:pPr>
            <a:r>
              <a:rPr lang="en-US" sz="4400" smtClean="0">
                <a:latin typeface="+mj-lt"/>
              </a:rPr>
              <a:t>Vậy 11.25</a:t>
            </a:r>
            <a:r>
              <a:rPr lang="en-US" sz="4400" baseline="-25000" smtClean="0">
                <a:latin typeface="+mj-lt"/>
              </a:rPr>
              <a:t>10</a:t>
            </a:r>
            <a:r>
              <a:rPr lang="en-US" sz="4400" smtClean="0">
                <a:latin typeface="+mj-lt"/>
              </a:rPr>
              <a:t>=1011.01</a:t>
            </a:r>
            <a:r>
              <a:rPr lang="en-US" sz="4400" baseline="-25000" smtClean="0">
                <a:latin typeface="+mj-lt"/>
              </a:rPr>
              <a:t>2</a:t>
            </a:r>
            <a:endParaRPr lang="en-US" sz="4400">
              <a:latin typeface="+mj-lt"/>
            </a:endParaRPr>
          </a:p>
          <a:p>
            <a:pPr marL="0" indent="0">
              <a:buNone/>
            </a:pPr>
            <a:endParaRPr lang="en-US" smtClean="0"/>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29</a:t>
            </a:fld>
            <a:endParaRPr lang="en-US"/>
          </a:p>
        </p:txBody>
      </p:sp>
    </p:spTree>
    <p:extLst>
      <p:ext uri="{BB962C8B-B14F-4D97-AF65-F5344CB8AC3E}">
        <p14:creationId xmlns:p14="http://schemas.microsoft.com/office/powerpoint/2010/main" val="30726541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1143000"/>
          </a:xfrm>
        </p:spPr>
        <p:txBody>
          <a:bodyPr>
            <a:normAutofit fontScale="90000"/>
          </a:bodyPr>
          <a:lstStyle/>
          <a:p>
            <a:r>
              <a:rPr lang="vi-VN" b="1">
                <a:solidFill>
                  <a:srgbClr val="C00000"/>
                </a:solidFill>
              </a:rPr>
              <a:t>Chuyển </a:t>
            </a:r>
            <a:r>
              <a:rPr lang="vi-VN" b="1">
                <a:solidFill>
                  <a:srgbClr val="C00000"/>
                </a:solidFill>
              </a:rPr>
              <a:t>từ </a:t>
            </a:r>
            <a:r>
              <a:rPr lang="en-US" b="1" smtClean="0">
                <a:solidFill>
                  <a:srgbClr val="C00000"/>
                </a:solidFill>
              </a:rPr>
              <a:t>hệ thập phân sang</a:t>
            </a:r>
            <a:r>
              <a:rPr lang="vi-VN" b="1" smtClean="0">
                <a:solidFill>
                  <a:srgbClr val="C00000"/>
                </a:solidFill>
              </a:rPr>
              <a:t> hệ </a:t>
            </a:r>
            <a:r>
              <a:rPr lang="vi-VN" b="1">
                <a:solidFill>
                  <a:srgbClr val="C00000"/>
                </a:solidFill>
              </a:rPr>
              <a:t>cơ sở b</a:t>
            </a:r>
            <a:endParaRPr lang="en-US" b="1">
              <a:solidFill>
                <a:srgbClr val="C00000"/>
              </a:solidFill>
            </a:endParaRPr>
          </a:p>
        </p:txBody>
      </p:sp>
      <p:sp>
        <p:nvSpPr>
          <p:cNvPr id="3" name="Content Placeholder 2"/>
          <p:cNvSpPr>
            <a:spLocks noGrp="1"/>
          </p:cNvSpPr>
          <p:nvPr>
            <p:ph idx="1"/>
          </p:nvPr>
        </p:nvSpPr>
        <p:spPr>
          <a:xfrm>
            <a:off x="457200" y="1600200"/>
            <a:ext cx="8686800" cy="4525963"/>
          </a:xfrm>
        </p:spPr>
        <p:txBody>
          <a:bodyPr>
            <a:normAutofit/>
          </a:bodyPr>
          <a:lstStyle/>
          <a:p>
            <a:pPr marL="0" indent="0" algn="ctr">
              <a:buNone/>
            </a:pPr>
            <a:r>
              <a:rPr lang="en-US" sz="3000"/>
              <a:t>Đổi 1208.676</a:t>
            </a:r>
            <a:r>
              <a:rPr lang="en-US" sz="3000" baseline="-25000"/>
              <a:t>10 </a:t>
            </a:r>
            <a:r>
              <a:rPr lang="en-US" sz="3000"/>
              <a:t>sang hệ 16 (lấy 2 số lẻ)?</a:t>
            </a:r>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30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975" y="2057400"/>
            <a:ext cx="6753225" cy="470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80568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vi-VN" b="1">
                <a:solidFill>
                  <a:srgbClr val="C00000"/>
                </a:solidFill>
              </a:rPr>
              <a:t>Chuyển từ </a:t>
            </a:r>
            <a:r>
              <a:rPr lang="en-US" b="1">
                <a:solidFill>
                  <a:srgbClr val="C00000"/>
                </a:solidFill>
              </a:rPr>
              <a:t>hệ </a:t>
            </a:r>
            <a:r>
              <a:rPr lang="en-US" b="1" smtClean="0">
                <a:solidFill>
                  <a:srgbClr val="C00000"/>
                </a:solidFill>
              </a:rPr>
              <a:t>nhị </a:t>
            </a:r>
            <a:r>
              <a:rPr lang="en-US" b="1">
                <a:solidFill>
                  <a:srgbClr val="C00000"/>
                </a:solidFill>
              </a:rPr>
              <a:t>phân sang</a:t>
            </a:r>
            <a:r>
              <a:rPr lang="vi-VN" b="1">
                <a:solidFill>
                  <a:srgbClr val="C00000"/>
                </a:solidFill>
              </a:rPr>
              <a:t> </a:t>
            </a:r>
            <a:r>
              <a:rPr lang="vi-VN" b="1">
                <a:solidFill>
                  <a:srgbClr val="C00000"/>
                </a:solidFill>
              </a:rPr>
              <a:t>hệ </a:t>
            </a:r>
            <a:r>
              <a:rPr lang="en-US" b="1" smtClean="0">
                <a:solidFill>
                  <a:srgbClr val="C00000"/>
                </a:solidFill>
              </a:rPr>
              <a:t>thập lục phân</a:t>
            </a:r>
            <a:endParaRPr lang="en-US" b="1">
              <a:solidFill>
                <a:srgbClr val="C00000"/>
              </a:solidFill>
            </a:endParaRPr>
          </a:p>
        </p:txBody>
      </p:sp>
      <p:sp>
        <p:nvSpPr>
          <p:cNvPr id="3" name="Content Placeholder 2"/>
          <p:cNvSpPr>
            <a:spLocks noGrp="1"/>
          </p:cNvSpPr>
          <p:nvPr>
            <p:ph idx="1"/>
          </p:nvPr>
        </p:nvSpPr>
        <p:spPr>
          <a:xfrm>
            <a:off x="457200" y="1600200"/>
            <a:ext cx="8686800" cy="4525963"/>
          </a:xfrm>
        </p:spPr>
        <p:txBody>
          <a:bodyPr>
            <a:normAutofit/>
          </a:bodyPr>
          <a:lstStyle/>
          <a:p>
            <a:pPr>
              <a:buFont typeface="Wingdings" pitchFamily="2" charset="2"/>
              <a:buChar char="v"/>
            </a:pPr>
            <a:r>
              <a:rPr lang="vi-VN"/>
              <a:t>Nhóm từng bộ 4 bit trong biểu diễn </a:t>
            </a:r>
            <a:r>
              <a:rPr lang="vi-VN"/>
              <a:t>nhị </a:t>
            </a:r>
            <a:r>
              <a:rPr lang="vi-VN" smtClean="0"/>
              <a:t>phân</a:t>
            </a:r>
            <a:r>
              <a:rPr lang="en-US" smtClean="0"/>
              <a:t> </a:t>
            </a:r>
            <a:r>
              <a:rPr lang="vi-VN" smtClean="0"/>
              <a:t>rồi </a:t>
            </a:r>
            <a:r>
              <a:rPr lang="vi-VN"/>
              <a:t>chuyển sang ký số tương ứng </a:t>
            </a:r>
            <a:r>
              <a:rPr lang="vi-VN"/>
              <a:t>trong </a:t>
            </a:r>
            <a:r>
              <a:rPr lang="vi-VN" smtClean="0"/>
              <a:t>hệ</a:t>
            </a:r>
            <a:r>
              <a:rPr lang="en-US" smtClean="0"/>
              <a:t> </a:t>
            </a:r>
            <a:r>
              <a:rPr lang="vi-VN" smtClean="0"/>
              <a:t>thập </a:t>
            </a:r>
            <a:r>
              <a:rPr lang="vi-VN"/>
              <a:t>lục phân (0000 ~&gt; 0,…, 1111 ~&gt; F)</a:t>
            </a:r>
            <a:endParaRPr lang="en-US" smtClean="0"/>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31</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200400"/>
            <a:ext cx="6991350"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70051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vi-VN" b="1">
                <a:solidFill>
                  <a:srgbClr val="C00000"/>
                </a:solidFill>
              </a:rPr>
              <a:t>Chuyển từ </a:t>
            </a:r>
            <a:r>
              <a:rPr lang="en-US" b="1">
                <a:solidFill>
                  <a:srgbClr val="C00000"/>
                </a:solidFill>
              </a:rPr>
              <a:t>hệ </a:t>
            </a:r>
            <a:r>
              <a:rPr lang="en-US" b="1" smtClean="0">
                <a:solidFill>
                  <a:srgbClr val="C00000"/>
                </a:solidFill>
              </a:rPr>
              <a:t>thập lục </a:t>
            </a:r>
            <a:r>
              <a:rPr lang="en-US" b="1">
                <a:solidFill>
                  <a:srgbClr val="C00000"/>
                </a:solidFill>
              </a:rPr>
              <a:t>phân sang</a:t>
            </a:r>
            <a:r>
              <a:rPr lang="vi-VN" b="1">
                <a:solidFill>
                  <a:srgbClr val="C00000"/>
                </a:solidFill>
              </a:rPr>
              <a:t> </a:t>
            </a:r>
            <a:r>
              <a:rPr lang="vi-VN" b="1">
                <a:solidFill>
                  <a:srgbClr val="C00000"/>
                </a:solidFill>
              </a:rPr>
              <a:t>hệ </a:t>
            </a:r>
            <a:r>
              <a:rPr lang="en-US" b="1" smtClean="0">
                <a:solidFill>
                  <a:srgbClr val="C00000"/>
                </a:solidFill>
              </a:rPr>
              <a:t>nhị phân</a:t>
            </a:r>
            <a:endParaRPr lang="en-US" b="1">
              <a:solidFill>
                <a:srgbClr val="C00000"/>
              </a:solidFill>
            </a:endParaRPr>
          </a:p>
        </p:txBody>
      </p:sp>
      <p:sp>
        <p:nvSpPr>
          <p:cNvPr id="3" name="Content Placeholder 2"/>
          <p:cNvSpPr>
            <a:spLocks noGrp="1"/>
          </p:cNvSpPr>
          <p:nvPr>
            <p:ph idx="1"/>
          </p:nvPr>
        </p:nvSpPr>
        <p:spPr>
          <a:xfrm>
            <a:off x="457200" y="1600200"/>
            <a:ext cx="8686800" cy="4525963"/>
          </a:xfrm>
        </p:spPr>
        <p:txBody>
          <a:bodyPr>
            <a:normAutofit/>
          </a:bodyPr>
          <a:lstStyle/>
          <a:p>
            <a:pPr>
              <a:buFont typeface="Wingdings" pitchFamily="2" charset="2"/>
              <a:buChar char="v"/>
            </a:pPr>
            <a:r>
              <a:rPr lang="en-US" smtClean="0"/>
              <a:t>1 ký số trong hệ thập lục phân tương ứng với 4 bit </a:t>
            </a:r>
            <a:r>
              <a:rPr lang="vi-VN" smtClean="0"/>
              <a:t>thập </a:t>
            </a:r>
            <a:r>
              <a:rPr lang="vi-VN"/>
              <a:t>lục phân (0000 ~&gt; 0,…, 1111 ~&gt; </a:t>
            </a:r>
            <a:r>
              <a:rPr lang="vi-VN"/>
              <a:t>F</a:t>
            </a:r>
            <a:r>
              <a:rPr lang="vi-VN" smtClean="0"/>
              <a:t>)</a:t>
            </a:r>
            <a:endParaRPr lang="en-US" smtClean="0"/>
          </a:p>
          <a:p>
            <a:pPr marL="0" indent="0">
              <a:buNone/>
            </a:pPr>
            <a:r>
              <a:rPr lang="en-US"/>
              <a:t> </a:t>
            </a:r>
            <a:r>
              <a:rPr lang="en-US" smtClean="0"/>
              <a:t>   Ví dụ: 	4B.8</a:t>
            </a:r>
            <a:r>
              <a:rPr lang="en-US" baseline="-25000" smtClean="0"/>
              <a:t>16</a:t>
            </a:r>
            <a:r>
              <a:rPr lang="en-US" smtClean="0"/>
              <a:t>?</a:t>
            </a:r>
          </a:p>
        </p:txBody>
      </p:sp>
      <p:sp>
        <p:nvSpPr>
          <p:cNvPr id="4" name="Date Placeholder 3"/>
          <p:cNvSpPr>
            <a:spLocks noGrp="1"/>
          </p:cNvSpPr>
          <p:nvPr>
            <p:ph type="dt" sz="half" idx="10"/>
          </p:nvPr>
        </p:nvSpPr>
        <p:spPr/>
        <p:txBody>
          <a:bodyPr/>
          <a:lstStyle/>
          <a:p>
            <a:r>
              <a:rPr lang="en-US" smtClean="0"/>
              <a:t>2015</a:t>
            </a:r>
            <a:endParaRPr lang="en-US"/>
          </a:p>
        </p:txBody>
      </p:sp>
      <p:sp>
        <p:nvSpPr>
          <p:cNvPr id="5" name="Slide Number Placeholder 4"/>
          <p:cNvSpPr>
            <a:spLocks noGrp="1"/>
          </p:cNvSpPr>
          <p:nvPr>
            <p:ph type="sldNum" sz="quarter" idx="12"/>
          </p:nvPr>
        </p:nvSpPr>
        <p:spPr/>
        <p:txBody>
          <a:bodyPr/>
          <a:lstStyle/>
          <a:p>
            <a:fld id="{7A23AA34-D39B-4F23-8F7F-35D03225000B}" type="slidenum">
              <a:rPr lang="en-US" smtClean="0"/>
              <a:pPr/>
              <a:t>32</a:t>
            </a:fld>
            <a:endParaRPr lang="en-US"/>
          </a:p>
        </p:txBody>
      </p:sp>
    </p:spTree>
    <p:extLst>
      <p:ext uri="{BB962C8B-B14F-4D97-AF65-F5344CB8AC3E}">
        <p14:creationId xmlns:p14="http://schemas.microsoft.com/office/powerpoint/2010/main" val="649079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571</TotalTime>
  <Words>1903</Words>
  <Application>Microsoft Office PowerPoint</Application>
  <PresentationFormat>On-screen Show (4:3)</PresentationFormat>
  <Paragraphs>331</Paragraphs>
  <Slides>32</Slides>
  <Notes>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Nhập môn Lập trình – IT001</vt:lpstr>
      <vt:lpstr>Mục tiêu buổi học – CĐR </vt:lpstr>
      <vt:lpstr>Nội dung</vt:lpstr>
      <vt:lpstr>1. Giới thiệu môn học</vt:lpstr>
      <vt:lpstr>1. Giới thiệu môn học</vt:lpstr>
      <vt:lpstr>1. Giới thiệu môn học</vt:lpstr>
      <vt:lpstr>2. Khái niệm về chương trình</vt:lpstr>
      <vt:lpstr>2. Khái niệm về chương trình</vt:lpstr>
      <vt:lpstr>3. Các ngôn ngữ lập trình</vt:lpstr>
      <vt:lpstr>3. Các ngôn ngữ lập trình</vt:lpstr>
      <vt:lpstr>3. Các ngôn ngữ lập trình</vt:lpstr>
      <vt:lpstr>3. Các ngôn ngữ lập trình</vt:lpstr>
      <vt:lpstr>3. Các ngôn ngữ lập trình</vt:lpstr>
      <vt:lpstr>3. Các ngôn ngữ lập trình</vt:lpstr>
      <vt:lpstr>4. Các khái niệm cơ bản về lập trình</vt:lpstr>
      <vt:lpstr>4. Các khái niệm cơ bản về lập trình</vt:lpstr>
      <vt:lpstr>5.Các hệ đếm trên máy tính</vt:lpstr>
      <vt:lpstr>Hệ đếm</vt:lpstr>
      <vt:lpstr>Hệ đếm La mã</vt:lpstr>
      <vt:lpstr>Hệ đếm thập phân</vt:lpstr>
      <vt:lpstr>Hệ đếm theo cơ số b</vt:lpstr>
      <vt:lpstr>Hệ đếm nhị phân</vt:lpstr>
      <vt:lpstr>Số nhị phân</vt:lpstr>
      <vt:lpstr>Chuyển đổi giữa các hệ đếm</vt:lpstr>
      <vt:lpstr>Chuyển từ hệ cơ sở b sang hệ thập phân</vt:lpstr>
      <vt:lpstr>Chuyển từ hệ thập phân sang hệ cơ sở b</vt:lpstr>
      <vt:lpstr>Chuyển từ hệ thập phân sang hệ cơ sở b</vt:lpstr>
      <vt:lpstr>Chuyển từ hệ thập phân sang hệ cơ sở b</vt:lpstr>
      <vt:lpstr>Chuyển từ hệ thập phân sang hệ cơ sở b</vt:lpstr>
      <vt:lpstr>Chuyển từ hệ thập phân sang hệ cơ sở b</vt:lpstr>
      <vt:lpstr>Chuyển từ hệ nhị phân sang hệ thập lục phân</vt:lpstr>
      <vt:lpstr>Chuyển từ hệ thập lục phân sang hệ nhị phân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môn Lập trình</dc:title>
  <dc:creator>admin</dc:creator>
  <cp:lastModifiedBy>LongHo</cp:lastModifiedBy>
  <cp:revision>59</cp:revision>
  <dcterms:created xsi:type="dcterms:W3CDTF">2015-09-05T09:18:39Z</dcterms:created>
  <dcterms:modified xsi:type="dcterms:W3CDTF">2015-09-10T15:00:42Z</dcterms:modified>
</cp:coreProperties>
</file>