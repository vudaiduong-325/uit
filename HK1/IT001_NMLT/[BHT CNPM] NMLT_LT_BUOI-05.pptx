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299" r:id="rId37"/>
    <p:sldId id="300" r:id="rId38"/>
    <p:sldId id="301" r:id="rId39"/>
    <p:sldId id="302" r:id="rId40"/>
    <p:sldId id="303" r:id="rId41"/>
    <p:sldId id="304" r:id="rId42"/>
    <p:sldId id="305" r:id="rId43"/>
    <p:sldId id="306" r:id="rId44"/>
    <p:sldId id="307" r:id="rId45"/>
    <p:sldId id="308" r:id="rId46"/>
    <p:sldId id="309" r:id="rId47"/>
    <p:sldId id="310" r:id="rId48"/>
    <p:sldId id="311" r:id="rId49"/>
    <p:sldId id="312" r:id="rId50"/>
    <p:sldId id="313" r:id="rId51"/>
    <p:sldId id="314" r:id="rId52"/>
    <p:sldId id="315" r:id="rId53"/>
    <p:sldId id="316" r:id="rId54"/>
    <p:sldId id="317" r:id="rId55"/>
    <p:sldId id="318" r:id="rId56"/>
    <p:sldId id="319" r:id="rId57"/>
    <p:sldId id="320" r:id="rId58"/>
    <p:sldId id="321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E332E-4B6C-4FED-89C1-87EA01BB02E8}" type="datetimeFigureOut">
              <a:rPr lang="en-US" smtClean="0"/>
              <a:pPr/>
              <a:t>10/1/2015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03439-6E41-4473-881B-3C521882BBB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80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3835301-426A-4296-93A6-741C520AE0D1}" type="slidenum">
              <a:rPr lang="en-US" smtClean="0"/>
              <a:pPr eaLnBrk="1" hangingPunct="1">
                <a:defRPr/>
              </a:pPr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503439-6E41-4473-881B-3C521882BBB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64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F20688B-5EFE-4572-A4F5-D5091461C014}" type="slidenum">
              <a:rPr lang="en-US" smtClean="0"/>
              <a:pPr eaLnBrk="1" hangingPunct="1">
                <a:defRPr/>
              </a:pPr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F0FFD948-748E-4643-BC5E-9CF38531C27C}" type="slidenum">
              <a:rPr lang="en-US" smtClean="0"/>
              <a:pPr eaLnBrk="1" hangingPunct="1">
                <a:defRPr/>
              </a:pPr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1F77C2BE-0CFB-4F8A-9DE4-87D188AEA054}" type="slidenum">
              <a:rPr lang="en-US" smtClean="0"/>
              <a:pPr eaLnBrk="1" hangingPunct="1">
                <a:defRPr/>
              </a:pPr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118E1EE6-41D3-42E0-8CB7-0C4068AB4B00}" type="slidenum">
              <a:rPr lang="en-US" smtClean="0"/>
              <a:pPr eaLnBrk="1" hangingPunct="1">
                <a:defRPr/>
              </a:pPr>
              <a:t>11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40379C6F-F1CC-459F-B4AC-802D97A2F2B0}" type="slidenum">
              <a:rPr lang="en-US" smtClean="0"/>
              <a:pPr eaLnBrk="1" hangingPunct="1">
                <a:defRPr/>
              </a:pPr>
              <a:t>12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259AE745-3D8B-4230-A89A-F82FECCF3DF2}" type="slidenum">
              <a:rPr lang="en-US" smtClean="0"/>
              <a:pPr eaLnBrk="1" hangingPunct="1">
                <a:defRPr/>
              </a:pPr>
              <a:t>13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A40B4C01-CAF5-4A1B-B084-05B86BD95A3C}" type="slidenum">
              <a:rPr lang="en-US" smtClean="0"/>
              <a:pPr eaLnBrk="1" hangingPunct="1">
                <a:defRPr/>
              </a:pPr>
              <a:t>15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B55A08DC-793E-42B2-B944-DB4D8BF2425C}" type="slidenum">
              <a:rPr lang="en-US" smtClean="0"/>
              <a:pPr eaLnBrk="1" hangingPunct="1">
                <a:defRPr/>
              </a:pPr>
              <a:t>16</a:t>
            </a:fld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AF6246A2-711F-4F1C-8481-B989071155F7}" type="slidenum">
              <a:rPr lang="en-US" smtClean="0"/>
              <a:pPr eaLnBrk="1" hangingPunct="1">
                <a:defRPr/>
              </a:pPr>
              <a:t>17</a:t>
            </a:fld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97E0D89-E716-481F-B240-F5C130EE9B62}" type="slidenum">
              <a:rPr lang="en-US" smtClean="0"/>
              <a:pPr eaLnBrk="1" hangingPunct="1">
                <a:defRPr/>
              </a:pPr>
              <a:t>18</a:t>
            </a:fld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15F4AEED-466F-4961-9859-F85788684757}" type="slidenum">
              <a:rPr lang="en-US" smtClean="0"/>
              <a:pPr eaLnBrk="1" hangingPunct="1">
                <a:defRPr/>
              </a:pPr>
              <a:t>19</a:t>
            </a:fld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AF6880FF-CD0A-49D1-B10F-3B47EB17BAD9}" type="slidenum">
              <a:rPr lang="en-US" smtClean="0"/>
              <a:pPr eaLnBrk="1" hangingPunct="1">
                <a:defRPr/>
              </a:pPr>
              <a:t>21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4779622-23CB-49F4-93A5-E4BEEC722979}" type="slidenum">
              <a:rPr lang="en-US" smtClean="0"/>
              <a:pPr eaLnBrk="1" hangingPunct="1">
                <a:defRPr/>
              </a:pPr>
              <a:t>22</a:t>
            </a:fld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34CB3FE-CB6F-4877-B45B-617F3D173A6B}" type="slidenum">
              <a:rPr lang="en-US" smtClean="0"/>
              <a:pPr eaLnBrk="1" hangingPunct="1">
                <a:defRPr/>
              </a:pPr>
              <a:t>23</a:t>
            </a:fld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B922E701-EB24-42C3-8C0C-F5C2BDB2B5CD}" type="slidenum">
              <a:rPr lang="en-US" smtClean="0"/>
              <a:pPr eaLnBrk="1" hangingPunct="1">
                <a:defRPr/>
              </a:pPr>
              <a:t>24</a:t>
            </a:fld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61DE97B2-562B-4073-8AE1-E06A51DF1CCB}" type="slidenum">
              <a:rPr lang="en-US" smtClean="0"/>
              <a:pPr eaLnBrk="1" hangingPunct="1">
                <a:defRPr/>
              </a:pPr>
              <a:t>25</a:t>
            </a:fld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56ED7AD-4900-4E12-81AE-1ECA63C088F1}" type="slidenum">
              <a:rPr lang="en-US" smtClean="0"/>
              <a:pPr eaLnBrk="1" hangingPunct="1">
                <a:defRPr/>
              </a:pPr>
              <a:t>26</a:t>
            </a:fld>
            <a:endParaRPr 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2711216-57E3-4E78-9B81-55B56B93DDE2}" type="slidenum">
              <a:rPr lang="en-US" smtClean="0"/>
              <a:pPr eaLnBrk="1" hangingPunct="1">
                <a:defRPr/>
              </a:pPr>
              <a:t>27</a:t>
            </a:fld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F12DB9-C843-4199-93AE-144A2F9A24D2}" type="slidenum">
              <a:rPr lang="en-US"/>
              <a:pPr/>
              <a:t>28</a:t>
            </a:fld>
            <a:endParaRPr lang="en-US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4A965E-3980-44A2-9918-D042C099FE49}" type="slidenum">
              <a:rPr lang="en-US"/>
              <a:pPr/>
              <a:t>29</a:t>
            </a:fld>
            <a:endParaRPr lang="en-US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EF9978-01D5-4FAB-A7EB-85EDF6F0D60E}" type="slidenum">
              <a:rPr lang="en-US"/>
              <a:pPr/>
              <a:t>30</a:t>
            </a:fld>
            <a:endParaRPr lang="en-US"/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C01971-CF4E-4EB3-9DBE-8B52DC3A9B31}" type="slidenum">
              <a:rPr lang="en-US"/>
              <a:pPr/>
              <a:t>31</a:t>
            </a:fld>
            <a:endParaRPr lang="en-US"/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690404-975E-45DF-9F48-F48C37B98700}" type="slidenum">
              <a:rPr lang="en-US"/>
              <a:pPr/>
              <a:t>32</a:t>
            </a:fld>
            <a:endParaRPr 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D67A26-7EBD-4650-8331-79441F3821E5}" type="slidenum">
              <a:rPr lang="en-US"/>
              <a:pPr/>
              <a:t>33</a:t>
            </a:fld>
            <a:endParaRPr 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E67C79-388D-481E-8192-247CF1F54BBA}" type="slidenum">
              <a:rPr lang="en-US"/>
              <a:pPr/>
              <a:t>34</a:t>
            </a:fld>
            <a:endParaRPr lang="en-US"/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872161-533C-4803-AB5D-06CA58493311}" type="slidenum">
              <a:rPr lang="en-US"/>
              <a:pPr/>
              <a:t>35</a:t>
            </a:fld>
            <a:endParaRPr lang="en-US"/>
          </a:p>
        </p:txBody>
      </p:sp>
      <p:sp>
        <p:nvSpPr>
          <p:cNvPr id="122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8848365-2FF3-4086-88E1-AA1E58E5521D}" type="slidenum">
              <a:rPr lang="en-US" smtClean="0"/>
              <a:pPr eaLnBrk="1" hangingPunct="1">
                <a:defRPr/>
              </a:pPr>
              <a:t>36</a:t>
            </a:fld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6923B78B-FEE4-4535-9E26-F84054538CE5}" type="slidenum">
              <a:rPr lang="en-US" smtClean="0"/>
              <a:pPr eaLnBrk="1" hangingPunct="1">
                <a:defRPr/>
              </a:pPr>
              <a:t>37</a:t>
            </a:fld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3CDF933-B51A-4518-A22A-7538CE637746}" type="slidenum">
              <a:rPr lang="en-US" smtClean="0"/>
              <a:pPr eaLnBrk="1" hangingPunct="1">
                <a:defRPr/>
              </a:pPr>
              <a:t>38</a:t>
            </a:fld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8263886A-39DD-45A2-8598-1D055BD96C85}" type="slidenum">
              <a:rPr lang="en-US" smtClean="0"/>
              <a:pPr eaLnBrk="1" hangingPunct="1">
                <a:defRPr/>
              </a:pPr>
              <a:t>39</a:t>
            </a:fld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724E7D8-786C-4345-932D-96FAC6174B83}" type="slidenum">
              <a:rPr lang="en-US" smtClean="0"/>
              <a:pPr eaLnBrk="1" hangingPunct="1">
                <a:defRPr/>
              </a:pPr>
              <a:t>40</a:t>
            </a:fld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6884DA7B-4F69-4584-BD52-EC3F1276EFB2}" type="slidenum">
              <a:rPr lang="en-US" smtClean="0"/>
              <a:pPr eaLnBrk="1" hangingPunct="1">
                <a:defRPr/>
              </a:pPr>
              <a:t>41</a:t>
            </a:fld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2576357-558A-47F5-8233-0142EEB2F934}" type="slidenum">
              <a:rPr lang="en-US" smtClean="0"/>
              <a:pPr eaLnBrk="1" hangingPunct="1">
                <a:defRPr/>
              </a:pPr>
              <a:t>42</a:t>
            </a:fld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5D52744C-01B4-4B4F-B12B-13BD525799B1}" type="slidenum">
              <a:rPr lang="en-US" smtClean="0"/>
              <a:pPr eaLnBrk="1" hangingPunct="1">
                <a:defRPr/>
              </a:pPr>
              <a:t>43</a:t>
            </a:fld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653AE5D-5E70-4591-BD95-B37E2E994E0D}" type="slidenum">
              <a:rPr lang="en-US" smtClean="0"/>
              <a:pPr eaLnBrk="1" hangingPunct="1">
                <a:defRPr/>
              </a:pPr>
              <a:t>44</a:t>
            </a:fld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9B237344-83FF-4B29-B405-9C51D7DC8A3D}" type="slidenum">
              <a:rPr lang="en-US" smtClean="0"/>
              <a:pPr eaLnBrk="1" hangingPunct="1">
                <a:defRPr/>
              </a:pPr>
              <a:t>45</a:t>
            </a:fld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AF21858-8220-4D62-8C66-331052D29F02}" type="slidenum">
              <a:rPr lang="en-US" smtClean="0"/>
              <a:pPr eaLnBrk="1" hangingPunct="1">
                <a:defRPr/>
              </a:pPr>
              <a:t>46</a:t>
            </a:fld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B85BD73-E7D9-4DCA-91D0-C497F4F670DA}" type="slidenum">
              <a:rPr lang="en-US" smtClean="0"/>
              <a:pPr eaLnBrk="1" hangingPunct="1">
                <a:defRPr/>
              </a:pPr>
              <a:t>47</a:t>
            </a:fld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E58078EB-2857-4718-BF00-96E8A1456E52}" type="slidenum">
              <a:rPr lang="en-US" smtClean="0"/>
              <a:pPr eaLnBrk="1" hangingPunct="1">
                <a:defRPr/>
              </a:pPr>
              <a:t>48</a:t>
            </a:fld>
            <a:endParaRPr 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B0B03E5D-5E9D-4910-8D60-AD4C8A18D885}" type="slidenum">
              <a:rPr lang="en-US" smtClean="0"/>
              <a:pPr eaLnBrk="1" hangingPunct="1">
                <a:defRPr/>
              </a:pPr>
              <a:t>49</a:t>
            </a:fld>
            <a:endParaRPr 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7DD8CA5C-F9C3-4E0E-9124-2014EF5BFF9F}" type="slidenum">
              <a:rPr lang="en-US" smtClean="0"/>
              <a:pPr eaLnBrk="1" hangingPunct="1">
                <a:defRPr/>
              </a:pPr>
              <a:t>50</a:t>
            </a:fld>
            <a:endParaRPr 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8A9E14E-2D24-44D3-9D6D-9A9AD8B4E370}" type="slidenum">
              <a:rPr lang="en-US" smtClean="0"/>
              <a:pPr eaLnBrk="1" hangingPunct="1">
                <a:defRPr/>
              </a:pPr>
              <a:t>51</a:t>
            </a:fld>
            <a:endParaRPr lang="en-US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C6294BEC-8B46-4735-BEA9-FA1E8441B997}" type="slidenum">
              <a:rPr lang="en-US" smtClean="0"/>
              <a:pPr eaLnBrk="1" hangingPunct="1">
                <a:defRPr/>
              </a:pPr>
              <a:t>52</a:t>
            </a:fld>
            <a:endParaRPr lang="en-US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95E48385-D381-40D9-A372-4A83CF932083}" type="slidenum">
              <a:rPr lang="en-US" smtClean="0"/>
              <a:pPr eaLnBrk="1" hangingPunct="1">
                <a:defRPr/>
              </a:pPr>
              <a:t>53</a:t>
            </a:fld>
            <a:endParaRPr lang="en-US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0A4AE465-D002-41C9-B085-184408843942}" type="slidenum">
              <a:rPr lang="en-US" smtClean="0"/>
              <a:pPr eaLnBrk="1" hangingPunct="1">
                <a:defRPr/>
              </a:pPr>
              <a:t>54</a:t>
            </a:fld>
            <a:endParaRPr lang="en-US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B6BC1754-7051-43B4-BE84-D2630D83AF05}" type="slidenum">
              <a:rPr lang="en-US" smtClean="0"/>
              <a:pPr eaLnBrk="1" hangingPunct="1">
                <a:defRPr/>
              </a:pPr>
              <a:t>55</a:t>
            </a:fld>
            <a:endParaRPr lang="en-US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6F760042-CA53-4613-A4DA-A14F0A896724}" type="slidenum">
              <a:rPr lang="en-US" smtClean="0"/>
              <a:pPr eaLnBrk="1" hangingPunct="1">
                <a:defRPr/>
              </a:pPr>
              <a:t>56</a:t>
            </a:fld>
            <a:endParaRPr lang="en-US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D7254336-C9D3-4B42-B844-15DCFECF5EF3}" type="slidenum">
              <a:rPr lang="en-US" smtClean="0"/>
              <a:pPr eaLnBrk="1" hangingPunct="1">
                <a:defRPr/>
              </a:pPr>
              <a:t>57</a:t>
            </a:fld>
            <a:endParaRPr lang="en-US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vi-VN" smtClean="0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02756" indent="-270291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081164" indent="-216233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513629" indent="-216233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1946095" indent="-216233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378560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811026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243491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675957" indent="-21623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fld id="{60D4CFCB-5B0F-41EE-B0FC-ED3EAEDA4BBF}" type="slidenum">
              <a:rPr lang="en-US" smtClean="0"/>
              <a:pPr eaLnBrk="1" hangingPunct="1">
                <a:defRPr/>
              </a:pPr>
              <a:t>58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NMLT - Câu lệnh lặp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NMLT - Câu lệnh lặp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229600" cy="15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457200" y="6172200"/>
            <a:ext cx="8229600" cy="158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NMLT - Câu lệnh lặp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NMLT - Câu lệnh lặp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NMLT - Câu lệnh lặp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NMLT - Câu lệnh lặp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NMLT - Câu lệnh lặp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NMLT - Câu lệnh lặp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NMLT - Câu lệnh lặp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NMLT - Câu lệnh lặp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NMLT - Câu lệnh lặp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NMLT - Câu lệnh lặp</a:t>
            </a:r>
            <a:endParaRPr lang="en-US"/>
          </a:p>
        </p:txBody>
      </p:sp>
      <p:pic>
        <p:nvPicPr>
          <p:cNvPr id="9" name="Picture 8" descr="Logo.pn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286000" y="1905000"/>
            <a:ext cx="4614677" cy="3818534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3AA34-D39B-4F23-8F7F-35D03225000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logo186x150.png"/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8458200" y="1"/>
            <a:ext cx="685800" cy="5530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3.gif"/><Relationship Id="rId7" Type="http://schemas.openxmlformats.org/officeDocument/2006/relationships/slide" Target="slide16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image" Target="../media/image4.png"/><Relationship Id="rId4" Type="http://schemas.openxmlformats.org/officeDocument/2006/relationships/slide" Target="slide14.xml"/><Relationship Id="rId9" Type="http://schemas.openxmlformats.org/officeDocument/2006/relationships/slide" Target="slide18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image" Target="../media/image3.gif"/><Relationship Id="rId7" Type="http://schemas.openxmlformats.org/officeDocument/2006/relationships/slide" Target="slide25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11" Type="http://schemas.openxmlformats.org/officeDocument/2006/relationships/slide" Target="slide23.xml"/><Relationship Id="rId5" Type="http://schemas.openxmlformats.org/officeDocument/2006/relationships/image" Target="../media/image4.png"/><Relationship Id="rId10" Type="http://schemas.openxmlformats.org/officeDocument/2006/relationships/slide" Target="slide22.xml"/><Relationship Id="rId4" Type="http://schemas.openxmlformats.org/officeDocument/2006/relationships/slide" Target="slide19.xml"/><Relationship Id="rId9" Type="http://schemas.openxmlformats.org/officeDocument/2006/relationships/slide" Target="slide21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39.xml"/><Relationship Id="rId3" Type="http://schemas.openxmlformats.org/officeDocument/2006/relationships/image" Target="../media/image3.gif"/><Relationship Id="rId7" Type="http://schemas.openxmlformats.org/officeDocument/2006/relationships/slide" Target="slide36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image" Target="../media/image4.png"/><Relationship Id="rId4" Type="http://schemas.openxmlformats.org/officeDocument/2006/relationships/slide" Target="slide2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môn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– IT001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err="1" smtClean="0"/>
              <a:t>Buổi</a:t>
            </a:r>
            <a:r>
              <a:rPr lang="en-US" smtClean="0"/>
              <a:t> </a:t>
            </a:r>
            <a:r>
              <a:rPr lang="en-US" smtClean="0"/>
              <a:t>05 </a:t>
            </a:r>
            <a:r>
              <a:rPr lang="en-US" dirty="0" smtClean="0"/>
              <a:t>– </a:t>
            </a:r>
            <a:r>
              <a:rPr lang="en-US" err="1" smtClean="0"/>
              <a:t>Các</a:t>
            </a:r>
            <a:r>
              <a:rPr lang="en-US" smtClean="0"/>
              <a:t> </a:t>
            </a:r>
            <a:r>
              <a:rPr lang="en-US" smtClean="0"/>
              <a:t>câu lệnh lặp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tiêu</a:t>
            </a:r>
            <a:r>
              <a:rPr lang="en-US" dirty="0" smtClean="0"/>
              <a:t> </a:t>
            </a:r>
            <a:r>
              <a:rPr lang="en-US" dirty="0" err="1" smtClean="0"/>
              <a:t>buổi</a:t>
            </a:r>
            <a:r>
              <a:rPr lang="en-US" dirty="0" smtClean="0"/>
              <a:t> </a:t>
            </a:r>
            <a:r>
              <a:rPr lang="en-US" dirty="0" err="1" smtClean="0"/>
              <a:t>học</a:t>
            </a:r>
            <a:r>
              <a:rPr lang="en-US" dirty="0" smtClean="0"/>
              <a:t> – CĐR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Hiểu và vận dụng được vòng lặp để viết chương trình trên máy tính.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 smtClean="0"/>
              <a:t>Vòng lặp trong lập trình.</a:t>
            </a:r>
          </a:p>
          <a:p>
            <a:r>
              <a:rPr lang="vi-VN" dirty="0" smtClean="0"/>
              <a:t>Viết chương trình sử dụng vòng lặp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smtClean="0"/>
              <a:t>Đặt </a:t>
            </a:r>
            <a:r>
              <a:rPr lang="en-US" smtClean="0"/>
              <a:t>vấn đề</a:t>
            </a:r>
            <a:endParaRPr lang="en-US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 dụ</a:t>
            </a:r>
          </a:p>
          <a:p>
            <a:pPr lvl="1" eaLnBrk="1" hangingPunct="1">
              <a:defRPr/>
            </a:pPr>
            <a:r>
              <a:rPr lang="en-US" smtClean="0"/>
              <a:t>Viết ch</a:t>
            </a:r>
            <a:r>
              <a:rPr lang="vi-VN" smtClean="0"/>
              <a:t>ươ</a:t>
            </a:r>
            <a:r>
              <a:rPr lang="en-US" smtClean="0"/>
              <a:t>ng trình xuất các số từ </a:t>
            </a:r>
            <a:r>
              <a:rPr lang="en-US" smtClean="0">
                <a:solidFill>
                  <a:srgbClr val="FF0000"/>
                </a:solidFill>
              </a:rPr>
              <a:t>1</a:t>
            </a:r>
            <a:r>
              <a:rPr lang="en-US" smtClean="0"/>
              <a:t> </a:t>
            </a:r>
            <a:r>
              <a:rPr lang="vi-VN" smtClean="0"/>
              <a:t>đế</a:t>
            </a:r>
            <a:r>
              <a:rPr lang="en-US" smtClean="0"/>
              <a:t>n </a:t>
            </a:r>
            <a:r>
              <a:rPr lang="en-US" smtClean="0">
                <a:solidFill>
                  <a:srgbClr val="FF0000"/>
                </a:solidFill>
              </a:rPr>
              <a:t>10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mtClean="0"/>
              <a:t>	=&gt; Sử dụng </a:t>
            </a:r>
            <a:r>
              <a:rPr lang="en-US" smtClean="0">
                <a:solidFill>
                  <a:srgbClr val="FF0000"/>
                </a:solidFill>
              </a:rPr>
              <a:t>10</a:t>
            </a:r>
            <a:r>
              <a:rPr lang="en-US" smtClean="0"/>
              <a:t> câu lệnh printf</a:t>
            </a:r>
          </a:p>
          <a:p>
            <a:pPr lvl="1" eaLnBrk="1" hangingPunct="1">
              <a:defRPr/>
            </a:pPr>
            <a:r>
              <a:rPr lang="en-US" smtClean="0"/>
              <a:t>Viết ch</a:t>
            </a:r>
            <a:r>
              <a:rPr lang="vi-VN" smtClean="0"/>
              <a:t>ươ</a:t>
            </a:r>
            <a:r>
              <a:rPr lang="en-US" smtClean="0"/>
              <a:t>ng trình xuất các số từ </a:t>
            </a:r>
            <a:r>
              <a:rPr lang="en-US" smtClean="0">
                <a:solidFill>
                  <a:srgbClr val="FF0000"/>
                </a:solidFill>
              </a:rPr>
              <a:t>1</a:t>
            </a:r>
            <a:r>
              <a:rPr lang="en-US" smtClean="0"/>
              <a:t> </a:t>
            </a:r>
            <a:r>
              <a:rPr lang="vi-VN" smtClean="0"/>
              <a:t>đế</a:t>
            </a:r>
            <a:r>
              <a:rPr lang="en-US" smtClean="0"/>
              <a:t>n </a:t>
            </a:r>
            <a:r>
              <a:rPr lang="en-US" smtClean="0">
                <a:solidFill>
                  <a:srgbClr val="FF0000"/>
                </a:solidFill>
              </a:rPr>
              <a:t>1000</a:t>
            </a:r>
          </a:p>
          <a:p>
            <a:pPr lvl="1" eaLnBrk="1" hangingPunct="1">
              <a:buFont typeface="Wingdings" pitchFamily="2" charset="2"/>
              <a:buNone/>
              <a:defRPr/>
            </a:pPr>
            <a:r>
              <a:rPr lang="en-US" smtClean="0"/>
              <a:t>	=&gt; Sử dụng </a:t>
            </a:r>
            <a:r>
              <a:rPr lang="en-US" smtClean="0">
                <a:solidFill>
                  <a:srgbClr val="FF0000"/>
                </a:solidFill>
              </a:rPr>
              <a:t>1000</a:t>
            </a:r>
            <a:r>
              <a:rPr lang="en-US" smtClean="0"/>
              <a:t> câu lệnh printf </a:t>
            </a:r>
            <a:r>
              <a:rPr lang="en-US" smtClean="0">
                <a:solidFill>
                  <a:srgbClr val="FF0000"/>
                </a:solidFill>
              </a:rPr>
              <a:t>!</a:t>
            </a:r>
          </a:p>
          <a:p>
            <a:pPr eaLnBrk="1" hangingPunct="1">
              <a:defRPr/>
            </a:pP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Giải pháp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Sử dụng cấu trúc lặp</a:t>
            </a:r>
            <a:r>
              <a:rPr lang="en-US" smtClean="0"/>
              <a:t> lại một hành </a:t>
            </a:r>
            <a:r>
              <a:rPr lang="vi-VN" smtClean="0"/>
              <a:t>độ</a:t>
            </a:r>
            <a:r>
              <a:rPr lang="en-US" smtClean="0"/>
              <a:t>ng trong khi còn thỏa một </a:t>
            </a:r>
            <a:r>
              <a:rPr lang="vi-VN" smtClean="0"/>
              <a:t>đ</a:t>
            </a:r>
            <a:r>
              <a:rPr lang="en-US" smtClean="0"/>
              <a:t>iều kiện nào </a:t>
            </a:r>
            <a:r>
              <a:rPr lang="vi-VN" smtClean="0"/>
              <a:t>đó</a:t>
            </a:r>
            <a:r>
              <a:rPr lang="en-US" smtClean="0"/>
              <a:t>.</a:t>
            </a:r>
          </a:p>
          <a:p>
            <a:pPr lvl="1" eaLnBrk="1" hangingPunct="1">
              <a:defRPr/>
            </a:pPr>
            <a:r>
              <a:rPr lang="en-US" smtClean="0"/>
              <a:t>3 lệnh lặp: </a:t>
            </a:r>
            <a:r>
              <a:rPr lang="en-US" smtClean="0">
                <a:solidFill>
                  <a:srgbClr val="FF0000"/>
                </a:solidFill>
              </a:rPr>
              <a:t>for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while</a:t>
            </a:r>
            <a:r>
              <a:rPr lang="en-US" smtClean="0"/>
              <a:t>, </a:t>
            </a:r>
            <a:r>
              <a:rPr lang="en-US" smtClean="0">
                <a:solidFill>
                  <a:srgbClr val="FF0000"/>
                </a:solidFill>
              </a:rPr>
              <a:t>do</a:t>
            </a:r>
            <a:r>
              <a:rPr lang="en-US" smtClean="0"/>
              <a:t>… </a:t>
            </a:r>
            <a:r>
              <a:rPr lang="en-US" smtClean="0">
                <a:solidFill>
                  <a:srgbClr val="FF0000"/>
                </a:solidFill>
              </a:rPr>
              <a:t>while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93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for</a:t>
            </a:r>
          </a:p>
        </p:txBody>
      </p:sp>
      <p:sp>
        <p:nvSpPr>
          <p:cNvPr id="17" name="Content Placeholder 41"/>
          <p:cNvSpPr txBox="1">
            <a:spLocks/>
          </p:cNvSpPr>
          <p:nvPr/>
        </p:nvSpPr>
        <p:spPr bwMode="auto">
          <a:xfrm>
            <a:off x="228600" y="4648200"/>
            <a:ext cx="8001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latin typeface="+mn-lt"/>
                <a:cs typeface="+mn-cs"/>
              </a:rPr>
              <a:t>for (</a:t>
            </a:r>
            <a:r>
              <a:rPr lang="en-US" sz="2800" kern="0">
                <a:solidFill>
                  <a:srgbClr val="FF0000"/>
                </a:solidFill>
                <a:cs typeface="+mn-cs"/>
              </a:rPr>
              <a:t>&lt;Khởi </a:t>
            </a:r>
            <a:r>
              <a:rPr lang="vi-VN" sz="2800" kern="0">
                <a:solidFill>
                  <a:srgbClr val="FF0000"/>
                </a:solidFill>
                <a:cs typeface="+mn-cs"/>
              </a:rPr>
              <a:t>đầ</a:t>
            </a:r>
            <a:r>
              <a:rPr lang="en-US" sz="2800" kern="0">
                <a:solidFill>
                  <a:srgbClr val="FF0000"/>
                </a:solidFill>
                <a:cs typeface="+mn-cs"/>
              </a:rPr>
              <a:t>u&gt;</a:t>
            </a:r>
            <a:r>
              <a:rPr lang="en-US" sz="2800" b="1" kern="0">
                <a:latin typeface="+mn-lt"/>
                <a:cs typeface="+mn-cs"/>
              </a:rPr>
              <a:t>;</a:t>
            </a:r>
            <a:r>
              <a:rPr lang="en-US" sz="2800" kern="0">
                <a:solidFill>
                  <a:srgbClr val="FF0000"/>
                </a:solidFill>
                <a:cs typeface="+mn-cs"/>
              </a:rPr>
              <a:t> </a:t>
            </a:r>
            <a:r>
              <a:rPr lang="en-US" sz="2800" kern="0">
                <a:solidFill>
                  <a:srgbClr val="FF66FF"/>
                </a:solidFill>
                <a:cs typeface="+mn-cs"/>
              </a:rPr>
              <a:t>&lt;Đ/K lặp&gt;</a:t>
            </a:r>
            <a:r>
              <a:rPr lang="en-US" sz="2800" b="1" kern="0">
                <a:latin typeface="+mn-lt"/>
                <a:cs typeface="+mn-cs"/>
              </a:rPr>
              <a:t>;</a:t>
            </a:r>
            <a:r>
              <a:rPr lang="en-US" sz="2800" kern="0">
                <a:solidFill>
                  <a:srgbClr val="FF0000"/>
                </a:solidFill>
                <a:cs typeface="+mn-cs"/>
              </a:rPr>
              <a:t> </a:t>
            </a:r>
            <a:r>
              <a:rPr lang="en-US" sz="2800" kern="0">
                <a:solidFill>
                  <a:schemeClr val="accent2"/>
                </a:solidFill>
                <a:cs typeface="+mn-cs"/>
              </a:rPr>
              <a:t>&lt;B</a:t>
            </a:r>
            <a:r>
              <a:rPr lang="vi-VN" sz="2800" kern="0">
                <a:solidFill>
                  <a:schemeClr val="accent2"/>
                </a:solidFill>
                <a:cs typeface="+mn-cs"/>
              </a:rPr>
              <a:t>ướ</a:t>
            </a:r>
            <a:r>
              <a:rPr lang="en-US" sz="2800" kern="0">
                <a:solidFill>
                  <a:schemeClr val="accent2"/>
                </a:solidFill>
                <a:cs typeface="+mn-cs"/>
              </a:rPr>
              <a:t>c nhảy&gt;</a:t>
            </a:r>
            <a:r>
              <a:rPr lang="en-US" sz="2800" b="1" kern="0">
                <a:latin typeface="+mn-lt"/>
                <a:cs typeface="+mn-cs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latin typeface="+mn-lt"/>
                <a:cs typeface="+mn-cs"/>
              </a:rPr>
              <a:t>		</a:t>
            </a:r>
            <a:r>
              <a:rPr lang="en-US" sz="2800" kern="0">
                <a:solidFill>
                  <a:schemeClr val="tx1">
                    <a:lumMod val="60000"/>
                    <a:lumOff val="40000"/>
                  </a:schemeClr>
                </a:solidFill>
                <a:cs typeface="+mn-cs"/>
              </a:rPr>
              <a:t>&lt;Lệnh&gt;</a:t>
            </a:r>
            <a:r>
              <a:rPr lang="en-US" sz="2800" b="1" kern="0">
                <a:cs typeface="+mn-cs"/>
              </a:rPr>
              <a:t>;</a:t>
            </a:r>
            <a:endParaRPr lang="en-US" sz="2800" kern="0">
              <a:solidFill>
                <a:schemeClr val="tx1">
                  <a:lumMod val="60000"/>
                  <a:lumOff val="40000"/>
                </a:schemeClr>
              </a:solidFill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 bwMode="auto">
          <a:xfrm>
            <a:off x="2819400" y="5410200"/>
            <a:ext cx="6248400" cy="10668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>
                <a:solidFill>
                  <a:srgbClr val="FF0000"/>
                </a:solidFill>
              </a:rPr>
              <a:t>&lt;Khởi </a:t>
            </a:r>
            <a:r>
              <a:rPr lang="vi-VN" sz="2000">
                <a:solidFill>
                  <a:srgbClr val="FF0000"/>
                </a:solidFill>
              </a:rPr>
              <a:t>đầ</a:t>
            </a:r>
            <a:r>
              <a:rPr lang="en-US" sz="2000">
                <a:solidFill>
                  <a:srgbClr val="FF0000"/>
                </a:solidFill>
              </a:rPr>
              <a:t>u&gt;</a:t>
            </a:r>
            <a:r>
              <a:rPr lang="en-US" sz="2000"/>
              <a:t>, </a:t>
            </a:r>
            <a:r>
              <a:rPr lang="en-US" sz="2000">
                <a:solidFill>
                  <a:srgbClr val="FF66FF"/>
                </a:solidFill>
              </a:rPr>
              <a:t>&lt;Đ/K lặp&gt;</a:t>
            </a:r>
            <a:r>
              <a:rPr lang="en-US" sz="2000"/>
              <a:t>, </a:t>
            </a:r>
            <a:r>
              <a:rPr lang="en-US" sz="2000">
                <a:solidFill>
                  <a:schemeClr val="accent2"/>
                </a:solidFill>
              </a:rPr>
              <a:t>&lt;B</a:t>
            </a:r>
            <a:r>
              <a:rPr lang="vi-VN" sz="2000">
                <a:solidFill>
                  <a:schemeClr val="accent2"/>
                </a:solidFill>
              </a:rPr>
              <a:t>ướ</a:t>
            </a:r>
            <a:r>
              <a:rPr lang="en-US" sz="2000">
                <a:solidFill>
                  <a:schemeClr val="accent2"/>
                </a:solidFill>
              </a:rPr>
              <a:t>c </a:t>
            </a:r>
            <a:r>
              <a:rPr lang="en-US" sz="2000">
                <a:solidFill>
                  <a:schemeClr val="accent2"/>
                </a:solidFill>
              </a:rPr>
              <a:t>nhảy</a:t>
            </a:r>
            <a:r>
              <a:rPr lang="en-US" sz="2000" smtClean="0">
                <a:solidFill>
                  <a:schemeClr val="accent2"/>
                </a:solidFill>
              </a:rPr>
              <a:t>&gt;</a:t>
            </a:r>
            <a:r>
              <a:rPr lang="en-US" sz="2000" smtClean="0"/>
              <a:t>: là </a:t>
            </a:r>
            <a:r>
              <a:rPr lang="en-US" sz="2000"/>
              <a:t>biểu </a:t>
            </a:r>
            <a:r>
              <a:rPr lang="en-US" sz="2000"/>
              <a:t>thức </a:t>
            </a:r>
            <a:r>
              <a:rPr lang="en-US" sz="2000" smtClean="0"/>
              <a:t>C bất kỳ</a:t>
            </a:r>
            <a:endParaRPr lang="en-US" sz="2000"/>
          </a:p>
          <a:p>
            <a:pPr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</a:rPr>
              <a:t>&lt;Lệnh&gt;</a:t>
            </a:r>
            <a:r>
              <a:rPr lang="en-US" sz="2000"/>
              <a:t>: </a:t>
            </a:r>
            <a:r>
              <a:rPr lang="vi-VN" sz="2000"/>
              <a:t>đơ</a:t>
            </a:r>
            <a:r>
              <a:rPr lang="en-US" sz="2000"/>
              <a:t>n hoặc khối lệnh.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2209800" y="1087438"/>
            <a:ext cx="4648200" cy="3429000"/>
            <a:chOff x="1981200" y="1087438"/>
            <a:chExt cx="4648200" cy="3429000"/>
          </a:xfrm>
        </p:grpSpPr>
        <p:sp>
          <p:nvSpPr>
            <p:cNvPr id="19" name="Rectangle 18"/>
            <p:cNvSpPr/>
            <p:nvPr/>
          </p:nvSpPr>
          <p:spPr>
            <a:xfrm>
              <a:off x="4926013" y="3297238"/>
              <a:ext cx="1295400" cy="42703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&lt;Lệnh&gt;</a:t>
              </a:r>
            </a:p>
          </p:txBody>
        </p:sp>
        <p:cxnSp>
          <p:nvCxnSpPr>
            <p:cNvPr id="3" name="Straight Arrow Connector 2"/>
            <p:cNvCxnSpPr/>
            <p:nvPr/>
          </p:nvCxnSpPr>
          <p:spPr>
            <a:xfrm rot="16200000" flipH="1">
              <a:off x="2829719" y="2650332"/>
              <a:ext cx="687387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/>
            <p:cNvCxnSpPr/>
            <p:nvPr/>
          </p:nvCxnSpPr>
          <p:spPr>
            <a:xfrm rot="5400000">
              <a:off x="2945607" y="4287044"/>
              <a:ext cx="457200" cy="158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rot="10800000" flipV="1">
              <a:off x="3173413" y="2590800"/>
              <a:ext cx="1544637" cy="2063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/>
            <p:cNvSpPr txBox="1"/>
            <p:nvPr/>
          </p:nvSpPr>
          <p:spPr>
            <a:xfrm>
              <a:off x="4392613" y="3144838"/>
              <a:ext cx="376237" cy="3698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dk1"/>
                  </a:solidFill>
                  <a:latin typeface="+mn-lt"/>
                  <a:cs typeface="+mn-cs"/>
                </a:rPr>
                <a:t>Đ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792413" y="4059238"/>
              <a:ext cx="347662" cy="3698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dk1"/>
                  </a:solidFill>
                  <a:latin typeface="+mn-lt"/>
                  <a:cs typeface="+mn-cs"/>
                </a:rPr>
                <a:t>S</a:t>
              </a:r>
            </a:p>
          </p:txBody>
        </p:sp>
        <p:grpSp>
          <p:nvGrpSpPr>
            <p:cNvPr id="5" name="Group 41"/>
            <p:cNvGrpSpPr>
              <a:grpSpLocks/>
            </p:cNvGrpSpPr>
            <p:nvPr/>
          </p:nvGrpSpPr>
          <p:grpSpPr bwMode="auto">
            <a:xfrm>
              <a:off x="1981200" y="2971800"/>
              <a:ext cx="2392363" cy="1096963"/>
              <a:chOff x="332510" y="2909455"/>
              <a:chExt cx="2392680" cy="1097280"/>
            </a:xfrm>
          </p:grpSpPr>
          <p:sp>
            <p:nvSpPr>
              <p:cNvPr id="12" name="Diamond 11"/>
              <p:cNvSpPr/>
              <p:nvPr/>
            </p:nvSpPr>
            <p:spPr>
              <a:xfrm>
                <a:off x="332510" y="2909455"/>
                <a:ext cx="2392680" cy="1097280"/>
              </a:xfrm>
              <a:prstGeom prst="diamond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92921" y="3123830"/>
                <a:ext cx="1752832" cy="6097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>
                    <a:solidFill>
                      <a:srgbClr val="FF66FF"/>
                    </a:solidFill>
                  </a:rPr>
                  <a:t>&lt;Đ/K lặp&gt;</a:t>
                </a:r>
              </a:p>
            </p:txBody>
          </p:sp>
        </p:grpSp>
        <p:grpSp>
          <p:nvGrpSpPr>
            <p:cNvPr id="6" name="Group 46"/>
            <p:cNvGrpSpPr>
              <a:grpSpLocks/>
            </p:cNvGrpSpPr>
            <p:nvPr/>
          </p:nvGrpSpPr>
          <p:grpSpPr bwMode="auto">
            <a:xfrm>
              <a:off x="2259013" y="1620838"/>
              <a:ext cx="1828800" cy="685800"/>
              <a:chOff x="609600" y="1676400"/>
              <a:chExt cx="1828800" cy="685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685800" y="1676400"/>
                <a:ext cx="1752600" cy="6858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609600" y="1676400"/>
                <a:ext cx="1828800" cy="685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>
                    <a:solidFill>
                      <a:srgbClr val="FF0000"/>
                    </a:solidFill>
                  </a:rPr>
                  <a:t>&lt;Khởi </a:t>
                </a:r>
                <a:r>
                  <a:rPr lang="vi-VN">
                    <a:solidFill>
                      <a:srgbClr val="FF0000"/>
                    </a:solidFill>
                  </a:rPr>
                  <a:t>đầ</a:t>
                </a:r>
                <a:r>
                  <a:rPr lang="en-US">
                    <a:solidFill>
                      <a:srgbClr val="FF0000"/>
                    </a:solidFill>
                  </a:rPr>
                  <a:t>u&gt;</a:t>
                </a:r>
                <a:endParaRPr lang="en-US">
                  <a:solidFill>
                    <a:srgbClr val="FF66FF"/>
                  </a:solidFill>
                </a:endParaRPr>
              </a:p>
            </p:txBody>
          </p:sp>
        </p:grpSp>
        <p:cxnSp>
          <p:nvCxnSpPr>
            <p:cNvPr id="38" name="Straight Arrow Connector 37"/>
            <p:cNvCxnSpPr/>
            <p:nvPr/>
          </p:nvCxnSpPr>
          <p:spPr>
            <a:xfrm rot="5400000">
              <a:off x="2907507" y="1353344"/>
              <a:ext cx="533400" cy="158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4378325" y="3511550"/>
              <a:ext cx="531813" cy="158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45"/>
            <p:cNvGrpSpPr>
              <a:grpSpLocks/>
            </p:cNvGrpSpPr>
            <p:nvPr/>
          </p:nvGrpSpPr>
          <p:grpSpPr bwMode="auto">
            <a:xfrm>
              <a:off x="4502150" y="2259013"/>
              <a:ext cx="2127250" cy="685800"/>
              <a:chOff x="3048000" y="2667000"/>
              <a:chExt cx="1752600" cy="685800"/>
            </a:xfrm>
          </p:grpSpPr>
          <p:sp>
            <p:nvSpPr>
              <p:cNvPr id="44" name="Rectangle 43"/>
              <p:cNvSpPr/>
              <p:nvPr/>
            </p:nvSpPr>
            <p:spPr>
              <a:xfrm>
                <a:off x="3048000" y="2667000"/>
                <a:ext cx="1752600" cy="6858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3048000" y="2667000"/>
                <a:ext cx="1752600" cy="685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>
                    <a:solidFill>
                      <a:schemeClr val="accent2"/>
                    </a:solidFill>
                  </a:rPr>
                  <a:t>&lt;B</a:t>
                </a:r>
                <a:r>
                  <a:rPr lang="vi-VN">
                    <a:solidFill>
                      <a:schemeClr val="accent2"/>
                    </a:solidFill>
                  </a:rPr>
                  <a:t>ướ</a:t>
                </a:r>
                <a:r>
                  <a:rPr lang="en-US">
                    <a:solidFill>
                      <a:schemeClr val="accent2"/>
                    </a:solidFill>
                  </a:rPr>
                  <a:t>c nhảy&gt;</a:t>
                </a:r>
              </a:p>
            </p:txBody>
          </p:sp>
        </p:grpSp>
        <p:cxnSp>
          <p:nvCxnSpPr>
            <p:cNvPr id="48" name="Straight Arrow Connector 47"/>
            <p:cNvCxnSpPr/>
            <p:nvPr/>
          </p:nvCxnSpPr>
          <p:spPr>
            <a:xfrm rot="16200000" flipV="1">
              <a:off x="5358607" y="3093244"/>
              <a:ext cx="360362" cy="635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62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24000"/>
            <a:ext cx="152400" cy="464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1524000"/>
            <a:ext cx="7010400" cy="47085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int i;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i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(“%</a:t>
            </a:r>
            <a:r>
              <a:rPr lang="en-US" sz="2000" b="1" smtClean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smtClean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”, 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i)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j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j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j = j + 1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(“%</a:t>
            </a:r>
            <a:r>
              <a:rPr lang="en-US" sz="2000" b="1" smtClean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smtClean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”, 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j)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k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k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k += 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(“%</a:t>
            </a:r>
            <a:r>
              <a:rPr lang="en-US" sz="2000" b="1" smtClean="0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d ”, 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k)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printf(“\n”)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133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438400"/>
            <a:ext cx="9128125" cy="685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2514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43434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15875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46482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for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2048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Câu </a:t>
            </a:r>
            <a:r>
              <a:rPr lang="en-US" smtClean="0">
                <a:latin typeface="Arial" charset="0"/>
                <a:cs typeface="Arial" charset="0"/>
              </a:rPr>
              <a:t>lệnh for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có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thể lồng nhau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152400" cy="3429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38200" y="2514600"/>
            <a:ext cx="7010400" cy="3477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 (n &lt; 10 &amp;&amp; m &lt; 20)</a:t>
            </a:r>
          </a:p>
          <a:p>
            <a:pPr>
              <a:defRPr/>
            </a:pPr>
            <a:r>
              <a:rPr lang="en-US" sz="2000" b="1" strike="sngStrike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0; i &lt; n; i++)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strike="sngStrike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for (int j = 0; j &lt; m; j++)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printf(“%d”, i + j);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printf(“\n”);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strike="sngStrike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sz="2000" b="1" strike="sngStrike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3200400"/>
            <a:ext cx="9128125" cy="2438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2895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5638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8100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3505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5334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41148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42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8" grpId="0" animBg="1"/>
      <p:bldP spid="8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for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2150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Trong câu lệnh for, có thể sẽ không có phần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&lt;Khởi </a:t>
            </a:r>
            <a:r>
              <a:rPr lang="vi-VN" smtClean="0">
                <a:solidFill>
                  <a:srgbClr val="FF0000"/>
                </a:solidFill>
                <a:latin typeface="Arial" charset="0"/>
                <a:cs typeface="Arial" charset="0"/>
              </a:rPr>
              <a:t>đầ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u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&gt;</a:t>
            </a:r>
            <a:b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</a:br>
            <a:endParaRPr lang="en-US" smtClean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2895600"/>
            <a:ext cx="152400" cy="2209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1510" name="TextBox 9"/>
          <p:cNvSpPr txBox="1">
            <a:spLocks noChangeArrowheads="1"/>
          </p:cNvSpPr>
          <p:nvPr/>
        </p:nvSpPr>
        <p:spPr bwMode="auto">
          <a:xfrm>
            <a:off x="838200" y="2478087"/>
            <a:ext cx="70104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i;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 &lt; 10;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i);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(; i &lt; 10;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i);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2895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1676400" y="2895600"/>
            <a:ext cx="7620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114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24000" y="3810000"/>
            <a:ext cx="7620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4648200" y="2438400"/>
            <a:ext cx="4206875" cy="3103563"/>
            <a:chOff x="4648200" y="2438401"/>
            <a:chExt cx="4206858" cy="3103419"/>
          </a:xfrm>
        </p:grpSpPr>
        <p:sp>
          <p:nvSpPr>
            <p:cNvPr id="13" name="Rectangle 12"/>
            <p:cNvSpPr/>
            <p:nvPr/>
          </p:nvSpPr>
          <p:spPr>
            <a:xfrm>
              <a:off x="7312014" y="4438558"/>
              <a:ext cx="1173158" cy="3857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&lt;Lệnh&gt;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rot="16200000" flipH="1">
              <a:off x="5414973" y="3852798"/>
              <a:ext cx="622271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5400000">
              <a:off x="5519743" y="5333867"/>
              <a:ext cx="414319" cy="158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10800000" flipV="1">
              <a:off x="5726109" y="3798826"/>
              <a:ext cx="1398581" cy="19049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6829416" y="4300453"/>
              <a:ext cx="341312" cy="3349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dk1"/>
                  </a:solidFill>
                  <a:latin typeface="+mn-lt"/>
                  <a:cs typeface="+mn-cs"/>
                </a:rPr>
                <a:t>Đ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381622" y="5127501"/>
              <a:ext cx="315912" cy="3349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dk1"/>
                  </a:solidFill>
                  <a:latin typeface="+mn-lt"/>
                  <a:cs typeface="+mn-cs"/>
                </a:rPr>
                <a:t>S</a:t>
              </a:r>
            </a:p>
          </p:txBody>
        </p:sp>
        <p:grpSp>
          <p:nvGrpSpPr>
            <p:cNvPr id="21522" name="Group 19"/>
            <p:cNvGrpSpPr>
              <a:grpSpLocks/>
            </p:cNvGrpSpPr>
            <p:nvPr/>
          </p:nvGrpSpPr>
          <p:grpSpPr bwMode="auto">
            <a:xfrm>
              <a:off x="4648200" y="4143715"/>
              <a:ext cx="2165497" cy="993094"/>
              <a:chOff x="332510" y="2909455"/>
              <a:chExt cx="2392680" cy="1097280"/>
            </a:xfrm>
          </p:grpSpPr>
          <p:sp>
            <p:nvSpPr>
              <p:cNvPr id="21" name="Diamond 20"/>
              <p:cNvSpPr/>
              <p:nvPr/>
            </p:nvSpPr>
            <p:spPr>
              <a:xfrm>
                <a:off x="332510" y="2908993"/>
                <a:ext cx="2392508" cy="1097982"/>
              </a:xfrm>
              <a:prstGeom prst="diamond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692088" y="3124731"/>
                <a:ext cx="1752283" cy="6086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>
                    <a:solidFill>
                      <a:srgbClr val="FF66FF"/>
                    </a:solidFill>
                  </a:rPr>
                  <a:t>&lt;Đ/K lặp&gt;</a:t>
                </a:r>
              </a:p>
            </p:txBody>
          </p:sp>
        </p:grpSp>
        <p:grpSp>
          <p:nvGrpSpPr>
            <p:cNvPr id="21523" name="Group 22"/>
            <p:cNvGrpSpPr>
              <a:grpSpLocks/>
            </p:cNvGrpSpPr>
            <p:nvPr/>
          </p:nvGrpSpPr>
          <p:grpSpPr bwMode="auto">
            <a:xfrm>
              <a:off x="4953000" y="2895600"/>
              <a:ext cx="1655157" cy="646238"/>
              <a:chOff x="669286" y="1648165"/>
              <a:chExt cx="1828800" cy="714035"/>
            </a:xfrm>
          </p:grpSpPr>
          <p:sp>
            <p:nvSpPr>
              <p:cNvPr id="24" name="Rectangle 23"/>
              <p:cNvSpPr/>
              <p:nvPr/>
            </p:nvSpPr>
            <p:spPr>
              <a:xfrm>
                <a:off x="685072" y="1676206"/>
                <a:ext cx="1754038" cy="685800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669285" y="1648143"/>
                <a:ext cx="1829462" cy="6858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>
                    <a:solidFill>
                      <a:srgbClr val="FF0000"/>
                    </a:solidFill>
                  </a:rPr>
                  <a:t>&lt;Khởi </a:t>
                </a:r>
                <a:r>
                  <a:rPr lang="vi-VN">
                    <a:solidFill>
                      <a:srgbClr val="FF0000"/>
                    </a:solidFill>
                  </a:rPr>
                  <a:t>đầ</a:t>
                </a:r>
                <a:r>
                  <a:rPr lang="en-US">
                    <a:solidFill>
                      <a:srgbClr val="FF0000"/>
                    </a:solidFill>
                  </a:rPr>
                  <a:t>u&gt;</a:t>
                </a:r>
                <a:endParaRPr lang="en-US">
                  <a:solidFill>
                    <a:srgbClr val="FF66FF"/>
                  </a:solidFill>
                </a:endParaRPr>
              </a:p>
            </p:txBody>
          </p:sp>
        </p:grpSp>
        <p:cxnSp>
          <p:nvCxnSpPr>
            <p:cNvPr id="26" name="Straight Arrow Connector 25"/>
            <p:cNvCxnSpPr/>
            <p:nvPr/>
          </p:nvCxnSpPr>
          <p:spPr>
            <a:xfrm rot="5400000">
              <a:off x="5485614" y="2678896"/>
              <a:ext cx="482578" cy="158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6816716" y="4632224"/>
              <a:ext cx="482598" cy="158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26" name="Group 27"/>
            <p:cNvGrpSpPr>
              <a:grpSpLocks/>
            </p:cNvGrpSpPr>
            <p:nvPr/>
          </p:nvGrpSpPr>
          <p:grpSpPr bwMode="auto">
            <a:xfrm>
              <a:off x="6930313" y="3497952"/>
              <a:ext cx="1924745" cy="620684"/>
              <a:chOff x="3048000" y="2667000"/>
              <a:chExt cx="1752600" cy="685800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3048640" y="2666186"/>
                <a:ext cx="1751960" cy="685799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3048640" y="2666186"/>
                <a:ext cx="1751960" cy="6857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>
                    <a:solidFill>
                      <a:schemeClr val="accent2"/>
                    </a:solidFill>
                  </a:rPr>
                  <a:t>&lt;B</a:t>
                </a:r>
                <a:r>
                  <a:rPr lang="vi-VN">
                    <a:solidFill>
                      <a:schemeClr val="accent2"/>
                    </a:solidFill>
                  </a:rPr>
                  <a:t>ướ</a:t>
                </a:r>
                <a:r>
                  <a:rPr lang="en-US">
                    <a:solidFill>
                      <a:schemeClr val="accent2"/>
                    </a:solidFill>
                  </a:rPr>
                  <a:t>c nhảy&gt;</a:t>
                </a:r>
              </a:p>
            </p:txBody>
          </p:sp>
        </p:grpSp>
        <p:cxnSp>
          <p:nvCxnSpPr>
            <p:cNvPr id="31" name="Straight Arrow Connector 30"/>
            <p:cNvCxnSpPr/>
            <p:nvPr/>
          </p:nvCxnSpPr>
          <p:spPr>
            <a:xfrm rot="16200000" flipV="1">
              <a:off x="7704926" y="4253624"/>
              <a:ext cx="325422" cy="635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37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8" grpId="0" animBg="1"/>
      <p:bldP spid="11" grpId="0" animBg="1"/>
      <p:bldP spid="11" grpId="1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for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2253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n-US" smtClean="0">
                <a:latin typeface="Arial" charset="0"/>
                <a:cs typeface="Arial" charset="0"/>
              </a:rPr>
              <a:t>Trong câu lệnh for, có thể sẽ không có phần </a:t>
            </a:r>
            <a:r>
              <a:rPr lang="en-US" smtClean="0">
                <a:solidFill>
                  <a:schemeClr val="accent2"/>
                </a:solidFill>
                <a:latin typeface="Arial" charset="0"/>
                <a:cs typeface="Arial" charset="0"/>
              </a:rPr>
              <a:t>&lt;B</a:t>
            </a:r>
            <a:r>
              <a:rPr lang="vi-VN" smtClean="0">
                <a:solidFill>
                  <a:schemeClr val="accent2"/>
                </a:solidFill>
                <a:latin typeface="Arial" charset="0"/>
                <a:cs typeface="Arial" charset="0"/>
              </a:rPr>
              <a:t>ướ</a:t>
            </a:r>
            <a:r>
              <a:rPr lang="en-US" smtClean="0">
                <a:solidFill>
                  <a:schemeClr val="accent2"/>
                </a:solidFill>
                <a:latin typeface="Arial" charset="0"/>
                <a:cs typeface="Arial" charset="0"/>
              </a:rPr>
              <a:t>c nhảy&gt;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152400" cy="2819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534" name="TextBox 9"/>
          <p:cNvSpPr txBox="1">
            <a:spLocks noChangeArrowheads="1"/>
          </p:cNvSpPr>
          <p:nvPr/>
        </p:nvSpPr>
        <p:spPr bwMode="auto">
          <a:xfrm>
            <a:off x="838200" y="2547937"/>
            <a:ext cx="70104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i;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(i = 0; i &lt; 10; 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i);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(i = 0; i &lt; 10; 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2895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" name="Rectangle 28"/>
          <p:cNvSpPr>
            <a:spLocks/>
          </p:cNvSpPr>
          <p:nvPr/>
        </p:nvSpPr>
        <p:spPr bwMode="auto">
          <a:xfrm>
            <a:off x="0" y="38100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" name="Rectangle 29"/>
          <p:cNvSpPr>
            <a:spLocks/>
          </p:cNvSpPr>
          <p:nvPr/>
        </p:nvSpPr>
        <p:spPr bwMode="auto">
          <a:xfrm>
            <a:off x="3962400" y="2895600"/>
            <a:ext cx="4572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" name="Rectangle 30"/>
          <p:cNvSpPr>
            <a:spLocks/>
          </p:cNvSpPr>
          <p:nvPr/>
        </p:nvSpPr>
        <p:spPr bwMode="auto">
          <a:xfrm>
            <a:off x="1828800" y="4724400"/>
            <a:ext cx="4572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50"/>
          <p:cNvGrpSpPr>
            <a:grpSpLocks/>
          </p:cNvGrpSpPr>
          <p:nvPr/>
        </p:nvGrpSpPr>
        <p:grpSpPr bwMode="auto">
          <a:xfrm>
            <a:off x="4648200" y="2438400"/>
            <a:ext cx="4206875" cy="3103563"/>
            <a:chOff x="4648200" y="2438401"/>
            <a:chExt cx="4206858" cy="3103419"/>
          </a:xfrm>
        </p:grpSpPr>
        <p:sp>
          <p:nvSpPr>
            <p:cNvPr id="33" name="Rectangle 32"/>
            <p:cNvSpPr/>
            <p:nvPr/>
          </p:nvSpPr>
          <p:spPr>
            <a:xfrm>
              <a:off x="7312014" y="4438558"/>
              <a:ext cx="1173158" cy="385745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&lt;Lệnh&gt;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rot="16200000" flipH="1">
              <a:off x="5414973" y="3852798"/>
              <a:ext cx="622271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rot="5400000">
              <a:off x="5519743" y="5333867"/>
              <a:ext cx="414319" cy="158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rot="10800000" flipV="1">
              <a:off x="5726109" y="3798826"/>
              <a:ext cx="1398581" cy="19049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6829416" y="4300453"/>
              <a:ext cx="341312" cy="33494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dk1"/>
                  </a:solidFill>
                  <a:latin typeface="+mn-lt"/>
                  <a:cs typeface="+mn-cs"/>
                </a:rPr>
                <a:t>Đ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381622" y="5127501"/>
              <a:ext cx="315912" cy="33494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b="1">
                  <a:solidFill>
                    <a:schemeClr val="dk1"/>
                  </a:solidFill>
                  <a:latin typeface="+mn-lt"/>
                  <a:cs typeface="+mn-cs"/>
                </a:rPr>
                <a:t>S</a:t>
              </a:r>
            </a:p>
          </p:txBody>
        </p:sp>
        <p:grpSp>
          <p:nvGrpSpPr>
            <p:cNvPr id="22547" name="Group 19"/>
            <p:cNvGrpSpPr>
              <a:grpSpLocks/>
            </p:cNvGrpSpPr>
            <p:nvPr/>
          </p:nvGrpSpPr>
          <p:grpSpPr bwMode="auto">
            <a:xfrm>
              <a:off x="4648200" y="4143715"/>
              <a:ext cx="2165497" cy="993094"/>
              <a:chOff x="332510" y="2909455"/>
              <a:chExt cx="2392680" cy="1097280"/>
            </a:xfrm>
          </p:grpSpPr>
          <p:sp>
            <p:nvSpPr>
              <p:cNvPr id="49" name="Diamond 48"/>
              <p:cNvSpPr/>
              <p:nvPr/>
            </p:nvSpPr>
            <p:spPr>
              <a:xfrm>
                <a:off x="332510" y="2908993"/>
                <a:ext cx="2392508" cy="1097982"/>
              </a:xfrm>
              <a:prstGeom prst="diamond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692088" y="3124731"/>
                <a:ext cx="1752283" cy="6086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>
                    <a:solidFill>
                      <a:srgbClr val="FF66FF"/>
                    </a:solidFill>
                  </a:rPr>
                  <a:t>&lt;Đ/K lặp&gt;</a:t>
                </a:r>
              </a:p>
            </p:txBody>
          </p:sp>
        </p:grpSp>
        <p:grpSp>
          <p:nvGrpSpPr>
            <p:cNvPr id="22548" name="Group 22"/>
            <p:cNvGrpSpPr>
              <a:grpSpLocks/>
            </p:cNvGrpSpPr>
            <p:nvPr/>
          </p:nvGrpSpPr>
          <p:grpSpPr bwMode="auto">
            <a:xfrm>
              <a:off x="4898981" y="2921154"/>
              <a:ext cx="1655157" cy="620684"/>
              <a:chOff x="609600" y="1676400"/>
              <a:chExt cx="1828800" cy="685800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685072" y="1676207"/>
                <a:ext cx="1754038" cy="685800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609648" y="1676207"/>
                <a:ext cx="1829462" cy="685800"/>
              </a:xfrm>
              <a:prstGeom prst="rect">
                <a:avLst/>
              </a:prstGeom>
              <a:ln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>
                    <a:solidFill>
                      <a:srgbClr val="FF0000"/>
                    </a:solidFill>
                  </a:rPr>
                  <a:t>&lt;Khởi </a:t>
                </a:r>
                <a:r>
                  <a:rPr lang="vi-VN">
                    <a:solidFill>
                      <a:srgbClr val="FF0000"/>
                    </a:solidFill>
                  </a:rPr>
                  <a:t>đầ</a:t>
                </a:r>
                <a:r>
                  <a:rPr lang="en-US">
                    <a:solidFill>
                      <a:srgbClr val="FF0000"/>
                    </a:solidFill>
                  </a:rPr>
                  <a:t>u&gt;</a:t>
                </a:r>
                <a:endParaRPr lang="en-US">
                  <a:solidFill>
                    <a:srgbClr val="FF66FF"/>
                  </a:solidFill>
                </a:endParaRPr>
              </a:p>
            </p:txBody>
          </p:sp>
        </p:grpSp>
        <p:cxnSp>
          <p:nvCxnSpPr>
            <p:cNvPr id="41" name="Straight Arrow Connector 40"/>
            <p:cNvCxnSpPr/>
            <p:nvPr/>
          </p:nvCxnSpPr>
          <p:spPr>
            <a:xfrm rot="5400000">
              <a:off x="5485614" y="2678896"/>
              <a:ext cx="482578" cy="158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/>
            <p:cNvCxnSpPr/>
            <p:nvPr/>
          </p:nvCxnSpPr>
          <p:spPr>
            <a:xfrm>
              <a:off x="6816716" y="4632224"/>
              <a:ext cx="482598" cy="1588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51" name="Group 27"/>
            <p:cNvGrpSpPr>
              <a:grpSpLocks/>
            </p:cNvGrpSpPr>
            <p:nvPr/>
          </p:nvGrpSpPr>
          <p:grpSpPr bwMode="auto">
            <a:xfrm>
              <a:off x="6930313" y="3497952"/>
              <a:ext cx="1924745" cy="620684"/>
              <a:chOff x="3048000" y="2667000"/>
              <a:chExt cx="1752600" cy="685800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3048640" y="2666186"/>
                <a:ext cx="1751960" cy="685799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>
                  <a:solidFill>
                    <a:schemeClr val="tx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3048640" y="2666186"/>
                <a:ext cx="1751960" cy="685799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>
                    <a:solidFill>
                      <a:schemeClr val="accent2"/>
                    </a:solidFill>
                  </a:rPr>
                  <a:t>&lt;B</a:t>
                </a:r>
                <a:r>
                  <a:rPr lang="vi-VN">
                    <a:solidFill>
                      <a:schemeClr val="accent2"/>
                    </a:solidFill>
                  </a:rPr>
                  <a:t>ướ</a:t>
                </a:r>
                <a:r>
                  <a:rPr lang="en-US">
                    <a:solidFill>
                      <a:schemeClr val="accent2"/>
                    </a:solidFill>
                  </a:rPr>
                  <a:t>c nhảy&gt;</a:t>
                </a:r>
              </a:p>
            </p:txBody>
          </p:sp>
        </p:grpSp>
        <p:cxnSp>
          <p:nvCxnSpPr>
            <p:cNvPr id="44" name="Straight Arrow Connector 43"/>
            <p:cNvCxnSpPr/>
            <p:nvPr/>
          </p:nvCxnSpPr>
          <p:spPr>
            <a:xfrm rot="16200000" flipV="1">
              <a:off x="7704926" y="4253624"/>
              <a:ext cx="325422" cy="635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Rounded Rectangle 51"/>
          <p:cNvSpPr/>
          <p:nvPr/>
        </p:nvSpPr>
        <p:spPr>
          <a:xfrm>
            <a:off x="6843713" y="3352800"/>
            <a:ext cx="2093912" cy="1600200"/>
          </a:xfrm>
          <a:prstGeom prst="roundRect">
            <a:avLst/>
          </a:prstGeom>
          <a:noFill/>
          <a:ln w="38100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1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9" grpId="0" animBg="1"/>
      <p:bldP spid="29" grpId="1" animBg="1"/>
      <p:bldP spid="30" grpId="0" animBg="1"/>
      <p:bldP spid="31" grpId="0" animBg="1"/>
      <p:bldP spid="5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for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23555" name="Content Placeholder 3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Trong câu lệnh for, có thể sẽ không có phần </a:t>
            </a:r>
            <a:r>
              <a:rPr lang="en-US" smtClean="0">
                <a:solidFill>
                  <a:srgbClr val="FF66FF"/>
                </a:solidFill>
                <a:latin typeface="Arial" charset="0"/>
                <a:cs typeface="Arial" charset="0"/>
              </a:rPr>
              <a:t>&lt;Đ/K lặp&gt;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558" name="TextBox 9"/>
          <p:cNvSpPr txBox="1">
            <a:spLocks noChangeArrowheads="1"/>
          </p:cNvSpPr>
          <p:nvPr/>
        </p:nvSpPr>
        <p:spPr bwMode="auto">
          <a:xfrm>
            <a:off x="838200" y="2514600"/>
            <a:ext cx="70104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i;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(i = 0; 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i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i);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(i = 0; 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i);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(i = 0; 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i &gt;=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2895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810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724400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5334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5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8" grpId="0" animBg="1"/>
      <p:bldP spid="8" grpId="1" animBg="1"/>
      <p:bldP spid="11" grpId="0" animBg="1"/>
      <p:bldP spid="11" grpId="1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for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24579" name="Content Placeholder 3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Lệnh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break</a:t>
            </a:r>
            <a:r>
              <a:rPr lang="en-US" smtClean="0">
                <a:latin typeface="Arial" charset="0"/>
                <a:cs typeface="Arial" charset="0"/>
              </a:rPr>
              <a:t> làm kết thúc câu lệnh.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Lệnh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continue</a:t>
            </a:r>
            <a:r>
              <a:rPr lang="en-US" smtClean="0">
                <a:latin typeface="Arial" charset="0"/>
                <a:cs typeface="Arial" charset="0"/>
              </a:rPr>
              <a:t> bỏ qua lần lặp hiện tại.</a:t>
            </a:r>
          </a:p>
          <a:p>
            <a:pPr eaLnBrk="1" hangingPunct="1"/>
            <a:endParaRPr lang="en-US" smtClean="0">
              <a:solidFill>
                <a:srgbClr val="FF66FF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4582" name="TextBox 9"/>
          <p:cNvSpPr txBox="1">
            <a:spLocks noChangeArrowheads="1"/>
          </p:cNvSpPr>
          <p:nvPr/>
        </p:nvSpPr>
        <p:spPr bwMode="auto">
          <a:xfrm>
            <a:off x="838200" y="2514600"/>
            <a:ext cx="70104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(i = 0; i &lt; 10;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i % 2 ==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break;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(i = 0; i &lt; 10;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(i % 2 == 0)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continue;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2590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200400"/>
            <a:ext cx="9128125" cy="533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724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5334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426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8" grpId="0" animBg="1"/>
      <p:bldP spid="8" grpId="1" animBg="1"/>
      <p:bldP spid="11" grpId="0" animBg="1"/>
      <p:bldP spid="11" grpId="1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for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25603" name="Content Placeholder 3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Không </a:t>
            </a:r>
            <a:r>
              <a:rPr lang="vi-VN" smtClean="0">
                <a:latin typeface="Arial" charset="0"/>
                <a:cs typeface="Arial" charset="0"/>
              </a:rPr>
              <a:t>đượ</a:t>
            </a:r>
            <a:r>
              <a:rPr lang="en-US" smtClean="0">
                <a:latin typeface="Arial" charset="0"/>
                <a:cs typeface="Arial" charset="0"/>
              </a:rPr>
              <a:t>c thêm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;</a:t>
            </a:r>
            <a:r>
              <a:rPr lang="en-US" smtClean="0">
                <a:latin typeface="Arial" charset="0"/>
                <a:cs typeface="Arial" charset="0"/>
              </a:rPr>
              <a:t> ngay sau lệnh lệnh for.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mtClean="0">
                <a:latin typeface="Arial" charset="0"/>
                <a:cs typeface="Arial" charset="0"/>
              </a:rPr>
              <a:t>	=&gt; T</a:t>
            </a:r>
            <a:r>
              <a:rPr lang="vi-VN" smtClean="0">
                <a:latin typeface="Arial" charset="0"/>
                <a:cs typeface="Arial" charset="0"/>
              </a:rPr>
              <a:t>ươ</a:t>
            </a:r>
            <a:r>
              <a:rPr lang="en-US" smtClean="0">
                <a:latin typeface="Arial" charset="0"/>
                <a:cs typeface="Arial" charset="0"/>
              </a:rPr>
              <a:t>ng </a:t>
            </a:r>
            <a:r>
              <a:rPr lang="vi-VN" smtClean="0">
                <a:latin typeface="Arial" charset="0"/>
                <a:cs typeface="Arial" charset="0"/>
              </a:rPr>
              <a:t>đươ</a:t>
            </a:r>
            <a:r>
              <a:rPr lang="en-US" smtClean="0">
                <a:latin typeface="Arial" charset="0"/>
                <a:cs typeface="Arial" charset="0"/>
              </a:rPr>
              <a:t>ng câu lệnh rỗng.</a:t>
            </a:r>
          </a:p>
          <a:p>
            <a:pPr eaLnBrk="1" hangingPunct="1"/>
            <a:endParaRPr lang="en-US" smtClean="0">
              <a:solidFill>
                <a:srgbClr val="FF66FF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06" name="TextBox 9"/>
          <p:cNvSpPr txBox="1">
            <a:spLocks noChangeArrowheads="1"/>
          </p:cNvSpPr>
          <p:nvPr/>
        </p:nvSpPr>
        <p:spPr bwMode="auto">
          <a:xfrm>
            <a:off x="838200" y="2514600"/>
            <a:ext cx="70104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(i = 0; i &lt; 10; i++)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printf(“%d”, 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printf(“\n”);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for (i = 0; i &lt; 10; i++)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printf(“%d”, 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printf(“\n”);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2590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4419600"/>
            <a:ext cx="9128125" cy="914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53340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6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8" grpId="0" animBg="1"/>
      <p:bldP spid="8" grpId="1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for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Các thành phần </a:t>
            </a:r>
            <a:r>
              <a:rPr lang="en-US" smtClean="0">
                <a:solidFill>
                  <a:srgbClr val="FF0000"/>
                </a:solidFill>
              </a:rPr>
              <a:t>&lt;Khởi </a:t>
            </a:r>
            <a:r>
              <a:rPr lang="vi-VN" smtClean="0">
                <a:solidFill>
                  <a:srgbClr val="FF0000"/>
                </a:solidFill>
              </a:rPr>
              <a:t>đầ</a:t>
            </a:r>
            <a:r>
              <a:rPr lang="en-US" smtClean="0">
                <a:solidFill>
                  <a:srgbClr val="FF0000"/>
                </a:solidFill>
              </a:rPr>
              <a:t>u&gt;</a:t>
            </a:r>
            <a:r>
              <a:rPr lang="en-US" smtClean="0"/>
              <a:t>, </a:t>
            </a:r>
            <a:r>
              <a:rPr lang="en-US" smtClean="0">
                <a:solidFill>
                  <a:srgbClr val="FF66FF"/>
                </a:solidFill>
              </a:rPr>
              <a:t>&lt;Đ/K lặp&gt;</a:t>
            </a:r>
            <a:r>
              <a:rPr lang="en-US" smtClean="0"/>
              <a:t>,</a:t>
            </a:r>
            <a:br>
              <a:rPr lang="en-US" smtClean="0"/>
            </a:br>
            <a:r>
              <a:rPr lang="en-US" smtClean="0">
                <a:solidFill>
                  <a:schemeClr val="accent2"/>
                </a:solidFill>
              </a:rPr>
              <a:t>&lt;B</a:t>
            </a:r>
            <a:r>
              <a:rPr lang="vi-VN" smtClean="0">
                <a:solidFill>
                  <a:schemeClr val="accent2"/>
                </a:solidFill>
              </a:rPr>
              <a:t>ướ</a:t>
            </a:r>
            <a:r>
              <a:rPr lang="en-US" smtClean="0">
                <a:solidFill>
                  <a:schemeClr val="accent2"/>
                </a:solidFill>
              </a:rPr>
              <a:t>c nhảy&gt;</a:t>
            </a:r>
            <a:r>
              <a:rPr lang="en-US" smtClean="0"/>
              <a:t> cách nhau bằng dấu </a:t>
            </a:r>
            <a:r>
              <a:rPr lang="en-US" smtClean="0">
                <a:solidFill>
                  <a:srgbClr val="FF0000"/>
                </a:solidFill>
              </a:rPr>
              <a:t>;</a:t>
            </a:r>
          </a:p>
          <a:p>
            <a:pPr eaLnBrk="1" hangingPunct="1">
              <a:defRPr/>
            </a:pPr>
            <a:r>
              <a:rPr lang="en-US" smtClean="0"/>
              <a:t>Nếu có nhiều thành phần trong mỗi phần thì </a:t>
            </a:r>
            <a:r>
              <a:rPr lang="vi-VN" smtClean="0"/>
              <a:t>đượ</a:t>
            </a:r>
            <a:r>
              <a:rPr lang="en-US" smtClean="0"/>
              <a:t>c cách nhau bằng dấu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,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581400"/>
            <a:ext cx="152400" cy="76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38200" y="3581400"/>
            <a:ext cx="746760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for (int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1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j = 2;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i + j &lt; 10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j += 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i + j);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15875" y="3657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037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while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rot="16200000" flipH="1">
            <a:off x="1140619" y="2070894"/>
            <a:ext cx="820738" cy="63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895600" y="2590800"/>
            <a:ext cx="1371600" cy="4270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&lt;Lệnh&gt;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438400" y="2803525"/>
            <a:ext cx="4572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10800000">
            <a:off x="1524000" y="2027238"/>
            <a:ext cx="2057400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3310732" y="2296319"/>
            <a:ext cx="541337" cy="3175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38400" y="2408238"/>
            <a:ext cx="376238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70238"/>
            <a:ext cx="347663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</a:t>
            </a:r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85800" y="2484438"/>
            <a:ext cx="1736725" cy="639762"/>
            <a:chOff x="685800" y="2133600"/>
            <a:chExt cx="1737360" cy="640080"/>
          </a:xfrm>
        </p:grpSpPr>
        <p:sp>
          <p:nvSpPr>
            <p:cNvPr id="12" name="Diamond 11"/>
            <p:cNvSpPr/>
            <p:nvPr/>
          </p:nvSpPr>
          <p:spPr>
            <a:xfrm>
              <a:off x="685800" y="2133600"/>
              <a:ext cx="1737360" cy="64008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00142" y="2252721"/>
              <a:ext cx="1524557" cy="38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rgbClr val="FF66FF"/>
                  </a:solidFill>
                </a:rPr>
                <a:t>&lt;Đ/K lặp&gt;</a:t>
              </a:r>
            </a:p>
          </p:txBody>
        </p:sp>
      </p:grpSp>
      <p:sp>
        <p:nvSpPr>
          <p:cNvPr id="17" name="Content Placeholder 41"/>
          <p:cNvSpPr txBox="1">
            <a:spLocks/>
          </p:cNvSpPr>
          <p:nvPr/>
        </p:nvSpPr>
        <p:spPr bwMode="auto">
          <a:xfrm>
            <a:off x="457200" y="4114800"/>
            <a:ext cx="4038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latin typeface="+mn-lt"/>
                <a:cs typeface="+mn-cs"/>
              </a:rPr>
              <a:t>while (</a:t>
            </a:r>
            <a:r>
              <a:rPr lang="en-US" sz="2400" kern="0">
                <a:solidFill>
                  <a:srgbClr val="FF66FF"/>
                </a:solidFill>
                <a:cs typeface="+mn-cs"/>
              </a:rPr>
              <a:t>&lt;Đ/K lặp&gt;</a:t>
            </a:r>
            <a:r>
              <a:rPr lang="en-US" sz="2800" b="1" kern="0">
                <a:latin typeface="+mn-lt"/>
                <a:cs typeface="+mn-cs"/>
              </a:rPr>
              <a:t>)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latin typeface="+mn-lt"/>
                <a:cs typeface="+mn-cs"/>
              </a:rPr>
              <a:t>		</a:t>
            </a:r>
            <a:r>
              <a:rPr lang="en-US" sz="2800" kern="0">
                <a:solidFill>
                  <a:schemeClr val="tx1">
                    <a:lumMod val="60000"/>
                    <a:lumOff val="40000"/>
                  </a:schemeClr>
                </a:solidFill>
                <a:cs typeface="+mn-cs"/>
              </a:rPr>
              <a:t>&lt;Lệnh&gt;</a:t>
            </a:r>
            <a:r>
              <a:rPr lang="en-US" sz="2800" b="1" kern="0">
                <a:cs typeface="+mn-cs"/>
              </a:rPr>
              <a:t>;</a:t>
            </a:r>
            <a:endParaRPr lang="en-US" sz="2800" kern="0">
              <a:solidFill>
                <a:schemeClr val="tx1">
                  <a:lumMod val="60000"/>
                  <a:lumOff val="40000"/>
                </a:schemeClr>
              </a:solidFill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4648200" y="4876800"/>
            <a:ext cx="3124200" cy="11430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/>
              <a:t>Câu lệnh </a:t>
            </a:r>
            <a:r>
              <a:rPr lang="vi-VN" sz="2000"/>
              <a:t>đơ</a:t>
            </a:r>
            <a:r>
              <a:rPr lang="en-US" sz="2000"/>
              <a:t>n hoặc</a:t>
            </a:r>
          </a:p>
          <a:p>
            <a:pPr>
              <a:defRPr/>
            </a:pPr>
            <a:r>
              <a:rPr lang="en-US" sz="2000"/>
              <a:t>Câu lệnh phức (kẹp</a:t>
            </a:r>
          </a:p>
          <a:p>
            <a:pPr>
              <a:defRPr/>
            </a:pPr>
            <a:r>
              <a:rPr lang="en-US" sz="2000"/>
              <a:t>giữa </a:t>
            </a:r>
            <a:r>
              <a:rPr lang="en-US" sz="2000">
                <a:solidFill>
                  <a:srgbClr val="FF0000"/>
                </a:solidFill>
              </a:rPr>
              <a:t>{</a:t>
            </a:r>
            <a:r>
              <a:rPr lang="en-US" sz="2000"/>
              <a:t> và </a:t>
            </a:r>
            <a:r>
              <a:rPr lang="en-US" sz="2000">
                <a:solidFill>
                  <a:srgbClr val="FF0000"/>
                </a:solidFill>
              </a:rPr>
              <a:t>}</a:t>
            </a:r>
            <a:r>
              <a:rPr lang="en-US" sz="2000"/>
              <a:t>)</a:t>
            </a:r>
          </a:p>
        </p:txBody>
      </p:sp>
      <p:sp>
        <p:nvSpPr>
          <p:cNvPr id="26" name="Freeform 9"/>
          <p:cNvSpPr>
            <a:spLocks/>
          </p:cNvSpPr>
          <p:nvPr/>
        </p:nvSpPr>
        <p:spPr bwMode="gray">
          <a:xfrm rot="10800000">
            <a:off x="2819400" y="3429000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" name="Rounded Rectangle 26"/>
          <p:cNvSpPr/>
          <p:nvPr/>
        </p:nvSpPr>
        <p:spPr bwMode="auto">
          <a:xfrm>
            <a:off x="4648200" y="3124200"/>
            <a:ext cx="3124200" cy="13716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/>
              <a:t>Biểu thức C bất kỳ,</a:t>
            </a:r>
          </a:p>
          <a:p>
            <a:pPr>
              <a:defRPr/>
            </a:pPr>
            <a:r>
              <a:rPr lang="en-US" sz="2000"/>
              <a:t>th</a:t>
            </a:r>
            <a:r>
              <a:rPr lang="vi-VN" sz="2000"/>
              <a:t>ườ</a:t>
            </a:r>
            <a:r>
              <a:rPr lang="en-US" sz="2000"/>
              <a:t>ng là biểu thức</a:t>
            </a:r>
          </a:p>
          <a:p>
            <a:pPr>
              <a:defRPr/>
            </a:pPr>
            <a:r>
              <a:rPr lang="en-US" sz="2000"/>
              <a:t>quan hệ cho kết quả</a:t>
            </a:r>
          </a:p>
          <a:p>
            <a:pPr>
              <a:defRPr/>
            </a:pPr>
            <a:r>
              <a:rPr lang="en-US" sz="2000">
                <a:solidFill>
                  <a:srgbClr val="FF0000"/>
                </a:solidFill>
              </a:rPr>
              <a:t>0</a:t>
            </a:r>
            <a:r>
              <a:rPr lang="en-US" sz="2000"/>
              <a:t> (sai) và </a:t>
            </a:r>
            <a:r>
              <a:rPr lang="en-US" sz="2000">
                <a:solidFill>
                  <a:srgbClr val="FF0000"/>
                </a:solidFill>
              </a:rPr>
              <a:t>!= 0</a:t>
            </a:r>
            <a:r>
              <a:rPr lang="en-US" sz="2000"/>
              <a:t> (</a:t>
            </a:r>
            <a:r>
              <a:rPr lang="vi-VN" sz="2000"/>
              <a:t>đú</a:t>
            </a:r>
            <a:r>
              <a:rPr lang="en-US" sz="2000"/>
              <a:t>ng)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16200000" flipH="1">
            <a:off x="1300163" y="3371850"/>
            <a:ext cx="501650" cy="63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9"/>
          <p:cNvSpPr>
            <a:spLocks/>
          </p:cNvSpPr>
          <p:nvPr/>
        </p:nvSpPr>
        <p:spPr bwMode="gray">
          <a:xfrm rot="10800000" flipV="1">
            <a:off x="2800350" y="4800600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0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  <p:bldP spid="18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while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24000"/>
            <a:ext cx="152400" cy="5105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1524000"/>
            <a:ext cx="7010400" cy="5016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i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printf(“%d\n”, i);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for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i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printf(“%d\n”, i);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for (; 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i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printf(“%d\n”, i);</a:t>
            </a: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1905000"/>
            <a:ext cx="9128125" cy="1447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15875" y="2438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743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3733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648200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1600200"/>
            <a:ext cx="9128125" cy="1752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06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while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2969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Câu lệnh </a:t>
            </a:r>
            <a:r>
              <a:rPr lang="vi-VN" smtClean="0">
                <a:solidFill>
                  <a:srgbClr val="FF0000"/>
                </a:solidFill>
                <a:latin typeface="Arial" charset="0"/>
                <a:cs typeface="Arial" charset="0"/>
              </a:rPr>
              <a:t>w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hile</a:t>
            </a:r>
            <a:r>
              <a:rPr lang="en-US" smtClean="0">
                <a:latin typeface="Arial" charset="0"/>
                <a:cs typeface="Arial" charset="0"/>
              </a:rPr>
              <a:t> là một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câu lệnh </a:t>
            </a:r>
            <a:r>
              <a:rPr lang="vi-VN" smtClean="0">
                <a:solidFill>
                  <a:srgbClr val="FF0000"/>
                </a:solidFill>
                <a:latin typeface="Arial" charset="0"/>
                <a:cs typeface="Arial" charset="0"/>
              </a:rPr>
              <a:t>đơ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n </a:t>
            </a:r>
            <a:r>
              <a:rPr lang="en-US" smtClean="0">
                <a:latin typeface="Arial" charset="0"/>
                <a:cs typeface="Arial" charset="0"/>
              </a:rPr>
              <a:t>và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có thể lồng nhau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152400" cy="3733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838200" y="2514600"/>
            <a:ext cx="7010400" cy="378565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if (n &lt; 10 &amp;&amp; m &lt; 20)</a:t>
            </a:r>
          </a:p>
          <a:p>
            <a:pPr>
              <a:defRPr/>
            </a:pPr>
            <a:r>
              <a:rPr lang="en-US" sz="2000" b="1" strike="sngStrike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while (n &gt;= 1)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while (m &gt;= 1)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printf(“%d”, m);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	m--;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	n--;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sz="2000" b="1" strike="sngStrike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3200400"/>
            <a:ext cx="9128125" cy="2743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2895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5943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8100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8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1" grpId="0" animBg="1"/>
      <p:bldP spid="11" grpId="1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while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30723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Câu lệnh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while</a:t>
            </a:r>
            <a:r>
              <a:rPr lang="en-US" smtClean="0">
                <a:latin typeface="Arial" charset="0"/>
                <a:cs typeface="Arial" charset="0"/>
              </a:rPr>
              <a:t>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có thể không thực hiện lần nào</a:t>
            </a:r>
            <a:r>
              <a:rPr lang="en-US" smtClean="0">
                <a:latin typeface="Arial" charset="0"/>
                <a:cs typeface="Arial" charset="0"/>
              </a:rPr>
              <a:t> do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điều kiện lặp</a:t>
            </a:r>
            <a:r>
              <a:rPr lang="en-US" smtClean="0">
                <a:latin typeface="Arial" charset="0"/>
                <a:cs typeface="Arial" charset="0"/>
              </a:rPr>
              <a:t> ngay từ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lần đầu</a:t>
            </a:r>
            <a:r>
              <a:rPr lang="en-US" smtClean="0">
                <a:latin typeface="Arial" charset="0"/>
                <a:cs typeface="Arial" charset="0"/>
              </a:rPr>
              <a:t> đã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không thỏa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152400" cy="3124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726" name="TextBox 9"/>
          <p:cNvSpPr txBox="1">
            <a:spLocks noChangeArrowheads="1"/>
          </p:cNvSpPr>
          <p:nvPr/>
        </p:nvSpPr>
        <p:spPr bwMode="auto">
          <a:xfrm>
            <a:off x="838200" y="2514600"/>
            <a:ext cx="70104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&gt;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printf(“%d\n”,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n--;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200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505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029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29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8" grpId="0" animBg="1"/>
      <p:bldP spid="8" grpId="1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for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31747" name="Content Placeholder 3"/>
          <p:cNvSpPr>
            <a:spLocks noGrp="1"/>
          </p:cNvSpPr>
          <p:nvPr>
            <p:ph idx="4294967295"/>
          </p:nvPr>
        </p:nvSpPr>
        <p:spPr>
          <a:xfrm>
            <a:off x="0" y="1219200"/>
            <a:ext cx="8839200" cy="490696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Không </a:t>
            </a:r>
            <a:r>
              <a:rPr lang="vi-VN" smtClean="0">
                <a:latin typeface="Arial" charset="0"/>
                <a:cs typeface="Arial" charset="0"/>
              </a:rPr>
              <a:t>đượ</a:t>
            </a:r>
            <a:r>
              <a:rPr lang="en-US" smtClean="0">
                <a:latin typeface="Arial" charset="0"/>
                <a:cs typeface="Arial" charset="0"/>
              </a:rPr>
              <a:t>c thêm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;</a:t>
            </a:r>
            <a:r>
              <a:rPr lang="en-US" smtClean="0">
                <a:latin typeface="Arial" charset="0"/>
                <a:cs typeface="Arial" charset="0"/>
              </a:rPr>
              <a:t> ngay sau lệnh lệnh while.</a:t>
            </a:r>
            <a:endParaRPr lang="en-US" smtClean="0">
              <a:solidFill>
                <a:srgbClr val="FF66FF"/>
              </a:solidFill>
              <a:latin typeface="Arial" charset="0"/>
              <a:cs typeface="Arial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2133600"/>
            <a:ext cx="152400" cy="434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750" name="TextBox 9"/>
          <p:cNvSpPr txBox="1">
            <a:spLocks noChangeArrowheads="1"/>
          </p:cNvSpPr>
          <p:nvPr/>
        </p:nvSpPr>
        <p:spPr bwMode="auto">
          <a:xfrm>
            <a:off x="838200" y="21336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n = 0;</a:t>
            </a:r>
          </a:p>
          <a:p>
            <a:pPr eaLnBrk="1" hangingPunct="1"/>
            <a:r>
              <a:rPr lang="vi-VN" sz="2000" b="1">
                <a:latin typeface="Courier New" pitchFamily="49" charset="0"/>
                <a:cs typeface="Courier New" pitchFamily="49" charset="0"/>
              </a:rPr>
              <a:t>w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hile (n &lt; 10)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n++;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vi-VN" sz="2000" b="1">
                <a:latin typeface="Courier New" pitchFamily="49" charset="0"/>
                <a:cs typeface="Courier New" pitchFamily="49" charset="0"/>
              </a:rPr>
              <a:t>w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hile (n &lt; 10)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printf(“%d\n”,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n++;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0" y="2514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4343400"/>
            <a:ext cx="9128125" cy="914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52578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34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8" grpId="0" animBg="1"/>
      <p:bldP spid="8" grpId="1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while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3277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Câu lệnh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while</a:t>
            </a:r>
            <a:r>
              <a:rPr lang="en-US" smtClean="0">
                <a:latin typeface="Arial" charset="0"/>
                <a:cs typeface="Arial" charset="0"/>
              </a:rPr>
              <a:t> có thể bị lặp vô tận (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loop</a:t>
            </a:r>
            <a:r>
              <a:rPr lang="en-US" smtClean="0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09800"/>
            <a:ext cx="152400" cy="3962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774" name="TextBox 9"/>
          <p:cNvSpPr txBox="1">
            <a:spLocks noChangeArrowheads="1"/>
          </p:cNvSpPr>
          <p:nvPr/>
        </p:nvSpPr>
        <p:spPr bwMode="auto">
          <a:xfrm>
            <a:off x="838200" y="2209800"/>
            <a:ext cx="70104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n--;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895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200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114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029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5334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76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8" grpId="0" animBg="1"/>
      <p:bldP spid="8" grpId="1" animBg="1"/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do… while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rot="16200000" flipH="1">
            <a:off x="1222375" y="1703388"/>
            <a:ext cx="668338" cy="476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914400" y="2057400"/>
            <a:ext cx="1371600" cy="42703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>
                    <a:lumMod val="60000"/>
                    <a:lumOff val="40000"/>
                  </a:schemeClr>
                </a:solidFill>
              </a:rPr>
              <a:t>&lt;Lệnh&gt;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rot="10800000">
            <a:off x="1524000" y="1676400"/>
            <a:ext cx="2057400" cy="158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438400" y="3200400"/>
            <a:ext cx="1143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" y="3535363"/>
            <a:ext cx="347663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400" y="2819400"/>
            <a:ext cx="3762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="1">
                <a:solidFill>
                  <a:schemeClr val="dk1"/>
                </a:solidFill>
                <a:latin typeface="+mn-lt"/>
                <a:cs typeface="+mn-cs"/>
              </a:rPr>
              <a:t>Đ</a:t>
            </a:r>
          </a:p>
        </p:txBody>
      </p: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685800" y="2895600"/>
            <a:ext cx="1736725" cy="639763"/>
            <a:chOff x="685800" y="2133600"/>
            <a:chExt cx="1737360" cy="640080"/>
          </a:xfrm>
        </p:grpSpPr>
        <p:sp>
          <p:nvSpPr>
            <p:cNvPr id="12" name="Diamond 11"/>
            <p:cNvSpPr/>
            <p:nvPr/>
          </p:nvSpPr>
          <p:spPr>
            <a:xfrm>
              <a:off x="685800" y="2133600"/>
              <a:ext cx="1737360" cy="640080"/>
            </a:xfrm>
            <a:prstGeom prst="diamon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800142" y="2252722"/>
              <a:ext cx="1524557" cy="38118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rgbClr val="FF66FF"/>
                  </a:solidFill>
                </a:rPr>
                <a:t>&lt;Đ/K lặp&gt;</a:t>
              </a:r>
            </a:p>
          </p:txBody>
        </p:sp>
      </p:grpSp>
      <p:sp>
        <p:nvSpPr>
          <p:cNvPr id="17" name="Content Placeholder 41"/>
          <p:cNvSpPr txBox="1">
            <a:spLocks/>
          </p:cNvSpPr>
          <p:nvPr/>
        </p:nvSpPr>
        <p:spPr bwMode="auto">
          <a:xfrm>
            <a:off x="457200" y="4114800"/>
            <a:ext cx="4038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2800" b="1" kern="0">
                <a:latin typeface="+mn-lt"/>
                <a:cs typeface="+mn-cs"/>
              </a:rPr>
              <a:t>do</a:t>
            </a: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cs typeface="+mn-cs"/>
              </a:rPr>
              <a:t>		</a:t>
            </a:r>
            <a:r>
              <a:rPr lang="en-US" sz="2800" kern="0">
                <a:solidFill>
                  <a:schemeClr val="tx1">
                    <a:lumMod val="60000"/>
                    <a:lumOff val="40000"/>
                  </a:schemeClr>
                </a:solidFill>
                <a:cs typeface="+mn-cs"/>
              </a:rPr>
              <a:t>&lt;Lệnh&gt;</a:t>
            </a:r>
            <a:r>
              <a:rPr lang="en-US" sz="2800" b="1" kern="0">
                <a:cs typeface="+mn-cs"/>
              </a:rPr>
              <a:t>;</a:t>
            </a:r>
            <a:endParaRPr lang="en-US" sz="2800" kern="0">
              <a:solidFill>
                <a:schemeClr val="tx1">
                  <a:lumMod val="60000"/>
                  <a:lumOff val="40000"/>
                </a:schemeClr>
              </a:solidFill>
              <a:cs typeface="+mn-cs"/>
            </a:endParaRPr>
          </a:p>
          <a:p>
            <a:pPr marL="342900" indent="-342900">
              <a:spcBef>
                <a:spcPct val="20000"/>
              </a:spcBef>
              <a:buClr>
                <a:schemeClr val="hlink"/>
              </a:buClr>
              <a:defRPr/>
            </a:pPr>
            <a:r>
              <a:rPr lang="en-US" sz="2800" b="1" kern="0">
                <a:latin typeface="+mn-lt"/>
                <a:cs typeface="+mn-cs"/>
              </a:rPr>
              <a:t>while (</a:t>
            </a:r>
            <a:r>
              <a:rPr lang="en-US" sz="2400" kern="0">
                <a:solidFill>
                  <a:srgbClr val="FF66FF"/>
                </a:solidFill>
                <a:cs typeface="+mn-cs"/>
              </a:rPr>
              <a:t>&lt;Đ/K lặp&gt;</a:t>
            </a:r>
            <a:r>
              <a:rPr lang="en-US" sz="2800" b="1" kern="0">
                <a:latin typeface="+mn-lt"/>
                <a:cs typeface="+mn-cs"/>
              </a:rPr>
              <a:t>);</a:t>
            </a:r>
          </a:p>
        </p:txBody>
      </p:sp>
      <p:sp>
        <p:nvSpPr>
          <p:cNvPr id="18" name="Rounded Rectangle 17"/>
          <p:cNvSpPr/>
          <p:nvPr/>
        </p:nvSpPr>
        <p:spPr bwMode="auto">
          <a:xfrm>
            <a:off x="4648200" y="3505200"/>
            <a:ext cx="3124200" cy="11430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/>
              <a:t>Câu lệnh </a:t>
            </a:r>
            <a:r>
              <a:rPr lang="vi-VN" sz="2000"/>
              <a:t>đơ</a:t>
            </a:r>
            <a:r>
              <a:rPr lang="en-US" sz="2000"/>
              <a:t>n hoặc</a:t>
            </a:r>
          </a:p>
          <a:p>
            <a:pPr>
              <a:defRPr/>
            </a:pPr>
            <a:r>
              <a:rPr lang="en-US" sz="2000"/>
              <a:t>Câu lệnh phức (kẹp</a:t>
            </a:r>
          </a:p>
          <a:p>
            <a:pPr>
              <a:defRPr/>
            </a:pPr>
            <a:r>
              <a:rPr lang="en-US" sz="2000"/>
              <a:t>giữa </a:t>
            </a:r>
            <a:r>
              <a:rPr lang="en-US" sz="2000">
                <a:solidFill>
                  <a:srgbClr val="FF0000"/>
                </a:solidFill>
              </a:rPr>
              <a:t>{</a:t>
            </a:r>
            <a:r>
              <a:rPr lang="en-US" sz="2000"/>
              <a:t> và </a:t>
            </a:r>
            <a:r>
              <a:rPr lang="en-US" sz="2000">
                <a:solidFill>
                  <a:srgbClr val="FF0000"/>
                </a:solidFill>
              </a:rPr>
              <a:t>}</a:t>
            </a:r>
            <a:r>
              <a:rPr lang="en-US" sz="2000"/>
              <a:t>)</a:t>
            </a:r>
          </a:p>
        </p:txBody>
      </p:sp>
      <p:sp>
        <p:nvSpPr>
          <p:cNvPr id="26" name="Freeform 9"/>
          <p:cNvSpPr>
            <a:spLocks/>
          </p:cNvSpPr>
          <p:nvPr/>
        </p:nvSpPr>
        <p:spPr bwMode="gray">
          <a:xfrm rot="10800000">
            <a:off x="2819400" y="3810000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" name="Rounded Rectangle 26"/>
          <p:cNvSpPr/>
          <p:nvPr/>
        </p:nvSpPr>
        <p:spPr bwMode="auto">
          <a:xfrm>
            <a:off x="4648200" y="4953000"/>
            <a:ext cx="3124200" cy="1371600"/>
          </a:xfrm>
          <a:prstGeom prst="roundRect">
            <a:avLst/>
          </a:prstGeom>
          <a:ln>
            <a:solidFill>
              <a:schemeClr val="bg2">
                <a:lumMod val="60000"/>
                <a:lumOff val="40000"/>
              </a:schemeClr>
            </a:solidFill>
            <a:prstDash val="sysDash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r>
              <a:rPr lang="en-US" sz="2000"/>
              <a:t>Biểu thức C bất kỳ,</a:t>
            </a:r>
          </a:p>
          <a:p>
            <a:pPr>
              <a:defRPr/>
            </a:pPr>
            <a:r>
              <a:rPr lang="en-US" sz="2000"/>
              <a:t>th</a:t>
            </a:r>
            <a:r>
              <a:rPr lang="vi-VN" sz="2000"/>
              <a:t>ườ</a:t>
            </a:r>
            <a:r>
              <a:rPr lang="en-US" sz="2000"/>
              <a:t>ng là biểu thức</a:t>
            </a:r>
          </a:p>
          <a:p>
            <a:pPr>
              <a:defRPr/>
            </a:pPr>
            <a:r>
              <a:rPr lang="en-US" sz="2000"/>
              <a:t>quan hệ cho kết quả</a:t>
            </a:r>
          </a:p>
          <a:p>
            <a:pPr>
              <a:defRPr/>
            </a:pPr>
            <a:r>
              <a:rPr lang="en-US" sz="2000">
                <a:solidFill>
                  <a:srgbClr val="FF0000"/>
                </a:solidFill>
              </a:rPr>
              <a:t>0</a:t>
            </a:r>
            <a:r>
              <a:rPr lang="en-US" sz="2000"/>
              <a:t> (sai) và </a:t>
            </a:r>
            <a:r>
              <a:rPr lang="en-US" sz="2000">
                <a:solidFill>
                  <a:srgbClr val="FF0000"/>
                </a:solidFill>
              </a:rPr>
              <a:t>!= 0</a:t>
            </a:r>
            <a:r>
              <a:rPr lang="en-US" sz="2000"/>
              <a:t> (</a:t>
            </a:r>
            <a:r>
              <a:rPr lang="vi-VN" sz="2000"/>
              <a:t>đú</a:t>
            </a:r>
            <a:r>
              <a:rPr lang="en-US" sz="2000"/>
              <a:t>ng)</a:t>
            </a:r>
          </a:p>
        </p:txBody>
      </p:sp>
      <p:cxnSp>
        <p:nvCxnSpPr>
          <p:cNvPr id="22" name="Straight Arrow Connector 21"/>
          <p:cNvCxnSpPr/>
          <p:nvPr/>
        </p:nvCxnSpPr>
        <p:spPr>
          <a:xfrm rot="16200000" flipH="1">
            <a:off x="1300163" y="3783013"/>
            <a:ext cx="501650" cy="635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 9"/>
          <p:cNvSpPr>
            <a:spLocks/>
          </p:cNvSpPr>
          <p:nvPr/>
        </p:nvSpPr>
        <p:spPr bwMode="gray">
          <a:xfrm rot="10800000" flipV="1">
            <a:off x="2819400" y="5562600"/>
            <a:ext cx="1828800" cy="914400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en-US"/>
          </a:p>
        </p:txBody>
      </p:sp>
      <p:cxnSp>
        <p:nvCxnSpPr>
          <p:cNvPr id="21" name="Straight Arrow Connector 20"/>
          <p:cNvCxnSpPr/>
          <p:nvPr/>
        </p:nvCxnSpPr>
        <p:spPr>
          <a:xfrm rot="16200000" flipH="1">
            <a:off x="1336675" y="2687638"/>
            <a:ext cx="439738" cy="476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5400000">
            <a:off x="2820194" y="2437606"/>
            <a:ext cx="1524000" cy="158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5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50"/>
                            </p:stCondLst>
                            <p:childTnLst>
                              <p:par>
                                <p:cTn id="59" presetID="45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350"/>
                            </p:stCondLst>
                            <p:childTnLst>
                              <p:par>
                                <p:cTn id="6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/>
      <p:bldP spid="18" grpId="0" animBg="1"/>
      <p:bldP spid="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Câu lệnh do… while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24000"/>
            <a:ext cx="152400" cy="5105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1524000"/>
            <a:ext cx="7010400" cy="5016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do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printf(“%d\n”, i);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i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 i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printf(“%d\n”, i);</a:t>
            </a:r>
          </a:p>
          <a:p>
            <a:pPr>
              <a:defRPr/>
            </a:pP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i++;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for (; </a:t>
            </a:r>
            <a:r>
              <a:rPr lang="en-US" sz="2000" b="1">
                <a:solidFill>
                  <a:srgbClr val="FF66FF"/>
                </a:solidFill>
                <a:latin typeface="Courier New" pitchFamily="49" charset="0"/>
                <a:cs typeface="Courier New" pitchFamily="49" charset="0"/>
              </a:rPr>
              <a:t>i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)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printf(“%d\n”, i);</a:t>
            </a:r>
          </a:p>
          <a:p>
            <a:pPr>
              <a:defRPr/>
            </a:pP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solidFill>
                  <a:schemeClr val="tx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5875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15875" y="1905000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b="1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2514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15875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038600"/>
            <a:ext cx="9128125" cy="2438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15875" y="4343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49530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4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mtClean="0"/>
              <a:t>Câu lệnh do… while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35843" name="Content Placeholder 3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Câu lệnh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do… while</a:t>
            </a:r>
            <a:r>
              <a:rPr lang="en-US" smtClean="0">
                <a:latin typeface="Arial" charset="0"/>
                <a:cs typeface="Arial" charset="0"/>
              </a:rPr>
              <a:t> là một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câu lệnh </a:t>
            </a:r>
            <a:r>
              <a:rPr lang="vi-VN" smtClean="0">
                <a:solidFill>
                  <a:srgbClr val="FF0000"/>
                </a:solidFill>
                <a:latin typeface="Arial" charset="0"/>
                <a:cs typeface="Arial" charset="0"/>
              </a:rPr>
              <a:t>đơ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n </a:t>
            </a:r>
            <a:r>
              <a:rPr lang="en-US" smtClean="0">
                <a:latin typeface="Arial" charset="0"/>
                <a:cs typeface="Arial" charset="0"/>
              </a:rPr>
              <a:t>và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có thể lồng nhau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5146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6" name="TextBox 9"/>
          <p:cNvSpPr txBox="1">
            <a:spLocks noChangeArrowheads="1"/>
          </p:cNvSpPr>
          <p:nvPr/>
        </p:nvSpPr>
        <p:spPr bwMode="auto">
          <a:xfrm>
            <a:off x="838200" y="2514600"/>
            <a:ext cx="70104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a = 1, b;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do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b = 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printf(“%d\n”, a + b);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b = b + 2;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(b &lt; 20);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a++;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while (a &lt; 20);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895600"/>
            <a:ext cx="9128125" cy="3657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810000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27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8001000" cy="5635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Câu lệnh do… while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36867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Câu lệnh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do… while</a:t>
            </a:r>
            <a:r>
              <a:rPr lang="en-US" smtClean="0">
                <a:latin typeface="Arial" charset="0"/>
                <a:cs typeface="Arial" charset="0"/>
              </a:rPr>
              <a:t>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sẽ được thực hiện ít nhất 1 lần </a:t>
            </a:r>
            <a:r>
              <a:rPr lang="en-US" smtClean="0">
                <a:latin typeface="Arial" charset="0"/>
                <a:cs typeface="Arial" charset="0"/>
              </a:rPr>
              <a:t>do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điều kiện lặp </a:t>
            </a:r>
            <a:r>
              <a:rPr lang="vi-VN" smtClean="0">
                <a:solidFill>
                  <a:srgbClr val="FF0000"/>
                </a:solidFill>
                <a:latin typeface="Arial" charset="0"/>
                <a:cs typeface="Arial" charset="0"/>
              </a:rPr>
              <a:t>đượ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c kiểm tra ở cuối</a:t>
            </a:r>
            <a:r>
              <a:rPr lang="en-US" smtClean="0">
                <a:latin typeface="Arial" charset="0"/>
                <a:cs typeface="Arial" charset="0"/>
              </a:rPr>
              <a:t>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48000"/>
            <a:ext cx="152400" cy="3124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870" name="TextBox 9"/>
          <p:cNvSpPr txBox="1">
            <a:spLocks noChangeArrowheads="1"/>
          </p:cNvSpPr>
          <p:nvPr/>
        </p:nvSpPr>
        <p:spPr bwMode="auto">
          <a:xfrm>
            <a:off x="838200" y="3078162"/>
            <a:ext cx="7010400" cy="317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scanf(“%d”, &amp;n);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&lt; 1 || n &gt; 100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4038600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4114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5029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195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mtClean="0"/>
              <a:t>Câu lệnh do… while - Một số l</a:t>
            </a:r>
            <a:r>
              <a:rPr lang="vi-VN" smtClean="0"/>
              <a:t>ư</a:t>
            </a:r>
            <a:r>
              <a:rPr lang="en-US" smtClean="0"/>
              <a:t>u ý</a:t>
            </a:r>
          </a:p>
        </p:txBody>
      </p:sp>
      <p:sp>
        <p:nvSpPr>
          <p:cNvPr id="37891" name="Content Placeholder 3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800" smtClean="0">
                <a:latin typeface="Arial" charset="0"/>
                <a:cs typeface="Arial" charset="0"/>
              </a:rPr>
              <a:t>Câu lệnh </a:t>
            </a:r>
            <a:r>
              <a:rPr lang="en-US" sz="2800" smtClean="0">
                <a:solidFill>
                  <a:srgbClr val="FF0000"/>
                </a:solidFill>
                <a:latin typeface="Arial" charset="0"/>
                <a:cs typeface="Arial" charset="0"/>
              </a:rPr>
              <a:t>do… while</a:t>
            </a:r>
            <a:r>
              <a:rPr lang="en-US" sz="2800" smtClean="0">
                <a:latin typeface="Arial" charset="0"/>
                <a:cs typeface="Arial" charset="0"/>
              </a:rPr>
              <a:t> có thể bị lặp vô tận (</a:t>
            </a:r>
            <a:r>
              <a:rPr lang="en-US" sz="2800" smtClean="0">
                <a:solidFill>
                  <a:srgbClr val="FF0000"/>
                </a:solidFill>
                <a:latin typeface="Arial" charset="0"/>
                <a:cs typeface="Arial" charset="0"/>
              </a:rPr>
              <a:t>loop</a:t>
            </a:r>
            <a:r>
              <a:rPr lang="en-US" sz="2800" smtClean="0">
                <a:latin typeface="Arial" charset="0"/>
                <a:cs typeface="Arial" charset="0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09800"/>
            <a:ext cx="152400" cy="426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4" name="TextBox 9"/>
          <p:cNvSpPr txBox="1">
            <a:spLocks noChangeArrowheads="1"/>
          </p:cNvSpPr>
          <p:nvPr/>
        </p:nvSpPr>
        <p:spPr bwMode="auto">
          <a:xfrm>
            <a:off x="838200" y="22098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n--;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590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2895600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5029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334000"/>
            <a:ext cx="9128125" cy="914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49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8" grpId="0" animBg="1"/>
      <p:bldP spid="8" grpId="1" animBg="1"/>
      <p:bldP spid="12" grpId="0" animBg="1"/>
      <p:bldP spid="12" grpId="1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mtClean="0"/>
              <a:t>for, while, do… while</a:t>
            </a:r>
          </a:p>
        </p:txBody>
      </p:sp>
      <p:sp>
        <p:nvSpPr>
          <p:cNvPr id="38915" name="Content Placeholder 3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Đều có khả năng lặp lại nhiều hành động.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09800"/>
            <a:ext cx="152400" cy="434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918" name="TextBox 9"/>
          <p:cNvSpPr txBox="1">
            <a:spLocks noChangeArrowheads="1"/>
          </p:cNvSpPr>
          <p:nvPr/>
        </p:nvSpPr>
        <p:spPr bwMode="auto">
          <a:xfrm>
            <a:off x="838200" y="22098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 &lt;=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printf(“%d\n”, 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&lt;=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printf(“%d\n”, i);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=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 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printf(“%d\n”, i); i++;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 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&lt;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286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2590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429000"/>
            <a:ext cx="9128125" cy="1600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3340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0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8" grpId="0" animBg="1"/>
      <p:bldP spid="8" grpId="1" animBg="1"/>
      <p:bldP spid="12" grpId="0" animBg="1"/>
      <p:bldP spid="12" grpId="1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mtClean="0"/>
              <a:t>for, while, do… while</a:t>
            </a:r>
          </a:p>
        </p:txBody>
      </p:sp>
      <p:sp>
        <p:nvSpPr>
          <p:cNvPr id="39939" name="Content Placeholder 3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Số lần lặp xác định ngay trong câu lệnh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for</a:t>
            </a:r>
            <a:endParaRPr lang="en-US" smtClean="0">
              <a:latin typeface="Arial" charset="0"/>
              <a:cs typeface="Arial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2209800"/>
            <a:ext cx="152400" cy="4343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942" name="TextBox 9"/>
          <p:cNvSpPr txBox="1">
            <a:spLocks noChangeArrowheads="1"/>
          </p:cNvSpPr>
          <p:nvPr/>
        </p:nvSpPr>
        <p:spPr bwMode="auto">
          <a:xfrm>
            <a:off x="838200" y="2209800"/>
            <a:ext cx="70104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(int i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 &lt;=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i++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…;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 = 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w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&lt;=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…;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i = 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 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…;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 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&gt;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286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2590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3429000"/>
            <a:ext cx="9128125" cy="1600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3340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6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8" grpId="0" animBg="1"/>
      <p:bldP spid="8" grpId="1" animBg="1"/>
      <p:bldP spid="12" grpId="0" animBg="1"/>
      <p:bldP spid="12" grpId="1" animBg="1"/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smtClean="0"/>
              <a:t>while &amp; do… while</a:t>
            </a:r>
          </a:p>
        </p:txBody>
      </p:sp>
      <p:sp>
        <p:nvSpPr>
          <p:cNvPr id="40963" name="Content Placeholder 3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while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có thể không thực hiện lần nào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do… while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sẽ được thực hiện ít nhất 1 lần</a:t>
            </a:r>
            <a:r>
              <a:rPr lang="en-US" smtClean="0">
                <a:latin typeface="Arial" charset="0"/>
                <a:cs typeface="Arial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743200"/>
            <a:ext cx="152400" cy="3733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966" name="TextBox 9"/>
          <p:cNvSpPr txBox="1">
            <a:spLocks noChangeArrowheads="1"/>
          </p:cNvSpPr>
          <p:nvPr/>
        </p:nvSpPr>
        <p:spPr bwMode="auto">
          <a:xfrm>
            <a:off x="838200" y="2743200"/>
            <a:ext cx="70104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int n = 100;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&lt;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do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&gt; 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5257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6172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endParaRPr lang="en-US" dirty="0"/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984250" y="1600200"/>
            <a:ext cx="7854950" cy="4648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dirty="0" err="1" smtClean="0"/>
              <a:t>Nhóm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</a:t>
            </a:r>
            <a:r>
              <a:rPr lang="en-US" dirty="0" err="1" smtClean="0">
                <a:latin typeface="Times New Roman" pitchFamily="18" charset="0"/>
              </a:rPr>
              <a:t>ệnh</a:t>
            </a:r>
            <a:r>
              <a:rPr lang="en-US" dirty="0" smtClean="0">
                <a:latin typeface="VNI-Times" pitchFamily="2" charset="0"/>
              </a:rPr>
              <a:t> </a:t>
            </a:r>
            <a:r>
              <a:rPr lang="en-US" b="1" i="1" dirty="0" err="1">
                <a:solidFill>
                  <a:schemeClr val="tx2"/>
                </a:solidFill>
                <a:latin typeface="Times New Roman" pitchFamily="18" charset="0"/>
              </a:rPr>
              <a:t>goto</a:t>
            </a:r>
            <a:r>
              <a:rPr lang="en-US" b="1" i="1" dirty="0">
                <a:solidFill>
                  <a:schemeClr val="tx2"/>
                </a:solidFill>
                <a:latin typeface="VNI-Times" pitchFamily="2" charset="0"/>
              </a:rPr>
              <a:t>, </a:t>
            </a:r>
            <a:r>
              <a:rPr lang="en-US" b="1" i="1" dirty="0">
                <a:solidFill>
                  <a:schemeClr val="tx2"/>
                </a:solidFill>
                <a:latin typeface="Times New Roman" pitchFamily="18" charset="0"/>
              </a:rPr>
              <a:t>break</a:t>
            </a:r>
            <a:r>
              <a:rPr lang="en-US" b="1" i="1" dirty="0">
                <a:solidFill>
                  <a:schemeClr val="tx2"/>
                </a:solidFill>
                <a:latin typeface="VNI-Times" pitchFamily="2" charset="0"/>
              </a:rPr>
              <a:t>, </a:t>
            </a:r>
            <a:r>
              <a:rPr lang="en-US" b="1" i="1" dirty="0">
                <a:solidFill>
                  <a:schemeClr val="tx2"/>
                </a:solidFill>
                <a:latin typeface="Times New Roman" pitchFamily="18" charset="0"/>
              </a:rPr>
              <a:t>continue</a:t>
            </a:r>
            <a:r>
              <a:rPr lang="en-US" b="1" i="1" dirty="0">
                <a:solidFill>
                  <a:schemeClr val="tx2"/>
                </a:solidFill>
                <a:latin typeface="VNI-Times" pitchFamily="2" charset="0"/>
              </a:rPr>
              <a:t>, </a:t>
            </a:r>
            <a:r>
              <a:rPr lang="en-US" b="1" i="1" dirty="0">
                <a:solidFill>
                  <a:schemeClr val="tx2"/>
                </a:solidFill>
                <a:latin typeface="Times New Roman" pitchFamily="18" charset="0"/>
              </a:rPr>
              <a:t>return</a:t>
            </a:r>
            <a:endParaRPr lang="en-US" dirty="0">
              <a:solidFill>
                <a:schemeClr val="tx2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mtClean="0">
                <a:latin typeface="Times New Roman" pitchFamily="18" charset="0"/>
              </a:rPr>
              <a:t>Lệnh</a:t>
            </a:r>
            <a:r>
              <a:rPr lang="en-US" smtClean="0">
                <a:latin typeface="VNI-Times" pitchFamily="2" charset="0"/>
              </a:rPr>
              <a:t> </a:t>
            </a:r>
            <a:r>
              <a:rPr lang="en-US" b="1" i="1" dirty="0" err="1">
                <a:solidFill>
                  <a:schemeClr val="tx2"/>
                </a:solidFill>
                <a:latin typeface="Times New Roman" pitchFamily="18" charset="0"/>
              </a:rPr>
              <a:t>goto</a:t>
            </a:r>
            <a:endParaRPr lang="en-US" b="1" i="1" dirty="0">
              <a:solidFill>
                <a:schemeClr val="tx2"/>
              </a:solidFill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</a:t>
            </a:r>
            <a:r>
              <a:rPr lang="en-US" sz="2400" smtClean="0">
                <a:latin typeface="Times New Roman" pitchFamily="18" charset="0"/>
              </a:rPr>
              <a:t>Cú</a:t>
            </a:r>
            <a:r>
              <a:rPr lang="en-US" sz="2400" smtClean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pháp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khai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báo</a:t>
            </a:r>
            <a:endParaRPr lang="en-US" i="1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dirty="0">
                <a:latin typeface="VNI-Times" pitchFamily="2" charset="0"/>
              </a:rPr>
              <a:t>			</a:t>
            </a:r>
            <a:r>
              <a:rPr lang="en-US" b="1" i="1" dirty="0" err="1">
                <a:latin typeface="Times New Roman" pitchFamily="18" charset="0"/>
              </a:rPr>
              <a:t>goto</a:t>
            </a:r>
            <a:r>
              <a:rPr lang="en-US" b="1" i="1" dirty="0">
                <a:latin typeface="VNI-Times" pitchFamily="2" charset="0"/>
              </a:rPr>
              <a:t> </a:t>
            </a:r>
            <a:r>
              <a:rPr lang="en-US" i="1" dirty="0" err="1">
                <a:solidFill>
                  <a:schemeClr val="tx2"/>
                </a:solidFill>
                <a:latin typeface="Times New Roman" pitchFamily="18" charset="0"/>
              </a:rPr>
              <a:t>nhãn</a:t>
            </a:r>
            <a:r>
              <a:rPr lang="en-US" i="1" dirty="0">
                <a:latin typeface="VNI-Times" pitchFamily="2" charset="0"/>
              </a:rPr>
              <a:t>;</a:t>
            </a:r>
          </a:p>
          <a:p>
            <a:pPr>
              <a:spcBef>
                <a:spcPct val="70000"/>
              </a:spcBef>
              <a:buFont typeface="Monotype Sorts" pitchFamily="2" charset="2"/>
              <a:buChar char="*"/>
            </a:pPr>
            <a:r>
              <a:rPr lang="en-US" sz="2400" i="1" dirty="0" err="1">
                <a:latin typeface="Times New Roman" pitchFamily="18" charset="0"/>
              </a:rPr>
              <a:t>Khi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gặp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lệnh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b="1" i="1" dirty="0" err="1">
                <a:solidFill>
                  <a:schemeClr val="tx2"/>
                </a:solidFill>
                <a:latin typeface="Times New Roman" pitchFamily="18" charset="0"/>
              </a:rPr>
              <a:t>goto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máy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sẽ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nhảy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tới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thực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hiện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câu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lệnh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viết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i="1" dirty="0" err="1">
                <a:latin typeface="Times New Roman" pitchFamily="18" charset="0"/>
              </a:rPr>
              <a:t>sau</a:t>
            </a:r>
            <a:r>
              <a:rPr lang="en-US" sz="2400" i="1" dirty="0">
                <a:latin typeface="VNI-Times" pitchFamily="2" charset="0"/>
              </a:rPr>
              <a:t> </a:t>
            </a:r>
            <a:r>
              <a:rPr lang="en-US" sz="2400" b="1" i="1" dirty="0" err="1">
                <a:solidFill>
                  <a:schemeClr val="tx2"/>
                </a:solidFill>
                <a:latin typeface="Times New Roman" pitchFamily="18" charset="0"/>
              </a:rPr>
              <a:t>nhãn</a:t>
            </a:r>
            <a:r>
              <a:rPr lang="en-US" sz="2400" i="1" dirty="0">
                <a:latin typeface="VNI-Times" pitchFamily="2" charset="0"/>
              </a:rPr>
              <a:t>.</a:t>
            </a:r>
          </a:p>
          <a:p>
            <a:pPr>
              <a:buFont typeface="Wingdings" pitchFamily="2" charset="2"/>
              <a:buNone/>
            </a:pPr>
            <a:endParaRPr lang="en-US" dirty="0">
              <a:latin typeface="VNI-Times" pitchFamily="2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95744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endParaRPr lang="en-US" dirty="0"/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>
          <a:xfrm>
            <a:off x="615950" y="1793875"/>
            <a:ext cx="7321550" cy="4202113"/>
          </a:xfrm>
        </p:spPr>
        <p:txBody>
          <a:bodyPr>
            <a:normAutofit fontScale="92500"/>
          </a:bodyPr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</a:t>
            </a:r>
            <a:r>
              <a:rPr lang="en-US" sz="2400" smtClean="0">
                <a:latin typeface="Times New Roman" pitchFamily="18" charset="0"/>
              </a:rPr>
              <a:t>Ví</a:t>
            </a:r>
            <a:r>
              <a:rPr lang="en-US" sz="2400" smtClean="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dụ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minh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 smtClean="0">
                <a:latin typeface="Times New Roman" pitchFamily="18" charset="0"/>
              </a:rPr>
              <a:t>họa:</a:t>
            </a:r>
            <a:endParaRPr lang="en-US" sz="2400">
              <a:latin typeface="Times New Roman" pitchFamily="18" charset="0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</a:t>
            </a:r>
            <a:r>
              <a:rPr lang="en-US" sz="2400">
                <a:latin typeface="Times New Roman" pitchFamily="18" charset="0"/>
              </a:rPr>
              <a:t>void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000">
                <a:solidFill>
                  <a:schemeClr val="tx2"/>
                </a:solidFill>
                <a:latin typeface="Times New Roman" pitchFamily="18" charset="0"/>
              </a:rPr>
              <a:t>main</a:t>
            </a:r>
            <a:r>
              <a:rPr lang="en-US" sz="2000">
                <a:latin typeface="VNI-Times" pitchFamily="2" charset="0"/>
              </a:rPr>
              <a:t>(){</a:t>
            </a:r>
          </a:p>
          <a:p>
            <a:pPr lvl="1" algn="just">
              <a:lnSpc>
                <a:spcPct val="7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 	</a:t>
            </a:r>
            <a:r>
              <a:rPr lang="en-US" sz="2400">
                <a:latin typeface="Times New Roman" pitchFamily="18" charset="0"/>
              </a:rPr>
              <a:t>…</a:t>
            </a:r>
            <a:r>
              <a:rPr lang="en-US" sz="2400">
                <a:latin typeface="VNI-Times" pitchFamily="2" charset="0"/>
              </a:rPr>
              <a:t>		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//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Khai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báo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biến</a:t>
            </a:r>
            <a:endParaRPr lang="en-US" sz="2400">
              <a:solidFill>
                <a:srgbClr val="25347F"/>
              </a:solidFill>
              <a:latin typeface="Times New Roman" pitchFamily="18" charset="0"/>
            </a:endParaRPr>
          </a:p>
          <a:p>
            <a:pPr lvl="1" algn="just">
              <a:lnSpc>
                <a:spcPct val="7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tt</a:t>
            </a:r>
            <a:r>
              <a:rPr lang="en-US" sz="2400">
                <a:latin typeface="VNI-Times" pitchFamily="2" charset="0"/>
              </a:rPr>
              <a:t>:</a:t>
            </a:r>
          </a:p>
          <a:p>
            <a:pPr lvl="1" algn="just">
              <a:lnSpc>
                <a:spcPct val="75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clrscr</a:t>
            </a:r>
            <a:r>
              <a:rPr lang="en-US" sz="2400">
                <a:latin typeface="VNI-Times" pitchFamily="2" charset="0"/>
              </a:rPr>
              <a:t>();</a:t>
            </a:r>
          </a:p>
          <a:p>
            <a:pPr lvl="1" algn="just">
              <a:lnSpc>
                <a:spcPct val="75000"/>
              </a:lnSpc>
              <a:spcBef>
                <a:spcPct val="10000"/>
              </a:spcBef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</a:t>
            </a:r>
            <a:r>
              <a:rPr lang="en-US" sz="2400">
                <a:latin typeface="Times New Roman" pitchFamily="18" charset="0"/>
              </a:rPr>
              <a:t>…</a:t>
            </a:r>
            <a:r>
              <a:rPr lang="en-US" sz="2400">
                <a:latin typeface="VNI-Times" pitchFamily="2" charset="0"/>
              </a:rPr>
              <a:t>		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//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Các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câu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lệnh</a:t>
            </a:r>
          </a:p>
          <a:p>
            <a:pPr lvl="1" algn="just">
              <a:lnSpc>
                <a:spcPct val="7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printf</a:t>
            </a:r>
            <a:r>
              <a:rPr lang="en-US" sz="2400">
                <a:solidFill>
                  <a:srgbClr val="25347F"/>
                </a:solidFill>
                <a:latin typeface="VNI-Times" pitchFamily="2" charset="0"/>
              </a:rPr>
              <a:t>(</a:t>
            </a:r>
            <a:r>
              <a:rPr lang="en-US" sz="2400">
                <a:solidFill>
                  <a:srgbClr val="25347F"/>
                </a:solidFill>
                <a:latin typeface="Times New Roman" pitchFamily="18" charset="0"/>
              </a:rPr>
              <a:t>“</a:t>
            </a:r>
            <a:r>
              <a:rPr lang="en-US" sz="2400">
                <a:solidFill>
                  <a:srgbClr val="25347F"/>
                </a:solidFill>
                <a:latin typeface="VNI-Times" pitchFamily="2" charset="0"/>
              </a:rPr>
              <a:t>\</a:t>
            </a:r>
            <a:r>
              <a:rPr lang="en-US" sz="2400">
                <a:solidFill>
                  <a:srgbClr val="25347F"/>
                </a:solidFill>
                <a:latin typeface="Times New Roman" pitchFamily="18" charset="0"/>
              </a:rPr>
              <a:t>nNhan</a:t>
            </a:r>
            <a:r>
              <a:rPr lang="en-US" sz="2400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>
                <a:solidFill>
                  <a:srgbClr val="25347F"/>
                </a:solidFill>
                <a:latin typeface="Times New Roman" pitchFamily="18" charset="0"/>
              </a:rPr>
              <a:t>ESC</a:t>
            </a:r>
            <a:r>
              <a:rPr lang="en-US" sz="2400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>
                <a:solidFill>
                  <a:srgbClr val="25347F"/>
                </a:solidFill>
                <a:latin typeface="Times New Roman" pitchFamily="18" charset="0"/>
              </a:rPr>
              <a:t>de</a:t>
            </a:r>
            <a:r>
              <a:rPr lang="en-US" sz="2400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>
                <a:solidFill>
                  <a:srgbClr val="25347F"/>
                </a:solidFill>
                <a:latin typeface="Times New Roman" pitchFamily="18" charset="0"/>
              </a:rPr>
              <a:t>ket</a:t>
            </a:r>
            <a:r>
              <a:rPr lang="en-US" sz="2400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>
                <a:solidFill>
                  <a:srgbClr val="25347F"/>
                </a:solidFill>
                <a:latin typeface="Times New Roman" pitchFamily="18" charset="0"/>
              </a:rPr>
              <a:t>thuc</a:t>
            </a:r>
            <a:r>
              <a:rPr lang="en-US" sz="2400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>
                <a:solidFill>
                  <a:srgbClr val="25347F"/>
                </a:solidFill>
                <a:latin typeface="Times New Roman" pitchFamily="18" charset="0"/>
              </a:rPr>
              <a:t>chuong</a:t>
            </a:r>
            <a:r>
              <a:rPr lang="en-US" sz="2400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>
                <a:solidFill>
                  <a:srgbClr val="25347F"/>
                </a:solidFill>
                <a:latin typeface="Times New Roman" pitchFamily="18" charset="0"/>
              </a:rPr>
              <a:t>trinh</a:t>
            </a:r>
            <a:r>
              <a:rPr lang="en-US" sz="2400">
                <a:solidFill>
                  <a:srgbClr val="25347F"/>
                </a:solidFill>
                <a:latin typeface="VNI-Times" pitchFamily="2" charset="0"/>
              </a:rPr>
              <a:t>...</a:t>
            </a:r>
            <a:r>
              <a:rPr lang="en-US" sz="2400">
                <a:solidFill>
                  <a:srgbClr val="25347F"/>
                </a:solidFill>
                <a:latin typeface="Times New Roman" pitchFamily="18" charset="0"/>
              </a:rPr>
              <a:t>”</a:t>
            </a:r>
            <a:r>
              <a:rPr lang="en-US" sz="2400">
                <a:latin typeface="VNI-Times" pitchFamily="2" charset="0"/>
              </a:rPr>
              <a:t>);</a:t>
            </a:r>
          </a:p>
          <a:p>
            <a:pPr lvl="1" algn="just">
              <a:lnSpc>
                <a:spcPct val="75000"/>
              </a:lnSpc>
              <a:spcBef>
                <a:spcPct val="30000"/>
              </a:spcBef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</a:t>
            </a:r>
            <a:r>
              <a:rPr lang="en-US" sz="2400">
                <a:latin typeface="Times New Roman" pitchFamily="18" charset="0"/>
              </a:rPr>
              <a:t>if</a:t>
            </a:r>
            <a:r>
              <a:rPr lang="en-US" sz="2400">
                <a:latin typeface="VNI-Times" pitchFamily="2" charset="0"/>
              </a:rPr>
              <a:t> (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getch</a:t>
            </a:r>
            <a:r>
              <a:rPr lang="en-US" sz="2400">
                <a:latin typeface="VNI-Times" pitchFamily="2" charset="0"/>
              </a:rPr>
              <a:t>() != </a:t>
            </a:r>
            <a:r>
              <a:rPr lang="en-US" sz="2400">
                <a:solidFill>
                  <a:schemeClr val="tx2"/>
                </a:solidFill>
                <a:latin typeface="VNI-Times" pitchFamily="2" charset="0"/>
              </a:rPr>
              <a:t>27</a:t>
            </a:r>
            <a:r>
              <a:rPr lang="en-US" sz="2400">
                <a:latin typeface="VNI-Times" pitchFamily="2" charset="0"/>
              </a:rPr>
              <a:t>) 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//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getch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():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chờ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nhấn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một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phím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bất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kỳ</a:t>
            </a:r>
            <a:endParaRPr lang="en-US" sz="2400">
              <a:solidFill>
                <a:srgbClr val="25347F"/>
              </a:solidFill>
              <a:latin typeface="Times New Roman" pitchFamily="18" charset="0"/>
            </a:endParaRPr>
          </a:p>
          <a:p>
            <a:pPr lvl="1" algn="just"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	 </a:t>
            </a:r>
            <a:r>
              <a:rPr lang="en-US" sz="2400">
                <a:latin typeface="Times New Roman" pitchFamily="18" charset="0"/>
              </a:rPr>
              <a:t>goto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tt</a:t>
            </a:r>
            <a:r>
              <a:rPr lang="en-US" sz="2400">
                <a:latin typeface="VNI-Times" pitchFamily="2" charset="0"/>
              </a:rPr>
              <a:t>;</a:t>
            </a:r>
          </a:p>
          <a:p>
            <a:pPr lvl="1" algn="just"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}</a:t>
            </a:r>
          </a:p>
          <a:p>
            <a:pPr algn="just">
              <a:lnSpc>
                <a:spcPct val="85000"/>
              </a:lnSpc>
              <a:spcBef>
                <a:spcPct val="70000"/>
              </a:spcBef>
              <a:buFont typeface="Monotype Sorts" pitchFamily="2" charset="2"/>
              <a:buChar char="*"/>
            </a:pPr>
            <a:r>
              <a:rPr lang="en-US" sz="2000" i="1">
                <a:latin typeface="Times New Roman" pitchFamily="18" charset="0"/>
              </a:rPr>
              <a:t>Nếu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b="1" i="1">
                <a:solidFill>
                  <a:schemeClr val="tx2"/>
                </a:solidFill>
                <a:latin typeface="Times New Roman" pitchFamily="18" charset="0"/>
              </a:rPr>
              <a:t>mã</a:t>
            </a:r>
            <a:r>
              <a:rPr lang="en-US" sz="2000" b="1" i="1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000" b="1" i="1">
                <a:solidFill>
                  <a:schemeClr val="tx2"/>
                </a:solidFill>
                <a:latin typeface="Times New Roman" pitchFamily="18" charset="0"/>
              </a:rPr>
              <a:t>của</a:t>
            </a:r>
            <a:r>
              <a:rPr lang="en-US" sz="2000" b="1" i="1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000" b="1" i="1">
                <a:solidFill>
                  <a:schemeClr val="tx2"/>
                </a:solidFill>
                <a:latin typeface="Times New Roman" pitchFamily="18" charset="0"/>
              </a:rPr>
              <a:t>phím</a:t>
            </a:r>
            <a:r>
              <a:rPr lang="en-US" sz="2000" b="1" i="1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000" b="1" i="1">
                <a:solidFill>
                  <a:schemeClr val="tx2"/>
                </a:solidFill>
                <a:latin typeface="Times New Roman" pitchFamily="18" charset="0"/>
              </a:rPr>
              <a:t>nhấn</a:t>
            </a:r>
            <a:r>
              <a:rPr lang="en-US" sz="2000" b="1" i="1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000" b="1" i="1">
                <a:solidFill>
                  <a:schemeClr val="tx2"/>
                </a:solidFill>
                <a:latin typeface="Times New Roman" pitchFamily="18" charset="0"/>
              </a:rPr>
              <a:t>vào</a:t>
            </a:r>
            <a:r>
              <a:rPr lang="en-US" sz="2000" b="1" i="1">
                <a:solidFill>
                  <a:schemeClr val="tx2"/>
                </a:solidFill>
                <a:latin typeface="VNI-Times" pitchFamily="2" charset="0"/>
              </a:rPr>
              <a:t> != </a:t>
            </a:r>
            <a:r>
              <a:rPr lang="en-US" sz="2000" b="1" i="1">
                <a:solidFill>
                  <a:schemeClr val="tx2"/>
                </a:solidFill>
                <a:latin typeface="Times New Roman" pitchFamily="18" charset="0"/>
              </a:rPr>
              <a:t>ESC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i="1">
                <a:latin typeface="Times New Roman" pitchFamily="18" charset="0"/>
              </a:rPr>
              <a:t>thì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i="1">
                <a:latin typeface="Times New Roman" pitchFamily="18" charset="0"/>
              </a:rPr>
              <a:t>thực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i="1">
                <a:latin typeface="Times New Roman" pitchFamily="18" charset="0"/>
              </a:rPr>
              <a:t>hiện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i="1">
                <a:latin typeface="Times New Roman" pitchFamily="18" charset="0"/>
              </a:rPr>
              <a:t>lại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i="1">
                <a:latin typeface="Times New Roman" pitchFamily="18" charset="0"/>
              </a:rPr>
              <a:t>chương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i="1">
                <a:latin typeface="Times New Roman" pitchFamily="18" charset="0"/>
              </a:rPr>
              <a:t>trình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i="1">
                <a:latin typeface="Times New Roman" pitchFamily="18" charset="0"/>
              </a:rPr>
              <a:t>kể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i="1">
                <a:latin typeface="Times New Roman" pitchFamily="18" charset="0"/>
              </a:rPr>
              <a:t>từ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i="1">
                <a:latin typeface="Times New Roman" pitchFamily="18" charset="0"/>
              </a:rPr>
              <a:t>câu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i="1">
                <a:latin typeface="Times New Roman" pitchFamily="18" charset="0"/>
              </a:rPr>
              <a:t>lệnh</a:t>
            </a:r>
            <a:r>
              <a:rPr lang="en-US" sz="2000" i="1">
                <a:latin typeface="VNI-Times" pitchFamily="2" charset="0"/>
              </a:rPr>
              <a:t> </a:t>
            </a:r>
            <a:r>
              <a:rPr lang="en-US" sz="2000" b="1" i="1">
                <a:solidFill>
                  <a:schemeClr val="tx2"/>
                </a:solidFill>
                <a:latin typeface="Times New Roman" pitchFamily="18" charset="0"/>
              </a:rPr>
              <a:t>clrscr</a:t>
            </a:r>
            <a:r>
              <a:rPr lang="en-US" sz="2000" b="1" i="1">
                <a:solidFill>
                  <a:schemeClr val="tx2"/>
                </a:solidFill>
                <a:latin typeface="VNI-Times" pitchFamily="2" charset="0"/>
              </a:rPr>
              <a:t>();</a:t>
            </a:r>
            <a:endParaRPr lang="en-US" sz="2000" i="1">
              <a:latin typeface="VNI-Times" pitchFamily="2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40651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endParaRPr lang="en-US" dirty="0"/>
          </a:p>
        </p:txBody>
      </p:sp>
      <p:sp>
        <p:nvSpPr>
          <p:cNvPr id="111619" name="Rectangle 3"/>
          <p:cNvSpPr>
            <a:spLocks noGrp="1" noChangeArrowheads="1"/>
          </p:cNvSpPr>
          <p:nvPr>
            <p:ph idx="1"/>
          </p:nvPr>
        </p:nvSpPr>
        <p:spPr>
          <a:xfrm>
            <a:off x="844550" y="1600200"/>
            <a:ext cx="8070850" cy="3886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3200" smtClean="0">
                <a:latin typeface="Times New Roman" pitchFamily="18" charset="0"/>
              </a:rPr>
              <a:t>Lệnh</a:t>
            </a:r>
            <a:r>
              <a:rPr lang="en-US" sz="3200" smtClean="0">
                <a:latin typeface="VNI-Times" pitchFamily="2" charset="0"/>
              </a:rPr>
              <a:t> </a:t>
            </a:r>
            <a:r>
              <a:rPr lang="en-US" sz="3200" b="1" i="1">
                <a:solidFill>
                  <a:schemeClr val="tx2"/>
                </a:solidFill>
                <a:latin typeface="Times New Roman" pitchFamily="18" charset="0"/>
              </a:rPr>
              <a:t>break</a:t>
            </a:r>
            <a:endParaRPr lang="en-US" sz="3200">
              <a:latin typeface="Times New Roman" pitchFamily="18" charset="0"/>
            </a:endParaRPr>
          </a:p>
          <a:p>
            <a:pPr>
              <a:lnSpc>
                <a:spcPct val="155000"/>
              </a:lnSpc>
              <a:spcBef>
                <a:spcPct val="70000"/>
              </a:spcBef>
              <a:buFont typeface="Monotype Sorts" pitchFamily="2" charset="2"/>
              <a:buChar char="l"/>
            </a:pPr>
            <a:r>
              <a:rPr lang="en-US" sz="2400">
                <a:latin typeface="Times New Roman" pitchFamily="18" charset="0"/>
              </a:rPr>
              <a:t>Lệnh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 b="1" i="1">
                <a:solidFill>
                  <a:schemeClr val="tx2"/>
                </a:solidFill>
                <a:latin typeface="Times New Roman" pitchFamily="18" charset="0"/>
              </a:rPr>
              <a:t>break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chỉ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được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khai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báo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bên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trong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các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câu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lệnh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vòng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lặp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 b="1" i="1">
                <a:solidFill>
                  <a:schemeClr val="tx2"/>
                </a:solidFill>
                <a:latin typeface="Times New Roman" pitchFamily="18" charset="0"/>
              </a:rPr>
              <a:t>for</a:t>
            </a:r>
            <a:r>
              <a:rPr lang="en-US" sz="2400">
                <a:latin typeface="VNI-Times" pitchFamily="2" charset="0"/>
              </a:rPr>
              <a:t>, </a:t>
            </a:r>
            <a:r>
              <a:rPr lang="en-US" sz="2400" b="1" i="1">
                <a:solidFill>
                  <a:schemeClr val="tx2"/>
                </a:solidFill>
                <a:latin typeface="Times New Roman" pitchFamily="18" charset="0"/>
              </a:rPr>
              <a:t>while</a:t>
            </a:r>
            <a:r>
              <a:rPr lang="en-US" sz="2400">
                <a:latin typeface="VNI-Times" pitchFamily="2" charset="0"/>
              </a:rPr>
              <a:t>, </a:t>
            </a:r>
            <a:r>
              <a:rPr lang="en-US" sz="2400" b="1" i="1">
                <a:solidFill>
                  <a:schemeClr val="tx2"/>
                </a:solidFill>
                <a:latin typeface="Times New Roman" pitchFamily="18" charset="0"/>
              </a:rPr>
              <a:t>do…while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hoặc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 b="1" i="1">
                <a:solidFill>
                  <a:schemeClr val="tx2"/>
                </a:solidFill>
                <a:latin typeface="Times New Roman" pitchFamily="18" charset="0"/>
              </a:rPr>
              <a:t>switch</a:t>
            </a:r>
            <a:r>
              <a:rPr lang="en-US" sz="2400">
                <a:latin typeface="VNI-Times" pitchFamily="2" charset="0"/>
              </a:rPr>
              <a:t>.</a:t>
            </a:r>
          </a:p>
          <a:p>
            <a:pPr>
              <a:lnSpc>
                <a:spcPct val="160000"/>
              </a:lnSpc>
              <a:buFont typeface="Monotype Sorts" pitchFamily="2" charset="2"/>
              <a:buChar char="l"/>
            </a:pPr>
            <a:r>
              <a:rPr lang="en-US" sz="2400">
                <a:latin typeface="Times New Roman" pitchFamily="18" charset="0"/>
              </a:rPr>
              <a:t>Khi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gặp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câu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lệnh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 b="1" i="1">
                <a:solidFill>
                  <a:schemeClr val="tx2"/>
                </a:solidFill>
                <a:latin typeface="Times New Roman" pitchFamily="18" charset="0"/>
              </a:rPr>
              <a:t>break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máy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sẽ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thoát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khỏi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vòng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lặp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 b="1" i="1">
                <a:solidFill>
                  <a:schemeClr val="tx2"/>
                </a:solidFill>
                <a:latin typeface="Times New Roman" pitchFamily="18" charset="0"/>
              </a:rPr>
              <a:t>trong</a:t>
            </a:r>
            <a:r>
              <a:rPr lang="en-US" sz="2400" b="1" i="1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400" b="1" i="1">
                <a:solidFill>
                  <a:schemeClr val="tx2"/>
                </a:solidFill>
                <a:latin typeface="Times New Roman" pitchFamily="18" charset="0"/>
              </a:rPr>
              <a:t>cùng</a:t>
            </a:r>
            <a:r>
              <a:rPr lang="en-US" sz="2400" b="1" i="1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400" b="1" i="1">
                <a:solidFill>
                  <a:schemeClr val="tx2"/>
                </a:solidFill>
                <a:latin typeface="Times New Roman" pitchFamily="18" charset="0"/>
              </a:rPr>
              <a:t>chứa</a:t>
            </a:r>
            <a:r>
              <a:rPr lang="en-US" sz="2400" b="1" i="1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400" b="1" i="1">
                <a:solidFill>
                  <a:schemeClr val="tx2"/>
                </a:solidFill>
                <a:latin typeface="Times New Roman" pitchFamily="18" charset="0"/>
              </a:rPr>
              <a:t>nó</a:t>
            </a:r>
            <a:r>
              <a:rPr lang="en-US" sz="2400">
                <a:latin typeface="VNI-Times" pitchFamily="2" charset="0"/>
              </a:rPr>
              <a:t>.</a:t>
            </a:r>
            <a:endParaRPr lang="en-US">
              <a:latin typeface="VNI-Times" pitchFamily="2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02495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endParaRPr lang="en-US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idx="1"/>
          </p:nvPr>
        </p:nvSpPr>
        <p:spPr>
          <a:xfrm>
            <a:off x="844550" y="1524000"/>
            <a:ext cx="8088313" cy="41910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Ví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dụ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minh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họa</a:t>
            </a:r>
            <a:r>
              <a:rPr lang="en-US" sz="2400" dirty="0">
                <a:latin typeface="VNI-Times" pitchFamily="2" charset="0"/>
              </a:rPr>
              <a:t>:</a:t>
            </a:r>
            <a:endParaRPr lang="en-US" dirty="0">
              <a:latin typeface="VNI-Times" pitchFamily="2" charset="0"/>
            </a:endParaRPr>
          </a:p>
          <a:p>
            <a:pPr algn="just">
              <a:buFont typeface="Wingdings" pitchFamily="2" charset="2"/>
              <a:buNone/>
            </a:pPr>
            <a:r>
              <a:rPr lang="en-US" sz="2000" dirty="0">
                <a:solidFill>
                  <a:schemeClr val="accent2"/>
                </a:solidFill>
                <a:latin typeface="VNI-Times" pitchFamily="2" charset="0"/>
              </a:rPr>
              <a:t>	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Viết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đoạn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chương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trình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kiểm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tra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>
                <a:solidFill>
                  <a:schemeClr val="accent2"/>
                </a:solidFill>
                <a:latin typeface="Times New Roman" pitchFamily="18" charset="0"/>
              </a:rPr>
              <a:t>n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có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phải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là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số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nguyên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tố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 </a:t>
            </a:r>
            <a:r>
              <a:rPr lang="en-US" sz="2000" i="1" dirty="0" err="1">
                <a:solidFill>
                  <a:schemeClr val="accent2"/>
                </a:solidFill>
                <a:latin typeface="Times New Roman" pitchFamily="18" charset="0"/>
              </a:rPr>
              <a:t>không</a:t>
            </a:r>
            <a:r>
              <a:rPr lang="en-US" sz="2000" i="1" dirty="0">
                <a:solidFill>
                  <a:schemeClr val="accent2"/>
                </a:solidFill>
                <a:latin typeface="VNI-Times" pitchFamily="2" charset="0"/>
              </a:rPr>
              <a:t>?</a:t>
            </a:r>
          </a:p>
          <a:p>
            <a:pPr lvl="1">
              <a:lnSpc>
                <a:spcPct val="75000"/>
              </a:lnSpc>
              <a:spcBef>
                <a:spcPct val="70000"/>
              </a:spcBef>
              <a:buFont typeface="Wingdings" pitchFamily="2" charset="2"/>
              <a:buNone/>
            </a:pPr>
            <a:r>
              <a:rPr lang="en-US" sz="2400" dirty="0" err="1">
                <a:latin typeface="Times New Roman" pitchFamily="18" charset="0"/>
              </a:rPr>
              <a:t>int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sz="2400" dirty="0">
                <a:latin typeface="VNI-Times" pitchFamily="2" charset="0"/>
              </a:rPr>
              <a:t>, 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t</a:t>
            </a:r>
            <a:r>
              <a:rPr lang="en-US" sz="2400" dirty="0">
                <a:latin typeface="VNI-Times" pitchFamily="2" charset="0"/>
              </a:rPr>
              <a:t>;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t</a:t>
            </a:r>
            <a:r>
              <a:rPr lang="en-US" sz="2400" dirty="0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400" dirty="0">
                <a:latin typeface="VNI-Times" pitchFamily="2" charset="0"/>
              </a:rPr>
              <a:t>=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</a:rPr>
              <a:t>sqrt</a:t>
            </a:r>
            <a:r>
              <a:rPr lang="en-US" sz="2400" dirty="0">
                <a:latin typeface="VNI-Times" pitchFamily="2" charset="0"/>
              </a:rPr>
              <a:t>(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n</a:t>
            </a:r>
            <a:r>
              <a:rPr lang="en-US" sz="2400" dirty="0">
                <a:latin typeface="VNI-Times" pitchFamily="2" charset="0"/>
              </a:rPr>
              <a:t>);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sz="2400" dirty="0">
                <a:latin typeface="VNI-Times" pitchFamily="2" charset="0"/>
              </a:rPr>
              <a:t> = </a:t>
            </a:r>
            <a:r>
              <a:rPr lang="en-US" sz="2400" dirty="0">
                <a:solidFill>
                  <a:schemeClr val="tx2"/>
                </a:solidFill>
                <a:latin typeface="VNI-Times" pitchFamily="2" charset="0"/>
              </a:rPr>
              <a:t>2</a:t>
            </a:r>
            <a:r>
              <a:rPr lang="en-US" sz="2400" dirty="0">
                <a:latin typeface="VNI-Times" pitchFamily="2" charset="0"/>
              </a:rPr>
              <a:t>;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while</a:t>
            </a:r>
            <a:r>
              <a:rPr lang="en-US" sz="2400" dirty="0">
                <a:latin typeface="VNI-Times" pitchFamily="2" charset="0"/>
              </a:rPr>
              <a:t> (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sz="2400" dirty="0">
                <a:latin typeface="VNI-Times" pitchFamily="2" charset="0"/>
              </a:rPr>
              <a:t>&lt;=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t</a:t>
            </a:r>
            <a:r>
              <a:rPr lang="en-US" sz="2400" dirty="0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400" dirty="0">
                <a:latin typeface="VNI-Times" pitchFamily="2" charset="0"/>
              </a:rPr>
              <a:t>)</a:t>
            </a:r>
          </a:p>
          <a:p>
            <a:pPr lvl="2">
              <a:lnSpc>
                <a:spcPct val="75000"/>
              </a:lnSpc>
              <a:buFontTx/>
              <a:buNone/>
            </a:pPr>
            <a:r>
              <a:rPr lang="en-US" dirty="0">
                <a:latin typeface="Times New Roman" pitchFamily="18" charset="0"/>
              </a:rPr>
              <a:t>if</a:t>
            </a:r>
            <a:r>
              <a:rPr lang="en-US" dirty="0">
                <a:latin typeface="VNI-Times" pitchFamily="2" charset="0"/>
              </a:rPr>
              <a:t> (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n</a:t>
            </a:r>
            <a:r>
              <a:rPr lang="en-US" dirty="0" err="1">
                <a:latin typeface="VNI-Times" pitchFamily="2" charset="0"/>
              </a:rPr>
              <a:t>%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dirty="0">
                <a:latin typeface="VNI-Times" pitchFamily="2" charset="0"/>
              </a:rPr>
              <a:t> ==</a:t>
            </a:r>
            <a:r>
              <a:rPr lang="en-US" dirty="0">
                <a:solidFill>
                  <a:schemeClr val="tx2"/>
                </a:solidFill>
                <a:latin typeface="VNI-Times" pitchFamily="2" charset="0"/>
              </a:rPr>
              <a:t> 0</a:t>
            </a:r>
            <a:r>
              <a:rPr lang="en-US" dirty="0">
                <a:latin typeface="VNI-Times" pitchFamily="2" charset="0"/>
              </a:rPr>
              <a:t>)    </a:t>
            </a:r>
            <a:r>
              <a:rPr lang="en-US" sz="2800" dirty="0">
                <a:latin typeface="Times New Roman" pitchFamily="18" charset="0"/>
              </a:rPr>
              <a:t>break</a:t>
            </a:r>
            <a:r>
              <a:rPr lang="en-US" sz="2800" dirty="0">
                <a:latin typeface="VNI-Times" pitchFamily="2" charset="0"/>
              </a:rPr>
              <a:t>;  </a:t>
            </a:r>
            <a:r>
              <a:rPr lang="en-US" sz="2800" i="1" dirty="0">
                <a:solidFill>
                  <a:srgbClr val="25347F"/>
                </a:solidFill>
                <a:latin typeface="VNI-Times" pitchFamily="2" charset="0"/>
              </a:rPr>
              <a:t>// </a:t>
            </a:r>
            <a:r>
              <a:rPr lang="en-US" sz="2800" i="1" dirty="0" err="1">
                <a:solidFill>
                  <a:srgbClr val="25347F"/>
                </a:solidFill>
                <a:latin typeface="Times New Roman" pitchFamily="18" charset="0"/>
              </a:rPr>
              <a:t>kết</a:t>
            </a:r>
            <a:r>
              <a:rPr lang="en-US" sz="2800" i="1" dirty="0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800" i="1" dirty="0" err="1">
                <a:solidFill>
                  <a:srgbClr val="25347F"/>
                </a:solidFill>
                <a:latin typeface="Times New Roman" pitchFamily="18" charset="0"/>
              </a:rPr>
              <a:t>thúc</a:t>
            </a:r>
            <a:r>
              <a:rPr lang="en-US" sz="2800" i="1" dirty="0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800" i="1" dirty="0" err="1">
                <a:solidFill>
                  <a:srgbClr val="25347F"/>
                </a:solidFill>
                <a:latin typeface="Times New Roman" pitchFamily="18" charset="0"/>
              </a:rPr>
              <a:t>vòng</a:t>
            </a:r>
            <a:r>
              <a:rPr lang="en-US" sz="2800" i="1" dirty="0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800" i="1" dirty="0" err="1">
                <a:solidFill>
                  <a:srgbClr val="25347F"/>
                </a:solidFill>
                <a:latin typeface="Times New Roman" pitchFamily="18" charset="0"/>
              </a:rPr>
              <a:t>lặp</a:t>
            </a:r>
            <a:endParaRPr lang="en-US" sz="2800" i="1" dirty="0">
              <a:solidFill>
                <a:srgbClr val="25347F"/>
              </a:solidFill>
              <a:latin typeface="Times New Roman" pitchFamily="18" charset="0"/>
            </a:endParaRPr>
          </a:p>
          <a:p>
            <a:pPr lvl="2">
              <a:lnSpc>
                <a:spcPct val="75000"/>
              </a:lnSpc>
              <a:buFontTx/>
              <a:buNone/>
            </a:pPr>
            <a:r>
              <a:rPr lang="en-US" dirty="0">
                <a:latin typeface="Times New Roman" pitchFamily="18" charset="0"/>
              </a:rPr>
              <a:t>else</a:t>
            </a:r>
            <a:r>
              <a:rPr lang="en-US" dirty="0">
                <a:latin typeface="VNI-Times" pitchFamily="2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dirty="0">
                <a:latin typeface="VNI-Times" pitchFamily="2" charset="0"/>
              </a:rPr>
              <a:t>++;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if</a:t>
            </a:r>
            <a:r>
              <a:rPr lang="en-US" sz="2400" dirty="0">
                <a:latin typeface="VNI-Times" pitchFamily="2" charset="0"/>
              </a:rPr>
              <a:t> ( 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</a:rPr>
              <a:t>i</a:t>
            </a:r>
            <a:r>
              <a:rPr lang="en-US" sz="2400" dirty="0">
                <a:latin typeface="VNI-Times" pitchFamily="2" charset="0"/>
              </a:rPr>
              <a:t>&gt;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t</a:t>
            </a:r>
            <a:r>
              <a:rPr lang="en-US" sz="2400" dirty="0">
                <a:latin typeface="VNI-Times" pitchFamily="2" charset="0"/>
              </a:rPr>
              <a:t> )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</a:rPr>
              <a:t>printf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(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“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%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d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là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SNT”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,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n</a:t>
            </a:r>
            <a:r>
              <a:rPr lang="en-US" sz="2400" dirty="0">
                <a:latin typeface="VNI-Times" pitchFamily="2" charset="0"/>
              </a:rPr>
              <a:t>);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else</a:t>
            </a:r>
            <a:r>
              <a:rPr lang="en-US" sz="2400" dirty="0">
                <a:latin typeface="VNI-Times" pitchFamily="2" charset="0"/>
              </a:rPr>
              <a:t>	</a:t>
            </a:r>
            <a:r>
              <a:rPr lang="en-US" sz="2400" dirty="0" err="1">
                <a:solidFill>
                  <a:schemeClr val="tx2"/>
                </a:solidFill>
                <a:latin typeface="Times New Roman" pitchFamily="18" charset="0"/>
              </a:rPr>
              <a:t>printf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(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“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%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d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dirty="0" err="1">
                <a:solidFill>
                  <a:srgbClr val="2222B2"/>
                </a:solidFill>
                <a:latin typeface="Times New Roman" pitchFamily="18" charset="0"/>
              </a:rPr>
              <a:t>khong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la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 dirty="0">
                <a:solidFill>
                  <a:srgbClr val="2222B2"/>
                </a:solidFill>
                <a:latin typeface="Times New Roman" pitchFamily="18" charset="0"/>
              </a:rPr>
              <a:t>SNT”</a:t>
            </a:r>
            <a:r>
              <a:rPr lang="en-US" sz="2400" dirty="0">
                <a:solidFill>
                  <a:srgbClr val="2222B2"/>
                </a:solidFill>
                <a:latin typeface="VNI-Times" pitchFamily="2" charset="0"/>
              </a:rPr>
              <a:t>,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Times New Roman" pitchFamily="18" charset="0"/>
              </a:rPr>
              <a:t>n</a:t>
            </a:r>
            <a:r>
              <a:rPr lang="en-US" sz="2400" dirty="0">
                <a:latin typeface="VNI-Times" pitchFamily="2" charset="0"/>
              </a:rPr>
              <a:t>);</a:t>
            </a:r>
          </a:p>
          <a:p>
            <a:pPr>
              <a:buFont typeface="Wingdings" pitchFamily="2" charset="2"/>
              <a:buNone/>
            </a:pPr>
            <a:endParaRPr lang="en-US" sz="2000" dirty="0">
              <a:latin typeface="VNI-Times" pitchFamily="2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50589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endParaRPr lang="en-US" dirty="0"/>
          </a:p>
        </p:txBody>
      </p:sp>
      <p:sp>
        <p:nvSpPr>
          <p:cNvPr id="115715" name="Rectangle 3"/>
          <p:cNvSpPr>
            <a:spLocks noGrp="1" noChangeArrowheads="1"/>
          </p:cNvSpPr>
          <p:nvPr>
            <p:ph idx="1"/>
          </p:nvPr>
        </p:nvSpPr>
        <p:spPr>
          <a:xfrm>
            <a:off x="633413" y="1600200"/>
            <a:ext cx="8281987" cy="37338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3600" dirty="0">
                <a:latin typeface="VNI-Times" pitchFamily="2" charset="0"/>
              </a:rPr>
              <a:t>3. </a:t>
            </a:r>
            <a:r>
              <a:rPr lang="en-US" sz="3600" dirty="0" err="1">
                <a:latin typeface="Times New Roman" pitchFamily="18" charset="0"/>
              </a:rPr>
              <a:t>Lệnh</a:t>
            </a:r>
            <a:r>
              <a:rPr lang="en-US" sz="3600" dirty="0">
                <a:latin typeface="VNI-Times" pitchFamily="2" charset="0"/>
              </a:rPr>
              <a:t> </a:t>
            </a:r>
            <a:r>
              <a:rPr lang="en-US" sz="3600" b="1" i="1" dirty="0">
                <a:solidFill>
                  <a:schemeClr val="tx2"/>
                </a:solidFill>
                <a:latin typeface="Times New Roman" pitchFamily="18" charset="0"/>
              </a:rPr>
              <a:t>continue</a:t>
            </a:r>
            <a:endParaRPr lang="en-US" sz="3600" dirty="0">
              <a:latin typeface="Times New Roman" pitchFamily="18" charset="0"/>
            </a:endParaRPr>
          </a:p>
          <a:p>
            <a:pPr>
              <a:spcBef>
                <a:spcPct val="70000"/>
              </a:spcBef>
              <a:buFont typeface="Monotype Sorts" pitchFamily="2" charset="2"/>
              <a:buChar char="l"/>
            </a:pPr>
            <a:r>
              <a:rPr lang="en-US" sz="2400" dirty="0" err="1">
                <a:latin typeface="Times New Roman" pitchFamily="18" charset="0"/>
              </a:rPr>
              <a:t>Lệnh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b="1" i="1" dirty="0">
                <a:solidFill>
                  <a:schemeClr val="tx2"/>
                </a:solidFill>
                <a:latin typeface="Times New Roman" pitchFamily="18" charset="0"/>
              </a:rPr>
              <a:t>continue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chỉ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được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khai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báo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bên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trong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các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vòng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lặp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b="1" i="1" dirty="0">
                <a:solidFill>
                  <a:schemeClr val="tx2"/>
                </a:solidFill>
                <a:latin typeface="Times New Roman" pitchFamily="18" charset="0"/>
              </a:rPr>
              <a:t>for</a:t>
            </a:r>
            <a:r>
              <a:rPr lang="en-US" sz="2400" dirty="0">
                <a:latin typeface="VNI-Times" pitchFamily="2" charset="0"/>
              </a:rPr>
              <a:t>, </a:t>
            </a:r>
            <a:r>
              <a:rPr lang="en-US" sz="2400" b="1" i="1" dirty="0">
                <a:solidFill>
                  <a:schemeClr val="tx2"/>
                </a:solidFill>
                <a:latin typeface="Times New Roman" pitchFamily="18" charset="0"/>
              </a:rPr>
              <a:t>while</a:t>
            </a:r>
            <a:r>
              <a:rPr lang="en-US" sz="2400" b="1" i="1" dirty="0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hoặc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b="1" i="1" dirty="0">
                <a:solidFill>
                  <a:schemeClr val="tx2"/>
                </a:solidFill>
                <a:latin typeface="Times New Roman" pitchFamily="18" charset="0"/>
              </a:rPr>
              <a:t>do…while</a:t>
            </a:r>
            <a:r>
              <a:rPr lang="en-US" sz="2400" dirty="0">
                <a:latin typeface="VNI-Times" pitchFamily="2" charset="0"/>
              </a:rPr>
              <a:t> </a:t>
            </a:r>
          </a:p>
          <a:p>
            <a:pPr>
              <a:spcBef>
                <a:spcPct val="70000"/>
              </a:spcBef>
              <a:buFont typeface="Monotype Sorts" pitchFamily="2" charset="2"/>
              <a:buChar char="l"/>
            </a:pPr>
            <a:r>
              <a:rPr lang="en-US" sz="2400" dirty="0" err="1">
                <a:latin typeface="Times New Roman" pitchFamily="18" charset="0"/>
              </a:rPr>
              <a:t>Khi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gặp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câu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lệnh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b="1" i="1" dirty="0">
                <a:solidFill>
                  <a:schemeClr val="tx2"/>
                </a:solidFill>
                <a:latin typeface="Times New Roman" pitchFamily="18" charset="0"/>
              </a:rPr>
              <a:t>continue</a:t>
            </a:r>
            <a:r>
              <a:rPr lang="en-US" sz="2400" b="1" i="1" dirty="0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máy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sẽ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bỏ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qua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các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câu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lệnh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còn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lại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trong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thân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vòng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lặp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để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bắt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đầu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một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lần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lặp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mới</a:t>
            </a:r>
            <a:r>
              <a:rPr lang="en-US" sz="2400" dirty="0">
                <a:latin typeface="VNI-Times" pitchFamily="2" charset="0"/>
              </a:rPr>
              <a:t>.</a:t>
            </a:r>
          </a:p>
          <a:p>
            <a:endParaRPr lang="en-US" dirty="0">
              <a:latin typeface="VNI-Times" pitchFamily="2" charset="0"/>
            </a:endParaRPr>
          </a:p>
          <a:p>
            <a:pPr>
              <a:buFont typeface="Wingdings" pitchFamily="2" charset="2"/>
              <a:buNone/>
            </a:pPr>
            <a:endParaRPr lang="en-US" dirty="0">
              <a:latin typeface="VNI-Times" pitchFamily="2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1757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endParaRPr lang="en-US" dirty="0"/>
          </a:p>
        </p:txBody>
      </p:sp>
      <p:sp>
        <p:nvSpPr>
          <p:cNvPr id="1177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229600" cy="4648200"/>
          </a:xfrm>
        </p:spPr>
        <p:txBody>
          <a:bodyPr/>
          <a:lstStyle/>
          <a:p>
            <a:pPr marL="0" indent="0">
              <a:spcBef>
                <a:spcPct val="70000"/>
              </a:spcBef>
              <a:buNone/>
            </a:pPr>
            <a:r>
              <a:rPr lang="en-US" sz="2400">
                <a:latin typeface="Times New Roman" pitchFamily="18" charset="0"/>
              </a:rPr>
              <a:t>Ví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dụ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latin typeface="Times New Roman" pitchFamily="18" charset="0"/>
              </a:rPr>
              <a:t>minh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 smtClean="0">
                <a:latin typeface="Times New Roman" pitchFamily="18" charset="0"/>
              </a:rPr>
              <a:t>họa:</a:t>
            </a:r>
            <a:r>
              <a:rPr lang="en-US" sz="2400" smtClean="0">
                <a:latin typeface="VNI-Times" pitchFamily="2" charset="0"/>
              </a:rPr>
              <a:t> </a:t>
            </a:r>
            <a:endParaRPr lang="en-US" sz="2400">
              <a:latin typeface="VNI-Times" pitchFamily="2" charset="0"/>
            </a:endParaRP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>
                <a:latin typeface="Times New Roman" pitchFamily="18" charset="0"/>
              </a:rPr>
              <a:t>…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>
                <a:latin typeface="Times New Roman" pitchFamily="18" charset="0"/>
              </a:rPr>
              <a:t>int</a:t>
            </a:r>
            <a:r>
              <a:rPr lang="en-US">
                <a:latin typeface="VNI-Times" pitchFamily="2" charset="0"/>
              </a:rPr>
              <a:t> </a:t>
            </a:r>
            <a:r>
              <a:rPr lang="en-US">
                <a:solidFill>
                  <a:schemeClr val="tx2"/>
                </a:solidFill>
                <a:latin typeface="Times New Roman" pitchFamily="18" charset="0"/>
              </a:rPr>
              <a:t>code</a:t>
            </a:r>
            <a:r>
              <a:rPr lang="en-US">
                <a:latin typeface="VNI-Times" pitchFamily="2" charset="0"/>
              </a:rPr>
              <a:t>;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>
                <a:latin typeface="Times New Roman" pitchFamily="18" charset="0"/>
              </a:rPr>
              <a:t>while</a:t>
            </a:r>
            <a:r>
              <a:rPr lang="en-US">
                <a:latin typeface="VNI-Times" pitchFamily="2" charset="0"/>
              </a:rPr>
              <a:t>(</a:t>
            </a:r>
            <a:r>
              <a:rPr lang="en-US">
                <a:solidFill>
                  <a:schemeClr val="tx2"/>
                </a:solidFill>
                <a:latin typeface="VNI-Times" pitchFamily="2" charset="0"/>
              </a:rPr>
              <a:t>1</a:t>
            </a:r>
            <a:r>
              <a:rPr lang="en-US">
                <a:latin typeface="VNI-Times" pitchFamily="2" charset="0"/>
              </a:rPr>
              <a:t>)		</a:t>
            </a:r>
            <a:r>
              <a:rPr lang="en-US" i="1">
                <a:solidFill>
                  <a:srgbClr val="25347F"/>
                </a:solidFill>
                <a:latin typeface="VNI-Times" pitchFamily="2" charset="0"/>
              </a:rPr>
              <a:t>// </a:t>
            </a:r>
            <a:r>
              <a:rPr lang="en-US" i="1">
                <a:solidFill>
                  <a:srgbClr val="25347F"/>
                </a:solidFill>
                <a:latin typeface="Times New Roman" pitchFamily="18" charset="0"/>
              </a:rPr>
              <a:t>vòng</a:t>
            </a:r>
            <a:r>
              <a:rPr lang="en-US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i="1">
                <a:solidFill>
                  <a:srgbClr val="25347F"/>
                </a:solidFill>
                <a:latin typeface="Times New Roman" pitchFamily="18" charset="0"/>
              </a:rPr>
              <a:t>lặp</a:t>
            </a:r>
            <a:r>
              <a:rPr lang="en-US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i="1">
                <a:solidFill>
                  <a:srgbClr val="25347F"/>
                </a:solidFill>
                <a:latin typeface="Times New Roman" pitchFamily="18" charset="0"/>
              </a:rPr>
              <a:t>vô</a:t>
            </a:r>
            <a:r>
              <a:rPr lang="en-US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i="1">
                <a:solidFill>
                  <a:srgbClr val="25347F"/>
                </a:solidFill>
                <a:latin typeface="Times New Roman" pitchFamily="18" charset="0"/>
              </a:rPr>
              <a:t>hạn</a:t>
            </a:r>
            <a:endParaRPr lang="en-US">
              <a:solidFill>
                <a:srgbClr val="25347F"/>
              </a:solidFill>
              <a:latin typeface="Times New Roman" pitchFamily="18" charset="0"/>
            </a:endParaRP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{	</a:t>
            </a:r>
            <a:r>
              <a:rPr lang="en-US">
                <a:solidFill>
                  <a:schemeClr val="tx2"/>
                </a:solidFill>
                <a:latin typeface="Times New Roman" pitchFamily="18" charset="0"/>
              </a:rPr>
              <a:t>printf</a:t>
            </a:r>
            <a:r>
              <a:rPr lang="en-US">
                <a:solidFill>
                  <a:srgbClr val="2222B2"/>
                </a:solidFill>
                <a:latin typeface="VNI-Times" pitchFamily="2" charset="0"/>
              </a:rPr>
              <a:t>(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</a:rPr>
              <a:t>“Hay</a:t>
            </a:r>
            <a:r>
              <a:rPr lang="en-US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</a:rPr>
              <a:t>cho</a:t>
            </a:r>
            <a:r>
              <a:rPr lang="en-US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</a:rPr>
              <a:t>biet</a:t>
            </a:r>
            <a:r>
              <a:rPr lang="en-US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</a:rPr>
              <a:t>mat</a:t>
            </a:r>
            <a:r>
              <a:rPr lang="en-US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</a:rPr>
              <a:t>ma</a:t>
            </a:r>
            <a:r>
              <a:rPr lang="en-US">
                <a:solidFill>
                  <a:srgbClr val="2222B2"/>
                </a:solidFill>
                <a:latin typeface="VNI-Times" pitchFamily="2" charset="0"/>
              </a:rPr>
              <a:t>: 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</a:rPr>
              <a:t>”</a:t>
            </a:r>
            <a:r>
              <a:rPr lang="en-US">
                <a:latin typeface="VNI-Times" pitchFamily="2" charset="0"/>
              </a:rPr>
              <a:t>);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</a:t>
            </a:r>
            <a:r>
              <a:rPr lang="en-US">
                <a:solidFill>
                  <a:schemeClr val="tx2"/>
                </a:solidFill>
                <a:latin typeface="Times New Roman" pitchFamily="18" charset="0"/>
              </a:rPr>
              <a:t>scanf</a:t>
            </a:r>
            <a:r>
              <a:rPr lang="en-US">
                <a:latin typeface="VNI-Times" pitchFamily="2" charset="0"/>
              </a:rPr>
              <a:t>(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</a:rPr>
              <a:t>“</a:t>
            </a:r>
            <a:r>
              <a:rPr lang="en-US">
                <a:solidFill>
                  <a:srgbClr val="2222B2"/>
                </a:solidFill>
                <a:latin typeface="VNI-Times" pitchFamily="2" charset="0"/>
              </a:rPr>
              <a:t>%</a:t>
            </a:r>
            <a:r>
              <a:rPr lang="en-US">
                <a:solidFill>
                  <a:srgbClr val="2222B2"/>
                </a:solidFill>
                <a:latin typeface="Times New Roman" pitchFamily="18" charset="0"/>
              </a:rPr>
              <a:t>d”</a:t>
            </a:r>
            <a:r>
              <a:rPr lang="en-US">
                <a:latin typeface="VNI-Times" pitchFamily="2" charset="0"/>
              </a:rPr>
              <a:t>, &amp;</a:t>
            </a:r>
            <a:r>
              <a:rPr lang="en-US">
                <a:solidFill>
                  <a:schemeClr val="tx2"/>
                </a:solidFill>
                <a:latin typeface="Times New Roman" pitchFamily="18" charset="0"/>
              </a:rPr>
              <a:t>code</a:t>
            </a:r>
            <a:r>
              <a:rPr lang="en-US">
                <a:latin typeface="VNI-Times" pitchFamily="2" charset="0"/>
              </a:rPr>
              <a:t>);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</a:t>
            </a:r>
            <a:r>
              <a:rPr lang="en-US">
                <a:latin typeface="Times New Roman" pitchFamily="18" charset="0"/>
              </a:rPr>
              <a:t>if</a:t>
            </a:r>
            <a:r>
              <a:rPr lang="en-US">
                <a:latin typeface="VNI-Times" pitchFamily="2" charset="0"/>
              </a:rPr>
              <a:t> (</a:t>
            </a:r>
            <a:r>
              <a:rPr lang="en-US">
                <a:solidFill>
                  <a:schemeClr val="tx2"/>
                </a:solidFill>
                <a:latin typeface="Times New Roman" pitchFamily="18" charset="0"/>
              </a:rPr>
              <a:t>code</a:t>
            </a:r>
            <a:r>
              <a:rPr lang="en-US">
                <a:latin typeface="VNI-Times" pitchFamily="2" charset="0"/>
              </a:rPr>
              <a:t> != </a:t>
            </a:r>
            <a:r>
              <a:rPr lang="en-US">
                <a:solidFill>
                  <a:schemeClr val="tx2"/>
                </a:solidFill>
                <a:latin typeface="VNI-Times" pitchFamily="2" charset="0"/>
              </a:rPr>
              <a:t>999</a:t>
            </a:r>
            <a:r>
              <a:rPr lang="en-US">
                <a:latin typeface="VNI-Times" pitchFamily="2" charset="0"/>
              </a:rPr>
              <a:t>)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	</a:t>
            </a:r>
            <a:r>
              <a:rPr lang="en-US">
                <a:latin typeface="Times New Roman" pitchFamily="18" charset="0"/>
              </a:rPr>
              <a:t>continue</a:t>
            </a:r>
            <a:r>
              <a:rPr lang="en-US">
                <a:latin typeface="VNI-Times" pitchFamily="2" charset="0"/>
              </a:rPr>
              <a:t>;	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	</a:t>
            </a:r>
            <a:r>
              <a:rPr lang="en-US">
                <a:latin typeface="Times New Roman" pitchFamily="18" charset="0"/>
              </a:rPr>
              <a:t>break</a:t>
            </a:r>
            <a:r>
              <a:rPr lang="en-US">
                <a:latin typeface="VNI-Times" pitchFamily="2" charset="0"/>
              </a:rPr>
              <a:t>;	</a:t>
            </a:r>
            <a:r>
              <a:rPr lang="en-US" i="1">
                <a:solidFill>
                  <a:srgbClr val="25347F"/>
                </a:solidFill>
                <a:latin typeface="VNI-Times" pitchFamily="2" charset="0"/>
              </a:rPr>
              <a:t>// </a:t>
            </a:r>
            <a:r>
              <a:rPr lang="en-US" i="1">
                <a:solidFill>
                  <a:srgbClr val="25347F"/>
                </a:solidFill>
                <a:latin typeface="Times New Roman" pitchFamily="18" charset="0"/>
              </a:rPr>
              <a:t>đã</a:t>
            </a:r>
            <a:r>
              <a:rPr lang="en-US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i="1">
                <a:solidFill>
                  <a:srgbClr val="25347F"/>
                </a:solidFill>
                <a:latin typeface="Times New Roman" pitchFamily="18" charset="0"/>
              </a:rPr>
              <a:t>nhập</a:t>
            </a:r>
            <a:r>
              <a:rPr lang="en-US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i="1">
                <a:solidFill>
                  <a:srgbClr val="25347F"/>
                </a:solidFill>
                <a:latin typeface="Times New Roman" pitchFamily="18" charset="0"/>
              </a:rPr>
              <a:t>đúng</a:t>
            </a:r>
            <a:r>
              <a:rPr lang="en-US" i="1">
                <a:solidFill>
                  <a:srgbClr val="25347F"/>
                </a:solidFill>
                <a:latin typeface="VNI-Times" pitchFamily="2" charset="0"/>
              </a:rPr>
              <a:t>, </a:t>
            </a:r>
            <a:r>
              <a:rPr lang="en-US" i="1">
                <a:solidFill>
                  <a:srgbClr val="25347F"/>
                </a:solidFill>
                <a:latin typeface="Times New Roman" pitchFamily="18" charset="0"/>
              </a:rPr>
              <a:t>kết</a:t>
            </a:r>
            <a:r>
              <a:rPr lang="en-US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i="1">
                <a:solidFill>
                  <a:srgbClr val="25347F"/>
                </a:solidFill>
                <a:latin typeface="Times New Roman" pitchFamily="18" charset="0"/>
              </a:rPr>
              <a:t>thúc</a:t>
            </a:r>
            <a:r>
              <a:rPr lang="en-US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i="1">
                <a:solidFill>
                  <a:srgbClr val="25347F"/>
                </a:solidFill>
                <a:latin typeface="Times New Roman" pitchFamily="18" charset="0"/>
              </a:rPr>
              <a:t>vòng</a:t>
            </a:r>
            <a:r>
              <a:rPr lang="en-US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i="1">
                <a:solidFill>
                  <a:srgbClr val="25347F"/>
                </a:solidFill>
                <a:latin typeface="Times New Roman" pitchFamily="18" charset="0"/>
              </a:rPr>
              <a:t>lặp</a:t>
            </a:r>
            <a:endParaRPr lang="en-US">
              <a:solidFill>
                <a:srgbClr val="25347F"/>
              </a:solidFill>
              <a:latin typeface="Times New Roman" pitchFamily="18" charset="0"/>
            </a:endParaRP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>
                <a:latin typeface="VNI-Times" pitchFamily="2" charset="0"/>
              </a:rPr>
              <a:t>}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>
                <a:latin typeface="Times New Roman" pitchFamily="18" charset="0"/>
              </a:rPr>
              <a:t>…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17766" name="Line 6"/>
          <p:cNvSpPr>
            <a:spLocks noChangeShapeType="1"/>
          </p:cNvSpPr>
          <p:nvPr/>
        </p:nvSpPr>
        <p:spPr bwMode="auto">
          <a:xfrm flipH="1">
            <a:off x="2438400" y="5334000"/>
            <a:ext cx="533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117767" name="Line 7"/>
          <p:cNvSpPr>
            <a:spLocks noChangeShapeType="1"/>
          </p:cNvSpPr>
          <p:nvPr/>
        </p:nvSpPr>
        <p:spPr bwMode="auto">
          <a:xfrm>
            <a:off x="2133600" y="4800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117768" name="Line 8"/>
          <p:cNvSpPr>
            <a:spLocks noChangeShapeType="1"/>
          </p:cNvSpPr>
          <p:nvPr/>
        </p:nvSpPr>
        <p:spPr bwMode="auto">
          <a:xfrm flipV="1">
            <a:off x="2133600" y="35814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117769" name="Line 9"/>
          <p:cNvSpPr>
            <a:spLocks noChangeShapeType="1"/>
          </p:cNvSpPr>
          <p:nvPr/>
        </p:nvSpPr>
        <p:spPr bwMode="auto">
          <a:xfrm>
            <a:off x="2133600" y="35814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4025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6" grpId="0" animBg="1"/>
      <p:bldP spid="117767" grpId="0" animBg="1"/>
      <p:bldP spid="117768" grpId="0" animBg="1"/>
      <p:bldP spid="11776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endParaRPr lang="en-US" dirty="0"/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1600200"/>
            <a:ext cx="8001000" cy="46482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3600" dirty="0">
                <a:latin typeface="VNI-Times" pitchFamily="2" charset="0"/>
              </a:rPr>
              <a:t>4. </a:t>
            </a:r>
            <a:r>
              <a:rPr lang="en-US" sz="3600" dirty="0" err="1">
                <a:latin typeface="Times New Roman" pitchFamily="18" charset="0"/>
              </a:rPr>
              <a:t>Lệnh</a:t>
            </a:r>
            <a:r>
              <a:rPr lang="en-US" sz="3600" dirty="0">
                <a:latin typeface="VNI-Times" pitchFamily="2" charset="0"/>
              </a:rPr>
              <a:t> </a:t>
            </a:r>
            <a:r>
              <a:rPr lang="en-US" sz="3600" b="1" i="1" dirty="0">
                <a:solidFill>
                  <a:schemeClr val="tx2"/>
                </a:solidFill>
                <a:latin typeface="Times New Roman" pitchFamily="18" charset="0"/>
              </a:rPr>
              <a:t>return</a:t>
            </a:r>
            <a:endParaRPr lang="en-US" sz="3600" dirty="0">
              <a:latin typeface="Times New Roman" pitchFamily="18" charset="0"/>
            </a:endParaRPr>
          </a:p>
          <a:p>
            <a:pPr>
              <a:spcBef>
                <a:spcPct val="70000"/>
              </a:spcBef>
              <a:buFont typeface="Monotype Sorts" pitchFamily="2" charset="2"/>
              <a:buChar char="l"/>
            </a:pPr>
            <a:r>
              <a:rPr lang="en-US" sz="2400" dirty="0" err="1">
                <a:latin typeface="Times New Roman" pitchFamily="18" charset="0"/>
              </a:rPr>
              <a:t>Khi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gặp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lệnh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b="1" i="1" dirty="0">
                <a:solidFill>
                  <a:schemeClr val="tx2"/>
                </a:solidFill>
                <a:latin typeface="Times New Roman" pitchFamily="18" charset="0"/>
              </a:rPr>
              <a:t>return</a:t>
            </a:r>
            <a:r>
              <a:rPr lang="en-US" sz="2400" b="1" i="1" dirty="0">
                <a:solidFill>
                  <a:schemeClr val="tx2"/>
                </a:solidFill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máy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sẽ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kết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thúc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hàm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chứa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nó</a:t>
            </a:r>
            <a:r>
              <a:rPr lang="en-US" sz="2400" dirty="0">
                <a:latin typeface="VNI-Times" pitchFamily="2" charset="0"/>
              </a:rPr>
              <a:t>.</a:t>
            </a:r>
          </a:p>
          <a:p>
            <a:pPr>
              <a:spcBef>
                <a:spcPct val="70000"/>
              </a:spcBef>
              <a:buFont typeface="Monotype Sorts" pitchFamily="2" charset="2"/>
              <a:buChar char="l"/>
            </a:pPr>
            <a:r>
              <a:rPr lang="en-US" sz="2400" dirty="0" err="1">
                <a:latin typeface="Times New Roman" pitchFamily="18" charset="0"/>
              </a:rPr>
              <a:t>Ví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dụ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minh</a:t>
            </a:r>
            <a:r>
              <a:rPr lang="en-US" sz="2400" dirty="0">
                <a:latin typeface="VNI-Times" pitchFamily="2" charset="0"/>
              </a:rPr>
              <a:t> </a:t>
            </a:r>
            <a:r>
              <a:rPr lang="en-US" sz="2400" dirty="0" err="1">
                <a:latin typeface="Times New Roman" pitchFamily="18" charset="0"/>
              </a:rPr>
              <a:t>họa</a:t>
            </a:r>
            <a:r>
              <a:rPr lang="en-US" sz="2400" dirty="0">
                <a:latin typeface="VNI-Times" pitchFamily="2" charset="0"/>
              </a:rPr>
              <a:t>:</a:t>
            </a:r>
          </a:p>
          <a:p>
            <a:pPr>
              <a:spcBef>
                <a:spcPct val="70000"/>
              </a:spcBef>
              <a:buFont typeface="Monotype Sorts" pitchFamily="2" charset="2"/>
              <a:buNone/>
            </a:pPr>
            <a:endParaRPr lang="en-US" sz="2400" dirty="0">
              <a:latin typeface="VNI-Times" pitchFamily="2" charset="0"/>
            </a:endParaRPr>
          </a:p>
          <a:p>
            <a:pPr>
              <a:spcBef>
                <a:spcPct val="70000"/>
              </a:spcBef>
              <a:buFont typeface="Monotype Sorts" pitchFamily="2" charset="2"/>
              <a:buNone/>
            </a:pPr>
            <a:r>
              <a:rPr lang="en-US" dirty="0">
                <a:latin typeface="VNI-Times" pitchFamily="2" charset="0"/>
              </a:rPr>
              <a:t>	</a:t>
            </a:r>
            <a:r>
              <a:rPr lang="en-US" sz="1600" dirty="0">
                <a:latin typeface="VNI-Times" pitchFamily="2" charset="0"/>
              </a:rPr>
              <a:t>	</a:t>
            </a:r>
          </a:p>
          <a:p>
            <a:pPr>
              <a:spcBef>
                <a:spcPct val="70000"/>
              </a:spcBef>
              <a:buFont typeface="Monotype Sorts" pitchFamily="2" charset="2"/>
              <a:buNone/>
            </a:pPr>
            <a:r>
              <a:rPr lang="en-US" sz="1600" dirty="0">
                <a:latin typeface="VNI-Times" pitchFamily="2" charset="0"/>
              </a:rPr>
              <a:t>	</a:t>
            </a:r>
          </a:p>
          <a:p>
            <a:pPr>
              <a:buFont typeface="Wingdings" pitchFamily="2" charset="2"/>
              <a:buNone/>
            </a:pPr>
            <a:endParaRPr lang="en-US" sz="1600" dirty="0">
              <a:latin typeface="VNI-Times" pitchFamily="2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262700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smtClean="0"/>
              <a:t>lặp</a:t>
            </a:r>
            <a:endParaRPr 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idx="1"/>
          </p:nvPr>
        </p:nvSpPr>
        <p:spPr>
          <a:xfrm>
            <a:off x="1752600" y="1600200"/>
            <a:ext cx="7162800" cy="4648200"/>
          </a:xfrm>
        </p:spPr>
        <p:txBody>
          <a:bodyPr/>
          <a:lstStyle/>
          <a:p>
            <a:pPr>
              <a:spcBef>
                <a:spcPct val="70000"/>
              </a:spcBef>
              <a:buFont typeface="Monotype Sorts" pitchFamily="2" charset="2"/>
              <a:buNone/>
            </a:pPr>
            <a:r>
              <a:rPr lang="en-US" sz="2400">
                <a:latin typeface="Times New Roman" pitchFamily="18" charset="0"/>
              </a:rPr>
              <a:t>void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main</a:t>
            </a:r>
            <a:r>
              <a:rPr lang="en-US" sz="2400">
                <a:latin typeface="VNI-Times" pitchFamily="2" charset="0"/>
              </a:rPr>
              <a:t>()</a:t>
            </a:r>
          </a:p>
          <a:p>
            <a:pPr>
              <a:lnSpc>
                <a:spcPct val="75000"/>
              </a:lnSpc>
              <a:spcBef>
                <a:spcPct val="30000"/>
              </a:spcBef>
              <a:buFont typeface="Monotype Sorts" pitchFamily="2" charset="2"/>
              <a:buNone/>
            </a:pPr>
            <a:r>
              <a:rPr lang="en-US" sz="2400">
                <a:latin typeface="VNI-Times" pitchFamily="2" charset="0"/>
              </a:rPr>
              <a:t>{	 </a:t>
            </a:r>
            <a:r>
              <a:rPr lang="en-US" sz="2400">
                <a:latin typeface="Times New Roman" pitchFamily="18" charset="0"/>
              </a:rPr>
              <a:t>…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Times New Roman" pitchFamily="18" charset="0"/>
              </a:rPr>
              <a:t>int</a:t>
            </a:r>
            <a:r>
              <a:rPr lang="en-US" sz="2400">
                <a:latin typeface="VNI-Times" pitchFamily="2" charset="0"/>
              </a:rPr>
              <a:t> 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code</a:t>
            </a:r>
            <a:r>
              <a:rPr lang="en-US" sz="2400">
                <a:latin typeface="VNI-Times" pitchFamily="2" charset="0"/>
              </a:rPr>
              <a:t>;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Times New Roman" pitchFamily="18" charset="0"/>
              </a:rPr>
              <a:t>while</a:t>
            </a:r>
            <a:r>
              <a:rPr lang="en-US" sz="2400">
                <a:latin typeface="VNI-Times" pitchFamily="2" charset="0"/>
              </a:rPr>
              <a:t>(</a:t>
            </a:r>
            <a:r>
              <a:rPr lang="en-US" sz="2400">
                <a:solidFill>
                  <a:schemeClr val="tx2"/>
                </a:solidFill>
                <a:latin typeface="VNI-Times" pitchFamily="2" charset="0"/>
              </a:rPr>
              <a:t>1</a:t>
            </a:r>
            <a:r>
              <a:rPr lang="en-US" sz="2400">
                <a:latin typeface="VNI-Times" pitchFamily="2" charset="0"/>
              </a:rPr>
              <a:t>)		</a:t>
            </a:r>
            <a:r>
              <a:rPr lang="en-US" sz="2400" i="1">
                <a:solidFill>
                  <a:srgbClr val="66FFFF"/>
                </a:solidFill>
                <a:latin typeface="VNI-Times" pitchFamily="2" charset="0"/>
              </a:rPr>
              <a:t> 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{	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printf</a:t>
            </a:r>
            <a:r>
              <a:rPr lang="en-US" sz="2400">
                <a:latin typeface="VNI-Times" pitchFamily="2" charset="0"/>
              </a:rPr>
              <a:t>(</a:t>
            </a:r>
            <a:r>
              <a:rPr lang="en-US" sz="2400">
                <a:solidFill>
                  <a:srgbClr val="2222B2"/>
                </a:solidFill>
                <a:latin typeface="Times New Roman" pitchFamily="18" charset="0"/>
              </a:rPr>
              <a:t>“Hay</a:t>
            </a:r>
            <a:r>
              <a:rPr lang="en-US" sz="240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>
                <a:solidFill>
                  <a:srgbClr val="2222B2"/>
                </a:solidFill>
                <a:latin typeface="Times New Roman" pitchFamily="18" charset="0"/>
              </a:rPr>
              <a:t>cho</a:t>
            </a:r>
            <a:r>
              <a:rPr lang="en-US" sz="240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>
                <a:solidFill>
                  <a:srgbClr val="2222B2"/>
                </a:solidFill>
                <a:latin typeface="Times New Roman" pitchFamily="18" charset="0"/>
              </a:rPr>
              <a:t>biet</a:t>
            </a:r>
            <a:r>
              <a:rPr lang="en-US" sz="240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>
                <a:solidFill>
                  <a:srgbClr val="2222B2"/>
                </a:solidFill>
                <a:latin typeface="Times New Roman" pitchFamily="18" charset="0"/>
              </a:rPr>
              <a:t>mat</a:t>
            </a:r>
            <a:r>
              <a:rPr lang="en-US" sz="2400">
                <a:solidFill>
                  <a:srgbClr val="2222B2"/>
                </a:solidFill>
                <a:latin typeface="VNI-Times" pitchFamily="2" charset="0"/>
              </a:rPr>
              <a:t> </a:t>
            </a:r>
            <a:r>
              <a:rPr lang="en-US" sz="2400">
                <a:solidFill>
                  <a:srgbClr val="2222B2"/>
                </a:solidFill>
                <a:latin typeface="Times New Roman" pitchFamily="18" charset="0"/>
              </a:rPr>
              <a:t>ma</a:t>
            </a:r>
            <a:r>
              <a:rPr lang="en-US" sz="2400">
                <a:solidFill>
                  <a:srgbClr val="2222B2"/>
                </a:solidFill>
                <a:latin typeface="VNI-Times" pitchFamily="2" charset="0"/>
              </a:rPr>
              <a:t>: </a:t>
            </a:r>
            <a:r>
              <a:rPr lang="en-US" sz="2400">
                <a:solidFill>
                  <a:srgbClr val="2222B2"/>
                </a:solidFill>
                <a:latin typeface="Times New Roman" pitchFamily="18" charset="0"/>
              </a:rPr>
              <a:t>”</a:t>
            </a:r>
            <a:r>
              <a:rPr lang="en-US" sz="2400">
                <a:latin typeface="VNI-Times" pitchFamily="2" charset="0"/>
              </a:rPr>
              <a:t>);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scanf</a:t>
            </a:r>
            <a:r>
              <a:rPr lang="en-US" sz="2400">
                <a:latin typeface="VNI-Times" pitchFamily="2" charset="0"/>
              </a:rPr>
              <a:t>(</a:t>
            </a:r>
            <a:r>
              <a:rPr lang="en-US" sz="2400">
                <a:solidFill>
                  <a:srgbClr val="2222B2"/>
                </a:solidFill>
                <a:latin typeface="Times New Roman" pitchFamily="18" charset="0"/>
              </a:rPr>
              <a:t>“</a:t>
            </a:r>
            <a:r>
              <a:rPr lang="en-US" sz="2400">
                <a:solidFill>
                  <a:srgbClr val="2222B2"/>
                </a:solidFill>
                <a:latin typeface="VNI-Times" pitchFamily="2" charset="0"/>
              </a:rPr>
              <a:t>%</a:t>
            </a:r>
            <a:r>
              <a:rPr lang="en-US" sz="2400">
                <a:solidFill>
                  <a:srgbClr val="2222B2"/>
                </a:solidFill>
                <a:latin typeface="Times New Roman" pitchFamily="18" charset="0"/>
              </a:rPr>
              <a:t>d”</a:t>
            </a:r>
            <a:r>
              <a:rPr lang="en-US" sz="2400">
                <a:latin typeface="VNI-Times" pitchFamily="2" charset="0"/>
              </a:rPr>
              <a:t>, &amp;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code</a:t>
            </a:r>
            <a:r>
              <a:rPr lang="en-US" sz="2400">
                <a:latin typeface="VNI-Times" pitchFamily="2" charset="0"/>
              </a:rPr>
              <a:t>);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</a:t>
            </a:r>
            <a:r>
              <a:rPr lang="en-US" sz="2400">
                <a:latin typeface="Times New Roman" pitchFamily="18" charset="0"/>
              </a:rPr>
              <a:t>if</a:t>
            </a:r>
            <a:r>
              <a:rPr lang="en-US" sz="2400">
                <a:latin typeface="VNI-Times" pitchFamily="2" charset="0"/>
              </a:rPr>
              <a:t> (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code</a:t>
            </a:r>
            <a:r>
              <a:rPr lang="en-US" sz="2400">
                <a:latin typeface="VNI-Times" pitchFamily="2" charset="0"/>
              </a:rPr>
              <a:t> == </a:t>
            </a:r>
            <a:r>
              <a:rPr lang="en-US" sz="2400">
                <a:solidFill>
                  <a:schemeClr val="tx2"/>
                </a:solidFill>
                <a:latin typeface="VNI-Times" pitchFamily="2" charset="0"/>
              </a:rPr>
              <a:t>0</a:t>
            </a:r>
            <a:r>
              <a:rPr lang="en-US" sz="2400">
                <a:latin typeface="VNI-Times" pitchFamily="2" charset="0"/>
              </a:rPr>
              <a:t>)	</a:t>
            </a:r>
            <a:r>
              <a:rPr lang="en-US" sz="2400">
                <a:latin typeface="Times New Roman" pitchFamily="18" charset="0"/>
              </a:rPr>
              <a:t>return</a:t>
            </a:r>
            <a:r>
              <a:rPr lang="en-US" sz="2400">
                <a:latin typeface="VNI-Times" pitchFamily="2" charset="0"/>
              </a:rPr>
              <a:t>; 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</a:t>
            </a:r>
            <a:r>
              <a:rPr lang="en-US" sz="2400">
                <a:latin typeface="Times New Roman" pitchFamily="18" charset="0"/>
              </a:rPr>
              <a:t>if</a:t>
            </a:r>
            <a:r>
              <a:rPr lang="en-US" sz="2400">
                <a:latin typeface="VNI-Times" pitchFamily="2" charset="0"/>
              </a:rPr>
              <a:t> (</a:t>
            </a:r>
            <a:r>
              <a:rPr lang="en-US" sz="2400">
                <a:solidFill>
                  <a:schemeClr val="tx2"/>
                </a:solidFill>
                <a:latin typeface="Times New Roman" pitchFamily="18" charset="0"/>
              </a:rPr>
              <a:t>code</a:t>
            </a:r>
            <a:r>
              <a:rPr lang="en-US" sz="2400">
                <a:latin typeface="VNI-Times" pitchFamily="2" charset="0"/>
              </a:rPr>
              <a:t> != </a:t>
            </a:r>
            <a:r>
              <a:rPr lang="en-US" sz="2400">
                <a:solidFill>
                  <a:schemeClr val="tx2"/>
                </a:solidFill>
                <a:latin typeface="VNI-Times" pitchFamily="2" charset="0"/>
              </a:rPr>
              <a:t>999</a:t>
            </a:r>
            <a:r>
              <a:rPr lang="en-US" sz="2400">
                <a:latin typeface="VNI-Times" pitchFamily="2" charset="0"/>
              </a:rPr>
              <a:t>) </a:t>
            </a:r>
            <a:r>
              <a:rPr lang="en-US" sz="2400">
                <a:latin typeface="Times New Roman" pitchFamily="18" charset="0"/>
              </a:rPr>
              <a:t>continue</a:t>
            </a:r>
            <a:r>
              <a:rPr lang="en-US" sz="2400">
                <a:latin typeface="VNI-Times" pitchFamily="2" charset="0"/>
              </a:rPr>
              <a:t>;	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	</a:t>
            </a:r>
            <a:r>
              <a:rPr lang="en-US" sz="2400">
                <a:latin typeface="Times New Roman" pitchFamily="18" charset="0"/>
              </a:rPr>
              <a:t>break</a:t>
            </a:r>
            <a:r>
              <a:rPr lang="en-US" sz="2400">
                <a:latin typeface="VNI-Times" pitchFamily="2" charset="0"/>
              </a:rPr>
              <a:t>;	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//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đã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nhập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đúng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,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kết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thúc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vòng</a:t>
            </a:r>
            <a:r>
              <a:rPr lang="en-US" sz="2400" i="1">
                <a:solidFill>
                  <a:srgbClr val="25347F"/>
                </a:solidFill>
                <a:latin typeface="VNI-Times" pitchFamily="2" charset="0"/>
              </a:rPr>
              <a:t> </a:t>
            </a:r>
            <a:r>
              <a:rPr lang="en-US" sz="2400" i="1">
                <a:solidFill>
                  <a:srgbClr val="25347F"/>
                </a:solidFill>
                <a:latin typeface="Times New Roman" pitchFamily="18" charset="0"/>
              </a:rPr>
              <a:t>lặp</a:t>
            </a:r>
            <a:endParaRPr lang="en-US" sz="2400">
              <a:solidFill>
                <a:srgbClr val="25347F"/>
              </a:solidFill>
              <a:latin typeface="Times New Roman" pitchFamily="18" charset="0"/>
            </a:endParaRP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}</a:t>
            </a:r>
          </a:p>
          <a:p>
            <a:pPr lvl="1"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Times New Roman" pitchFamily="18" charset="0"/>
              </a:rPr>
              <a:t>…</a:t>
            </a:r>
          </a:p>
          <a:p>
            <a:pPr>
              <a:lnSpc>
                <a:spcPct val="75000"/>
              </a:lnSpc>
              <a:buFont typeface="Wingdings" pitchFamily="2" charset="2"/>
              <a:buNone/>
            </a:pPr>
            <a:r>
              <a:rPr lang="en-US" sz="2400">
                <a:latin typeface="VNI-Times" pitchFamily="2" charset="0"/>
              </a:rPr>
              <a:t>}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121861" name="Arc 5"/>
          <p:cNvSpPr>
            <a:spLocks/>
          </p:cNvSpPr>
          <p:nvPr/>
        </p:nvSpPr>
        <p:spPr bwMode="auto">
          <a:xfrm>
            <a:off x="2516188" y="4953000"/>
            <a:ext cx="684212" cy="687388"/>
          </a:xfrm>
          <a:custGeom>
            <a:avLst/>
            <a:gdLst>
              <a:gd name="G0" fmla="+- 6978 0 0"/>
              <a:gd name="G1" fmla="+- 14826 0 0"/>
              <a:gd name="G2" fmla="+- 21600 0 0"/>
              <a:gd name="T0" fmla="*/ 22686 w 28578"/>
              <a:gd name="T1" fmla="*/ 0 h 36426"/>
              <a:gd name="T2" fmla="*/ 0 w 28578"/>
              <a:gd name="T3" fmla="*/ 35268 h 36426"/>
              <a:gd name="T4" fmla="*/ 6978 w 28578"/>
              <a:gd name="T5" fmla="*/ 14826 h 364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578" h="36426" fill="none" extrusionOk="0">
                <a:moveTo>
                  <a:pt x="22686" y="-1"/>
                </a:moveTo>
                <a:cubicBezTo>
                  <a:pt x="26470" y="4008"/>
                  <a:pt x="28578" y="9313"/>
                  <a:pt x="28578" y="14826"/>
                </a:cubicBezTo>
                <a:cubicBezTo>
                  <a:pt x="28578" y="26755"/>
                  <a:pt x="18907" y="36426"/>
                  <a:pt x="6978" y="36426"/>
                </a:cubicBezTo>
                <a:cubicBezTo>
                  <a:pt x="4604" y="36426"/>
                  <a:pt x="2246" y="36034"/>
                  <a:pt x="0" y="35267"/>
                </a:cubicBezTo>
              </a:path>
              <a:path w="28578" h="36426" stroke="0" extrusionOk="0">
                <a:moveTo>
                  <a:pt x="22686" y="-1"/>
                </a:moveTo>
                <a:cubicBezTo>
                  <a:pt x="26470" y="4008"/>
                  <a:pt x="28578" y="9313"/>
                  <a:pt x="28578" y="14826"/>
                </a:cubicBezTo>
                <a:cubicBezTo>
                  <a:pt x="28578" y="26755"/>
                  <a:pt x="18907" y="36426"/>
                  <a:pt x="6978" y="36426"/>
                </a:cubicBezTo>
                <a:cubicBezTo>
                  <a:pt x="4604" y="36426"/>
                  <a:pt x="2246" y="36034"/>
                  <a:pt x="0" y="35267"/>
                </a:cubicBezTo>
                <a:lnTo>
                  <a:pt x="6978" y="1482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2075" tIns="46038" rIns="92075" bIns="46038" anchor="ctr"/>
          <a:lstStyle/>
          <a:p>
            <a:pPr algn="ctr"/>
            <a:endParaRPr lang="en-US">
              <a:latin typeface="VNI-Times" pitchFamily="2" charset="0"/>
              <a:cs typeface="Arial" charset="0"/>
            </a:endParaRPr>
          </a:p>
        </p:txBody>
      </p:sp>
      <p:sp>
        <p:nvSpPr>
          <p:cNvPr id="121862" name="Line 6"/>
          <p:cNvSpPr>
            <a:spLocks noChangeShapeType="1"/>
          </p:cNvSpPr>
          <p:nvPr/>
        </p:nvSpPr>
        <p:spPr bwMode="auto">
          <a:xfrm>
            <a:off x="4953000" y="42672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121863" name="Line 7"/>
          <p:cNvSpPr>
            <a:spLocks noChangeShapeType="1"/>
          </p:cNvSpPr>
          <p:nvPr/>
        </p:nvSpPr>
        <p:spPr bwMode="auto">
          <a:xfrm flipH="1">
            <a:off x="2057400" y="59436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  <p:sp>
        <p:nvSpPr>
          <p:cNvPr id="121864" name="Freeform 8"/>
          <p:cNvSpPr>
            <a:spLocks/>
          </p:cNvSpPr>
          <p:nvPr/>
        </p:nvSpPr>
        <p:spPr bwMode="auto">
          <a:xfrm>
            <a:off x="4953000" y="2946400"/>
            <a:ext cx="2286000" cy="1549400"/>
          </a:xfrm>
          <a:custGeom>
            <a:avLst/>
            <a:gdLst/>
            <a:ahLst/>
            <a:cxnLst>
              <a:cxn ang="0">
                <a:pos x="0" y="16"/>
              </a:cxn>
              <a:cxn ang="0">
                <a:pos x="720" y="16"/>
              </a:cxn>
              <a:cxn ang="0">
                <a:pos x="1152" y="112"/>
              </a:cxn>
              <a:cxn ang="0">
                <a:pos x="1344" y="400"/>
              </a:cxn>
              <a:cxn ang="0">
                <a:pos x="1344" y="640"/>
              </a:cxn>
              <a:cxn ang="0">
                <a:pos x="1152" y="832"/>
              </a:cxn>
              <a:cxn ang="0">
                <a:pos x="1008" y="880"/>
              </a:cxn>
              <a:cxn ang="0">
                <a:pos x="768" y="928"/>
              </a:cxn>
              <a:cxn ang="0">
                <a:pos x="624" y="976"/>
              </a:cxn>
            </a:cxnLst>
            <a:rect l="0" t="0" r="r" b="b"/>
            <a:pathLst>
              <a:path w="1376" h="1040">
                <a:moveTo>
                  <a:pt x="0" y="16"/>
                </a:moveTo>
                <a:cubicBezTo>
                  <a:pt x="264" y="8"/>
                  <a:pt x="528" y="0"/>
                  <a:pt x="720" y="16"/>
                </a:cubicBezTo>
                <a:cubicBezTo>
                  <a:pt x="912" y="32"/>
                  <a:pt x="1048" y="48"/>
                  <a:pt x="1152" y="112"/>
                </a:cubicBezTo>
                <a:cubicBezTo>
                  <a:pt x="1256" y="176"/>
                  <a:pt x="1312" y="312"/>
                  <a:pt x="1344" y="400"/>
                </a:cubicBezTo>
                <a:cubicBezTo>
                  <a:pt x="1376" y="488"/>
                  <a:pt x="1376" y="568"/>
                  <a:pt x="1344" y="640"/>
                </a:cubicBezTo>
                <a:cubicBezTo>
                  <a:pt x="1312" y="712"/>
                  <a:pt x="1208" y="792"/>
                  <a:pt x="1152" y="832"/>
                </a:cubicBezTo>
                <a:cubicBezTo>
                  <a:pt x="1096" y="872"/>
                  <a:pt x="1072" y="864"/>
                  <a:pt x="1008" y="880"/>
                </a:cubicBezTo>
                <a:cubicBezTo>
                  <a:pt x="944" y="896"/>
                  <a:pt x="832" y="912"/>
                  <a:pt x="768" y="928"/>
                </a:cubicBezTo>
                <a:cubicBezTo>
                  <a:pt x="704" y="944"/>
                  <a:pt x="680" y="1040"/>
                  <a:pt x="624" y="97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70971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eaLnBrk="1" hangingPunct="1">
              <a:buFont typeface="+mj-lt"/>
              <a:buAutoNum type="arabicPeriod" startAt="3"/>
              <a:defRPr/>
            </a:pPr>
            <a:r>
              <a:rPr lang="en-US" smtClean="0"/>
              <a:t>Nhập một số nguyên dương n (n &gt; 0).</a:t>
            </a:r>
          </a:p>
          <a:p>
            <a:pPr marL="514350" indent="-514350" eaLnBrk="1" hangingPunct="1">
              <a:buFont typeface="Wingdings" pitchFamily="2" charset="2"/>
              <a:buNone/>
              <a:defRPr/>
            </a:pPr>
            <a:r>
              <a:rPr lang="en-US" smtClean="0"/>
              <a:t>	Hãy cho biết: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Có phải là số đối xứng? Ví dụ: 121, 12321, …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Có phải là số chính phương? Ví dụ: 4, 9, 16, …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Có phải là số nguyên tố? Ví dụ: 2, 3, 5, 7, …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Chữ số lớn nhất và nhỏ nhất?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Các chữ số có tăng dần hay giảm dần không?</a:t>
            </a:r>
          </a:p>
        </p:txBody>
      </p:sp>
      <p:pic>
        <p:nvPicPr>
          <p:cNvPr id="41989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0" name="Picture 5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1" name="Picture 6" descr="question_pop_up_from_box_rotate_hg_clr">
            <a:hlinkClick r:id="rId6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718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2" name="Picture 7" descr="question_pop_up_from_box_rotate_hg_clr">
            <a:hlinkClick r:id="rId7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5052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3" name="Picture 8" descr="question_pop_up_from_box_rotate_hg_clr">
            <a:hlinkClick r:id="rId8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0386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94" name="Picture 9" descr="question_pop_up_from_box_rotate_hg_clr">
            <a:hlinkClick r:id="rId9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77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 eaLnBrk="1" hangingPunct="1">
              <a:buFont typeface="+mj-lt"/>
              <a:buAutoNum type="arabicPeriod" startAt="4"/>
              <a:defRPr/>
            </a:pPr>
            <a:r>
              <a:rPr lang="en-US" spc="-100" smtClean="0"/>
              <a:t>Nhập một số nguyên dương n. Tính: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S = 1 + 2 + … + n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S = 1</a:t>
            </a:r>
            <a:r>
              <a:rPr lang="en-US" spc="-100" baseline="30000" smtClean="0"/>
              <a:t>2</a:t>
            </a:r>
            <a:r>
              <a:rPr lang="en-US" spc="-100" smtClean="0"/>
              <a:t> + 2</a:t>
            </a:r>
            <a:r>
              <a:rPr lang="en-US" spc="-100" baseline="30000" smtClean="0"/>
              <a:t>2</a:t>
            </a:r>
            <a:r>
              <a:rPr lang="en-US" spc="-100" smtClean="0"/>
              <a:t> + … + n</a:t>
            </a:r>
            <a:r>
              <a:rPr lang="en-US" spc="-100" baseline="30000" smtClean="0"/>
              <a:t>2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S = 1 + 1/2 + … + 1/n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S = 1*2*…*n = n!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S = 1! + 2! + … + n!</a:t>
            </a:r>
          </a:p>
          <a:p>
            <a:pPr marL="514350" indent="-514350" eaLnBrk="1" hangingPunct="1">
              <a:buFont typeface="+mj-lt"/>
              <a:buAutoNum type="arabicPeriod" startAt="4"/>
              <a:defRPr/>
            </a:pPr>
            <a:r>
              <a:rPr lang="en-US" spc="-100" smtClean="0"/>
              <a:t>Nhập 3 số nguyên a, b và n với a, b &lt; n. Tính tổng các số nguyên dương nhỏ hơn n chia hết cho a nhưng không chia hết cho b.</a:t>
            </a:r>
          </a:p>
          <a:p>
            <a:pPr marL="514350" indent="-514350" eaLnBrk="1" hangingPunct="1">
              <a:buFont typeface="+mj-lt"/>
              <a:buAutoNum type="arabicPeriod" startAt="4"/>
              <a:defRPr/>
            </a:pPr>
            <a:r>
              <a:rPr lang="en-US" spc="-100" smtClean="0"/>
              <a:t>Tính tổng các số nguyên tố nhỏ hơn n (0 &lt; n &lt; 50)</a:t>
            </a:r>
          </a:p>
        </p:txBody>
      </p:sp>
      <p:pic>
        <p:nvPicPr>
          <p:cNvPr id="43013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4" name="Picture 5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812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5" name="Picture 6" descr="question_pop_up_from_box_rotate_hg_clr">
            <a:hlinkClick r:id="rId6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5720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6" name="Picture 7" descr="question_pop_up_from_box_rotate_hg_clr">
            <a:hlinkClick r:id="rId7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9436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7" name="Picture 8" descr="question_pop_up_from_box_rotate_hg_clr">
            <a:hlinkClick r:id="rId8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5146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8" name="Picture 9" descr="question_pop_up_from_box_rotate_hg_clr">
            <a:hlinkClick r:id="rId9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718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19" name="Picture 10" descr="question_pop_up_from_box_rotate_hg_clr">
            <a:hlinkClick r:id="rId10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5052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020" name="Picture 11" descr="question_pop_up_from_box_rotate_hg_clr">
            <a:hlinkClick r:id="rId11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0386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889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thực hành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 eaLnBrk="1" hangingPunct="1">
              <a:buFont typeface="+mj-lt"/>
              <a:buAutoNum type="arabicPeriod" startAt="7"/>
              <a:defRPr/>
            </a:pPr>
            <a:r>
              <a:rPr lang="en-US" spc="-100" smtClean="0"/>
              <a:t>Nhập một số nguyên dương n. Xuất ra số ngược lại. Ví dụ: Nhập 1706 </a:t>
            </a:r>
            <a:r>
              <a:rPr lang="en-US" spc="-100" smtClean="0">
                <a:sym typeface="Wingdings" pitchFamily="2" charset="2"/>
              </a:rPr>
              <a:t> Xuất 6071.</a:t>
            </a:r>
          </a:p>
          <a:p>
            <a:pPr marL="514350" indent="-514350" eaLnBrk="1" hangingPunct="1">
              <a:buFont typeface="+mj-lt"/>
              <a:buAutoNum type="arabicPeriod" startAt="7"/>
              <a:defRPr/>
            </a:pPr>
            <a:r>
              <a:rPr lang="en-US" spc="-100" smtClean="0"/>
              <a:t>Tìm và in lên màn hình tất cả các số nguyên trong phạm vi từ 10 đến 99 sao cho tích của 2 chữ số bằng 2 lần tổng của 2 chữ số đó.</a:t>
            </a:r>
          </a:p>
          <a:p>
            <a:pPr marL="514350" indent="-514350" eaLnBrk="1" hangingPunct="1">
              <a:buFont typeface="+mj-lt"/>
              <a:buAutoNum type="arabicPeriod" startAt="7"/>
              <a:defRPr/>
            </a:pPr>
            <a:r>
              <a:rPr lang="en-US" spc="-100" smtClean="0"/>
              <a:t>Tìm ước số chung lớn nhất của 2 số nguyên dương a và b nhập từ bàn phím.</a:t>
            </a:r>
          </a:p>
          <a:p>
            <a:pPr marL="514350" indent="-514350" eaLnBrk="1" hangingPunct="1">
              <a:buFont typeface="+mj-lt"/>
              <a:buAutoNum type="arabicPeriod" startAt="7"/>
              <a:defRPr/>
            </a:pPr>
            <a:r>
              <a:rPr lang="en-US" spc="-100" smtClean="0"/>
              <a:t>Nhập n. In n số đầu tiên trong dãy Fibonacy.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a</a:t>
            </a:r>
            <a:r>
              <a:rPr lang="en-US" spc="-100" baseline="-25000" smtClean="0"/>
              <a:t>0</a:t>
            </a:r>
            <a:r>
              <a:rPr lang="en-US" spc="-100" smtClean="0"/>
              <a:t> = a</a:t>
            </a:r>
            <a:r>
              <a:rPr lang="en-US" spc="-100" baseline="-25000" smtClean="0"/>
              <a:t>1</a:t>
            </a:r>
            <a:r>
              <a:rPr lang="en-US" spc="-100" smtClean="0"/>
              <a:t> = 1</a:t>
            </a:r>
          </a:p>
          <a:p>
            <a:pPr marL="914400" lvl="1" indent="-514350" eaLnBrk="1" hangingPunct="1">
              <a:buFont typeface="+mj-lt"/>
              <a:buAutoNum type="alphaLcPeriod"/>
              <a:defRPr/>
            </a:pPr>
            <a:r>
              <a:rPr lang="en-US" spc="-100" smtClean="0"/>
              <a:t>a</a:t>
            </a:r>
            <a:r>
              <a:rPr lang="en-US" spc="-100" baseline="-25000" smtClean="0"/>
              <a:t>n</a:t>
            </a:r>
            <a:r>
              <a:rPr lang="en-US" spc="-100" smtClean="0"/>
              <a:t> = a</a:t>
            </a:r>
            <a:r>
              <a:rPr lang="en-US" spc="-100" baseline="-25000" smtClean="0"/>
              <a:t>n – 1</a:t>
            </a:r>
            <a:r>
              <a:rPr lang="en-US" spc="-100" smtClean="0"/>
              <a:t> + a</a:t>
            </a:r>
            <a:r>
              <a:rPr lang="en-US" spc="-100" baseline="-25000" smtClean="0"/>
              <a:t>n – 2</a:t>
            </a:r>
          </a:p>
        </p:txBody>
      </p:sp>
      <p:pic>
        <p:nvPicPr>
          <p:cNvPr id="44037" name="Picture 4" descr="question_pop_up_from_box_hg_clr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713" y="3962400"/>
            <a:ext cx="166528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5" descr="question_pop_up_from_box_rotate_hg_clr">
            <a:hlinkClick r:id="rId4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4478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Picture 6" descr="question_pop_up_from_box_rotate_hg_clr">
            <a:hlinkClick r:id="rId6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384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0" name="Picture 7" descr="question_pop_up_from_box_rotate_hg_clr">
            <a:hlinkClick r:id="rId7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1" name="Picture 8" descr="question_pop_up_from_box_rotate_hg_clr">
            <a:hlinkClick r:id="rId8" action="ppaction://hlinksldjump"/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724400"/>
            <a:ext cx="407988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3a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87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506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70104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sogoc, sodao, donvi;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sogoc = n; sodao = 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sogoc &gt;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donvi = sogoc %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sodao = sodao*10 + donvi;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sogoc = sogoc /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sodao ==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 printf(“DX”);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else printf(“Khong doi xung”);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514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0386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562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47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3b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64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6085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70104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#include &lt;math.h&gt;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  <a:br>
              <a:rPr lang="en-US" sz="2000" b="1">
                <a:latin typeface="Courier New" pitchFamily="49" charset="0"/>
                <a:cs typeface="Courier New" pitchFamily="49" charset="0"/>
              </a:rPr>
            </a:br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n_can_nguyen;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n_can_nguyen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(sqrt(n));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(n_can_nguyen*n_can_nguyen == n)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 la so CP.”,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 khong la so CP.”,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34290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1600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6482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64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3c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5181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109" name="TextBox 7"/>
          <p:cNvSpPr txBox="1">
            <a:spLocks noChangeArrowheads="1"/>
          </p:cNvSpPr>
          <p:nvPr/>
        </p:nvSpPr>
        <p:spPr bwMode="auto">
          <a:xfrm>
            <a:off x="838200" y="1533525"/>
            <a:ext cx="73914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i, souoc;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souoc = 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&lt;= 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% i ==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souoc++;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souoc == 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 la so nguyen to”);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 ko la so nguyen to”,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819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15875" y="4038600"/>
            <a:ext cx="9128125" cy="914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52578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36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3d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5181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33" name="TextBox 7"/>
          <p:cNvSpPr txBox="1">
            <a:spLocks noChangeArrowheads="1"/>
          </p:cNvSpPr>
          <p:nvPr/>
        </p:nvSpPr>
        <p:spPr bwMode="auto">
          <a:xfrm>
            <a:off x="838200" y="1533525"/>
            <a:ext cx="78486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min, max, donvi;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min = n %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max = min;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n = n / 10;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n&gt;0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donvi = n %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n = n /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donvi &lt; min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min = donvi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donvi &gt; max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max = donvi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printf(“So NN = %d, So LN = %d”, min, max);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5875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819400"/>
            <a:ext cx="9128125" cy="838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4038600"/>
            <a:ext cx="9128125" cy="2057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15875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257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6096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00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3e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5181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157" name="TextBox 7"/>
          <p:cNvSpPr txBox="1">
            <a:spLocks noChangeArrowheads="1"/>
          </p:cNvSpPr>
          <p:nvPr/>
        </p:nvSpPr>
        <p:spPr bwMode="auto">
          <a:xfrm>
            <a:off x="838200" y="1533525"/>
            <a:ext cx="73152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sotruoc, sosau;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…	// Nhập n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sotruoc = n %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sosau = sotruoc;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n = n /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sotruoc = n %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 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!= 0 &amp;&amp; sotruoc &lt; sosau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sotruoc &lt; sosau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printf(“Cac chu so tang dan”);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printf(“Cac chu so ko tang dan”);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514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124200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15875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15875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52578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39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4a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018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73152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i, s;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 = 1; i &lt;= n;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s + 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printf(“1 + 2 + … + %d = %d”, n, s);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819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59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4b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685800" y="15240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205" name="TextBox 8"/>
          <p:cNvSpPr txBox="1">
            <a:spLocks noChangeArrowheads="1"/>
          </p:cNvSpPr>
          <p:nvPr/>
        </p:nvSpPr>
        <p:spPr bwMode="auto">
          <a:xfrm>
            <a:off x="838200" y="1524000"/>
            <a:ext cx="75438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i, s;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 = 1; i &lt;= n;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s + i*i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printf(“1^2 + 2^2 + … + %d^2 = %d”, n, s);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819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3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4c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685800" y="1524000"/>
            <a:ext cx="152400" cy="4267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229" name="TextBox 8"/>
          <p:cNvSpPr txBox="1">
            <a:spLocks noChangeArrowheads="1"/>
          </p:cNvSpPr>
          <p:nvPr/>
        </p:nvSpPr>
        <p:spPr bwMode="auto">
          <a:xfrm>
            <a:off x="838200" y="1524000"/>
            <a:ext cx="7315200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i;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float s;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 = 1; i &lt;= n;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s + 1.0/i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printf(“1 + 1/2 + … + 1/%d = %f”, n, s);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209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5181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2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4d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685800" y="15240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3253" name="TextBox 10"/>
          <p:cNvSpPr txBox="1">
            <a:spLocks noChangeArrowheads="1"/>
          </p:cNvSpPr>
          <p:nvPr/>
        </p:nvSpPr>
        <p:spPr bwMode="auto">
          <a:xfrm>
            <a:off x="838200" y="1524000"/>
            <a:ext cx="75438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i, s;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 &lt;= n;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s * 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printf(“%d! = %d”, n, s);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2819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47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4e</a:t>
            </a:r>
          </a:p>
        </p:txBody>
      </p:sp>
      <p:sp>
        <p:nvSpPr>
          <p:cNvPr id="6" name="Rounded Rectangle 5">
            <a:hlinkClick r:id="rId3" action="ppaction://hlinksldjump"/>
          </p:cNvPr>
          <p:cNvSpPr/>
          <p:nvPr/>
        </p:nvSpPr>
        <p:spPr>
          <a:xfrm>
            <a:off x="685800" y="1524000"/>
            <a:ext cx="152400" cy="4953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4277" name="TextBox 8"/>
          <p:cNvSpPr txBox="1">
            <a:spLocks noChangeArrowheads="1"/>
          </p:cNvSpPr>
          <p:nvPr/>
        </p:nvSpPr>
        <p:spPr bwMode="auto">
          <a:xfrm>
            <a:off x="838200" y="1524000"/>
            <a:ext cx="75438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i, j, igt, s;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 = 1; i &lt;= n;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igt = 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for (j = 2; j &lt;= i; j++)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igt = igt * j;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s * igt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printf(“1! + 2! + … + %d! = %d”, n, s);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2514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3429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343400"/>
            <a:ext cx="9128125" cy="914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5257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/>
          </p:cNvSpPr>
          <p:nvPr/>
        </p:nvSpPr>
        <p:spPr bwMode="auto">
          <a:xfrm>
            <a:off x="15875" y="5867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946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8" grpId="0" animBg="1"/>
      <p:bldP spid="18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5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87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30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1534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a, b, n, i, s;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printf(“Nhap a, b,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scanf(“%d%d%d”, &amp;a, &amp;b, &amp;n);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 while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(a &gt;= n || b &gt;= n)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 &lt;= 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–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 % a == 0 &amp;&amp; i % b !=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s = s + i;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printf(“Tong cac thoa yeu cau la %d”, s);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5146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5257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5867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4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6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5181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325" name="TextBox 7"/>
          <p:cNvSpPr txBox="1">
            <a:spLocks noChangeArrowheads="1"/>
          </p:cNvSpPr>
          <p:nvPr/>
        </p:nvSpPr>
        <p:spPr bwMode="auto">
          <a:xfrm>
            <a:off x="838200" y="1533525"/>
            <a:ext cx="76962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i, j, souoc, s;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do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scanf(“%d”, &amp;n);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 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&lt;= 0 || n &gt;= 50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 &lt;=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– 1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…	// Đếm số </a:t>
            </a:r>
            <a:r>
              <a:rPr lang="vi-VN" sz="2000" b="1">
                <a:latin typeface="Courier New" pitchFamily="49" charset="0"/>
                <a:cs typeface="Courier New" pitchFamily="49" charset="0"/>
              </a:rPr>
              <a:t>ướ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c của i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souoc == 2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	// Là số nguyên tố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 = s + i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printf(“Tong cac so nt &lt; %d la %d”, n, s);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514600"/>
            <a:ext cx="9128125" cy="15240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1242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4343400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15875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15875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15875" y="5257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15875" y="6172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19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7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5720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349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70104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donvi;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printf(“So dao cua %d la ”, 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 &gt;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donvi = n %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n = n /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printf(“%d”, donvi);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819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038600"/>
            <a:ext cx="9128125" cy="1828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15875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/>
          </p:cNvSpPr>
          <p:nvPr/>
        </p:nvSpPr>
        <p:spPr bwMode="auto">
          <a:xfrm>
            <a:off x="0" y="5257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9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8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8373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76962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i, donvi, chuc;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printf(“Cac so thoa yeu cau la: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 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 &lt;=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99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donvi = i %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chuc = i / 10;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chuc*donvi == 2*(chuc + donvi)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printf(“%d”, i);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819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124200"/>
            <a:ext cx="9128125" cy="2133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124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15875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15875" y="4343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32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9</a:t>
            </a:r>
          </a:p>
        </p:txBody>
      </p:sp>
      <p:sp>
        <p:nvSpPr>
          <p:cNvPr id="59395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Ví dụ: a = 12, b = 8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Cách 1:</a:t>
            </a:r>
          </a:p>
          <a:p>
            <a:pPr lvl="1" eaLnBrk="1" hangingPunct="1"/>
            <a:r>
              <a:rPr lang="en-US" smtClean="0">
                <a:latin typeface="Arial" charset="0"/>
                <a:cs typeface="Arial" charset="0"/>
              </a:rPr>
              <a:t>Cho 1 biến i chạy từ 8 trở về 1, nếu cả a và b </a:t>
            </a:r>
            <a:r>
              <a:rPr lang="vi-VN" smtClean="0">
                <a:latin typeface="Arial" charset="0"/>
                <a:cs typeface="Arial" charset="0"/>
              </a:rPr>
              <a:t>đề</a:t>
            </a:r>
            <a:r>
              <a:rPr lang="en-US" smtClean="0">
                <a:latin typeface="Arial" charset="0"/>
                <a:cs typeface="Arial" charset="0"/>
              </a:rPr>
              <a:t>u chia hết cho i thì dừng và i chính là uscln.</a:t>
            </a:r>
          </a:p>
          <a:p>
            <a:pPr lvl="1" eaLnBrk="1" hangingPunct="1"/>
            <a:r>
              <a:rPr lang="en-US" smtClean="0">
                <a:latin typeface="Arial" charset="0"/>
                <a:cs typeface="Arial" charset="0"/>
              </a:rPr>
              <a:t>8, 7, 6, 5, 4 =&gt; USCLN của 12 và 8 là 4.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Cách 2:</a:t>
            </a:r>
          </a:p>
          <a:p>
            <a:pPr lvl="1" eaLnBrk="1" hangingPunct="1"/>
            <a:r>
              <a:rPr lang="en-US" smtClean="0">
                <a:latin typeface="Arial" charset="0"/>
                <a:cs typeface="Arial" charset="0"/>
              </a:rPr>
              <a:t>USCLN của a &amp; b (a khác b), ký hiệu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(a, b)</a:t>
            </a:r>
            <a:r>
              <a:rPr lang="en-US" smtClean="0">
                <a:latin typeface="Arial" charset="0"/>
                <a:cs typeface="Arial" charset="0"/>
              </a:rPr>
              <a:t> là:</a:t>
            </a:r>
          </a:p>
          <a:p>
            <a:pPr lvl="2" eaLnBrk="1" hangingPunct="1"/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(a – b, b)</a:t>
            </a:r>
            <a:r>
              <a:rPr lang="en-US" smtClean="0">
                <a:latin typeface="Arial" charset="0"/>
                <a:cs typeface="Arial" charset="0"/>
              </a:rPr>
              <a:t> nếu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a &gt; b</a:t>
            </a:r>
          </a:p>
          <a:p>
            <a:pPr lvl="2" eaLnBrk="1" hangingPunct="1"/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(a, b – a)</a:t>
            </a:r>
            <a:r>
              <a:rPr lang="en-US" smtClean="0">
                <a:latin typeface="Arial" charset="0"/>
                <a:cs typeface="Arial" charset="0"/>
              </a:rPr>
              <a:t> nếu </a:t>
            </a:r>
            <a:r>
              <a:rPr lang="en-US" smtClean="0">
                <a:solidFill>
                  <a:srgbClr val="FF0000"/>
                </a:solidFill>
                <a:latin typeface="Arial" charset="0"/>
                <a:cs typeface="Arial" charset="0"/>
              </a:rPr>
              <a:t>b &gt; a</a:t>
            </a:r>
          </a:p>
          <a:p>
            <a:pPr lvl="1" eaLnBrk="1" hangingPunct="1"/>
            <a:r>
              <a:rPr lang="en-US" smtClean="0">
                <a:latin typeface="Arial" charset="0"/>
                <a:cs typeface="Arial" charset="0"/>
              </a:rPr>
              <a:t>(12, 8) = (4, 8) = (4, 4) = 4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36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9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64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0421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8305800" cy="470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a, b, uscln;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a va b: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scanf(“%d%d”, &amp;a, &amp;b);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(a &lt; b) uscln = a;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else uscln = b;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 % uscln != 0 || b % uscln != 0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uscln--;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printf(“USCLN cua %d va %d la %d”,a, b, uscln); 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2819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7338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6482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562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5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9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4876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1445" name="TextBox 7"/>
          <p:cNvSpPr txBox="1">
            <a:spLocks noChangeArrowheads="1"/>
          </p:cNvSpPr>
          <p:nvPr/>
        </p:nvSpPr>
        <p:spPr bwMode="auto">
          <a:xfrm>
            <a:off x="838200" y="1524000"/>
            <a:ext cx="70104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a, b;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a va b: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scanf(“%d%d”, &amp;a, &amp;b);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while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 &lt;&gt; b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if (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 &gt; b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 = a – b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  <a:endParaRPr lang="en-US" sz="2000" b="1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 = b – a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printf(“USCLN cua a va b la %d’, a); 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15875" y="2819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733800"/>
            <a:ext cx="9128125" cy="2133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15875" y="4343400"/>
            <a:ext cx="9128125" cy="12192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5867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38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10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smtClean="0"/>
              <a:t>Dãy Fibonacy: a</a:t>
            </a:r>
            <a:r>
              <a:rPr lang="en-US" baseline="-25000" smtClean="0"/>
              <a:t>0</a:t>
            </a:r>
            <a:r>
              <a:rPr lang="en-US" smtClean="0"/>
              <a:t> a</a:t>
            </a:r>
            <a:r>
              <a:rPr lang="en-US" baseline="-25000" smtClean="0"/>
              <a:t>1</a:t>
            </a:r>
            <a:r>
              <a:rPr lang="en-US" smtClean="0"/>
              <a:t> a</a:t>
            </a:r>
            <a:r>
              <a:rPr lang="en-US" baseline="-25000" smtClean="0"/>
              <a:t>2</a:t>
            </a:r>
            <a:r>
              <a:rPr lang="en-US" smtClean="0"/>
              <a:t> … a</a:t>
            </a:r>
            <a:r>
              <a:rPr lang="en-US" baseline="-25000" smtClean="0"/>
              <a:t>n-2</a:t>
            </a:r>
            <a:r>
              <a:rPr lang="en-US" smtClean="0"/>
              <a:t> a</a:t>
            </a:r>
            <a:r>
              <a:rPr lang="en-US" baseline="-25000" smtClean="0"/>
              <a:t>n-1</a:t>
            </a:r>
            <a:r>
              <a:rPr lang="en-US" smtClean="0"/>
              <a:t> a</a:t>
            </a:r>
            <a:r>
              <a:rPr lang="en-US" baseline="-25000" smtClean="0"/>
              <a:t>n</a:t>
            </a:r>
          </a:p>
          <a:p>
            <a:pPr lvl="1" eaLnBrk="1" hangingPunct="1">
              <a:defRPr/>
            </a:pPr>
            <a:r>
              <a:rPr lang="en-US" smtClean="0"/>
              <a:t>Với a</a:t>
            </a:r>
            <a:r>
              <a:rPr lang="en-US" baseline="-25000" smtClean="0"/>
              <a:t>0</a:t>
            </a:r>
            <a:r>
              <a:rPr lang="en-US" smtClean="0"/>
              <a:t> = a</a:t>
            </a:r>
            <a:r>
              <a:rPr lang="en-US" baseline="-25000" smtClean="0"/>
              <a:t>1</a:t>
            </a:r>
            <a:r>
              <a:rPr lang="en-US" smtClean="0"/>
              <a:t> = 1, a</a:t>
            </a:r>
            <a:r>
              <a:rPr lang="en-US" baseline="-25000" smtClean="0"/>
              <a:t>n</a:t>
            </a:r>
            <a:r>
              <a:rPr lang="en-US" smtClean="0"/>
              <a:t> = a</a:t>
            </a:r>
            <a:r>
              <a:rPr lang="en-US" baseline="-25000" smtClean="0"/>
              <a:t>n-1</a:t>
            </a:r>
            <a:r>
              <a:rPr lang="en-US" smtClean="0"/>
              <a:t> + a</a:t>
            </a:r>
            <a:r>
              <a:rPr lang="en-US" baseline="-25000" smtClean="0"/>
              <a:t>n-2</a:t>
            </a:r>
          </a:p>
          <a:p>
            <a:pPr eaLnBrk="1" hangingPunct="1">
              <a:defRPr/>
            </a:pPr>
            <a:r>
              <a:rPr lang="en-US" smtClean="0"/>
              <a:t>Ví dụ: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1 1 2 3 5 8 13 21</a:t>
            </a:r>
            <a:r>
              <a:rPr lang="en-US" smtClean="0"/>
              <a:t> …</a:t>
            </a:r>
          </a:p>
          <a:p>
            <a:pPr eaLnBrk="1" hangingPunct="1">
              <a:defRPr/>
            </a:pPr>
            <a:r>
              <a:rPr lang="en-US" smtClean="0"/>
              <a:t>Xuất n phần tử </a:t>
            </a:r>
            <a:r>
              <a:rPr lang="vi-VN" smtClean="0"/>
              <a:t>đầ</a:t>
            </a:r>
            <a:r>
              <a:rPr lang="en-US" smtClean="0"/>
              <a:t>u tiên của dãy Fibonacy</a:t>
            </a:r>
          </a:p>
          <a:p>
            <a:pPr lvl="1" eaLnBrk="1" hangingPunct="1">
              <a:defRPr/>
            </a:pPr>
            <a:r>
              <a:rPr lang="en-US" smtClean="0"/>
              <a:t>n = 1 =&gt;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  <a:r>
              <a:rPr lang="en-US" smtClean="0"/>
              <a:t>, n = 2 =&gt;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  <a:r>
              <a:rPr lang="en-US" smtClean="0"/>
              <a:t>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1</a:t>
            </a:r>
          </a:p>
          <a:p>
            <a:pPr lvl="1" eaLnBrk="1" hangingPunct="1">
              <a:defRPr/>
            </a:pPr>
            <a:r>
              <a:rPr lang="en-US" smtClean="0"/>
              <a:t>n &gt; 2</a:t>
            </a:r>
          </a:p>
          <a:p>
            <a:pPr lvl="2" eaLnBrk="1" hangingPunct="1">
              <a:defRPr/>
            </a:pPr>
            <a:r>
              <a:rPr lang="en-US" smtClean="0"/>
              <a:t>L</a:t>
            </a:r>
            <a:r>
              <a:rPr lang="vi-VN" smtClean="0"/>
              <a:t>ư</a:t>
            </a:r>
            <a:r>
              <a:rPr lang="en-US" smtClean="0"/>
              <a:t>u lại 2 phần tử tr</a:t>
            </a:r>
            <a:r>
              <a:rPr lang="vi-VN" smtClean="0"/>
              <a:t>ướ</a:t>
            </a:r>
            <a:r>
              <a:rPr lang="en-US" smtClean="0"/>
              <a:t>c nó là a và b</a:t>
            </a:r>
          </a:p>
          <a:p>
            <a:pPr lvl="2" eaLnBrk="1" hangingPunct="1">
              <a:defRPr/>
            </a:pPr>
            <a:r>
              <a:rPr lang="en-US" smtClean="0"/>
              <a:t>Mỗi lần tính xong cập nhật lại a và b.</a:t>
            </a:r>
          </a:p>
          <a:p>
            <a:pPr eaLnBrk="1" hangingPunct="1">
              <a:defRPr/>
            </a:pPr>
            <a:r>
              <a:rPr lang="en-US" smtClean="0"/>
              <a:t>Nên </a:t>
            </a:r>
            <a:r>
              <a:rPr lang="en-US" smtClean="0">
                <a:solidFill>
                  <a:srgbClr val="FF0000"/>
                </a:solidFill>
              </a:rPr>
              <a:t>thêm 2 phần tử ảo</a:t>
            </a:r>
            <a:r>
              <a:rPr lang="en-US" smtClean="0"/>
              <a:t> </a:t>
            </a:r>
            <a:r>
              <a:rPr lang="vi-VN" smtClean="0"/>
              <a:t>đầ</a:t>
            </a:r>
            <a:r>
              <a:rPr lang="en-US" smtClean="0"/>
              <a:t>u tiên là a</a:t>
            </a:r>
            <a:r>
              <a:rPr lang="en-US" baseline="-25000" smtClean="0"/>
              <a:t>-2</a:t>
            </a:r>
            <a:r>
              <a:rPr lang="en-US" smtClean="0"/>
              <a:t>, a</a:t>
            </a:r>
            <a:r>
              <a:rPr lang="en-US" baseline="-25000" smtClean="0"/>
              <a:t>-1</a:t>
            </a:r>
          </a:p>
          <a:p>
            <a:pPr lvl="1" eaLnBrk="1" hangingPunct="1">
              <a:defRPr/>
            </a:pPr>
            <a:r>
              <a:rPr lang="en-US" smtClean="0">
                <a:solidFill>
                  <a:srgbClr val="FF0000"/>
                </a:solidFill>
              </a:rPr>
              <a:t>1 0</a:t>
            </a:r>
            <a:r>
              <a:rPr lang="en-US" smtClean="0"/>
              <a:t> </a:t>
            </a:r>
            <a:r>
              <a:rPr lang="en-US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1 1 2 3 5 8 13 21</a:t>
            </a:r>
            <a:r>
              <a:rPr lang="en-US" smtClean="0"/>
              <a:t> …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77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 10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1524000"/>
            <a:ext cx="152400" cy="51054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493" name="TextBox 7"/>
          <p:cNvSpPr txBox="1">
            <a:spLocks noChangeArrowheads="1"/>
          </p:cNvSpPr>
          <p:nvPr/>
        </p:nvSpPr>
        <p:spPr bwMode="auto">
          <a:xfrm>
            <a:off x="838200" y="1533525"/>
            <a:ext cx="76962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int n, an, an1, an2, i;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printf(“Nhap n: 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scanf(“%d”, &amp;n);</a:t>
            </a:r>
          </a:p>
          <a:p>
            <a:pPr eaLnBrk="1" hangingPunct="1"/>
            <a:endParaRPr lang="en-US" sz="20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an2 = 1; an1 = 0;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printf(“%d phan tu dau tien cua day: “, n); 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for (i = 1; i &lt;= n; i++)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an = an2 + an1;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printf(“%d ”, an);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an2 = an1;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an1 = an;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0" y="2209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15875" y="28194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15875" y="3733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15875" y="4038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343400"/>
            <a:ext cx="9128125" cy="2133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43434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4953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/>
          </p:cNvSpPr>
          <p:nvPr/>
        </p:nvSpPr>
        <p:spPr bwMode="auto">
          <a:xfrm>
            <a:off x="0" y="5257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/>
          </p:cNvSpPr>
          <p:nvPr/>
        </p:nvSpPr>
        <p:spPr bwMode="auto">
          <a:xfrm>
            <a:off x="0" y="5562600"/>
            <a:ext cx="9128125" cy="609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3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Bài tập</a:t>
            </a:r>
          </a:p>
        </p:txBody>
      </p:sp>
      <p:sp>
        <p:nvSpPr>
          <p:cNvPr id="64515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S = 1/2 + 1/4 + … + 1/2n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S = 1 + 1/3 + 1/5 + … + 1/(2n+1)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S = 1/(1x</a:t>
            </a:r>
            <a:r>
              <a:rPr lang="en-US" baseline="30000" smtClean="0">
                <a:latin typeface="Arial" charset="0"/>
                <a:cs typeface="Arial" charset="0"/>
              </a:rPr>
              <a:t>2</a:t>
            </a:r>
            <a:r>
              <a:rPr lang="en-US" smtClean="0">
                <a:latin typeface="Arial" charset="0"/>
                <a:cs typeface="Arial" charset="0"/>
              </a:rPr>
              <a:t>) + 1/(2x</a:t>
            </a:r>
            <a:r>
              <a:rPr lang="en-US" baseline="30000" smtClean="0">
                <a:latin typeface="Arial" charset="0"/>
                <a:cs typeface="Arial" charset="0"/>
              </a:rPr>
              <a:t>3</a:t>
            </a:r>
            <a:r>
              <a:rPr lang="en-US" smtClean="0">
                <a:latin typeface="Arial" charset="0"/>
                <a:cs typeface="Arial" charset="0"/>
              </a:rPr>
              <a:t>) + … + 1/(nx</a:t>
            </a:r>
            <a:r>
              <a:rPr lang="en-US" baseline="30000" smtClean="0">
                <a:latin typeface="Arial" charset="0"/>
                <a:cs typeface="Arial" charset="0"/>
              </a:rPr>
              <a:t>n+1</a:t>
            </a:r>
            <a:r>
              <a:rPr lang="en-US" smtClean="0">
                <a:latin typeface="Arial" charset="0"/>
                <a:cs typeface="Arial" charset="0"/>
              </a:rPr>
              <a:t>)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S = 1/2 + 2/3 + … + n/(n+1)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S = 1 + 1/(1 + 2) + … + 1/(1 + 2 + … + n)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Liệt kê tất cả </a:t>
            </a:r>
            <a:r>
              <a:rPr lang="vi-VN" smtClean="0">
                <a:latin typeface="Arial" charset="0"/>
                <a:cs typeface="Arial" charset="0"/>
              </a:rPr>
              <a:t>ướ</a:t>
            </a:r>
            <a:r>
              <a:rPr lang="en-US" smtClean="0">
                <a:latin typeface="Arial" charset="0"/>
                <a:cs typeface="Arial" charset="0"/>
              </a:rPr>
              <a:t>c số của số nguyên d</a:t>
            </a:r>
            <a:r>
              <a:rPr lang="vi-VN" smtClean="0">
                <a:latin typeface="Arial" charset="0"/>
                <a:cs typeface="Arial" charset="0"/>
              </a:rPr>
              <a:t>ươ</a:t>
            </a:r>
            <a:r>
              <a:rPr lang="en-US" smtClean="0">
                <a:latin typeface="Arial" charset="0"/>
                <a:cs typeface="Arial" charset="0"/>
              </a:rPr>
              <a:t>ng n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Tính tổng các </a:t>
            </a:r>
            <a:r>
              <a:rPr lang="vi-VN" smtClean="0">
                <a:latin typeface="Arial" charset="0"/>
                <a:cs typeface="Arial" charset="0"/>
              </a:rPr>
              <a:t>ướ</a:t>
            </a:r>
            <a:r>
              <a:rPr lang="en-US" smtClean="0">
                <a:latin typeface="Arial" charset="0"/>
                <a:cs typeface="Arial" charset="0"/>
              </a:rPr>
              <a:t>c số của số nguyên d</a:t>
            </a:r>
            <a:r>
              <a:rPr lang="vi-VN" smtClean="0">
                <a:latin typeface="Arial" charset="0"/>
                <a:cs typeface="Arial" charset="0"/>
              </a:rPr>
              <a:t>ươ</a:t>
            </a:r>
            <a:r>
              <a:rPr lang="en-US" smtClean="0">
                <a:latin typeface="Arial" charset="0"/>
                <a:cs typeface="Arial" charset="0"/>
              </a:rPr>
              <a:t>ng n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Đếm số l</a:t>
            </a:r>
            <a:r>
              <a:rPr lang="vi-VN" smtClean="0">
                <a:latin typeface="Arial" charset="0"/>
                <a:cs typeface="Arial" charset="0"/>
              </a:rPr>
              <a:t>ượ</a:t>
            </a:r>
            <a:r>
              <a:rPr lang="en-US" smtClean="0">
                <a:latin typeface="Arial" charset="0"/>
                <a:cs typeface="Arial" charset="0"/>
              </a:rPr>
              <a:t>ng </a:t>
            </a:r>
            <a:r>
              <a:rPr lang="vi-VN" smtClean="0">
                <a:latin typeface="Arial" charset="0"/>
                <a:cs typeface="Arial" charset="0"/>
              </a:rPr>
              <a:t>ướ</a:t>
            </a:r>
            <a:r>
              <a:rPr lang="en-US" smtClean="0">
                <a:latin typeface="Arial" charset="0"/>
                <a:cs typeface="Arial" charset="0"/>
              </a:rPr>
              <a:t>c số của số nguyên d</a:t>
            </a:r>
            <a:r>
              <a:rPr lang="vi-VN" smtClean="0">
                <a:latin typeface="Arial" charset="0"/>
                <a:cs typeface="Arial" charset="0"/>
              </a:rPr>
              <a:t>ươ</a:t>
            </a:r>
            <a:r>
              <a:rPr lang="en-US" smtClean="0">
                <a:latin typeface="Arial" charset="0"/>
                <a:cs typeface="Arial" charset="0"/>
              </a:rPr>
              <a:t>ng n</a:t>
            </a:r>
          </a:p>
          <a:p>
            <a:pPr eaLnBrk="1" hangingPunct="1"/>
            <a:r>
              <a:rPr lang="en-US" smtClean="0">
                <a:latin typeface="Arial" charset="0"/>
                <a:cs typeface="Arial" charset="0"/>
              </a:rPr>
              <a:t>Tính tổng các </a:t>
            </a:r>
            <a:r>
              <a:rPr lang="vi-VN" smtClean="0">
                <a:latin typeface="Arial" charset="0"/>
                <a:cs typeface="Arial" charset="0"/>
              </a:rPr>
              <a:t>ướ</a:t>
            </a:r>
            <a:r>
              <a:rPr lang="en-US" smtClean="0">
                <a:latin typeface="Arial" charset="0"/>
                <a:cs typeface="Arial" charset="0"/>
              </a:rPr>
              <a:t>c số chẵn của số nguyên d</a:t>
            </a:r>
            <a:r>
              <a:rPr lang="vi-VN" smtClean="0">
                <a:latin typeface="Arial" charset="0"/>
                <a:cs typeface="Arial" charset="0"/>
              </a:rPr>
              <a:t>ươ</a:t>
            </a:r>
            <a:r>
              <a:rPr lang="en-US" smtClean="0">
                <a:latin typeface="Arial" charset="0"/>
                <a:cs typeface="Arial" charset="0"/>
              </a:rPr>
              <a:t>ng 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2015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3AA34-D39B-4F23-8F7F-35D03225000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21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335</TotalTime>
  <Words>2006</Words>
  <Application>Microsoft Office PowerPoint</Application>
  <PresentationFormat>On-screen Show (4:3)</PresentationFormat>
  <Paragraphs>917</Paragraphs>
  <Slides>58</Slides>
  <Notes>51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Nhập môn Lập trình – IT001</vt:lpstr>
      <vt:lpstr>Mục tiêu buổi học – CĐR </vt:lpstr>
      <vt:lpstr>Nội dung</vt:lpstr>
      <vt:lpstr>Đặt vấn đề</vt:lpstr>
      <vt:lpstr>Câu lệnh for</vt:lpstr>
      <vt:lpstr>Câu lệnh for</vt:lpstr>
      <vt:lpstr>Câu lệnh for - Một số lưu ý</vt:lpstr>
      <vt:lpstr>Câu lệnh for - Một số lưu ý</vt:lpstr>
      <vt:lpstr>Câu lệnh for - Một số lưu ý</vt:lpstr>
      <vt:lpstr>Câu lệnh for - Một số lưu ý</vt:lpstr>
      <vt:lpstr>Câu lệnh for - Một số lưu ý</vt:lpstr>
      <vt:lpstr>Câu lệnh for - Một số lưu ý</vt:lpstr>
      <vt:lpstr>Câu lệnh for - Một số lưu ý</vt:lpstr>
      <vt:lpstr>Câu lệnh while</vt:lpstr>
      <vt:lpstr>Câu lệnh while</vt:lpstr>
      <vt:lpstr>Câu lệnh while - Một số lưu ý</vt:lpstr>
      <vt:lpstr>Câu lệnh while - Một số lưu ý</vt:lpstr>
      <vt:lpstr>Câu lệnh for - Một số lưu ý</vt:lpstr>
      <vt:lpstr>Câu lệnh while - Một số lưu ý</vt:lpstr>
      <vt:lpstr>Câu lệnh do… while</vt:lpstr>
      <vt:lpstr>Câu lệnh do… while</vt:lpstr>
      <vt:lpstr>Câu lệnh do… while - Một số lưu ý</vt:lpstr>
      <vt:lpstr>Câu lệnh do… while - Một số lưu ý</vt:lpstr>
      <vt:lpstr>Câu lệnh do… while - Một số lưu ý</vt:lpstr>
      <vt:lpstr>for, while, do… while</vt:lpstr>
      <vt:lpstr>for, while, do… while</vt:lpstr>
      <vt:lpstr>while &amp; do… while</vt:lpstr>
      <vt:lpstr>Một số lệnh liên quan đến lệnh lặp</vt:lpstr>
      <vt:lpstr>Một số lệnh liên quan đến lệnh lặp</vt:lpstr>
      <vt:lpstr>Một số lệnh liên quan đến lệnh lặp</vt:lpstr>
      <vt:lpstr>Một số lệnh liên quan đến lệnh lặp</vt:lpstr>
      <vt:lpstr>Một số lệnh liên quan đến lệnh lặp</vt:lpstr>
      <vt:lpstr>Một số lệnh liên quan đến lệnh lặp</vt:lpstr>
      <vt:lpstr>Một số lệnh liên quan đến lệnh lặp</vt:lpstr>
      <vt:lpstr>Một số lệnh liên quan đến lệnh lặp</vt:lpstr>
      <vt:lpstr>Bài tập thực hành</vt:lpstr>
      <vt:lpstr>Bài tập thực hành</vt:lpstr>
      <vt:lpstr>Bài tập thực hành</vt:lpstr>
      <vt:lpstr>Bài tập 3a</vt:lpstr>
      <vt:lpstr>Bài tập 3b</vt:lpstr>
      <vt:lpstr>Bài tập 3c</vt:lpstr>
      <vt:lpstr>Bài tập 3d</vt:lpstr>
      <vt:lpstr>Bài tập 3e</vt:lpstr>
      <vt:lpstr>Bài tập 4a</vt:lpstr>
      <vt:lpstr>Bài tập 4b</vt:lpstr>
      <vt:lpstr>Bài tập 4c</vt:lpstr>
      <vt:lpstr>Bài tập 4d</vt:lpstr>
      <vt:lpstr>Bài tập 4e</vt:lpstr>
      <vt:lpstr>Bài tập 5</vt:lpstr>
      <vt:lpstr>Bài tập 6</vt:lpstr>
      <vt:lpstr>Bài tập 7</vt:lpstr>
      <vt:lpstr>Bài tập 8</vt:lpstr>
      <vt:lpstr>Bài tập 9</vt:lpstr>
      <vt:lpstr>Bài tập 9</vt:lpstr>
      <vt:lpstr>Bài tập 9</vt:lpstr>
      <vt:lpstr>Bài tập 10</vt:lpstr>
      <vt:lpstr>Bài tập 10</vt:lpstr>
      <vt:lpstr>Bài tập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Nhập môn Lập trình</dc:title>
  <dc:creator>admin</dc:creator>
  <cp:lastModifiedBy>LongHo</cp:lastModifiedBy>
  <cp:revision>22</cp:revision>
  <dcterms:created xsi:type="dcterms:W3CDTF">2015-09-05T09:18:39Z</dcterms:created>
  <dcterms:modified xsi:type="dcterms:W3CDTF">2015-10-01T08:39:03Z</dcterms:modified>
</cp:coreProperties>
</file>