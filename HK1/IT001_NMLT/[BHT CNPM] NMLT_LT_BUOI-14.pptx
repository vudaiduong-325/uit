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0"/>
  </p:notesMasterIdLst>
  <p:sldIdLst>
    <p:sldId id="512" r:id="rId2"/>
    <p:sldId id="290" r:id="rId3"/>
    <p:sldId id="442" r:id="rId4"/>
    <p:sldId id="443" r:id="rId5"/>
    <p:sldId id="445" r:id="rId6"/>
    <p:sldId id="507" r:id="rId7"/>
    <p:sldId id="455" r:id="rId8"/>
    <p:sldId id="447" r:id="rId9"/>
    <p:sldId id="508" r:id="rId10"/>
    <p:sldId id="448" r:id="rId11"/>
    <p:sldId id="449" r:id="rId12"/>
    <p:sldId id="510" r:id="rId13"/>
    <p:sldId id="509" r:id="rId14"/>
    <p:sldId id="459" r:id="rId15"/>
    <p:sldId id="460" r:id="rId16"/>
    <p:sldId id="461" r:id="rId17"/>
    <p:sldId id="462" r:id="rId18"/>
    <p:sldId id="464" r:id="rId19"/>
    <p:sldId id="465" r:id="rId20"/>
    <p:sldId id="511" r:id="rId21"/>
    <p:sldId id="498" r:id="rId22"/>
    <p:sldId id="466" r:id="rId23"/>
    <p:sldId id="467" r:id="rId24"/>
    <p:sldId id="468" r:id="rId25"/>
    <p:sldId id="469" r:id="rId26"/>
    <p:sldId id="470" r:id="rId27"/>
    <p:sldId id="471" r:id="rId28"/>
    <p:sldId id="472" r:id="rId29"/>
    <p:sldId id="473" r:id="rId30"/>
    <p:sldId id="474" r:id="rId31"/>
    <p:sldId id="475" r:id="rId32"/>
    <p:sldId id="499" r:id="rId33"/>
    <p:sldId id="479" r:id="rId34"/>
    <p:sldId id="481" r:id="rId35"/>
    <p:sldId id="480" r:id="rId36"/>
    <p:sldId id="483" r:id="rId37"/>
    <p:sldId id="506" r:id="rId38"/>
    <p:sldId id="482" r:id="rId39"/>
    <p:sldId id="484" r:id="rId40"/>
    <p:sldId id="500" r:id="rId41"/>
    <p:sldId id="485" r:id="rId42"/>
    <p:sldId id="488" r:id="rId43"/>
    <p:sldId id="489" r:id="rId44"/>
    <p:sldId id="490" r:id="rId45"/>
    <p:sldId id="501" r:id="rId46"/>
    <p:sldId id="502" r:id="rId47"/>
    <p:sldId id="503" r:id="rId48"/>
    <p:sldId id="504" r:id="rId4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66FF"/>
    <a:srgbClr val="565868"/>
    <a:srgbClr val="5F5F5F"/>
    <a:srgbClr val="808080"/>
    <a:srgbClr val="669900"/>
    <a:srgbClr val="00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05" autoAdjust="0"/>
    <p:restoredTop sz="93651" autoAdjust="0"/>
  </p:normalViewPr>
  <p:slideViewPr>
    <p:cSldViewPr>
      <p:cViewPr>
        <p:scale>
          <a:sx n="70" d="100"/>
          <a:sy n="70" d="100"/>
        </p:scale>
        <p:origin x="-1452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114" y="-7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cs typeface="+mn-cs"/>
              </a:defRPr>
            </a:lvl1pPr>
          </a:lstStyle>
          <a:p>
            <a:pPr>
              <a:defRPr/>
            </a:pPr>
            <a:fld id="{0D846D11-6D3A-4886-A532-8C3504CE2BD5}" type="datetimeFigureOut">
              <a:rPr lang="en-US"/>
              <a:pPr>
                <a:defRPr/>
              </a:pPr>
              <a:t>1/7/2016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>
                <a:cs typeface="+mn-cs"/>
              </a:defRPr>
            </a:lvl1pPr>
          </a:lstStyle>
          <a:p>
            <a:pPr>
              <a:defRPr/>
            </a:pPr>
            <a:fld id="{25F1BF37-8967-4223-B5C3-9EBCA49478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36191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65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824B51-A104-47D3-B9DA-A66AC7D66624}" type="slidenum">
              <a:rPr lang="en-US"/>
              <a:pPr eaLnBrk="1" hangingPunct="1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D19329A-6568-4DB5-97BB-F4A8C7AA02DA}" type="slidenum">
              <a:rPr lang="en-US"/>
              <a:pPr eaLnBrk="1" hangingPunct="1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079E5E1-97F8-4C33-822D-A0DAD75D14DC}" type="slidenum">
              <a:rPr lang="en-US"/>
              <a:pPr eaLnBrk="1" hangingPunct="1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1BB194E-17D9-4271-A851-AD94E95D7376}" type="slidenum">
              <a:rPr lang="en-US"/>
              <a:pPr eaLnBrk="1" hangingPunct="1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6D02D9D-F20E-4030-9ABF-FE9EB44C306D}" type="slidenum">
              <a:rPr lang="en-US"/>
              <a:pPr eaLnBrk="1" hangingPunct="1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FA33EE0-4D1A-4F21-B728-2B16670125D3}" type="slidenum">
              <a:rPr lang="en-US"/>
              <a:pPr eaLnBrk="1" hangingPunct="1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06A9745-1805-4D6D-AAF5-360C88513D96}" type="slidenum">
              <a:rPr lang="en-US"/>
              <a:pPr eaLnBrk="1" hangingPunct="1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73BA072-520E-471F-85BD-057ABCCDC5D1}" type="slidenum">
              <a:rPr lang="en-US"/>
              <a:pPr eaLnBrk="1" hangingPunct="1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0D42C995-98CF-447C-8D7A-5476CEC1EB66}" type="slidenum">
              <a:rPr lang="en-US"/>
              <a:pPr eaLnBrk="1" hangingPunct="1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681670E-BE9E-4750-A440-490EF546B267}" type="slidenum">
              <a:rPr lang="en-US"/>
              <a:pPr eaLnBrk="1" hangingPunct="1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768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DC49492-E5A8-410F-B878-5FFD925CDDE2}" type="slidenum">
              <a:rPr lang="en-US"/>
              <a:pPr eaLnBrk="1" hangingPunct="1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2FC9013-43FD-4C25-8385-E0E304C5FDC9}" type="slidenum">
              <a:rPr lang="en-US"/>
              <a:pPr eaLnBrk="1" hangingPunct="1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95713F1-56BB-4EE0-A613-46C68A8FD43D}" type="slidenum">
              <a:rPr lang="en-US"/>
              <a:pPr eaLnBrk="1" hangingPunct="1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E4BCEAA-7B1D-4ABF-8DE8-7ADE83EEB71B}" type="slidenum">
              <a:rPr lang="en-US"/>
              <a:pPr eaLnBrk="1" hangingPunct="1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08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7C5FB38-523D-40FC-809E-803AB542B56D}" type="slidenum">
              <a:rPr lang="en-US"/>
              <a:pPr eaLnBrk="1" hangingPunct="1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F94C7FC-40FF-4865-A9D2-A8E4339E8FC5}" type="slidenum">
              <a:rPr lang="en-US"/>
              <a:pPr eaLnBrk="1" hangingPunct="1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29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smtClean="0"/>
          </a:p>
        </p:txBody>
      </p:sp>
      <p:sp>
        <p:nvSpPr>
          <p:cNvPr id="829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919E672-2859-42B8-A02B-E6FC1C4E7B42}" type="slidenum">
              <a:rPr lang="en-US"/>
              <a:pPr eaLnBrk="1" hangingPunct="1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smtClean="0"/>
          </a:p>
        </p:txBody>
      </p:sp>
      <p:sp>
        <p:nvSpPr>
          <p:cNvPr id="839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A2576A20-3FCC-4A2A-8636-4D29D5E081CB}" type="slidenum">
              <a:rPr lang="en-US"/>
              <a:pPr eaLnBrk="1" hangingPunct="1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5B26117-179F-4462-ACEC-4A2981D833CF}" type="slidenum">
              <a:rPr lang="en-US"/>
              <a:pPr eaLnBrk="1" hangingPunct="1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860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B489C75-414E-4866-AE9E-5AD044480351}" type="slidenum">
              <a:rPr lang="en-US"/>
              <a:pPr eaLnBrk="1" hangingPunct="1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085932C-798B-406F-A876-6D42D78288E4}" type="slidenum">
              <a:rPr lang="en-US"/>
              <a:pPr eaLnBrk="1" hangingPunct="1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smtClean="0"/>
          </a:p>
        </p:txBody>
      </p:sp>
      <p:sp>
        <p:nvSpPr>
          <p:cNvPr id="880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4288638F-BBC4-4F62-A869-820AF2B86632}" type="slidenum">
              <a:rPr lang="en-US"/>
              <a:pPr eaLnBrk="1" hangingPunct="1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smtClean="0"/>
          </a:p>
        </p:txBody>
      </p:sp>
      <p:sp>
        <p:nvSpPr>
          <p:cNvPr id="890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0B610D5-3AC6-433A-8B27-D6270BB1DAD2}" type="slidenum">
              <a:rPr lang="en-US"/>
              <a:pPr eaLnBrk="1" hangingPunct="1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smtClean="0"/>
          </a:p>
        </p:txBody>
      </p:sp>
      <p:sp>
        <p:nvSpPr>
          <p:cNvPr id="901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3CADC23-FDC3-4154-A89F-207F2DEAD9DA}" type="slidenum">
              <a:rPr lang="en-US"/>
              <a:pPr eaLnBrk="1" hangingPunct="1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BA4C430-6439-4CCA-8136-B401965FFC53}" type="slidenum">
              <a:rPr lang="en-US"/>
              <a:pPr eaLnBrk="1" hangingPunct="1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smtClean="0"/>
          </a:p>
        </p:txBody>
      </p:sp>
      <p:sp>
        <p:nvSpPr>
          <p:cNvPr id="9216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8E123D0-39EF-4FCD-823D-7AFBFC282BAA}" type="slidenum">
              <a:rPr lang="en-US"/>
              <a:pPr eaLnBrk="1" hangingPunct="1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4A5352A-18AB-444B-82B8-F9D7EC807EF8}" type="slidenum">
              <a:rPr lang="en-US"/>
              <a:pPr eaLnBrk="1" hangingPunct="1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smtClean="0"/>
          </a:p>
        </p:txBody>
      </p:sp>
      <p:sp>
        <p:nvSpPr>
          <p:cNvPr id="942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7607FBD-12F5-4EB9-A24F-513F2CD8EF6A}" type="slidenum">
              <a:rPr lang="en-US"/>
              <a:pPr eaLnBrk="1" hangingPunct="1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52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952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1A76678-230B-4F53-96B5-879F17A57A14}" type="slidenum">
              <a:rPr lang="en-US"/>
              <a:pPr eaLnBrk="1" hangingPunct="1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9626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3FD554ED-CBAF-42EC-97F0-328B8EEF0CD5}" type="slidenum">
              <a:rPr lang="en-US"/>
              <a:pPr eaLnBrk="1" hangingPunct="1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3761BE1-AC06-4805-9BC3-55F5332064E2}" type="slidenum">
              <a:rPr lang="en-US"/>
              <a:pPr eaLnBrk="1" hangingPunct="1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83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smtClean="0"/>
          </a:p>
        </p:txBody>
      </p:sp>
      <p:sp>
        <p:nvSpPr>
          <p:cNvPr id="983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90935EAC-65D4-4DA3-8503-2D44A84A036C}" type="slidenum">
              <a:rPr lang="en-US"/>
              <a:pPr eaLnBrk="1" hangingPunct="1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smtClean="0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E1CA0627-EB9D-4E81-99A9-2B3DA2D082D4}" type="slidenum">
              <a:rPr lang="en-US"/>
              <a:pPr eaLnBrk="1" hangingPunct="1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03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smtClean="0"/>
          </a:p>
        </p:txBody>
      </p:sp>
      <p:sp>
        <p:nvSpPr>
          <p:cNvPr id="1003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82AC5144-1E3E-468D-BAC5-EE16C42F368B}" type="slidenum">
              <a:rPr lang="en-US"/>
              <a:pPr eaLnBrk="1" hangingPunct="1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592E70C1-C97A-4500-9E2A-4E4EDF032ACF}" type="slidenum">
              <a:rPr lang="en-US"/>
              <a:pPr eaLnBrk="1" hangingPunct="1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024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477C3F3-6443-4897-886F-6A6659294478}" type="slidenum">
              <a:rPr lang="en-US"/>
              <a:pPr eaLnBrk="1" hangingPunct="1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34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smtClean="0"/>
          </a:p>
        </p:txBody>
      </p:sp>
      <p:sp>
        <p:nvSpPr>
          <p:cNvPr id="1034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B8BFEA2-8E3E-4A90-8E06-AE48AF883017}" type="slidenum">
              <a:rPr lang="en-US"/>
              <a:pPr eaLnBrk="1" hangingPunct="1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CA" smtClean="0"/>
          </a:p>
        </p:txBody>
      </p:sp>
      <p:sp>
        <p:nvSpPr>
          <p:cNvPr id="1044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2B4208AC-A4AB-4920-8A71-3842CE31CF46}" type="slidenum">
              <a:rPr lang="en-US"/>
              <a:pPr eaLnBrk="1" hangingPunct="1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54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054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BC914880-6067-485C-ACAE-C17FC99D2D2B}" type="slidenum">
              <a:rPr lang="en-US"/>
              <a:pPr eaLnBrk="1" hangingPunct="1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64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065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D415A70C-E649-4DC0-899A-9B145535D133}" type="slidenum">
              <a:rPr lang="en-US"/>
              <a:pPr eaLnBrk="1" hangingPunct="1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75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075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74DC923-007A-41C8-BD3E-113295064F92}" type="slidenum">
              <a:rPr lang="en-US"/>
              <a:pPr eaLnBrk="1" hangingPunct="1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85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085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8E8A259-9E34-4E0B-9DCA-64E2687F81CC}" type="slidenum">
              <a:rPr lang="en-US"/>
              <a:pPr eaLnBrk="1" hangingPunct="1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95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0957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372B834-6071-447E-9E96-95EE8842F382}" type="slidenum">
              <a:rPr lang="en-US"/>
              <a:pPr eaLnBrk="1" hangingPunct="1"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05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vi-VN" smtClean="0"/>
          </a:p>
        </p:txBody>
      </p:sp>
      <p:sp>
        <p:nvSpPr>
          <p:cNvPr id="1105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7F4CF003-4656-4F5A-A1ED-D4E5BE5F9DA3}" type="slidenum">
              <a:rPr lang="en-US"/>
              <a:pPr eaLnBrk="1" hangingPunct="1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16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116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1150FDA4-15CF-4E77-8CB4-EDC893A13EB5}" type="slidenum">
              <a:rPr lang="en-US"/>
              <a:pPr eaLnBrk="1" hangingPunct="1"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126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C0D80F64-7F62-4B2D-9CB3-00A96F7AB518}" type="slidenum">
              <a:rPr lang="en-US"/>
              <a:pPr eaLnBrk="1" hangingPunct="1"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36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smtClean="0"/>
          </a:p>
        </p:txBody>
      </p:sp>
      <p:sp>
        <p:nvSpPr>
          <p:cNvPr id="1136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69FD013B-AFCF-4F9A-9E50-BE522F4D1B60}" type="slidenum">
              <a:rPr lang="en-US"/>
              <a:pPr eaLnBrk="1" hangingPunct="1"/>
              <a:t>48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7"/>
          <p:cNvSpPr>
            <a:spLocks noChangeArrowheads="1"/>
          </p:cNvSpPr>
          <p:nvPr/>
        </p:nvSpPr>
        <p:spPr bwMode="gray">
          <a:xfrm>
            <a:off x="8004175" y="0"/>
            <a:ext cx="1139825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18"/>
          <p:cNvSpPr>
            <a:spLocks noChangeArrowheads="1"/>
          </p:cNvSpPr>
          <p:nvPr/>
        </p:nvSpPr>
        <p:spPr bwMode="white">
          <a:xfrm>
            <a:off x="0" y="4638675"/>
            <a:ext cx="9144000" cy="2219325"/>
          </a:xfrm>
          <a:prstGeom prst="rect">
            <a:avLst/>
          </a:prstGeom>
          <a:solidFill>
            <a:schemeClr val="folHlink">
              <a:alpha val="3098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" name="Rectangle 19"/>
          <p:cNvSpPr>
            <a:spLocks noChangeArrowheads="1"/>
          </p:cNvSpPr>
          <p:nvPr/>
        </p:nvSpPr>
        <p:spPr bwMode="gray">
          <a:xfrm>
            <a:off x="0" y="2149475"/>
            <a:ext cx="9144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Freeform 20"/>
          <p:cNvSpPr>
            <a:spLocks/>
          </p:cNvSpPr>
          <p:nvPr/>
        </p:nvSpPr>
        <p:spPr bwMode="gray">
          <a:xfrm>
            <a:off x="-9525" y="2138363"/>
            <a:ext cx="8015288" cy="2271712"/>
          </a:xfrm>
          <a:custGeom>
            <a:avLst/>
            <a:gdLst>
              <a:gd name="T0" fmla="*/ 0 w 5049"/>
              <a:gd name="T1" fmla="*/ 0 h 1471"/>
              <a:gd name="T2" fmla="*/ 5049 w 5049"/>
              <a:gd name="T3" fmla="*/ 2 h 1471"/>
              <a:gd name="T4" fmla="*/ 5048 w 5049"/>
              <a:gd name="T5" fmla="*/ 1458 h 1471"/>
              <a:gd name="T6" fmla="*/ 0 w 5049"/>
              <a:gd name="T7" fmla="*/ 1471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AutoShape 21"/>
          <p:cNvSpPr>
            <a:spLocks noChangeArrowheads="1"/>
          </p:cNvSpPr>
          <p:nvPr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AutoShape 22"/>
          <p:cNvSpPr>
            <a:spLocks noChangeArrowheads="1"/>
          </p:cNvSpPr>
          <p:nvPr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AutoShape 23"/>
          <p:cNvSpPr>
            <a:spLocks noChangeArrowheads="1"/>
          </p:cNvSpPr>
          <p:nvPr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Text Box 14"/>
          <p:cNvSpPr txBox="1">
            <a:spLocks noChangeArrowheads="1"/>
          </p:cNvSpPr>
          <p:nvPr userDrawn="1"/>
        </p:nvSpPr>
        <p:spPr bwMode="auto">
          <a:xfrm>
            <a:off x="1143000" y="228600"/>
            <a:ext cx="6705600" cy="882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ts val="200"/>
              </a:spcBef>
            </a:pP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Bộ môn Công nghệ phần mềm</a:t>
            </a:r>
          </a:p>
          <a:p>
            <a:pPr eaLnBrk="1" hangingPunct="1">
              <a:spcBef>
                <a:spcPts val="200"/>
              </a:spcBef>
            </a:pP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Khoa Công nghệ thông tin</a:t>
            </a:r>
          </a:p>
          <a:p>
            <a:pPr eaLnBrk="1" hangingPunct="1">
              <a:spcBef>
                <a:spcPts val="200"/>
              </a:spcBef>
            </a:pP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Tr</a:t>
            </a:r>
            <a:r>
              <a:rPr lang="vi-VN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ườ</a:t>
            </a:r>
            <a:r>
              <a:rPr lang="en-US" sz="1600">
                <a:solidFill>
                  <a:schemeClr val="tx2"/>
                </a:solidFill>
                <a:latin typeface="Tahoma" pitchFamily="34" charset="0"/>
                <a:cs typeface="Tahoma" pitchFamily="34" charset="0"/>
              </a:rPr>
              <a:t>ng Đại học Khoa học Tự nhiên</a:t>
            </a:r>
          </a:p>
        </p:txBody>
      </p:sp>
      <p:sp>
        <p:nvSpPr>
          <p:cNvPr id="12" name="AutoShape 113" descr="gdd01"/>
          <p:cNvSpPr>
            <a:spLocks noChangeArrowheads="1"/>
          </p:cNvSpPr>
          <p:nvPr userDrawn="1"/>
        </p:nvSpPr>
        <p:spPr bwMode="gray">
          <a:xfrm>
            <a:off x="190500" y="3162300"/>
            <a:ext cx="1752600" cy="1600200"/>
          </a:xfrm>
          <a:prstGeom prst="hexagon">
            <a:avLst>
              <a:gd name="adj" fmla="val 27381"/>
              <a:gd name="vf" fmla="val 115470"/>
            </a:avLst>
          </a:prstGeom>
          <a:blipFill dpi="0" rotWithShape="1">
            <a:blip r:embed="rId2"/>
            <a:srcRect/>
            <a:stretch>
              <a:fillRect/>
            </a:stretch>
          </a:blip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125080" dir="1437749" algn="ctr" rotWithShape="0">
              <a:schemeClr val="bg2">
                <a:alpha val="32001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endParaRPr lang="ko-KR" altLang="en-US">
              <a:latin typeface="Times New Roman" pitchFamily="18" charset="0"/>
              <a:ea typeface="Gulim" pitchFamily="34" charset="-127"/>
            </a:endParaRPr>
          </a:p>
        </p:txBody>
      </p:sp>
      <p:sp>
        <p:nvSpPr>
          <p:cNvPr id="13" name="AutoShape 114" descr="gdd04"/>
          <p:cNvSpPr>
            <a:spLocks noChangeArrowheads="1"/>
          </p:cNvSpPr>
          <p:nvPr userDrawn="1"/>
        </p:nvSpPr>
        <p:spPr bwMode="gray">
          <a:xfrm>
            <a:off x="1638300" y="2324100"/>
            <a:ext cx="1828800" cy="1600200"/>
          </a:xfrm>
          <a:prstGeom prst="hexagon">
            <a:avLst>
              <a:gd name="adj" fmla="val 28571"/>
              <a:gd name="vf" fmla="val 115470"/>
            </a:avLst>
          </a:prstGeom>
          <a:blipFill dpi="0" rotWithShape="1">
            <a:blip r:embed="rId3"/>
            <a:srcRect/>
            <a:stretch>
              <a:fillRect/>
            </a:stretch>
          </a:blip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125080" dir="1437749" algn="ctr" rotWithShape="0">
              <a:schemeClr val="bg2">
                <a:alpha val="32001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endParaRPr lang="ko-KR" altLang="en-US">
              <a:latin typeface="Times New Roman" pitchFamily="18" charset="0"/>
              <a:ea typeface="Gulim" pitchFamily="34" charset="-127"/>
            </a:endParaRPr>
          </a:p>
        </p:txBody>
      </p:sp>
      <p:sp>
        <p:nvSpPr>
          <p:cNvPr id="14" name="AutoShape 115" descr="gdd03"/>
          <p:cNvSpPr>
            <a:spLocks noChangeArrowheads="1"/>
          </p:cNvSpPr>
          <p:nvPr userDrawn="1"/>
        </p:nvSpPr>
        <p:spPr bwMode="gray">
          <a:xfrm>
            <a:off x="1600200" y="4038600"/>
            <a:ext cx="1828800" cy="1600200"/>
          </a:xfrm>
          <a:prstGeom prst="hexagon">
            <a:avLst>
              <a:gd name="adj" fmla="val 28571"/>
              <a:gd name="vf" fmla="val 115470"/>
            </a:avLst>
          </a:prstGeom>
          <a:blipFill dpi="0" rotWithShape="1">
            <a:blip r:embed="rId4"/>
            <a:srcRect/>
            <a:stretch>
              <a:fillRect/>
            </a:stretch>
          </a:blip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125080" dir="1437749" algn="ctr" rotWithShape="0">
              <a:schemeClr val="bg2">
                <a:alpha val="32001"/>
              </a:schemeClr>
            </a:outerShdw>
          </a:effectLst>
        </p:spPr>
        <p:txBody>
          <a:bodyPr wrap="none" anchor="ctr"/>
          <a:lstStyle/>
          <a:p>
            <a:pPr algn="ctr" eaLnBrk="0" hangingPunct="0"/>
            <a:endParaRPr lang="ko-KR" altLang="en-US">
              <a:latin typeface="Times New Roman" pitchFamily="18" charset="0"/>
              <a:ea typeface="Gulim" pitchFamily="34" charset="-127"/>
            </a:endParaRPr>
          </a:p>
        </p:txBody>
      </p:sp>
      <p:sp>
        <p:nvSpPr>
          <p:cNvPr id="1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ABD89487-BBDE-455A-B579-95EBA09D3AEF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16" name="Rectangle 3"/>
          <p:cNvSpPr txBox="1">
            <a:spLocks noChangeArrowheads="1"/>
          </p:cNvSpPr>
          <p:nvPr userDrawn="1"/>
        </p:nvSpPr>
        <p:spPr bwMode="white">
          <a:xfrm>
            <a:off x="3505200" y="1600200"/>
            <a:ext cx="43434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1600">
                <a:latin typeface="Tahoma" pitchFamily="34" charset="0"/>
                <a:cs typeface="Tahoma" pitchFamily="34" charset="0"/>
              </a:rPr>
              <a:t>ThS. Đặng Bình Ph</a:t>
            </a:r>
            <a:r>
              <a:rPr lang="vi-VN" sz="1600">
                <a:latin typeface="Tahoma" pitchFamily="34" charset="0"/>
                <a:cs typeface="Tahoma" pitchFamily="34" charset="0"/>
              </a:rPr>
              <a:t>ươ</a:t>
            </a:r>
            <a:r>
              <a:rPr lang="en-US" sz="1600">
                <a:latin typeface="Tahoma" pitchFamily="34" charset="0"/>
                <a:cs typeface="Tahoma" pitchFamily="34" charset="0"/>
              </a:rPr>
              <a:t>ng</a:t>
            </a:r>
          </a:p>
          <a:p>
            <a:pPr algn="r" eaLnBrk="1" hangingPunct="1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sz="1200">
                <a:latin typeface="Tahoma" pitchFamily="34" charset="0"/>
                <a:cs typeface="Tahoma" pitchFamily="34" charset="0"/>
              </a:rPr>
              <a:t>dbphuong@fit.hcmus.edu.vn</a:t>
            </a:r>
          </a:p>
        </p:txBody>
      </p:sp>
      <p:sp>
        <p:nvSpPr>
          <p:cNvPr id="20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3505200" y="2971800"/>
            <a:ext cx="4343400" cy="6858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1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1143000" y="1115568"/>
            <a:ext cx="6705600" cy="533400"/>
          </a:xfrm>
        </p:spPr>
        <p:txBody>
          <a:bodyPr/>
          <a:lstStyle>
            <a:lvl1pPr algn="r">
              <a:defRPr sz="3600" b="1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3352800" y="6553200"/>
            <a:ext cx="2133600" cy="152400"/>
          </a:xfrm>
        </p:spPr>
        <p:txBody>
          <a:bodyPr/>
          <a:lstStyle>
            <a:lvl1pPr algn="r">
              <a:defRPr sz="1000">
                <a:solidFill>
                  <a:schemeClr val="tx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04800" y="6477000"/>
            <a:ext cx="2590800" cy="228600"/>
          </a:xfrm>
        </p:spPr>
        <p:txBody>
          <a:bodyPr/>
          <a:lstStyle>
            <a:lvl1pPr algn="ctr">
              <a:defRPr sz="1200">
                <a:solidFill>
                  <a:schemeClr val="tx2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05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8EA47249-D43C-4887-9DF9-9B438290F9B6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 smtClean="0"/>
            </a:lvl1pPr>
          </a:lstStyle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51428"/>
      </p:ext>
    </p:extLst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2989D803-8A14-404A-9539-A43590EAF9FC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100" smtClean="0"/>
            </a:lvl1pPr>
          </a:lstStyle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4763087"/>
      </p:ext>
    </p:extLst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A8B63E94-701A-4152-8462-E3E6209F45FD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675107"/>
      </p:ext>
    </p:extLst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0F436CBA-8BD6-42B9-AA38-5FA41BF64F4B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705600" cy="563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169721"/>
      </p:ext>
    </p:extLst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38D76EC5-673F-4D0E-B1BF-E7E7E7BA4A72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3738308"/>
      </p:ext>
    </p:extLst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42AC7A68-AEB2-4668-981F-2DABC80EB75D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7175800"/>
      </p:ext>
    </p:extLst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7AE003D2-4A4B-4565-9022-702A20253684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232663"/>
      </p:ext>
    </p:extLst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60084DDB-C64E-4E8C-908E-9778F0FFF710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047752"/>
      </p:ext>
    </p:extLst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0AD60C4A-564C-4D9F-A742-BFF4735238F7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0221469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7864C640-3703-47EF-91B8-498CA5251D39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943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9436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2218165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3A5D646D-6F36-4C51-89B7-EFA854985C24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705600" cy="563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942873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03E20B1C-E516-4E48-9081-FDE4B9B389B6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6705600" cy="563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457200" y="1076325"/>
            <a:ext cx="8229600" cy="5248275"/>
          </a:xfrm>
        </p:spPr>
        <p:txBody>
          <a:bodyPr/>
          <a:lstStyle/>
          <a:p>
            <a:pPr lvl="0"/>
            <a:r>
              <a:rPr lang="en-US" noProof="0" smtClean="0"/>
              <a:t>Click icon to add chart</a:t>
            </a:r>
            <a:endParaRPr lang="en-US" noProof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608680"/>
      </p:ext>
    </p:extLst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5"/>
          <p:cNvSpPr>
            <a:spLocks/>
          </p:cNvSpPr>
          <p:nvPr/>
        </p:nvSpPr>
        <p:spPr bwMode="gray">
          <a:xfrm>
            <a:off x="-9525" y="344488"/>
            <a:ext cx="8194675" cy="633412"/>
          </a:xfrm>
          <a:custGeom>
            <a:avLst/>
            <a:gdLst>
              <a:gd name="T0" fmla="*/ 0 w 5049"/>
              <a:gd name="T1" fmla="*/ 0 h 1471"/>
              <a:gd name="T2" fmla="*/ 5049 w 5049"/>
              <a:gd name="T3" fmla="*/ 2 h 1471"/>
              <a:gd name="T4" fmla="*/ 5048 w 5049"/>
              <a:gd name="T5" fmla="*/ 1458 h 1471"/>
              <a:gd name="T6" fmla="*/ 0 w 5049"/>
              <a:gd name="T7" fmla="*/ 1471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027" name="Group 16"/>
          <p:cNvGrpSpPr>
            <a:grpSpLocks/>
          </p:cNvGrpSpPr>
          <p:nvPr/>
        </p:nvGrpSpPr>
        <p:grpSpPr bwMode="auto">
          <a:xfrm>
            <a:off x="8153400" y="0"/>
            <a:ext cx="990600" cy="6858000"/>
            <a:chOff x="5040" y="0"/>
            <a:chExt cx="720" cy="4320"/>
          </a:xfrm>
        </p:grpSpPr>
        <p:sp>
          <p:nvSpPr>
            <p:cNvPr id="1039" name="Rectangle 17"/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40" name="Rectangle 18"/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8" name="AutoShape 19"/>
          <p:cNvSpPr>
            <a:spLocks noChangeArrowheads="1"/>
          </p:cNvSpPr>
          <p:nvPr/>
        </p:nvSpPr>
        <p:spPr bwMode="gray">
          <a:xfrm>
            <a:off x="7696200" y="59436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490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9" name="AutoShape 20"/>
          <p:cNvSpPr>
            <a:spLocks noChangeArrowheads="1"/>
          </p:cNvSpPr>
          <p:nvPr/>
        </p:nvSpPr>
        <p:spPr bwMode="gray">
          <a:xfrm>
            <a:off x="8229600" y="563880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490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0" name="AutoShape 21"/>
          <p:cNvSpPr>
            <a:spLocks noChangeArrowheads="1"/>
          </p:cNvSpPr>
          <p:nvPr/>
        </p:nvSpPr>
        <p:spPr bwMode="gray">
          <a:xfrm>
            <a:off x="8220075" y="6229350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5086C2">
              <a:alpha val="34901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519863"/>
            <a:ext cx="2133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181600" y="6477000"/>
            <a:ext cx="2895600" cy="23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100" dirty="0" err="1" smtClean="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Tập tin</a:t>
            </a:r>
          </a:p>
        </p:txBody>
      </p:sp>
      <p:sp>
        <p:nvSpPr>
          <p:cNvPr id="1047" name="AutoShape 23"/>
          <p:cNvSpPr>
            <a:spLocks noChangeArrowheads="1"/>
          </p:cNvSpPr>
          <p:nvPr userDrawn="1"/>
        </p:nvSpPr>
        <p:spPr bwMode="gray">
          <a:xfrm>
            <a:off x="169863" y="436563"/>
            <a:ext cx="473075" cy="419100"/>
          </a:xfrm>
          <a:prstGeom prst="hexagon">
            <a:avLst>
              <a:gd name="adj" fmla="val 30000"/>
              <a:gd name="vf" fmla="val 115470"/>
            </a:avLst>
          </a:prstGeom>
          <a:solidFill>
            <a:schemeClr val="tx1">
              <a:lumMod val="40000"/>
              <a:lumOff val="60000"/>
            </a:schemeClr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56796" dir="1593903" algn="ctr" rotWithShape="0">
              <a:srgbClr val="666633">
                <a:alpha val="50000"/>
              </a:srgbClr>
            </a:outerShdw>
          </a:effectLst>
        </p:spPr>
        <p:txBody>
          <a:bodyPr wrap="none" anchor="ctr"/>
          <a:lstStyle/>
          <a:p>
            <a:pPr algn="ctr">
              <a:defRPr/>
            </a:pPr>
            <a:r>
              <a:rPr lang="en-US" sz="1600" b="1">
                <a:solidFill>
                  <a:schemeClr val="bg1"/>
                </a:solidFill>
                <a:latin typeface="Tahoma" pitchFamily="34" charset="0"/>
                <a:cs typeface="Tahoma" pitchFamily="34" charset="0"/>
              </a:rPr>
              <a:t>VC</a:t>
            </a:r>
          </a:p>
        </p:txBody>
      </p:sp>
      <p:sp>
        <p:nvSpPr>
          <p:cNvPr id="1035" name="AutoShape 24"/>
          <p:cNvSpPr>
            <a:spLocks noChangeArrowheads="1"/>
          </p:cNvSpPr>
          <p:nvPr userDrawn="1"/>
        </p:nvSpPr>
        <p:spPr bwMode="gray">
          <a:xfrm>
            <a:off x="517525" y="228600"/>
            <a:ext cx="473075" cy="419100"/>
          </a:xfrm>
          <a:prstGeom prst="hexagon">
            <a:avLst>
              <a:gd name="adj" fmla="val 29986"/>
              <a:gd name="vf" fmla="val 115470"/>
            </a:avLst>
          </a:prstGeom>
          <a:solidFill>
            <a:srgbClr val="FFC000"/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56796" dir="1593903" algn="ctr" rotWithShape="0">
              <a:srgbClr val="666633">
                <a:alpha val="50000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&amp;</a:t>
            </a:r>
          </a:p>
        </p:txBody>
      </p:sp>
      <p:sp>
        <p:nvSpPr>
          <p:cNvPr id="1036" name="AutoShape 25"/>
          <p:cNvSpPr>
            <a:spLocks noChangeArrowheads="1"/>
          </p:cNvSpPr>
          <p:nvPr userDrawn="1"/>
        </p:nvSpPr>
        <p:spPr bwMode="gray">
          <a:xfrm>
            <a:off x="517525" y="647700"/>
            <a:ext cx="473075" cy="419100"/>
          </a:xfrm>
          <a:prstGeom prst="hexagon">
            <a:avLst>
              <a:gd name="adj" fmla="val 29986"/>
              <a:gd name="vf" fmla="val 115470"/>
            </a:avLst>
          </a:prstGeom>
          <a:solidFill>
            <a:srgbClr val="FF99FF"/>
          </a:solidFill>
          <a:ln w="28575">
            <a:solidFill>
              <a:schemeClr val="bg1"/>
            </a:solidFill>
            <a:miter lim="800000"/>
            <a:headEnd/>
            <a:tailEnd/>
          </a:ln>
          <a:effectLst>
            <a:outerShdw dist="56796" dir="1593903" algn="ctr" rotWithShape="0">
              <a:srgbClr val="666633">
                <a:alpha val="50000"/>
              </a:srgbClr>
            </a:outerShdw>
          </a:effectLst>
        </p:spPr>
        <p:txBody>
          <a:bodyPr wrap="none" anchor="ctr"/>
          <a:lstStyle/>
          <a:p>
            <a:pPr algn="ctr"/>
            <a:r>
              <a:rPr lang="en-US" sz="1600" b="1">
                <a:solidFill>
                  <a:schemeClr val="bg1"/>
                </a:solidFill>
              </a:rPr>
              <a:t>BB</a:t>
            </a:r>
            <a:endParaRPr lang="en-US" sz="1600" b="1" baseline="30000">
              <a:solidFill>
                <a:schemeClr val="bg1"/>
              </a:solidFill>
            </a:endParaRPr>
          </a:p>
        </p:txBody>
      </p:sp>
      <p:sp>
        <p:nvSpPr>
          <p:cNvPr id="1037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1143000" y="381000"/>
            <a:ext cx="67056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7" name="Rectangle 6"/>
          <p:cNvSpPr txBox="1">
            <a:spLocks noChangeArrowheads="1"/>
          </p:cNvSpPr>
          <p:nvPr userDrawn="1"/>
        </p:nvSpPr>
        <p:spPr bwMode="auto">
          <a:xfrm>
            <a:off x="8305800" y="6324600"/>
            <a:ext cx="4572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 algn="l">
              <a:defRPr sz="1200">
                <a:latin typeface="Arial" charset="0"/>
              </a:defRPr>
            </a:lvl1pPr>
          </a:lstStyle>
          <a:p>
            <a:pPr algn="ctr">
              <a:defRPr/>
            </a:pPr>
            <a:fld id="{661E4782-70D8-493A-ADCC-1BB5902F319A}" type="slidenum">
              <a:rPr lang="en-US" sz="1800" smtClean="0">
                <a:solidFill>
                  <a:schemeClr val="bg1"/>
                </a:solidFill>
                <a:latin typeface="Corbel" pitchFamily="34" charset="0"/>
                <a:cs typeface="+mn-cs"/>
              </a:rPr>
              <a:pPr algn="ctr">
                <a:defRPr/>
              </a:pPr>
              <a:t>‹#›</a:t>
            </a:fld>
            <a:endParaRPr lang="en-US" sz="1800">
              <a:solidFill>
                <a:schemeClr val="bg1"/>
              </a:solidFill>
              <a:latin typeface="Corbel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sldNum="0" hdr="0" dt="0"/>
  <p:txStyles>
    <p:titleStyle>
      <a:lvl1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 b="1">
          <a:solidFill>
            <a:schemeClr val="tx1"/>
          </a:solidFill>
          <a:latin typeface="Tahoma" pitchFamily="34" charset="0"/>
          <a:ea typeface="+mn-ea"/>
          <a:cs typeface="Tahoma" pitchFamily="34" charset="0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Tahoma" pitchFamily="34" charset="0"/>
          <a:cs typeface="Tahoma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Tahoma" pitchFamily="34" charset="0"/>
          <a:cs typeface="Tahoma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ahoma" pitchFamily="34" charset="0"/>
          <a:cs typeface="Tahoma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ahoma" pitchFamily="34" charset="0"/>
          <a:cs typeface="Tahoma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28.xml"/><Relationship Id="rId4" Type="http://schemas.openxmlformats.org/officeDocument/2006/relationships/slide" Target="slide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" Target="slide46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endParaRPr lang="en-US" smtClean="0">
              <a:latin typeface="Arial" charset="0"/>
              <a:cs typeface="Arial" charset="0"/>
            </a:endParaRPr>
          </a:p>
          <a:p>
            <a:pPr algn="ctr" eaLnBrk="1" hangingPunct="1">
              <a:buFont typeface="Wingdings" pitchFamily="2" charset="2"/>
              <a:buNone/>
            </a:pPr>
            <a:endParaRPr lang="en-US" smtClean="0">
              <a:latin typeface="Arial" charset="0"/>
              <a:cs typeface="Arial" charset="0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n-US" sz="3200" smtClean="0">
                <a:latin typeface="Arial" charset="0"/>
                <a:cs typeface="Arial" charset="0"/>
              </a:rPr>
              <a:t>Nhập môn Lập trình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n-US" sz="3200" smtClean="0">
                <a:latin typeface="Arial" charset="0"/>
                <a:cs typeface="Arial" charset="0"/>
              </a:rPr>
              <a:t>TẬP TIN</a:t>
            </a:r>
            <a:endParaRPr lang="en-US" sz="3200" smtClean="0">
              <a:latin typeface="Arial" charset="0"/>
              <a:cs typeface="Arial" charset="0"/>
            </a:endParaRPr>
          </a:p>
        </p:txBody>
      </p:sp>
      <p:sp>
        <p:nvSpPr>
          <p:cNvPr id="1536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smtClean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153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5313995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Nội dung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</a:p>
        </p:txBody>
      </p:sp>
      <p:grpSp>
        <p:nvGrpSpPr>
          <p:cNvPr id="5" name="Group 46"/>
          <p:cNvGrpSpPr>
            <a:grpSpLocks/>
          </p:cNvGrpSpPr>
          <p:nvPr/>
        </p:nvGrpSpPr>
        <p:grpSpPr bwMode="auto">
          <a:xfrm>
            <a:off x="2133600" y="1905000"/>
            <a:ext cx="4724400" cy="685800"/>
            <a:chOff x="1296" y="1824"/>
            <a:chExt cx="2976" cy="432"/>
          </a:xfrm>
        </p:grpSpPr>
        <p:sp>
          <p:nvSpPr>
            <p:cNvPr id="6" name="AutoShape 4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2">
                    <a:gamma/>
                    <a:tint val="21176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405" name="AutoShape 4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2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6" name="Text Box 4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Khái niệm dòng (stream)</a:t>
              </a:r>
            </a:p>
          </p:txBody>
        </p:sp>
        <p:sp>
          <p:nvSpPr>
            <p:cNvPr id="16407" name="Text Box 5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10" name="Group 51"/>
          <p:cNvGrpSpPr>
            <a:grpSpLocks/>
          </p:cNvGrpSpPr>
          <p:nvPr/>
        </p:nvGrpSpPr>
        <p:grpSpPr bwMode="auto">
          <a:xfrm>
            <a:off x="2133600" y="2743200"/>
            <a:ext cx="4724400" cy="685800"/>
            <a:chOff x="1296" y="1824"/>
            <a:chExt cx="2976" cy="432"/>
          </a:xfrm>
        </p:grpSpPr>
        <p:sp>
          <p:nvSpPr>
            <p:cNvPr id="11" name="AutoShape 5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accent1">
                    <a:gamma/>
                    <a:tint val="21176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401" name="AutoShape 5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accent1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402" name="Text Box 5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Khái niệm và phân loại tập tin</a:t>
              </a:r>
            </a:p>
          </p:txBody>
        </p:sp>
        <p:sp>
          <p:nvSpPr>
            <p:cNvPr id="16403" name="Text Box 5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5" name="Group 56"/>
          <p:cNvGrpSpPr>
            <a:grpSpLocks/>
          </p:cNvGrpSpPr>
          <p:nvPr/>
        </p:nvGrpSpPr>
        <p:grpSpPr bwMode="auto">
          <a:xfrm>
            <a:off x="2133600" y="3581400"/>
            <a:ext cx="4724400" cy="685800"/>
            <a:chOff x="1296" y="1824"/>
            <a:chExt cx="2976" cy="432"/>
          </a:xfrm>
        </p:grpSpPr>
        <p:sp>
          <p:nvSpPr>
            <p:cNvPr id="16" name="AutoShape 57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tx2">
                    <a:gamma/>
                    <a:tint val="21176"/>
                    <a:invGamma/>
                  </a:schemeClr>
                </a:gs>
                <a:gs pos="100000">
                  <a:schemeClr val="tx2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397" name="AutoShape 58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8" name="Text Box 59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Các thao tác xử lý căn bản</a:t>
              </a:r>
            </a:p>
          </p:txBody>
        </p:sp>
        <p:sp>
          <p:nvSpPr>
            <p:cNvPr id="16399" name="Text Box 60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20" name="Group 61"/>
          <p:cNvGrpSpPr>
            <a:grpSpLocks/>
          </p:cNvGrpSpPr>
          <p:nvPr/>
        </p:nvGrpSpPr>
        <p:grpSpPr bwMode="auto">
          <a:xfrm>
            <a:off x="2133600" y="4495800"/>
            <a:ext cx="4724400" cy="685800"/>
            <a:chOff x="1296" y="1824"/>
            <a:chExt cx="2976" cy="432"/>
          </a:xfrm>
        </p:grpSpPr>
        <p:sp>
          <p:nvSpPr>
            <p:cNvPr id="21" name="AutoShape 62"/>
            <p:cNvSpPr>
              <a:spLocks noChangeArrowheads="1"/>
            </p:cNvSpPr>
            <p:nvPr/>
          </p:nvSpPr>
          <p:spPr bwMode="gray">
            <a:xfrm>
              <a:off x="1536" y="1899"/>
              <a:ext cx="2736" cy="288"/>
            </a:xfrm>
            <a:prstGeom prst="roundRect">
              <a:avLst>
                <a:gd name="adj" fmla="val 16667"/>
              </a:avLst>
            </a:prstGeom>
            <a:gradFill rotWithShape="1">
              <a:gsLst>
                <a:gs pos="0">
                  <a:schemeClr val="folHlink">
                    <a:gamma/>
                    <a:tint val="21176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12700" algn="ctr">
              <a:solidFill>
                <a:schemeClr val="bg1"/>
              </a:solidFill>
              <a:round/>
              <a:headEnd/>
              <a:tailEnd/>
            </a:ln>
            <a:effectLst>
              <a:outerShdw dist="99190" dir="238833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>
                <a:cs typeface="+mn-cs"/>
              </a:endParaRPr>
            </a:p>
          </p:txBody>
        </p:sp>
        <p:sp>
          <p:nvSpPr>
            <p:cNvPr id="16393" name="AutoShape 63"/>
            <p:cNvSpPr>
              <a:spLocks noChangeArrowheads="1"/>
            </p:cNvSpPr>
            <p:nvPr/>
          </p:nvSpPr>
          <p:spPr bwMode="gray">
            <a:xfrm>
              <a:off x="1296" y="1824"/>
              <a:ext cx="432" cy="432"/>
            </a:xfrm>
            <a:prstGeom prst="diamond">
              <a:avLst/>
            </a:prstGeom>
            <a:solidFill>
              <a:schemeClr val="folHlink"/>
            </a:solidFill>
            <a:ln w="25400" algn="ctr">
              <a:solidFill>
                <a:schemeClr val="bg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3333">
                  <a:alpha val="50000"/>
                </a:srgbClr>
              </a:outerShdw>
            </a:effec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394" name="Text Box 64"/>
            <p:cNvSpPr txBox="1">
              <a:spLocks noChangeArrowheads="1"/>
            </p:cNvSpPr>
            <p:nvPr/>
          </p:nvSpPr>
          <p:spPr bwMode="gray">
            <a:xfrm>
              <a:off x="1824" y="1934"/>
              <a:ext cx="2448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r>
                <a:rPr lang="en-US" b="1">
                  <a:solidFill>
                    <a:srgbClr val="000000"/>
                  </a:solidFill>
                </a:rPr>
                <a:t>Một số hàm quản lý tập tin</a:t>
              </a:r>
            </a:p>
          </p:txBody>
        </p:sp>
        <p:sp>
          <p:nvSpPr>
            <p:cNvPr id="16395" name="Text Box 65"/>
            <p:cNvSpPr txBox="1">
              <a:spLocks noChangeArrowheads="1"/>
            </p:cNvSpPr>
            <p:nvPr/>
          </p:nvSpPr>
          <p:spPr bwMode="gray">
            <a:xfrm>
              <a:off x="1393" y="1886"/>
              <a:ext cx="22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/>
              <a:r>
                <a:rPr lang="en-US" sz="2400">
                  <a:solidFill>
                    <a:schemeClr val="bg1"/>
                  </a:solidFill>
                </a:rPr>
                <a:t>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Nhập xuất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Khái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niệm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dirty="0" smtClean="0"/>
              <a:t>C l</a:t>
            </a:r>
            <a:r>
              <a:rPr lang="vi-VN" dirty="0" smtClean="0"/>
              <a:t>ư</a:t>
            </a:r>
            <a:r>
              <a:rPr lang="en-US" dirty="0" smtClean="0"/>
              <a:t>u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(</a:t>
            </a:r>
            <a:r>
              <a:rPr lang="en-US" dirty="0" err="1" smtClean="0"/>
              <a:t>biến</a:t>
            </a:r>
            <a:r>
              <a:rPr lang="en-US" dirty="0" smtClean="0"/>
              <a:t>, </a:t>
            </a:r>
            <a:r>
              <a:rPr lang="en-US" dirty="0" err="1" smtClean="0"/>
              <a:t>mảng</a:t>
            </a:r>
            <a:r>
              <a:rPr lang="en-US" dirty="0" smtClean="0"/>
              <a:t>,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, …)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nhớ</a:t>
            </a:r>
            <a:r>
              <a:rPr lang="en-US" dirty="0" smtClean="0"/>
              <a:t> RAM.</a:t>
            </a:r>
          </a:p>
          <a:p>
            <a:pPr lvl="1">
              <a:defRPr/>
            </a:pP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vi-VN" dirty="0" smtClean="0"/>
              <a:t>đượ</a:t>
            </a:r>
            <a:r>
              <a:rPr lang="en-US" dirty="0" smtClean="0"/>
              <a:t>c </a:t>
            </a:r>
            <a:r>
              <a:rPr lang="en-US" dirty="0" err="1" smtClean="0"/>
              <a:t>nạp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RAM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gửi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ngoài</a:t>
            </a:r>
            <a:r>
              <a:rPr lang="en-US" dirty="0" smtClean="0"/>
              <a:t> </a:t>
            </a:r>
            <a:r>
              <a:rPr lang="en-US" dirty="0" err="1" smtClean="0"/>
              <a:t>ch</a:t>
            </a:r>
            <a:r>
              <a:rPr lang="vi-VN" dirty="0" smtClean="0"/>
              <a:t>ươ</a:t>
            </a:r>
            <a:r>
              <a:rPr lang="en-US" dirty="0" err="1" smtClean="0"/>
              <a:t>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qua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(</a:t>
            </a:r>
            <a:r>
              <a:rPr lang="en-US" dirty="0" smtClean="0">
                <a:solidFill>
                  <a:srgbClr val="FF0000"/>
                </a:solidFill>
              </a:rPr>
              <a:t>device</a:t>
            </a:r>
            <a:r>
              <a:rPr lang="en-US" dirty="0" smtClean="0"/>
              <a:t>)</a:t>
            </a:r>
          </a:p>
          <a:p>
            <a:pPr lvl="2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Thiết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bị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nhập</a:t>
            </a:r>
            <a:r>
              <a:rPr lang="en-US" dirty="0" smtClean="0"/>
              <a:t> (input device): </a:t>
            </a:r>
            <a:r>
              <a:rPr lang="en-US" dirty="0" err="1" smtClean="0"/>
              <a:t>bàn</a:t>
            </a:r>
            <a:r>
              <a:rPr lang="en-US" dirty="0" smtClean="0"/>
              <a:t> </a:t>
            </a:r>
            <a:r>
              <a:rPr lang="en-US" dirty="0" err="1" smtClean="0"/>
              <a:t>phím</a:t>
            </a:r>
            <a:r>
              <a:rPr lang="en-US" dirty="0" smtClean="0"/>
              <a:t>, con </a:t>
            </a:r>
            <a:r>
              <a:rPr lang="en-US" dirty="0" err="1" smtClean="0"/>
              <a:t>chuột</a:t>
            </a:r>
            <a:endParaRPr lang="en-US" dirty="0" smtClean="0"/>
          </a:p>
          <a:p>
            <a:pPr lvl="2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Thiết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bị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xuất</a:t>
            </a:r>
            <a:r>
              <a:rPr lang="en-US" dirty="0" smtClean="0"/>
              <a:t> (output device): </a:t>
            </a:r>
            <a:r>
              <a:rPr lang="en-US" dirty="0" err="1" smtClean="0"/>
              <a:t>màn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, </a:t>
            </a:r>
            <a:r>
              <a:rPr lang="en-US" dirty="0" err="1" smtClean="0"/>
              <a:t>máy</a:t>
            </a:r>
            <a:r>
              <a:rPr lang="en-US" dirty="0" smtClean="0"/>
              <a:t> in</a:t>
            </a:r>
          </a:p>
          <a:p>
            <a:pPr lvl="2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Thiết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bị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vừa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nhập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vừa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xuất</a:t>
            </a:r>
            <a:r>
              <a:rPr lang="en-US" dirty="0" smtClean="0"/>
              <a:t>: </a:t>
            </a:r>
            <a:r>
              <a:rPr lang="en-US" dirty="0" err="1" smtClean="0"/>
              <a:t>tập</a:t>
            </a:r>
            <a:r>
              <a:rPr lang="en-US" dirty="0" smtClean="0"/>
              <a:t> tin</a:t>
            </a:r>
          </a:p>
          <a:p>
            <a:pPr lvl="1">
              <a:defRPr/>
            </a:pP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vi-VN" dirty="0" smtClean="0"/>
              <a:t>đề</a:t>
            </a:r>
            <a:r>
              <a:rPr lang="en-US" dirty="0" smtClean="0"/>
              <a:t>u </a:t>
            </a:r>
            <a:r>
              <a:rPr lang="en-US" dirty="0" err="1" smtClean="0"/>
              <a:t>thực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mọi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qua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(</a:t>
            </a:r>
            <a:r>
              <a:rPr lang="en-US" dirty="0" smtClean="0">
                <a:solidFill>
                  <a:srgbClr val="FF0000"/>
                </a:solidFill>
              </a:rPr>
              <a:t>stream</a:t>
            </a:r>
            <a:r>
              <a:rPr lang="en-US" dirty="0" smtClean="0"/>
              <a:t>).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Stream (dòng)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Khái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niệm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môi</a:t>
            </a:r>
            <a:r>
              <a:rPr lang="en-US" dirty="0" smtClean="0"/>
              <a:t> </a:t>
            </a:r>
            <a:r>
              <a:rPr lang="en-US" dirty="0" err="1" smtClean="0"/>
              <a:t>tr</a:t>
            </a:r>
            <a:r>
              <a:rPr lang="vi-VN" dirty="0" smtClean="0"/>
              <a:t>ườ</a:t>
            </a:r>
            <a:r>
              <a:rPr lang="en-US" dirty="0" err="1" smtClean="0"/>
              <a:t>ng</a:t>
            </a:r>
            <a:r>
              <a:rPr lang="en-US" dirty="0" smtClean="0"/>
              <a:t> </a:t>
            </a:r>
            <a:r>
              <a:rPr lang="en-US" dirty="0" err="1" smtClean="0"/>
              <a:t>trung</a:t>
            </a:r>
            <a:r>
              <a:rPr lang="en-US" dirty="0" smtClean="0"/>
              <a:t> </a:t>
            </a:r>
            <a:r>
              <a:rPr lang="en-US" dirty="0" err="1" smtClean="0"/>
              <a:t>gian</a:t>
            </a:r>
            <a:r>
              <a:rPr lang="en-US" dirty="0" smtClean="0"/>
              <a:t> </a:t>
            </a:r>
            <a:r>
              <a:rPr lang="vi-VN" dirty="0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giao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(</a:t>
            </a:r>
            <a:r>
              <a:rPr lang="en-US" dirty="0" err="1" smtClean="0"/>
              <a:t>nhận</a:t>
            </a:r>
            <a:r>
              <a:rPr lang="en-US" dirty="0" smtClean="0"/>
              <a:t>/ </a:t>
            </a:r>
            <a:r>
              <a:rPr lang="en-US" dirty="0" err="1" smtClean="0"/>
              <a:t>gửi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tin) </a:t>
            </a:r>
            <a:r>
              <a:rPr lang="en-US" dirty="0" err="1" smtClean="0"/>
              <a:t>giữa</a:t>
            </a:r>
            <a:r>
              <a:rPr lang="en-US" dirty="0" smtClean="0"/>
              <a:t> </a:t>
            </a:r>
            <a:r>
              <a:rPr lang="en-US" dirty="0" err="1" smtClean="0"/>
              <a:t>ch</a:t>
            </a:r>
            <a:r>
              <a:rPr lang="vi-VN" dirty="0" smtClean="0"/>
              <a:t>ươ</a:t>
            </a:r>
            <a:r>
              <a:rPr lang="en-US" dirty="0" err="1" smtClean="0"/>
              <a:t>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.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dirty="0" smtClean="0">
                <a:sym typeface="Wingdings" pitchFamily="2" charset="2"/>
              </a:rPr>
              <a:t>	 </a:t>
            </a:r>
            <a:r>
              <a:rPr lang="en-US" dirty="0" err="1" smtClean="0">
                <a:sym typeface="Wingdings" pitchFamily="2" charset="2"/>
              </a:rPr>
              <a:t>M</a:t>
            </a:r>
            <a:r>
              <a:rPr lang="en-US" dirty="0" err="1" smtClean="0"/>
              <a:t>uốn</a:t>
            </a:r>
            <a:r>
              <a:rPr lang="en-US" dirty="0" smtClean="0"/>
              <a:t> </a:t>
            </a:r>
            <a:r>
              <a:rPr lang="en-US" dirty="0" err="1" smtClean="0"/>
              <a:t>nhận</a:t>
            </a:r>
            <a:r>
              <a:rPr lang="en-US" dirty="0" smtClean="0"/>
              <a:t>/</a:t>
            </a:r>
            <a:r>
              <a:rPr lang="en-US" dirty="0" err="1" smtClean="0"/>
              <a:t>gửi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gửi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cho</a:t>
            </a:r>
            <a:r>
              <a:rPr lang="en-US" dirty="0" smtClean="0"/>
              <a:t> stream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vi-VN" dirty="0" smtClean="0"/>
              <a:t>đó</a:t>
            </a:r>
            <a:r>
              <a:rPr lang="en-US" dirty="0" smtClean="0"/>
              <a:t> (</a:t>
            </a:r>
            <a:r>
              <a:rPr lang="en-US" dirty="0" err="1" smtClean="0">
                <a:solidFill>
                  <a:srgbClr val="FF0000"/>
                </a:solidFill>
              </a:rPr>
              <a:t>độc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lập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thiết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bị</a:t>
            </a:r>
            <a:r>
              <a:rPr lang="en-US" dirty="0" smtClean="0"/>
              <a:t>).</a:t>
            </a:r>
          </a:p>
          <a:p>
            <a:pPr lvl="1">
              <a:defRPr/>
            </a:pPr>
            <a:r>
              <a:rPr lang="en-US" dirty="0" smtClean="0">
                <a:solidFill>
                  <a:srgbClr val="FF0000"/>
                </a:solidFill>
              </a:rPr>
              <a:t>Stream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dãy</a:t>
            </a:r>
            <a:r>
              <a:rPr lang="en-US" dirty="0" smtClean="0"/>
              <a:t> byte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endParaRPr lang="en-US" dirty="0" smtClean="0"/>
          </a:p>
          <a:p>
            <a:pPr lvl="2">
              <a:defRPr/>
            </a:pPr>
            <a:r>
              <a:rPr lang="en-US" dirty="0" smtClean="0"/>
              <a:t>“</a:t>
            </a:r>
            <a:r>
              <a:rPr lang="en-US" dirty="0" err="1" smtClean="0"/>
              <a:t>Chảy</a:t>
            </a:r>
            <a:r>
              <a:rPr lang="en-US" dirty="0" smtClean="0"/>
              <a:t>”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ch</a:t>
            </a:r>
            <a:r>
              <a:rPr lang="vi-VN" dirty="0" smtClean="0"/>
              <a:t>ươ</a:t>
            </a:r>
            <a:r>
              <a:rPr lang="en-US" dirty="0" err="1" smtClean="0"/>
              <a:t>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stream </a:t>
            </a:r>
            <a:r>
              <a:rPr lang="en-US" dirty="0" err="1" smtClean="0">
                <a:solidFill>
                  <a:srgbClr val="FF0000"/>
                </a:solidFill>
              </a:rPr>
              <a:t>nhập</a:t>
            </a:r>
            <a:r>
              <a:rPr lang="en-US" dirty="0" smtClean="0"/>
              <a:t>.</a:t>
            </a:r>
          </a:p>
          <a:p>
            <a:pPr lvl="2">
              <a:defRPr/>
            </a:pPr>
            <a:r>
              <a:rPr lang="en-US" dirty="0" smtClean="0"/>
              <a:t>“</a:t>
            </a:r>
            <a:r>
              <a:rPr lang="en-US" dirty="0" err="1" smtClean="0"/>
              <a:t>Chảy</a:t>
            </a:r>
            <a:r>
              <a:rPr lang="en-US" dirty="0" smtClean="0"/>
              <a:t>”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ch</a:t>
            </a:r>
            <a:r>
              <a:rPr lang="vi-VN" dirty="0" smtClean="0"/>
              <a:t>ươ</a:t>
            </a:r>
            <a:r>
              <a:rPr lang="en-US" dirty="0" err="1" smtClean="0"/>
              <a:t>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gọi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stream </a:t>
            </a:r>
            <a:r>
              <a:rPr lang="en-US" dirty="0" err="1" smtClean="0">
                <a:solidFill>
                  <a:srgbClr val="FF0000"/>
                </a:solidFill>
              </a:rPr>
              <a:t>xuất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Stream (dòng)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Phân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loại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dirty="0" smtClean="0"/>
              <a:t>Stream </a:t>
            </a:r>
            <a:r>
              <a:rPr lang="en-US" dirty="0" smtClean="0">
                <a:solidFill>
                  <a:srgbClr val="FF0000"/>
                </a:solidFill>
              </a:rPr>
              <a:t>v</a:t>
            </a:r>
            <a:r>
              <a:rPr lang="vi-VN" dirty="0" smtClean="0">
                <a:solidFill>
                  <a:srgbClr val="FF0000"/>
                </a:solidFill>
              </a:rPr>
              <a:t>ă</a:t>
            </a:r>
            <a:r>
              <a:rPr lang="en-US" dirty="0" smtClean="0">
                <a:solidFill>
                  <a:srgbClr val="FF0000"/>
                </a:solidFill>
              </a:rPr>
              <a:t>n </a:t>
            </a:r>
            <a:r>
              <a:rPr lang="en-US" dirty="0" err="1" smtClean="0">
                <a:solidFill>
                  <a:srgbClr val="FF0000"/>
                </a:solidFill>
              </a:rPr>
              <a:t>bản</a:t>
            </a:r>
            <a:r>
              <a:rPr lang="en-US" dirty="0" smtClean="0"/>
              <a:t> (</a:t>
            </a:r>
            <a:r>
              <a:rPr lang="en-US" dirty="0" smtClean="0">
                <a:solidFill>
                  <a:srgbClr val="FF0000"/>
                </a:solidFill>
              </a:rPr>
              <a:t>text</a:t>
            </a:r>
            <a:r>
              <a:rPr lang="en-US" dirty="0" smtClean="0"/>
              <a:t>)</a:t>
            </a:r>
          </a:p>
          <a:p>
            <a:pPr lvl="2">
              <a:defRPr/>
            </a:pP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chứa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ký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tự</a:t>
            </a:r>
            <a:r>
              <a:rPr lang="en-US" dirty="0" smtClean="0"/>
              <a:t>.</a:t>
            </a:r>
          </a:p>
          <a:p>
            <a:pPr lvl="2">
              <a:defRPr/>
            </a:pP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,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vi-VN" dirty="0" smtClean="0"/>
              <a:t>đ</a:t>
            </a:r>
            <a:r>
              <a:rPr lang="en-US" dirty="0" smtClean="0"/>
              <a:t>a 255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,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thúc</a:t>
            </a:r>
            <a:r>
              <a:rPr lang="en-US" dirty="0" smtClean="0"/>
              <a:t> </a:t>
            </a:r>
            <a:r>
              <a:rPr lang="en-US" err="1" smtClean="0"/>
              <a:t>bởi</a:t>
            </a:r>
            <a:r>
              <a:rPr lang="en-US" smtClean="0"/>
              <a:t> ký </a:t>
            </a:r>
            <a:r>
              <a:rPr lang="en-US" dirty="0" err="1" smtClean="0"/>
              <a:t>tự</a:t>
            </a:r>
            <a:r>
              <a:rPr lang="en-US" dirty="0" smtClean="0"/>
              <a:t> sang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r>
              <a:rPr lang="en-US" dirty="0" smtClean="0"/>
              <a:t> ‘\n’.</a:t>
            </a:r>
          </a:p>
          <a:p>
            <a:pPr lvl="1">
              <a:defRPr/>
            </a:pPr>
            <a:r>
              <a:rPr lang="en-US" dirty="0" smtClean="0"/>
              <a:t>Stream </a:t>
            </a:r>
            <a:r>
              <a:rPr lang="en-US" dirty="0" err="1" smtClean="0">
                <a:solidFill>
                  <a:srgbClr val="FF0000"/>
                </a:solidFill>
              </a:rPr>
              <a:t>nhị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phân</a:t>
            </a:r>
            <a:r>
              <a:rPr lang="en-US" dirty="0" smtClean="0"/>
              <a:t> (</a:t>
            </a:r>
            <a:r>
              <a:rPr lang="en-US" dirty="0" smtClean="0">
                <a:solidFill>
                  <a:srgbClr val="FF0000"/>
                </a:solidFill>
              </a:rPr>
              <a:t>binary</a:t>
            </a:r>
            <a:r>
              <a:rPr lang="en-US" dirty="0" smtClean="0"/>
              <a:t>)</a:t>
            </a:r>
          </a:p>
          <a:p>
            <a:pPr lvl="2">
              <a:defRPr/>
            </a:pPr>
            <a:r>
              <a:rPr lang="en-US" dirty="0" err="1" smtClean="0"/>
              <a:t>Chứa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byte</a:t>
            </a:r>
            <a:r>
              <a:rPr lang="en-US" dirty="0" smtClean="0"/>
              <a:t>.</a:t>
            </a:r>
          </a:p>
          <a:p>
            <a:pPr lvl="2">
              <a:defRPr/>
            </a:pPr>
            <a:r>
              <a:rPr lang="en-US" dirty="0" smtClean="0"/>
              <a:t>Đ</a:t>
            </a:r>
            <a:r>
              <a:rPr lang="vi-VN" dirty="0" smtClean="0"/>
              <a:t>ượ</a:t>
            </a:r>
            <a:r>
              <a:rPr lang="en-US" dirty="0" smtClean="0"/>
              <a:t>c </a:t>
            </a:r>
            <a:r>
              <a:rPr lang="vi-VN" dirty="0" smtClean="0"/>
              <a:t>đọ</a:t>
            </a:r>
            <a:r>
              <a:rPr lang="en-US" dirty="0" smtClean="0"/>
              <a:t>c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chính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từng</a:t>
            </a:r>
            <a:r>
              <a:rPr lang="en-US" dirty="0" smtClean="0"/>
              <a:t> byte.</a:t>
            </a:r>
          </a:p>
          <a:p>
            <a:pPr lvl="2">
              <a:defRPr/>
            </a:pP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bất</a:t>
            </a:r>
            <a:r>
              <a:rPr lang="en-US" dirty="0" smtClean="0"/>
              <a:t> </a:t>
            </a:r>
            <a:r>
              <a:rPr lang="en-US" dirty="0" err="1" smtClean="0"/>
              <a:t>kỳ</a:t>
            </a:r>
            <a:r>
              <a:rPr lang="en-US" dirty="0" smtClean="0"/>
              <a:t>, </a:t>
            </a:r>
            <a:r>
              <a:rPr lang="en-US" dirty="0" err="1" smtClean="0"/>
              <a:t>kể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.</a:t>
            </a:r>
          </a:p>
          <a:p>
            <a:pPr lvl="2">
              <a:defRPr/>
            </a:pP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chủ</a:t>
            </a:r>
            <a:r>
              <a:rPr lang="en-US" dirty="0" smtClean="0"/>
              <a:t> </a:t>
            </a:r>
            <a:r>
              <a:rPr lang="en-US" dirty="0" err="1" smtClean="0"/>
              <a:t>yếu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đĩa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Stream (dòng)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stream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chuẩn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vi-VN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đị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nh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nghĩa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sẵn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2200"/>
              </a:spcBef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dụ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smtClean="0"/>
              <a:t>(</a:t>
            </a: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fprintf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stream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)</a:t>
            </a:r>
          </a:p>
          <a:p>
            <a:pPr lvl="1">
              <a:defRPr/>
            </a:pPr>
            <a:r>
              <a:rPr lang="en-US" sz="2200" dirty="0" err="1" smtClean="0"/>
              <a:t>Xuất</a:t>
            </a:r>
            <a:r>
              <a:rPr lang="en-US" sz="2200" dirty="0" smtClean="0"/>
              <a:t> </a:t>
            </a:r>
            <a:r>
              <a:rPr lang="en-US" sz="2200" dirty="0" err="1" smtClean="0"/>
              <a:t>ra</a:t>
            </a:r>
            <a:r>
              <a:rPr lang="en-US" sz="2200" dirty="0" smtClean="0"/>
              <a:t> </a:t>
            </a:r>
            <a:r>
              <a:rPr lang="en-US" sz="2200" dirty="0" err="1" smtClean="0"/>
              <a:t>màn</a:t>
            </a:r>
            <a:r>
              <a:rPr lang="en-US" sz="2200" dirty="0" smtClean="0"/>
              <a:t> </a:t>
            </a:r>
            <a:r>
              <a:rPr lang="en-US" sz="2200" dirty="0" err="1" smtClean="0"/>
              <a:t>hình</a:t>
            </a:r>
            <a:r>
              <a:rPr lang="en-US" sz="2200" dirty="0" smtClean="0"/>
              <a:t>:		</a:t>
            </a:r>
            <a:r>
              <a:rPr lang="en-US" sz="2200" dirty="0" err="1" smtClean="0"/>
              <a:t>fprintf</a:t>
            </a:r>
            <a:r>
              <a:rPr lang="en-US" sz="2200" dirty="0" smtClean="0"/>
              <a:t>(</a:t>
            </a:r>
            <a:r>
              <a:rPr lang="en-US" sz="2200" dirty="0" err="1" smtClean="0">
                <a:solidFill>
                  <a:srgbClr val="FF0000"/>
                </a:solidFill>
              </a:rPr>
              <a:t>stdout</a:t>
            </a:r>
            <a:r>
              <a:rPr lang="en-US" sz="2200" dirty="0" smtClean="0"/>
              <a:t>, “Hello”);</a:t>
            </a:r>
          </a:p>
          <a:p>
            <a:pPr lvl="1">
              <a:defRPr/>
            </a:pPr>
            <a:r>
              <a:rPr lang="en-US" sz="2200" dirty="0" err="1" smtClean="0"/>
              <a:t>Xuất</a:t>
            </a:r>
            <a:r>
              <a:rPr lang="en-US" sz="2200" dirty="0" smtClean="0"/>
              <a:t> </a:t>
            </a:r>
            <a:r>
              <a:rPr lang="en-US" sz="2200" dirty="0" err="1" smtClean="0"/>
              <a:t>ra</a:t>
            </a:r>
            <a:r>
              <a:rPr lang="en-US" sz="2200" dirty="0" smtClean="0"/>
              <a:t> </a:t>
            </a:r>
            <a:r>
              <a:rPr lang="en-US" sz="2200" dirty="0" err="1" smtClean="0"/>
              <a:t>máy</a:t>
            </a:r>
            <a:r>
              <a:rPr lang="en-US" sz="2200" dirty="0" smtClean="0"/>
              <a:t> in:			</a:t>
            </a:r>
            <a:r>
              <a:rPr lang="en-US" sz="2200" dirty="0" err="1" smtClean="0"/>
              <a:t>fprintf</a:t>
            </a:r>
            <a:r>
              <a:rPr lang="en-US" sz="2200" dirty="0" smtClean="0"/>
              <a:t>(</a:t>
            </a:r>
            <a:r>
              <a:rPr lang="en-US" sz="2200" dirty="0" err="1" smtClean="0">
                <a:solidFill>
                  <a:srgbClr val="FF0000"/>
                </a:solidFill>
              </a:rPr>
              <a:t>stdprn</a:t>
            </a:r>
            <a:r>
              <a:rPr lang="en-US" sz="2200" dirty="0" smtClean="0"/>
              <a:t>, “Hello”);</a:t>
            </a:r>
          </a:p>
          <a:p>
            <a:pPr lvl="1">
              <a:defRPr/>
            </a:pPr>
            <a:r>
              <a:rPr lang="en-US" sz="2200" dirty="0" err="1" smtClean="0"/>
              <a:t>Xuất</a:t>
            </a:r>
            <a:r>
              <a:rPr lang="en-US" sz="2200" dirty="0" smtClean="0"/>
              <a:t> </a:t>
            </a:r>
            <a:r>
              <a:rPr lang="en-US" sz="2200" dirty="0" err="1" smtClean="0"/>
              <a:t>ra</a:t>
            </a:r>
            <a:r>
              <a:rPr lang="en-US" sz="2200" dirty="0" smtClean="0"/>
              <a:t> </a:t>
            </a:r>
            <a:r>
              <a:rPr lang="en-US" sz="2200" dirty="0" err="1" smtClean="0"/>
              <a:t>thiết</a:t>
            </a:r>
            <a:r>
              <a:rPr lang="en-US" sz="2200" dirty="0" smtClean="0"/>
              <a:t> </a:t>
            </a:r>
            <a:r>
              <a:rPr lang="en-US" sz="2200" dirty="0" err="1" smtClean="0"/>
              <a:t>bị</a:t>
            </a:r>
            <a:r>
              <a:rPr lang="en-US" sz="2200" dirty="0" smtClean="0"/>
              <a:t> </a:t>
            </a:r>
            <a:r>
              <a:rPr lang="en-US" sz="2200" dirty="0" err="1" smtClean="0"/>
              <a:t>báo</a:t>
            </a:r>
            <a:r>
              <a:rPr lang="en-US" sz="2200" dirty="0" smtClean="0"/>
              <a:t> </a:t>
            </a:r>
            <a:r>
              <a:rPr lang="en-US" sz="2200" dirty="0" err="1" smtClean="0"/>
              <a:t>lỗi</a:t>
            </a:r>
            <a:r>
              <a:rPr lang="en-US" sz="2200" dirty="0" smtClean="0"/>
              <a:t>:		</a:t>
            </a:r>
            <a:r>
              <a:rPr lang="en-US" sz="2200" dirty="0" err="1" smtClean="0"/>
              <a:t>fprintf</a:t>
            </a:r>
            <a:r>
              <a:rPr lang="en-US" sz="2200" dirty="0" smtClean="0"/>
              <a:t>(</a:t>
            </a:r>
            <a:r>
              <a:rPr lang="en-US" sz="2200" dirty="0" err="1" smtClean="0">
                <a:solidFill>
                  <a:srgbClr val="FF0000"/>
                </a:solidFill>
              </a:rPr>
              <a:t>stderr</a:t>
            </a:r>
            <a:r>
              <a:rPr lang="en-US" sz="2200" dirty="0" smtClean="0"/>
              <a:t>, “Hello”);</a:t>
            </a:r>
          </a:p>
          <a:p>
            <a:pPr lvl="1">
              <a:defRPr/>
            </a:pPr>
            <a:r>
              <a:rPr lang="en-US" sz="2200" dirty="0" err="1" smtClean="0"/>
              <a:t>Xuất</a:t>
            </a:r>
            <a:r>
              <a:rPr lang="en-US" sz="2200" dirty="0" smtClean="0"/>
              <a:t> </a:t>
            </a:r>
            <a:r>
              <a:rPr lang="en-US" sz="2200" dirty="0" err="1" smtClean="0"/>
              <a:t>ra</a:t>
            </a:r>
            <a:r>
              <a:rPr lang="en-US" sz="2200" dirty="0" smtClean="0"/>
              <a:t> </a:t>
            </a:r>
            <a:r>
              <a:rPr lang="en-US" sz="2200" dirty="0" err="1" smtClean="0"/>
              <a:t>tập</a:t>
            </a:r>
            <a:r>
              <a:rPr lang="en-US" sz="2200" dirty="0" smtClean="0"/>
              <a:t> tin (stream </a:t>
            </a:r>
            <a:r>
              <a:rPr lang="en-US" sz="2200" dirty="0" err="1" smtClean="0">
                <a:solidFill>
                  <a:srgbClr val="FF0000"/>
                </a:solidFill>
              </a:rPr>
              <a:t>fp</a:t>
            </a:r>
            <a:r>
              <a:rPr lang="en-US" sz="2200" dirty="0" smtClean="0"/>
              <a:t>):	</a:t>
            </a:r>
            <a:r>
              <a:rPr lang="en-US" sz="2200" dirty="0" err="1" smtClean="0"/>
              <a:t>fprintf</a:t>
            </a:r>
            <a:r>
              <a:rPr lang="en-US" sz="2200" dirty="0" smtClean="0"/>
              <a:t>(</a:t>
            </a:r>
            <a:r>
              <a:rPr lang="en-US" sz="2200" dirty="0" err="1" smtClean="0">
                <a:solidFill>
                  <a:srgbClr val="FF0000"/>
                </a:solidFill>
              </a:rPr>
              <a:t>fp</a:t>
            </a:r>
            <a:r>
              <a:rPr lang="en-US" sz="2200" dirty="0" smtClean="0"/>
              <a:t>, “Hello”);</a:t>
            </a:r>
            <a:endParaRPr lang="en-US" sz="2200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073275"/>
          <a:ext cx="6645275" cy="2194404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281773"/>
                <a:gridCol w="1629248"/>
                <a:gridCol w="2734254"/>
              </a:tblGrid>
              <a:tr h="365654">
                <a:tc>
                  <a:txBody>
                    <a:bodyPr/>
                    <a:lstStyle/>
                    <a:p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Tên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9" marR="9144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Stream</a:t>
                      </a:r>
                    </a:p>
                  </a:txBody>
                  <a:tcPr marL="91449" marR="9144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Thiết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bị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t</a:t>
                      </a:r>
                      <a:r>
                        <a:rPr lang="vi-VN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ươ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ng</a:t>
                      </a:r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ứng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9" marR="91449"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stdin</a:t>
                      </a:r>
                      <a:endParaRPr lang="en-US" sz="1800" dirty="0"/>
                    </a:p>
                  </a:txBody>
                  <a:tcPr marL="91449" marR="9144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Nhập chuẩn</a:t>
                      </a:r>
                      <a:endParaRPr lang="en-US" sz="1800"/>
                    </a:p>
                  </a:txBody>
                  <a:tcPr marL="91449" marR="9144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Bài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phím</a:t>
                      </a:r>
                      <a:endParaRPr lang="en-US" sz="1800" dirty="0"/>
                    </a:p>
                  </a:txBody>
                  <a:tcPr marL="91449" marR="91449"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stdout</a:t>
                      </a:r>
                      <a:endParaRPr lang="en-US" sz="1800" dirty="0"/>
                    </a:p>
                  </a:txBody>
                  <a:tcPr marL="91449" marR="9144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Xuất chuẩn</a:t>
                      </a:r>
                      <a:endParaRPr lang="en-US" sz="1800"/>
                    </a:p>
                  </a:txBody>
                  <a:tcPr marL="91449" marR="9144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Màn hình</a:t>
                      </a:r>
                      <a:endParaRPr lang="en-US" sz="1800"/>
                    </a:p>
                  </a:txBody>
                  <a:tcPr marL="91449" marR="91449"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smtClean="0"/>
                        <a:t>stderr</a:t>
                      </a:r>
                      <a:endParaRPr lang="en-US" sz="1800"/>
                    </a:p>
                  </a:txBody>
                  <a:tcPr marL="91449" marR="9144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Lỗi chuẩn</a:t>
                      </a:r>
                      <a:endParaRPr lang="en-US" sz="1800"/>
                    </a:p>
                  </a:txBody>
                  <a:tcPr marL="91449" marR="9144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Màn hình</a:t>
                      </a:r>
                      <a:endParaRPr lang="en-US" sz="1800"/>
                    </a:p>
                  </a:txBody>
                  <a:tcPr marL="91449" marR="91449"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smtClean="0"/>
                        <a:t>stdprn (MS-DOS)</a:t>
                      </a:r>
                      <a:endParaRPr lang="en-US" sz="1800"/>
                    </a:p>
                  </a:txBody>
                  <a:tcPr marL="91449" marR="9144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In chuẩn</a:t>
                      </a:r>
                      <a:endParaRPr lang="en-US" sz="1800"/>
                    </a:p>
                  </a:txBody>
                  <a:tcPr marL="91449" marR="91449" marT="45707" marB="4570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smtClean="0"/>
                        <a:t>Máy in (LPT1:)</a:t>
                      </a:r>
                      <a:endParaRPr lang="en-US" sz="1800"/>
                    </a:p>
                  </a:txBody>
                  <a:tcPr marL="91449" marR="91449" marT="45707" marB="45707"/>
                </a:tc>
              </a:tr>
              <a:tr h="365654"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stdaux</a:t>
                      </a:r>
                      <a:r>
                        <a:rPr lang="en-US" sz="1800" dirty="0" smtClean="0"/>
                        <a:t> (MS-DOS)</a:t>
                      </a:r>
                      <a:endParaRPr lang="en-US" sz="1800" dirty="0"/>
                    </a:p>
                  </a:txBody>
                  <a:tcPr marL="91449" marR="91449" marT="45707" marB="45707"/>
                </a:tc>
                <a:tc>
                  <a:txBody>
                    <a:bodyPr/>
                    <a:lstStyle/>
                    <a:p>
                      <a:r>
                        <a:rPr lang="en-US" sz="1800" smtClean="0"/>
                        <a:t>Phụ chuẩn</a:t>
                      </a:r>
                      <a:endParaRPr lang="en-US" sz="1800"/>
                    </a:p>
                  </a:txBody>
                  <a:tcPr marL="91449" marR="91449" marT="45707" marB="45707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/>
                        <a:t>Cổng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nối</a:t>
                      </a:r>
                      <a:r>
                        <a:rPr lang="en-US" sz="1800" dirty="0" smtClean="0"/>
                        <a:t> </a:t>
                      </a:r>
                      <a:r>
                        <a:rPr lang="en-US" sz="1800" dirty="0" err="1" smtClean="0"/>
                        <a:t>tiếp</a:t>
                      </a:r>
                      <a:r>
                        <a:rPr lang="en-US" sz="1800" dirty="0" smtClean="0"/>
                        <a:t> COM 1:</a:t>
                      </a:r>
                      <a:endParaRPr lang="en-US" sz="1800" dirty="0"/>
                    </a:p>
                  </a:txBody>
                  <a:tcPr marL="91449" marR="91449" marT="45707" marB="45707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Tập tin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Nhu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cầu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hạn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trữ</a:t>
            </a:r>
            <a:r>
              <a:rPr lang="en-US" dirty="0" smtClean="0"/>
              <a:t> </a:t>
            </a:r>
            <a:r>
              <a:rPr lang="en-US" dirty="0" err="1" smtClean="0"/>
              <a:t>tạm</a:t>
            </a:r>
            <a:r>
              <a:rPr lang="en-US" dirty="0" smtClean="0"/>
              <a:t> </a:t>
            </a:r>
            <a:r>
              <a:rPr lang="en-US" dirty="0" err="1" smtClean="0"/>
              <a:t>thời</a:t>
            </a:r>
            <a:endParaRPr lang="en-US" dirty="0" smtClean="0"/>
          </a:p>
          <a:p>
            <a:pPr lvl="2"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Nhập</a:t>
            </a:r>
            <a:r>
              <a:rPr lang="en-US" dirty="0" smtClean="0"/>
              <a:t>: </a:t>
            </a:r>
            <a:r>
              <a:rPr lang="en-US" dirty="0" err="1" smtClean="0"/>
              <a:t>gõ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bàn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phím</a:t>
            </a:r>
            <a:r>
              <a:rPr lang="en-US" dirty="0" smtClean="0"/>
              <a:t>.</a:t>
            </a:r>
          </a:p>
          <a:p>
            <a:pPr lvl="2"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Xuất</a:t>
            </a:r>
            <a:r>
              <a:rPr lang="en-US" dirty="0" smtClean="0"/>
              <a:t>: </a:t>
            </a:r>
            <a:r>
              <a:rPr lang="en-US" dirty="0" err="1" smtClean="0"/>
              <a:t>hiển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màn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hình</a:t>
            </a:r>
            <a:r>
              <a:rPr lang="en-US" dirty="0" smtClean="0"/>
              <a:t>.</a:t>
            </a:r>
          </a:p>
          <a:p>
            <a:pPr lvl="2"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Lưu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trữ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dữ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liệu</a:t>
            </a:r>
            <a:r>
              <a:rPr lang="en-US" dirty="0" smtClean="0"/>
              <a:t>: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bộ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nhớ</a:t>
            </a:r>
            <a:r>
              <a:rPr lang="en-US" dirty="0" smtClean="0">
                <a:solidFill>
                  <a:srgbClr val="FF0000"/>
                </a:solidFill>
              </a:rPr>
              <a:t> RAM</a:t>
            </a:r>
            <a:r>
              <a:rPr lang="en-US" dirty="0" smtClean="0"/>
              <a:t>.</a:t>
            </a:r>
            <a:endParaRPr lang="en-US" dirty="0" smtClean="0">
              <a:sym typeface="Wingdings"/>
            </a:endParaRPr>
          </a:p>
          <a:p>
            <a:pPr lvl="1">
              <a:buFont typeface="Wingdings" pitchFamily="2" charset="2"/>
              <a:buNone/>
              <a:defRPr/>
            </a:pPr>
            <a:r>
              <a:rPr lang="en-US" dirty="0" smtClean="0">
                <a:sym typeface="Wingdings" pitchFamily="2" charset="2"/>
              </a:rPr>
              <a:t>	 </a:t>
            </a:r>
            <a:r>
              <a:rPr lang="en-US" dirty="0" err="1" smtClean="0">
                <a:sym typeface="Wingdings"/>
              </a:rPr>
              <a:t>Mất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thời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gian</a:t>
            </a:r>
            <a:r>
              <a:rPr lang="en-US" dirty="0" smtClean="0">
                <a:sym typeface="Wingdings"/>
              </a:rPr>
              <a:t>, </a:t>
            </a:r>
            <a:r>
              <a:rPr lang="en-US" dirty="0" err="1" smtClean="0">
                <a:sym typeface="Wingdings"/>
              </a:rPr>
              <a:t>không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giải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quyết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được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bài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toán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với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số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dữ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liệu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lớn</a:t>
            </a:r>
            <a:r>
              <a:rPr lang="en-US" dirty="0" smtClean="0">
                <a:sym typeface="Wingdings"/>
              </a:rPr>
              <a:t>.</a:t>
            </a:r>
          </a:p>
          <a:p>
            <a:pPr lvl="1">
              <a:defRPr/>
            </a:pPr>
            <a:r>
              <a:rPr lang="en-US" dirty="0" err="1" smtClean="0">
                <a:sym typeface="Wingdings"/>
              </a:rPr>
              <a:t>Cần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một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thiết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bị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lưu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trữ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sao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cho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dữ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liệu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/>
              </a:rPr>
              <a:t>vẫn</a:t>
            </a:r>
            <a:r>
              <a:rPr lang="en-US" dirty="0" smtClean="0">
                <a:solidFill>
                  <a:srgbClr val="FF0000"/>
                </a:solidFill>
                <a:sym typeface="Wingding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/>
              </a:rPr>
              <a:t>còn</a:t>
            </a:r>
            <a:r>
              <a:rPr lang="en-US" dirty="0" smtClean="0">
                <a:solidFill>
                  <a:srgbClr val="FF0000"/>
                </a:solidFill>
                <a:sym typeface="Wingding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/>
              </a:rPr>
              <a:t>khi</a:t>
            </a:r>
            <a:r>
              <a:rPr lang="en-US" dirty="0" smtClean="0">
                <a:solidFill>
                  <a:srgbClr val="FF0000"/>
                </a:solidFill>
                <a:sym typeface="Wingding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/>
              </a:rPr>
              <a:t>kết</a:t>
            </a:r>
            <a:r>
              <a:rPr lang="en-US" dirty="0" smtClean="0">
                <a:solidFill>
                  <a:srgbClr val="FF0000"/>
                </a:solidFill>
                <a:sym typeface="Wingding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/>
              </a:rPr>
              <a:t>thúc</a:t>
            </a:r>
            <a:r>
              <a:rPr lang="en-US" dirty="0" smtClean="0">
                <a:solidFill>
                  <a:srgbClr val="FF0000"/>
                </a:solidFill>
                <a:sym typeface="Wingding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/>
              </a:rPr>
              <a:t>chương</a:t>
            </a:r>
            <a:r>
              <a:rPr lang="en-US" dirty="0" smtClean="0">
                <a:solidFill>
                  <a:srgbClr val="FF0000"/>
                </a:solidFill>
                <a:sym typeface="Wingding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/>
              </a:rPr>
              <a:t>trình</a:t>
            </a:r>
            <a:r>
              <a:rPr lang="en-US" dirty="0" smtClean="0">
                <a:sym typeface="Wingdings"/>
              </a:rPr>
              <a:t>, </a:t>
            </a:r>
            <a:r>
              <a:rPr lang="en-US" dirty="0" err="1" smtClean="0">
                <a:sym typeface="Wingdings"/>
              </a:rPr>
              <a:t>có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thể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/>
              </a:rPr>
              <a:t>sử</a:t>
            </a:r>
            <a:r>
              <a:rPr lang="en-US" dirty="0" smtClean="0">
                <a:solidFill>
                  <a:srgbClr val="FF0000"/>
                </a:solidFill>
                <a:sym typeface="Wingding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/>
              </a:rPr>
              <a:t>dụng</a:t>
            </a:r>
            <a:r>
              <a:rPr lang="en-US" dirty="0" smtClean="0">
                <a:solidFill>
                  <a:srgbClr val="FF0000"/>
                </a:solidFill>
                <a:sym typeface="Wingding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/>
              </a:rPr>
              <a:t>nhiều</a:t>
            </a:r>
            <a:r>
              <a:rPr lang="en-US" dirty="0" smtClean="0">
                <a:solidFill>
                  <a:srgbClr val="FF0000"/>
                </a:solidFill>
                <a:sym typeface="Wingdings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/>
              </a:rPr>
              <a:t>lần</a:t>
            </a:r>
            <a:r>
              <a:rPr lang="en-US" dirty="0" smtClean="0">
                <a:sym typeface="Wingdings"/>
              </a:rPr>
              <a:t> </a:t>
            </a:r>
            <a:r>
              <a:rPr lang="en-US" dirty="0" err="1" smtClean="0">
                <a:sym typeface="Wingdings"/>
              </a:rPr>
              <a:t>và</a:t>
            </a:r>
            <a:r>
              <a:rPr lang="en-US" dirty="0" smtClean="0">
                <a:sym typeface="Wingdings"/>
              </a:rPr>
              <a:t> </a:t>
            </a:r>
            <a:r>
              <a:rPr lang="en-US" dirty="0" smtClean="0">
                <a:solidFill>
                  <a:srgbClr val="FF0000"/>
                </a:solidFill>
                <a:sym typeface="Wingdings"/>
              </a:rPr>
              <a:t>k</a:t>
            </a:r>
            <a:r>
              <a:rPr lang="vi-VN" dirty="0" smtClean="0">
                <a:solidFill>
                  <a:srgbClr val="FF0000"/>
                </a:solidFill>
              </a:rPr>
              <a:t>ích thước không hạn chế</a:t>
            </a:r>
            <a:r>
              <a:rPr lang="en-US" dirty="0" smtClean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Tập tin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Khái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niệm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Tập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hợp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thông</a:t>
            </a:r>
            <a:r>
              <a:rPr lang="en-US" dirty="0" smtClean="0">
                <a:solidFill>
                  <a:srgbClr val="FF0000"/>
                </a:solidFill>
              </a:rPr>
              <a:t> tin</a:t>
            </a:r>
            <a:r>
              <a:rPr lang="en-US" dirty="0" smtClean="0"/>
              <a:t> (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)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tổ</a:t>
            </a:r>
            <a:r>
              <a:rPr lang="en-US" dirty="0" smtClean="0"/>
              <a:t> </a:t>
            </a:r>
            <a:r>
              <a:rPr lang="en-US" dirty="0" err="1" smtClean="0"/>
              <a:t>chức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.</a:t>
            </a:r>
          </a:p>
          <a:p>
            <a:pPr lvl="1">
              <a:defRPr/>
            </a:pP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dãy</a:t>
            </a:r>
            <a:r>
              <a:rPr lang="en-US" dirty="0" smtClean="0">
                <a:solidFill>
                  <a:srgbClr val="FF0000"/>
                </a:solidFill>
              </a:rPr>
              <a:t> byte </a:t>
            </a:r>
            <a:r>
              <a:rPr lang="en-US" dirty="0" err="1" smtClean="0">
                <a:solidFill>
                  <a:srgbClr val="FF0000"/>
                </a:solidFill>
              </a:rPr>
              <a:t>liên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tục</a:t>
            </a:r>
            <a:r>
              <a:rPr lang="en-US" dirty="0" smtClean="0"/>
              <a:t> (ở </a:t>
            </a:r>
            <a:r>
              <a:rPr lang="en-US" dirty="0" err="1" smtClean="0"/>
              <a:t>góc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trữ</a:t>
            </a:r>
            <a:r>
              <a:rPr lang="en-US" dirty="0" smtClean="0"/>
              <a:t>).</a:t>
            </a:r>
          </a:p>
          <a:p>
            <a:pPr lvl="1">
              <a:defRPr/>
            </a:pP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trữ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trữ</a:t>
            </a:r>
            <a:r>
              <a:rPr lang="en-US" dirty="0" smtClean="0"/>
              <a:t> </a:t>
            </a:r>
            <a:r>
              <a:rPr lang="en-US" dirty="0" err="1" smtClean="0"/>
              <a:t>ngoài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đĩa</a:t>
            </a:r>
            <a:r>
              <a:rPr lang="en-US" dirty="0" smtClean="0"/>
              <a:t> </a:t>
            </a:r>
            <a:r>
              <a:rPr lang="en-US" dirty="0" err="1" smtClean="0"/>
              <a:t>mềm</a:t>
            </a:r>
            <a:r>
              <a:rPr lang="en-US" dirty="0" smtClean="0"/>
              <a:t>, </a:t>
            </a:r>
            <a:r>
              <a:rPr lang="en-US" dirty="0" err="1" smtClean="0"/>
              <a:t>đĩa</a:t>
            </a:r>
            <a:r>
              <a:rPr lang="en-US" dirty="0" smtClean="0"/>
              <a:t> </a:t>
            </a:r>
            <a:r>
              <a:rPr lang="en-US" dirty="0" err="1" smtClean="0"/>
              <a:t>cứng</a:t>
            </a:r>
            <a:r>
              <a:rPr lang="en-US" dirty="0" smtClean="0"/>
              <a:t>, USB…</a:t>
            </a:r>
          </a:p>
          <a:p>
            <a:pPr lvl="2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Vẫn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tồn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tại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khi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chương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trình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kết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thúc</a:t>
            </a:r>
            <a:r>
              <a:rPr lang="en-US" dirty="0" smtClean="0"/>
              <a:t>.</a:t>
            </a:r>
          </a:p>
          <a:p>
            <a:pPr lvl="2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Kích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thước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không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hạn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chế</a:t>
            </a:r>
            <a:r>
              <a:rPr lang="en-US" dirty="0" smtClean="0"/>
              <a:t> (</a:t>
            </a:r>
            <a:r>
              <a:rPr lang="en-US" dirty="0" err="1" smtClean="0"/>
              <a:t>tùy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thiết</a:t>
            </a:r>
            <a:r>
              <a:rPr lang="en-US" dirty="0" smtClean="0"/>
              <a:t> </a:t>
            </a:r>
            <a:r>
              <a:rPr lang="en-US" dirty="0" err="1" smtClean="0"/>
              <a:t>bị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</a:t>
            </a:r>
            <a:r>
              <a:rPr lang="en-US" dirty="0" err="1" smtClean="0"/>
              <a:t>trữ</a:t>
            </a:r>
            <a:r>
              <a:rPr lang="en-US" dirty="0" smtClean="0"/>
              <a:t>) </a:t>
            </a:r>
          </a:p>
          <a:p>
            <a:pPr lvl="1">
              <a:defRPr/>
            </a:pPr>
            <a:r>
              <a:rPr lang="en-US" dirty="0" smtClean="0"/>
              <a:t>Cho </a:t>
            </a:r>
            <a:r>
              <a:rPr lang="en-US" dirty="0" err="1" smtClean="0"/>
              <a:t>phép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(</a:t>
            </a:r>
            <a:r>
              <a:rPr lang="en-US" dirty="0" err="1" smtClean="0">
                <a:solidFill>
                  <a:srgbClr val="FF0000"/>
                </a:solidFill>
              </a:rPr>
              <a:t>thiết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bị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nhập</a:t>
            </a:r>
            <a:r>
              <a:rPr lang="en-US" dirty="0" smtClean="0"/>
              <a:t>)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(</a:t>
            </a:r>
            <a:r>
              <a:rPr lang="en-US" dirty="0" err="1" smtClean="0">
                <a:solidFill>
                  <a:srgbClr val="FF0000"/>
                </a:solidFill>
              </a:rPr>
              <a:t>thiết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bị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xuất</a:t>
            </a:r>
            <a:r>
              <a:rPr lang="en-US" dirty="0" smtClean="0"/>
              <a:t>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Tập tin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Phân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loại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dirty="0" smtClean="0">
                <a:solidFill>
                  <a:srgbClr val="FF0000"/>
                </a:solidFill>
              </a:rPr>
              <a:t>Theo </a:t>
            </a:r>
            <a:r>
              <a:rPr lang="en-US" dirty="0" err="1" smtClean="0">
                <a:solidFill>
                  <a:srgbClr val="FF0000"/>
                </a:solidFill>
              </a:rPr>
              <a:t>ng</a:t>
            </a:r>
            <a:r>
              <a:rPr lang="vi-VN" dirty="0" smtClean="0">
                <a:solidFill>
                  <a:srgbClr val="FF0000"/>
                </a:solidFill>
              </a:rPr>
              <a:t>ườ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sử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dụng</a:t>
            </a:r>
            <a:r>
              <a:rPr lang="en-US" dirty="0" smtClean="0"/>
              <a:t>: </a:t>
            </a:r>
            <a:r>
              <a:rPr lang="en-US" dirty="0" err="1" smtClean="0"/>
              <a:t>quan</a:t>
            </a:r>
            <a:r>
              <a:rPr lang="en-US" dirty="0" smtClean="0"/>
              <a:t> </a:t>
            </a:r>
            <a:r>
              <a:rPr lang="en-US" dirty="0" err="1" smtClean="0"/>
              <a:t>tâm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nội</a:t>
            </a:r>
            <a:r>
              <a:rPr lang="en-US" dirty="0" smtClean="0"/>
              <a:t> dung</a:t>
            </a:r>
            <a:br>
              <a:rPr lang="en-US" dirty="0" smtClean="0"/>
            </a:b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rộng</a:t>
            </a:r>
            <a:endParaRPr lang="en-US" dirty="0" smtClean="0"/>
          </a:p>
          <a:p>
            <a:pPr lvl="1">
              <a:buFont typeface="Wingdings" pitchFamily="2" charset="2"/>
              <a:buNone/>
              <a:defRPr/>
            </a:pPr>
            <a:r>
              <a:rPr lang="en-US" dirty="0" smtClean="0">
                <a:sym typeface="Wingdings" pitchFamily="2" charset="2"/>
              </a:rPr>
              <a:t>	 </a:t>
            </a:r>
            <a:r>
              <a:rPr lang="en-US" dirty="0" smtClean="0"/>
              <a:t>.</a:t>
            </a:r>
            <a:r>
              <a:rPr lang="en-US" dirty="0" smtClean="0">
                <a:solidFill>
                  <a:srgbClr val="FF0000"/>
                </a:solidFill>
              </a:rPr>
              <a:t>EXE</a:t>
            </a:r>
            <a:r>
              <a:rPr lang="en-US" dirty="0" smtClean="0"/>
              <a:t>, .</a:t>
            </a:r>
            <a:r>
              <a:rPr lang="en-US" dirty="0" smtClean="0">
                <a:solidFill>
                  <a:srgbClr val="FF0000"/>
                </a:solidFill>
              </a:rPr>
              <a:t>COM</a:t>
            </a:r>
            <a:r>
              <a:rPr lang="en-US" dirty="0" smtClean="0"/>
              <a:t>, .</a:t>
            </a:r>
            <a:r>
              <a:rPr lang="en-US" dirty="0" smtClean="0">
                <a:solidFill>
                  <a:srgbClr val="FF0000"/>
                </a:solidFill>
              </a:rPr>
              <a:t>CPP</a:t>
            </a:r>
            <a:r>
              <a:rPr lang="en-US" dirty="0" smtClean="0"/>
              <a:t>, .</a:t>
            </a:r>
            <a:r>
              <a:rPr lang="en-US" dirty="0" smtClean="0">
                <a:solidFill>
                  <a:srgbClr val="FF0000"/>
                </a:solidFill>
              </a:rPr>
              <a:t>DOC</a:t>
            </a:r>
            <a:r>
              <a:rPr lang="en-US" dirty="0" smtClean="0"/>
              <a:t>, .</a:t>
            </a:r>
            <a:r>
              <a:rPr lang="en-US" dirty="0" smtClean="0">
                <a:solidFill>
                  <a:srgbClr val="FF0000"/>
                </a:solidFill>
              </a:rPr>
              <a:t>PPT</a:t>
            </a:r>
            <a:r>
              <a:rPr lang="en-US" dirty="0" smtClean="0"/>
              <a:t>, …</a:t>
            </a:r>
          </a:p>
          <a:p>
            <a:pPr lvl="1">
              <a:defRPr/>
            </a:pPr>
            <a:r>
              <a:rPr lang="en-US" dirty="0" smtClean="0">
                <a:solidFill>
                  <a:srgbClr val="FF0000"/>
                </a:solidFill>
              </a:rPr>
              <a:t>Theo </a:t>
            </a:r>
            <a:r>
              <a:rPr lang="en-US" dirty="0" err="1" smtClean="0">
                <a:solidFill>
                  <a:srgbClr val="FF0000"/>
                </a:solidFill>
              </a:rPr>
              <a:t>ng</a:t>
            </a:r>
            <a:r>
              <a:rPr lang="vi-VN" dirty="0" smtClean="0">
                <a:solidFill>
                  <a:srgbClr val="FF0000"/>
                </a:solidFill>
              </a:rPr>
              <a:t>ườ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lập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trình</a:t>
            </a:r>
            <a:r>
              <a:rPr lang="en-US" dirty="0" smtClean="0"/>
              <a:t>: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stream </a:t>
            </a:r>
            <a:r>
              <a:rPr lang="en-US" dirty="0" err="1" smtClean="0"/>
              <a:t>tường</a:t>
            </a:r>
            <a:r>
              <a:rPr lang="en-US" dirty="0" smtClean="0"/>
              <a:t> minh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phân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stream </a:t>
            </a:r>
            <a:r>
              <a:rPr lang="en-US" dirty="0" err="1" smtClean="0"/>
              <a:t>trong</a:t>
            </a:r>
            <a:r>
              <a:rPr lang="en-US" dirty="0" smtClean="0"/>
              <a:t> C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dirty="0" smtClean="0">
                <a:sym typeface="Wingdings" pitchFamily="2" charset="2"/>
              </a:rPr>
              <a:t>	 </a:t>
            </a:r>
            <a:r>
              <a:rPr lang="en-US" dirty="0" err="1" smtClean="0">
                <a:solidFill>
                  <a:srgbClr val="FF0000"/>
                </a:solidFill>
                <a:sym typeface="Wingdings" pitchFamily="2" charset="2"/>
              </a:rPr>
              <a:t>tập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 tin </a:t>
            </a:r>
            <a:r>
              <a:rPr lang="en-US" dirty="0" err="1" smtClean="0">
                <a:solidFill>
                  <a:srgbClr val="FF0000"/>
                </a:solidFill>
                <a:sym typeface="Wingdings" pitchFamily="2" charset="2"/>
              </a:rPr>
              <a:t>kiểu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 v</a:t>
            </a:r>
            <a:r>
              <a:rPr lang="vi-VN" dirty="0" smtClean="0">
                <a:solidFill>
                  <a:srgbClr val="FF0000"/>
                </a:solidFill>
                <a:sym typeface="Wingdings" pitchFamily="2" charset="2"/>
              </a:rPr>
              <a:t>ă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n </a:t>
            </a:r>
            <a:r>
              <a:rPr lang="en-US" dirty="0" err="1" smtClean="0">
                <a:solidFill>
                  <a:srgbClr val="FF0000"/>
                </a:solidFill>
                <a:sym typeface="Wingdings" pitchFamily="2" charset="2"/>
              </a:rPr>
              <a:t>bản</a:t>
            </a:r>
            <a:r>
              <a:rPr lang="en-US" dirty="0" smtClean="0">
                <a:sym typeface="Wingdings" pitchFamily="2" charset="2"/>
              </a:rPr>
              <a:t> (</a:t>
            </a:r>
            <a:r>
              <a:rPr lang="en-US" dirty="0" err="1" smtClean="0">
                <a:sym typeface="Wingdings" pitchFamily="2" charset="2"/>
              </a:rPr>
              <a:t>ứng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với</a:t>
            </a:r>
            <a:r>
              <a:rPr lang="en-US" dirty="0" smtClean="0">
                <a:sym typeface="Wingdings" pitchFamily="2" charset="2"/>
              </a:rPr>
              <a:t> stream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err="1" smtClean="0">
                <a:sym typeface="Wingdings" pitchFamily="2" charset="2"/>
              </a:rPr>
              <a:t>văn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bản</a:t>
            </a:r>
            <a:r>
              <a:rPr lang="en-US" dirty="0" smtClean="0">
                <a:sym typeface="Wingdings" pitchFamily="2" charset="2"/>
              </a:rPr>
              <a:t>) </a:t>
            </a:r>
            <a:r>
              <a:rPr lang="en-US" dirty="0" err="1" smtClean="0">
                <a:sym typeface="Wingdings" pitchFamily="2" charset="2"/>
              </a:rPr>
              <a:t>và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 pitchFamily="2" charset="2"/>
              </a:rPr>
              <a:t>tập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 tin </a:t>
            </a:r>
            <a:r>
              <a:rPr lang="en-US" dirty="0" err="1" smtClean="0">
                <a:solidFill>
                  <a:srgbClr val="FF0000"/>
                </a:solidFill>
                <a:sym typeface="Wingdings" pitchFamily="2" charset="2"/>
              </a:rPr>
              <a:t>kiểu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 pitchFamily="2" charset="2"/>
              </a:rPr>
              <a:t>nhị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 pitchFamily="2" charset="2"/>
              </a:rPr>
              <a:t>phân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smtClean="0">
                <a:sym typeface="Wingdings" pitchFamily="2" charset="2"/>
              </a:rPr>
              <a:t>(</a:t>
            </a:r>
            <a:r>
              <a:rPr lang="en-US" dirty="0" err="1" smtClean="0">
                <a:sym typeface="Wingdings" pitchFamily="2" charset="2"/>
              </a:rPr>
              <a:t>ứng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với</a:t>
            </a:r>
            <a:r>
              <a:rPr lang="en-US" dirty="0" smtClean="0">
                <a:sym typeface="Wingdings" pitchFamily="2" charset="2"/>
              </a:rPr>
              <a:t> stream </a:t>
            </a:r>
            <a:r>
              <a:rPr lang="en-US" dirty="0" err="1" smtClean="0">
                <a:sym typeface="Wingdings" pitchFamily="2" charset="2"/>
              </a:rPr>
              <a:t>nhị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phân</a:t>
            </a:r>
            <a:r>
              <a:rPr lang="en-US" dirty="0" smtClean="0">
                <a:sym typeface="Wingdings" pitchFamily="2" charset="2"/>
              </a:rPr>
              <a:t>).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Phân loại tập tin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Tập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tin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kiểu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văn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bản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(stream v</a:t>
            </a:r>
            <a:r>
              <a:rPr lang="vi-VN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ă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bản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)</a:t>
            </a:r>
          </a:p>
          <a:p>
            <a:pPr lvl="1">
              <a:defRPr/>
            </a:pPr>
            <a:r>
              <a:rPr lang="en-US" dirty="0" err="1" smtClean="0"/>
              <a:t>Dãy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.</a:t>
            </a:r>
          </a:p>
          <a:p>
            <a:pPr lvl="1">
              <a:defRPr/>
            </a:pP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dài</a:t>
            </a:r>
            <a:r>
              <a:rPr lang="en-US" dirty="0" smtClean="0"/>
              <a:t> </a:t>
            </a:r>
            <a:r>
              <a:rPr lang="en-US" dirty="0" err="1" smtClean="0"/>
              <a:t>tối</a:t>
            </a:r>
            <a:r>
              <a:rPr lang="en-US" dirty="0" smtClean="0"/>
              <a:t> </a:t>
            </a:r>
            <a:r>
              <a:rPr lang="vi-VN" dirty="0" smtClean="0"/>
              <a:t>đ</a:t>
            </a:r>
            <a:r>
              <a:rPr lang="en-US" dirty="0" smtClean="0"/>
              <a:t>a 255 </a:t>
            </a:r>
            <a:r>
              <a:rPr lang="en-US" err="1" smtClean="0"/>
              <a:t>ký</a:t>
            </a:r>
            <a:r>
              <a:rPr lang="en-US" smtClean="0"/>
              <a:t> tự</a:t>
            </a:r>
            <a:r>
              <a:rPr lang="en-US"/>
              <a:t>.</a:t>
            </a:r>
            <a:r>
              <a:rPr lang="en-US" smtClean="0"/>
              <a:t> </a:t>
            </a:r>
            <a:r>
              <a:rPr lang="en-US" dirty="0" err="1"/>
              <a:t>K</a:t>
            </a:r>
            <a:r>
              <a:rPr lang="en-US" smtClean="0"/>
              <a:t>ết </a:t>
            </a:r>
            <a:r>
              <a:rPr lang="en-US" err="1" smtClean="0"/>
              <a:t>thúc</a:t>
            </a:r>
            <a:r>
              <a:rPr lang="en-US" smtClean="0"/>
              <a:t> tập tin bằng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hiệu</a:t>
            </a:r>
            <a:r>
              <a:rPr lang="en-US" dirty="0" smtClean="0"/>
              <a:t> </a:t>
            </a:r>
            <a:r>
              <a:rPr lang="en-US" dirty="0" err="1" smtClean="0"/>
              <a:t>cuối</a:t>
            </a:r>
            <a:r>
              <a:rPr lang="en-US" dirty="0" smtClean="0"/>
              <a:t> </a:t>
            </a:r>
            <a:r>
              <a:rPr lang="en-US" err="1" smtClean="0"/>
              <a:t>dòng</a:t>
            </a:r>
            <a:r>
              <a:rPr lang="en-US" smtClean="0"/>
              <a:t> (EOF: </a:t>
            </a:r>
            <a:r>
              <a:rPr lang="en-US" smtClean="0">
                <a:solidFill>
                  <a:srgbClr val="FF0000"/>
                </a:solidFill>
              </a:rPr>
              <a:t>end_of_line</a:t>
            </a:r>
            <a:r>
              <a:rPr lang="en-US" dirty="0" smtClean="0"/>
              <a:t>).</a:t>
            </a:r>
          </a:p>
          <a:p>
            <a:pPr lvl="1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Dòng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không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phải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là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một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chuỗi</a:t>
            </a:r>
            <a:r>
              <a:rPr lang="en-US" dirty="0" smtClean="0"/>
              <a:t> </a:t>
            </a:r>
            <a:r>
              <a:rPr lang="en-US" dirty="0" err="1" smtClean="0"/>
              <a:t>vì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thúc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‘\0’.</a:t>
            </a:r>
          </a:p>
          <a:p>
            <a:pPr lvl="1">
              <a:defRPr/>
            </a:pP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‘</a:t>
            </a:r>
            <a:r>
              <a:rPr lang="en-US" dirty="0" smtClean="0">
                <a:solidFill>
                  <a:srgbClr val="FF0000"/>
                </a:solidFill>
              </a:rPr>
              <a:t>\n</a:t>
            </a:r>
            <a:r>
              <a:rPr lang="en-US" dirty="0" smtClean="0"/>
              <a:t>’ </a:t>
            </a:r>
            <a:r>
              <a:rPr lang="vi-VN" dirty="0" smtClean="0"/>
              <a:t>đượ</a:t>
            </a:r>
            <a:r>
              <a:rPr lang="en-US" dirty="0" smtClean="0"/>
              <a:t>c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cặp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CR</a:t>
            </a:r>
            <a:r>
              <a:rPr lang="en-US" dirty="0" smtClean="0"/>
              <a:t> (</a:t>
            </a:r>
            <a:r>
              <a:rPr lang="en-US" dirty="0" err="1" smtClean="0"/>
              <a:t>về</a:t>
            </a:r>
            <a:r>
              <a:rPr lang="en-US" dirty="0" smtClean="0"/>
              <a:t> </a:t>
            </a:r>
            <a:r>
              <a:rPr lang="vi-VN" dirty="0" smtClean="0"/>
              <a:t>đầ</a:t>
            </a:r>
            <a:r>
              <a:rPr lang="en-US" dirty="0" smtClean="0"/>
              <a:t>u </a:t>
            </a:r>
            <a:r>
              <a:rPr lang="en-US" dirty="0" err="1" smtClean="0"/>
              <a:t>dòng</a:t>
            </a:r>
            <a:r>
              <a:rPr lang="en-US" dirty="0" smtClean="0"/>
              <a:t>, </a:t>
            </a:r>
            <a:r>
              <a:rPr lang="en-US" dirty="0" err="1" smtClean="0"/>
              <a:t>mã</a:t>
            </a:r>
            <a:r>
              <a:rPr lang="en-US" dirty="0" smtClean="0"/>
              <a:t> ASCII 13)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LF </a:t>
            </a:r>
            <a:r>
              <a:rPr lang="en-US" dirty="0" smtClean="0"/>
              <a:t>(qua </a:t>
            </a:r>
            <a:r>
              <a:rPr lang="en-US" dirty="0" err="1" smtClean="0"/>
              <a:t>dòng</a:t>
            </a:r>
            <a:r>
              <a:rPr lang="en-US" dirty="0" smtClean="0"/>
              <a:t>, </a:t>
            </a:r>
            <a:r>
              <a:rPr lang="en-US" dirty="0" err="1" smtClean="0"/>
              <a:t>mã</a:t>
            </a:r>
            <a:r>
              <a:rPr lang="en-US" dirty="0" smtClean="0"/>
              <a:t> ASCII 10).</a:t>
            </a:r>
          </a:p>
          <a:p>
            <a:pPr lvl="1">
              <a:defRPr/>
            </a:pP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vi-VN" dirty="0" smtClean="0"/>
              <a:t>đọ</a:t>
            </a:r>
            <a:r>
              <a:rPr lang="en-US" dirty="0" smtClean="0"/>
              <a:t>c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cặp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CR</a:t>
            </a:r>
            <a:r>
              <a:rPr lang="en-US" dirty="0" smtClean="0"/>
              <a:t>-</a:t>
            </a:r>
            <a:r>
              <a:rPr lang="en-US" dirty="0" smtClean="0">
                <a:solidFill>
                  <a:srgbClr val="FF0000"/>
                </a:solidFill>
              </a:rPr>
              <a:t>LF</a:t>
            </a:r>
            <a:r>
              <a:rPr lang="en-US" dirty="0" smtClean="0"/>
              <a:t> </a:t>
            </a:r>
            <a:r>
              <a:rPr lang="vi-VN" dirty="0" smtClean="0"/>
              <a:t>đượ</a:t>
            </a:r>
            <a:r>
              <a:rPr lang="en-US" dirty="0" smtClean="0"/>
              <a:t>c </a:t>
            </a:r>
            <a:r>
              <a:rPr lang="en-US" dirty="0" err="1" smtClean="0"/>
              <a:t>chuyển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‘</a:t>
            </a:r>
            <a:r>
              <a:rPr lang="en-US" dirty="0" smtClean="0">
                <a:solidFill>
                  <a:srgbClr val="FF0000"/>
                </a:solidFill>
              </a:rPr>
              <a:t>\n</a:t>
            </a:r>
            <a:r>
              <a:rPr lang="en-US" dirty="0" smtClean="0"/>
              <a:t>’.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Phân loại tập tin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Tập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tin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kiểu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nhị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phân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(stream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nhị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phân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)</a:t>
            </a:r>
          </a:p>
          <a:p>
            <a:pPr lvl="1">
              <a:defRPr/>
            </a:pP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vi-VN" dirty="0" smtClean="0"/>
              <a:t>đượ</a:t>
            </a:r>
            <a:r>
              <a:rPr lang="en-US" dirty="0" smtClean="0"/>
              <a:t>c </a:t>
            </a:r>
            <a:r>
              <a:rPr lang="vi-VN" dirty="0" smtClean="0">
                <a:solidFill>
                  <a:srgbClr val="FF0000"/>
                </a:solidFill>
              </a:rPr>
              <a:t>đọ</a:t>
            </a:r>
            <a:r>
              <a:rPr lang="en-US" dirty="0" smtClean="0">
                <a:solidFill>
                  <a:srgbClr val="FF0000"/>
                </a:solidFill>
              </a:rPr>
              <a:t>c </a:t>
            </a:r>
            <a:r>
              <a:rPr lang="en-US" dirty="0" err="1" smtClean="0">
                <a:solidFill>
                  <a:srgbClr val="FF0000"/>
                </a:solidFill>
              </a:rPr>
              <a:t>và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ghi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một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cách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chính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xác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không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có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sự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chuyển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vi-VN" dirty="0" smtClean="0">
                <a:solidFill>
                  <a:srgbClr val="FF0000"/>
                </a:solidFill>
              </a:rPr>
              <a:t>đổ</a:t>
            </a:r>
            <a:r>
              <a:rPr lang="en-US" dirty="0" err="1" smtClean="0">
                <a:solidFill>
                  <a:srgbClr val="FF0000"/>
                </a:solidFill>
              </a:rPr>
              <a:t>i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.</a:t>
            </a:r>
          </a:p>
          <a:p>
            <a:pPr lvl="1">
              <a:defRPr/>
            </a:pP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thúc</a:t>
            </a:r>
            <a:r>
              <a:rPr lang="en-US" dirty="0" smtClean="0"/>
              <a:t> </a:t>
            </a:r>
            <a:r>
              <a:rPr lang="en-US" dirty="0" err="1" smtClean="0"/>
              <a:t>chuỗi</a:t>
            </a:r>
            <a:r>
              <a:rPr lang="en-US" dirty="0" smtClean="0"/>
              <a:t> ‘</a:t>
            </a:r>
            <a:r>
              <a:rPr lang="en-US" dirty="0" smtClean="0">
                <a:solidFill>
                  <a:srgbClr val="FF0000"/>
                </a:solidFill>
              </a:rPr>
              <a:t>\0</a:t>
            </a:r>
            <a:r>
              <a:rPr lang="en-US" dirty="0" smtClean="0"/>
              <a:t>’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end_of_line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ý </a:t>
            </a:r>
            <a:r>
              <a:rPr lang="en-US" dirty="0" err="1" smtClean="0"/>
              <a:t>nghĩa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cuối</a:t>
            </a:r>
            <a:r>
              <a:rPr lang="en-US" dirty="0" smtClean="0"/>
              <a:t> </a:t>
            </a:r>
            <a:r>
              <a:rPr lang="en-US" dirty="0" err="1" smtClean="0"/>
              <a:t>chuỗi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cuối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vi-VN" dirty="0" smtClean="0">
                <a:solidFill>
                  <a:srgbClr val="FF0000"/>
                </a:solidFill>
              </a:rPr>
              <a:t>đượ</a:t>
            </a:r>
            <a:r>
              <a:rPr lang="en-US" dirty="0" smtClean="0">
                <a:solidFill>
                  <a:srgbClr val="FF0000"/>
                </a:solidFill>
              </a:rPr>
              <a:t>c </a:t>
            </a:r>
            <a:r>
              <a:rPr lang="en-US" dirty="0" err="1" smtClean="0">
                <a:solidFill>
                  <a:srgbClr val="FF0000"/>
                </a:solidFill>
              </a:rPr>
              <a:t>xử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lý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nh</a:t>
            </a:r>
            <a:r>
              <a:rPr lang="vi-VN" dirty="0" smtClean="0">
                <a:solidFill>
                  <a:srgbClr val="FF0000"/>
                </a:solidFill>
              </a:rPr>
              <a:t>ư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mọi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ký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tự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khác</a:t>
            </a:r>
            <a:r>
              <a:rPr lang="en-US" dirty="0" smtClean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Quy tắc đặt tên tập tin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609600" y="3810000"/>
            <a:ext cx="7086600" cy="2209800"/>
            <a:chOff x="609600" y="3810000"/>
            <a:chExt cx="7086600" cy="2209800"/>
          </a:xfrm>
        </p:grpSpPr>
        <p:sp>
          <p:nvSpPr>
            <p:cNvPr id="5" name="AutoShape 6"/>
            <p:cNvSpPr>
              <a:spLocks noChangeArrowheads="1"/>
            </p:cNvSpPr>
            <p:nvPr/>
          </p:nvSpPr>
          <p:spPr bwMode="gray">
            <a:xfrm>
              <a:off x="609600" y="3810000"/>
              <a:ext cx="7086600" cy="2209800"/>
            </a:xfrm>
            <a:prstGeom prst="roundRect">
              <a:avLst>
                <a:gd name="adj" fmla="val 16667"/>
              </a:avLst>
            </a:prstGeom>
            <a:ln>
              <a:prstDash val="sysDash"/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638" name="Text Box 7"/>
            <p:cNvSpPr txBox="1">
              <a:spLocks noChangeArrowheads="1"/>
            </p:cNvSpPr>
            <p:nvPr/>
          </p:nvSpPr>
          <p:spPr bwMode="gray">
            <a:xfrm>
              <a:off x="762000" y="3962400"/>
              <a:ext cx="6781800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buFont typeface="Arial" charset="0"/>
                <a:buChar char="•"/>
              </a:pPr>
              <a:r>
                <a:rPr lang="en-US" sz="2400"/>
                <a:t> Bắt buộc phải có.</a:t>
              </a:r>
            </a:p>
            <a:p>
              <a:pPr eaLnBrk="1" hangingPunct="1">
                <a:buFont typeface="Arial" charset="0"/>
                <a:buChar char="•"/>
              </a:pPr>
              <a:r>
                <a:rPr lang="en-US" sz="2400"/>
                <a:t> Hệ </a:t>
              </a:r>
              <a:r>
                <a:rPr lang="vi-VN" sz="2400"/>
                <a:t>đ</a:t>
              </a:r>
              <a:r>
                <a:rPr lang="en-US" sz="2400"/>
                <a:t>iều hành MS-DOS: dài tối </a:t>
              </a:r>
              <a:r>
                <a:rPr lang="vi-VN" sz="2400"/>
                <a:t>đ</a:t>
              </a:r>
              <a:r>
                <a:rPr lang="en-US" sz="2400"/>
                <a:t>a 8 ký tự.</a:t>
              </a:r>
            </a:p>
            <a:p>
              <a:pPr eaLnBrk="1" hangingPunct="1">
                <a:buFont typeface="Arial" charset="0"/>
                <a:buChar char="•"/>
              </a:pPr>
              <a:r>
                <a:rPr lang="en-US" sz="2400"/>
                <a:t> Hệ </a:t>
              </a:r>
              <a:r>
                <a:rPr lang="vi-VN" sz="2400"/>
                <a:t>đ</a:t>
              </a:r>
              <a:r>
                <a:rPr lang="en-US" sz="2400"/>
                <a:t>iều hành Windows: dài tối </a:t>
              </a:r>
              <a:r>
                <a:rPr lang="vi-VN" sz="2400"/>
                <a:t>đ</a:t>
              </a:r>
              <a:r>
                <a:rPr lang="en-US" sz="2400"/>
                <a:t>a 128 ký tự.</a:t>
              </a:r>
            </a:p>
            <a:p>
              <a:pPr eaLnBrk="1" hangingPunct="1">
                <a:buFont typeface="Arial" charset="0"/>
                <a:buChar char="•"/>
              </a:pPr>
              <a:r>
                <a:rPr lang="en-US" sz="2400"/>
                <a:t> Gồm các ký tự A </a:t>
              </a:r>
              <a:r>
                <a:rPr lang="vi-VN" sz="2400"/>
                <a:t>đế</a:t>
              </a:r>
              <a:r>
                <a:rPr lang="en-US" sz="2400"/>
                <a:t>n Z, số 0 </a:t>
              </a:r>
              <a:r>
                <a:rPr lang="vi-VN" sz="2400"/>
                <a:t>đế</a:t>
              </a:r>
              <a:r>
                <a:rPr lang="en-US" sz="2400"/>
                <a:t>n 9, ký tự khác nh</a:t>
              </a:r>
              <a:r>
                <a:rPr lang="vi-VN" sz="2400"/>
                <a:t>ư</a:t>
              </a:r>
              <a:r>
                <a:rPr lang="en-US" sz="2400"/>
                <a:t> #, $, %, ~, ^, @, (, ), !, _, khoảng trắng.</a:t>
              </a:r>
            </a:p>
          </p:txBody>
        </p:sp>
      </p:grpSp>
      <p:sp>
        <p:nvSpPr>
          <p:cNvPr id="14" name="Rounded Rectangle 13"/>
          <p:cNvSpPr/>
          <p:nvPr/>
        </p:nvSpPr>
        <p:spPr>
          <a:xfrm>
            <a:off x="533400" y="2209800"/>
            <a:ext cx="1600200" cy="685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Tên</a:t>
            </a:r>
          </a:p>
          <a:p>
            <a:pPr algn="ctr">
              <a:defRPr/>
            </a:pPr>
            <a:r>
              <a:rPr lang="en-US"/>
              <a:t>(name)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33600" y="2209800"/>
            <a:ext cx="381000" cy="6858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sz="540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14600" y="2209800"/>
            <a:ext cx="1600200" cy="6858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/>
              <a:t>Mở rộng</a:t>
            </a:r>
          </a:p>
          <a:p>
            <a:pPr algn="ctr">
              <a:defRPr/>
            </a:pPr>
            <a:r>
              <a:rPr lang="en-US"/>
              <a:t>(extension)</a:t>
            </a:r>
          </a:p>
        </p:txBody>
      </p:sp>
      <p:grpSp>
        <p:nvGrpSpPr>
          <p:cNvPr id="6" name="Group 18"/>
          <p:cNvGrpSpPr>
            <a:grpSpLocks/>
          </p:cNvGrpSpPr>
          <p:nvPr/>
        </p:nvGrpSpPr>
        <p:grpSpPr bwMode="auto">
          <a:xfrm>
            <a:off x="4343400" y="1524000"/>
            <a:ext cx="3352800" cy="2090738"/>
            <a:chOff x="4343400" y="1524000"/>
            <a:chExt cx="3352800" cy="2091392"/>
          </a:xfrm>
        </p:grpSpPr>
        <p:sp>
          <p:nvSpPr>
            <p:cNvPr id="8" name="AutoShape 6"/>
            <p:cNvSpPr>
              <a:spLocks noChangeArrowheads="1"/>
            </p:cNvSpPr>
            <p:nvPr/>
          </p:nvSpPr>
          <p:spPr bwMode="gray">
            <a:xfrm>
              <a:off x="4343400" y="1524000"/>
              <a:ext cx="3352800" cy="2058044"/>
            </a:xfrm>
            <a:prstGeom prst="roundRect">
              <a:avLst>
                <a:gd name="adj" fmla="val 16667"/>
              </a:avLst>
            </a:prstGeom>
            <a:ln>
              <a:prstDash val="sysDash"/>
              <a:headEnd/>
              <a:tailEnd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 eaLnBrk="0" hangingPunct="0">
                <a:defRPr/>
              </a:pPr>
              <a:endParaRPr lang="en-US"/>
            </a:p>
          </p:txBody>
        </p:sp>
        <p:sp>
          <p:nvSpPr>
            <p:cNvPr id="26636" name="Text Box 7"/>
            <p:cNvSpPr txBox="1">
              <a:spLocks noChangeArrowheads="1"/>
            </p:cNvSpPr>
            <p:nvPr/>
          </p:nvSpPr>
          <p:spPr bwMode="gray">
            <a:xfrm>
              <a:off x="4495800" y="1676400"/>
              <a:ext cx="3048000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buFont typeface="Arial" charset="0"/>
                <a:buChar char="•"/>
              </a:pPr>
              <a:r>
                <a:rPr lang="en-US" sz="2400"/>
                <a:t> Không bắt buộc. </a:t>
              </a:r>
            </a:p>
            <a:p>
              <a:pPr eaLnBrk="1" hangingPunct="1">
                <a:buFont typeface="Arial" charset="0"/>
                <a:buChar char="•"/>
              </a:pPr>
              <a:r>
                <a:rPr lang="en-US" sz="2400"/>
                <a:t> Th</a:t>
              </a:r>
              <a:r>
                <a:rPr lang="vi-VN" sz="2400"/>
                <a:t>ườ</a:t>
              </a:r>
              <a:r>
                <a:rPr lang="en-US" sz="2400"/>
                <a:t>ng có 3 ký tự.</a:t>
              </a:r>
            </a:p>
            <a:p>
              <a:pPr eaLnBrk="1" hangingPunct="1">
                <a:buFont typeface="Arial" charset="0"/>
                <a:buChar char="•"/>
              </a:pPr>
              <a:r>
                <a:rPr lang="en-US" sz="2400"/>
                <a:t> Th</a:t>
              </a:r>
              <a:r>
                <a:rPr lang="vi-VN" sz="2400"/>
                <a:t>ườ</a:t>
              </a:r>
              <a:r>
                <a:rPr lang="en-US" sz="2400"/>
                <a:t>ng do ch</a:t>
              </a:r>
              <a:r>
                <a:rPr lang="vi-VN" sz="2400"/>
                <a:t>ươ</a:t>
              </a:r>
              <a:r>
                <a:rPr lang="en-US" sz="2400"/>
                <a:t>ng trình ứng dụng tạo tập tin tự </a:t>
              </a:r>
              <a:r>
                <a:rPr lang="vi-VN" sz="2400"/>
                <a:t>đặ</a:t>
              </a:r>
              <a:r>
                <a:rPr lang="en-US" sz="2400"/>
                <a:t>t</a:t>
              </a:r>
            </a:p>
          </p:txBody>
        </p:sp>
      </p:grpSp>
      <p:sp>
        <p:nvSpPr>
          <p:cNvPr id="10" name="Freeform 11"/>
          <p:cNvSpPr>
            <a:spLocks/>
          </p:cNvSpPr>
          <p:nvPr/>
        </p:nvSpPr>
        <p:spPr bwMode="gray">
          <a:xfrm flipH="1" flipV="1">
            <a:off x="3810000" y="1371600"/>
            <a:ext cx="903288" cy="1143000"/>
          </a:xfrm>
          <a:custGeom>
            <a:avLst/>
            <a:gdLst>
              <a:gd name="T0" fmla="*/ 580 w 580"/>
              <a:gd name="T1" fmla="*/ 0 h 798"/>
              <a:gd name="T2" fmla="*/ 578 w 580"/>
              <a:gd name="T3" fmla="*/ 90 h 798"/>
              <a:gd name="T4" fmla="*/ 568 w 580"/>
              <a:gd name="T5" fmla="*/ 174 h 798"/>
              <a:gd name="T6" fmla="*/ 552 w 580"/>
              <a:gd name="T7" fmla="*/ 252 h 798"/>
              <a:gd name="T8" fmla="*/ 526 w 580"/>
              <a:gd name="T9" fmla="*/ 324 h 798"/>
              <a:gd name="T10" fmla="*/ 494 w 580"/>
              <a:gd name="T11" fmla="*/ 390 h 798"/>
              <a:gd name="T12" fmla="*/ 452 w 580"/>
              <a:gd name="T13" fmla="*/ 450 h 798"/>
              <a:gd name="T14" fmla="*/ 402 w 580"/>
              <a:gd name="T15" fmla="*/ 508 h 798"/>
              <a:gd name="T16" fmla="*/ 342 w 580"/>
              <a:gd name="T17" fmla="*/ 560 h 798"/>
              <a:gd name="T18" fmla="*/ 270 w 580"/>
              <a:gd name="T19" fmla="*/ 610 h 798"/>
              <a:gd name="T20" fmla="*/ 188 w 580"/>
              <a:gd name="T21" fmla="*/ 656 h 798"/>
              <a:gd name="T22" fmla="*/ 188 w 580"/>
              <a:gd name="T23" fmla="*/ 798 h 798"/>
              <a:gd name="T24" fmla="*/ 0 w 580"/>
              <a:gd name="T25" fmla="*/ 514 h 798"/>
              <a:gd name="T26" fmla="*/ 188 w 580"/>
              <a:gd name="T27" fmla="*/ 230 h 798"/>
              <a:gd name="T28" fmla="*/ 188 w 580"/>
              <a:gd name="T29" fmla="*/ 372 h 798"/>
              <a:gd name="T30" fmla="*/ 224 w 580"/>
              <a:gd name="T31" fmla="*/ 368 h 798"/>
              <a:gd name="T32" fmla="*/ 264 w 580"/>
              <a:gd name="T33" fmla="*/ 356 h 798"/>
              <a:gd name="T34" fmla="*/ 306 w 580"/>
              <a:gd name="T35" fmla="*/ 336 h 798"/>
              <a:gd name="T36" fmla="*/ 348 w 580"/>
              <a:gd name="T37" fmla="*/ 310 h 798"/>
              <a:gd name="T38" fmla="*/ 392 w 580"/>
              <a:gd name="T39" fmla="*/ 280 h 798"/>
              <a:gd name="T40" fmla="*/ 432 w 580"/>
              <a:gd name="T41" fmla="*/ 246 h 798"/>
              <a:gd name="T42" fmla="*/ 472 w 580"/>
              <a:gd name="T43" fmla="*/ 208 h 798"/>
              <a:gd name="T44" fmla="*/ 506 w 580"/>
              <a:gd name="T45" fmla="*/ 166 h 798"/>
              <a:gd name="T46" fmla="*/ 536 w 580"/>
              <a:gd name="T47" fmla="*/ 124 h 798"/>
              <a:gd name="T48" fmla="*/ 558 w 580"/>
              <a:gd name="T49" fmla="*/ 82 h 798"/>
              <a:gd name="T50" fmla="*/ 574 w 580"/>
              <a:gd name="T51" fmla="*/ 40 h 798"/>
              <a:gd name="T52" fmla="*/ 578 w 580"/>
              <a:gd name="T53" fmla="*/ 0 h 798"/>
              <a:gd name="T54" fmla="*/ 580 w 580"/>
              <a:gd name="T55" fmla="*/ 0 h 798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rgbClr val="FF66FF"/>
              </a:gs>
              <a:gs pos="100000">
                <a:srgbClr val="FF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Freeform 9"/>
          <p:cNvSpPr>
            <a:spLocks/>
          </p:cNvSpPr>
          <p:nvPr/>
        </p:nvSpPr>
        <p:spPr bwMode="gray">
          <a:xfrm rot="5400000" flipH="1">
            <a:off x="773113" y="2732087"/>
            <a:ext cx="1066800" cy="1241425"/>
          </a:xfrm>
          <a:custGeom>
            <a:avLst/>
            <a:gdLst/>
            <a:ahLst/>
            <a:cxnLst>
              <a:cxn ang="0">
                <a:pos x="580" y="0"/>
              </a:cxn>
              <a:cxn ang="0">
                <a:pos x="578" y="90"/>
              </a:cxn>
              <a:cxn ang="0">
                <a:pos x="568" y="174"/>
              </a:cxn>
              <a:cxn ang="0">
                <a:pos x="552" y="252"/>
              </a:cxn>
              <a:cxn ang="0">
                <a:pos x="526" y="324"/>
              </a:cxn>
              <a:cxn ang="0">
                <a:pos x="494" y="390"/>
              </a:cxn>
              <a:cxn ang="0">
                <a:pos x="452" y="450"/>
              </a:cxn>
              <a:cxn ang="0">
                <a:pos x="402" y="508"/>
              </a:cxn>
              <a:cxn ang="0">
                <a:pos x="342" y="560"/>
              </a:cxn>
              <a:cxn ang="0">
                <a:pos x="270" y="610"/>
              </a:cxn>
              <a:cxn ang="0">
                <a:pos x="188" y="656"/>
              </a:cxn>
              <a:cxn ang="0">
                <a:pos x="188" y="798"/>
              </a:cxn>
              <a:cxn ang="0">
                <a:pos x="0" y="514"/>
              </a:cxn>
              <a:cxn ang="0">
                <a:pos x="188" y="230"/>
              </a:cxn>
              <a:cxn ang="0">
                <a:pos x="188" y="372"/>
              </a:cxn>
              <a:cxn ang="0">
                <a:pos x="224" y="368"/>
              </a:cxn>
              <a:cxn ang="0">
                <a:pos x="264" y="356"/>
              </a:cxn>
              <a:cxn ang="0">
                <a:pos x="306" y="336"/>
              </a:cxn>
              <a:cxn ang="0">
                <a:pos x="348" y="310"/>
              </a:cxn>
              <a:cxn ang="0">
                <a:pos x="392" y="280"/>
              </a:cxn>
              <a:cxn ang="0">
                <a:pos x="432" y="246"/>
              </a:cxn>
              <a:cxn ang="0">
                <a:pos x="472" y="208"/>
              </a:cxn>
              <a:cxn ang="0">
                <a:pos x="506" y="166"/>
              </a:cxn>
              <a:cxn ang="0">
                <a:pos x="536" y="124"/>
              </a:cxn>
              <a:cxn ang="0">
                <a:pos x="558" y="82"/>
              </a:cxn>
              <a:cxn ang="0">
                <a:pos x="574" y="40"/>
              </a:cxn>
              <a:cxn ang="0">
                <a:pos x="578" y="0"/>
              </a:cxn>
              <a:cxn ang="0">
                <a:pos x="580" y="0"/>
              </a:cxn>
            </a:cxnLst>
            <a:rect l="0" t="0" r="r" b="b"/>
            <a:pathLst>
              <a:path w="580" h="798">
                <a:moveTo>
                  <a:pt x="580" y="0"/>
                </a:moveTo>
                <a:lnTo>
                  <a:pt x="578" y="90"/>
                </a:lnTo>
                <a:lnTo>
                  <a:pt x="568" y="174"/>
                </a:lnTo>
                <a:lnTo>
                  <a:pt x="552" y="252"/>
                </a:lnTo>
                <a:lnTo>
                  <a:pt x="526" y="324"/>
                </a:lnTo>
                <a:lnTo>
                  <a:pt x="494" y="390"/>
                </a:lnTo>
                <a:lnTo>
                  <a:pt x="452" y="450"/>
                </a:lnTo>
                <a:lnTo>
                  <a:pt x="402" y="508"/>
                </a:lnTo>
                <a:lnTo>
                  <a:pt x="342" y="560"/>
                </a:lnTo>
                <a:lnTo>
                  <a:pt x="270" y="610"/>
                </a:lnTo>
                <a:lnTo>
                  <a:pt x="188" y="656"/>
                </a:lnTo>
                <a:lnTo>
                  <a:pt x="188" y="798"/>
                </a:lnTo>
                <a:lnTo>
                  <a:pt x="0" y="514"/>
                </a:lnTo>
                <a:lnTo>
                  <a:pt x="188" y="230"/>
                </a:lnTo>
                <a:lnTo>
                  <a:pt x="188" y="372"/>
                </a:lnTo>
                <a:lnTo>
                  <a:pt x="224" y="368"/>
                </a:lnTo>
                <a:lnTo>
                  <a:pt x="264" y="356"/>
                </a:lnTo>
                <a:lnTo>
                  <a:pt x="306" y="336"/>
                </a:lnTo>
                <a:lnTo>
                  <a:pt x="348" y="310"/>
                </a:lnTo>
                <a:lnTo>
                  <a:pt x="392" y="280"/>
                </a:lnTo>
                <a:lnTo>
                  <a:pt x="432" y="246"/>
                </a:lnTo>
                <a:lnTo>
                  <a:pt x="472" y="208"/>
                </a:lnTo>
                <a:lnTo>
                  <a:pt x="506" y="166"/>
                </a:lnTo>
                <a:lnTo>
                  <a:pt x="536" y="124"/>
                </a:lnTo>
                <a:lnTo>
                  <a:pt x="558" y="82"/>
                </a:lnTo>
                <a:lnTo>
                  <a:pt x="574" y="40"/>
                </a:lnTo>
                <a:lnTo>
                  <a:pt x="578" y="0"/>
                </a:lnTo>
                <a:lnTo>
                  <a:pt x="580" y="0"/>
                </a:lnTo>
                <a:close/>
              </a:path>
            </a:pathLst>
          </a:custGeom>
          <a:gradFill rotWithShape="1">
            <a:gsLst>
              <a:gs pos="0">
                <a:schemeClr val="tx1">
                  <a:lumMod val="60000"/>
                  <a:lumOff val="4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0" scaled="1"/>
          </a:gra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Định vị tập tin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Đường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dẫn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nằm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hành</a:t>
            </a:r>
            <a:r>
              <a:rPr lang="en-US" dirty="0" smtClean="0"/>
              <a:t>. </a:t>
            </a:r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0000"/>
                </a:solidFill>
              </a:rPr>
              <a:t>c:\data\list.txt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smtClean="0">
                <a:solidFill>
                  <a:srgbClr val="FF0000"/>
                </a:solidFill>
              </a:rPr>
              <a:t>list.txt</a:t>
            </a:r>
            <a:r>
              <a:rPr lang="en-US" dirty="0" smtClean="0"/>
              <a:t> </a:t>
            </a:r>
            <a:r>
              <a:rPr lang="en-US" dirty="0" err="1" smtClean="0"/>
              <a:t>nằm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thư</a:t>
            </a:r>
            <a:r>
              <a:rPr lang="en-US" dirty="0" smtClean="0"/>
              <a:t> </a:t>
            </a:r>
            <a:r>
              <a:rPr lang="en-US" dirty="0" err="1" smtClean="0"/>
              <a:t>mục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data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ổ </a:t>
            </a:r>
            <a:r>
              <a:rPr lang="en-US" dirty="0" err="1" smtClean="0"/>
              <a:t>đĩa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C</a:t>
            </a:r>
            <a:r>
              <a:rPr lang="en-US" dirty="0" smtClean="0"/>
              <a:t>.</a:t>
            </a:r>
          </a:p>
          <a:p>
            <a:pPr lvl="1">
              <a:defRPr/>
            </a:pP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,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dẫn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chuỗi</a:t>
            </a:r>
            <a:r>
              <a:rPr lang="en-US" dirty="0" smtClean="0"/>
              <a:t> </a:t>
            </a:r>
            <a:r>
              <a:rPr lang="en-US" dirty="0" err="1" smtClean="0"/>
              <a:t>như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FF0000"/>
                </a:solidFill>
              </a:rPr>
              <a:t>“c:\\data\\list.txt”</a:t>
            </a:r>
          </a:p>
          <a:p>
            <a:pPr lvl="1">
              <a:defRPr/>
            </a:pPr>
            <a:r>
              <a:rPr lang="en-US" dirty="0" err="1" smtClean="0"/>
              <a:t>Dấu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‘\’</a:t>
            </a:r>
            <a:r>
              <a:rPr lang="en-US" dirty="0" smtClean="0"/>
              <a:t> </a:t>
            </a:r>
            <a:r>
              <a:rPr lang="en-US" dirty="0" err="1" smtClean="0"/>
              <a:t>biểu</a:t>
            </a:r>
            <a:r>
              <a:rPr lang="en-US" dirty="0" smtClean="0"/>
              <a:t> </a:t>
            </a:r>
            <a:r>
              <a:rPr lang="en-US" dirty="0" err="1" smtClean="0"/>
              <a:t>thị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khiển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hiện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thêm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dấu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‘\’</a:t>
            </a:r>
            <a:r>
              <a:rPr lang="en-US" dirty="0" smtClean="0"/>
              <a:t> ở </a:t>
            </a:r>
            <a:r>
              <a:rPr lang="en-US" dirty="0" err="1" smtClean="0"/>
              <a:t>trước</a:t>
            </a:r>
            <a:r>
              <a:rPr lang="en-US" dirty="0" smtClean="0"/>
              <a:t>. </a:t>
            </a:r>
            <a:r>
              <a:rPr lang="en-US" dirty="0" err="1" smtClean="0"/>
              <a:t>Nhưng</a:t>
            </a:r>
            <a:r>
              <a:rPr lang="en-US" dirty="0" smtClean="0"/>
              <a:t> </a:t>
            </a:r>
            <a:r>
              <a:rPr lang="en-US" dirty="0" err="1" smtClean="0"/>
              <a:t>nếu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yêu</a:t>
            </a:r>
            <a:r>
              <a:rPr lang="en-US" dirty="0" smtClean="0"/>
              <a:t> </a:t>
            </a:r>
            <a:r>
              <a:rPr lang="en-US" dirty="0" err="1" smtClean="0"/>
              <a:t>cầu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đường</a:t>
            </a:r>
            <a:r>
              <a:rPr lang="en-US" dirty="0" smtClean="0"/>
              <a:t> </a:t>
            </a:r>
            <a:r>
              <a:rPr lang="en-US" dirty="0" err="1" smtClean="0"/>
              <a:t>dẫn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bàn</a:t>
            </a:r>
            <a:r>
              <a:rPr lang="en-US" dirty="0" smtClean="0"/>
              <a:t> </a:t>
            </a:r>
            <a:r>
              <a:rPr lang="en-US" dirty="0" err="1" smtClean="0"/>
              <a:t>phím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dấu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‘\’</a:t>
            </a:r>
            <a:r>
              <a:rPr lang="en-US" dirty="0" smtClean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Quy trình thao tác với tập tin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  <a:hlinkClick r:id="rId3" action="ppaction://hlinksldjump"/>
              </a:rPr>
              <a:t>1.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  <a:hlinkClick r:id="rId3" action="ppaction://hlinksldjump"/>
              </a:rPr>
              <a:t>Mở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  <a:hlinkClick r:id="rId3" action="ppaction://hlinksldjump"/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  <a:hlinkClick r:id="rId3" action="ppaction://hlinksldjump"/>
              </a:rPr>
              <a:t>tập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  <a:hlinkClick r:id="rId3" action="ppaction://hlinksldjump"/>
              </a:rPr>
              <a:t> tin</a:t>
            </a:r>
            <a:r>
              <a:rPr lang="en-US" dirty="0" smtClean="0"/>
              <a:t>: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stream </a:t>
            </a:r>
            <a:r>
              <a:rPr lang="en-US" dirty="0" err="1" smtClean="0"/>
              <a:t>nối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mở</a:t>
            </a:r>
            <a:r>
              <a:rPr lang="en-US" dirty="0" smtClean="0"/>
              <a:t>, stream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quản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bởi</a:t>
            </a:r>
            <a:r>
              <a:rPr lang="en-US" dirty="0" smtClean="0"/>
              <a:t> </a:t>
            </a:r>
            <a:r>
              <a:rPr lang="en-US" dirty="0" err="1" smtClean="0"/>
              <a:t>biến</a:t>
            </a:r>
            <a:r>
              <a:rPr lang="en-US" dirty="0" smtClean="0"/>
              <a:t> con </a:t>
            </a:r>
            <a:r>
              <a:rPr lang="en-US" dirty="0" err="1" smtClean="0"/>
              <a:t>trỏ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FILE</a:t>
            </a:r>
          </a:p>
          <a:p>
            <a:pPr lvl="1">
              <a:defRPr/>
            </a:pP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sẵn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STDIO.H</a:t>
            </a:r>
          </a:p>
          <a:p>
            <a:pPr lvl="1">
              <a:defRPr/>
            </a:pP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này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thao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tin.</a:t>
            </a:r>
          </a:p>
          <a:p>
            <a:pPr>
              <a:defRPr/>
            </a:pP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  <a:hlinkClick r:id="rId4" action="ppaction://hlinksldjump"/>
              </a:rPr>
              <a:t>2.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  <a:hlinkClick r:id="rId4" action="ppaction://hlinksldjump"/>
              </a:rPr>
              <a:t>Sử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  <a:hlinkClick r:id="rId4" action="ppaction://hlinksldjump"/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  <a:hlinkClick r:id="rId4" action="ppaction://hlinksldjump"/>
              </a:rPr>
              <a:t>dụng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  <a:hlinkClick r:id="rId4" action="ppaction://hlinksldjump"/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  <a:hlinkClick r:id="rId4" action="ppaction://hlinksldjump"/>
              </a:rPr>
              <a:t>tập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  <a:hlinkClick r:id="rId4" action="ppaction://hlinksldjump"/>
              </a:rPr>
              <a:t> tin</a:t>
            </a:r>
            <a:r>
              <a:rPr lang="en-US" dirty="0" smtClean="0"/>
              <a:t> (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tin)</a:t>
            </a:r>
          </a:p>
          <a:p>
            <a:pPr lvl="1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Đọc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dữ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.</a:t>
            </a:r>
          </a:p>
          <a:p>
            <a:pPr lvl="1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Ghi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dữ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lên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tin.</a:t>
            </a:r>
          </a:p>
          <a:p>
            <a:pPr>
              <a:defRPr/>
            </a:pP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  <a:hlinkClick r:id="rId5" action="ppaction://hlinksldjump"/>
              </a:rPr>
              <a:t>3.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  <a:hlinkClick r:id="rId5" action="ppaction://hlinksldjump"/>
              </a:rPr>
              <a:t>Đóng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  <a:hlinkClick r:id="rId5" action="ppaction://hlinksldjump"/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  <a:hlinkClick r:id="rId5" action="ppaction://hlinksldjump"/>
              </a:rPr>
              <a:t>tập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  <a:hlinkClick r:id="rId5" action="ppaction://hlinksldjump"/>
              </a:rPr>
              <a:t> tin</a:t>
            </a:r>
            <a:r>
              <a:rPr lang="en-US" dirty="0" smtClean="0"/>
              <a:t> (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xong</a:t>
            </a:r>
            <a:r>
              <a:rPr lang="en-US" dirty="0" smtClean="0"/>
              <a:t>).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mở tập tin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  <p:sp>
        <p:nvSpPr>
          <p:cNvPr id="14" name="AutoShape 47"/>
          <p:cNvSpPr>
            <a:spLocks noChangeArrowheads="1"/>
          </p:cNvSpPr>
          <p:nvPr/>
        </p:nvSpPr>
        <p:spPr bwMode="gray">
          <a:xfrm>
            <a:off x="685800" y="2230438"/>
            <a:ext cx="6858000" cy="3865562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5" name="Picture 11" descr="book_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1524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9"/>
          <p:cNvSpPr txBox="1">
            <a:spLocks noChangeArrowheads="1"/>
          </p:cNvSpPr>
          <p:nvPr/>
        </p:nvSpPr>
        <p:spPr bwMode="gray">
          <a:xfrm>
            <a:off x="2286000" y="2341563"/>
            <a:ext cx="5181600" cy="11636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Mở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tập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có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tên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đường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dẫn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là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chứa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trong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filename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với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kiểu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mở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mode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xem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bảng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).</a:t>
            </a:r>
          </a:p>
        </p:txBody>
      </p:sp>
      <p:sp>
        <p:nvSpPr>
          <p:cNvPr id="21" name="Text Box 49"/>
          <p:cNvSpPr txBox="1">
            <a:spLocks noChangeArrowheads="1"/>
          </p:cNvSpPr>
          <p:nvPr/>
        </p:nvSpPr>
        <p:spPr bwMode="gray">
          <a:xfrm>
            <a:off x="2286000" y="35814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Thành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con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trỏ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kiểu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cấu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trúc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FILE</a:t>
            </a:r>
          </a:p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Thất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bại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NULL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sai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quy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tắc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đặt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tên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tập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tin,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không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tìm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thấy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ổ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đĩa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không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tìm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thấy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thư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mục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mở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tập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chưa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có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để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đọc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…)</a:t>
            </a: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gray">
          <a:xfrm>
            <a:off x="2286000" y="48006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FILE*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=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fopen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(“taptin.txt”, “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rt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”);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if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== NULL)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	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Khong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mo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duoc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tap tin!”);</a:t>
            </a:r>
          </a:p>
        </p:txBody>
      </p:sp>
      <p:pic>
        <p:nvPicPr>
          <p:cNvPr id="24" name="Picture 40" descr="board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ight Arrow 24"/>
          <p:cNvSpPr/>
          <p:nvPr/>
        </p:nvSpPr>
        <p:spPr bwMode="auto">
          <a:xfrm>
            <a:off x="914400" y="3733800"/>
            <a:ext cx="1143000" cy="8382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24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Trả về</a:t>
            </a:r>
          </a:p>
        </p:txBody>
      </p:sp>
      <p:sp>
        <p:nvSpPr>
          <p:cNvPr id="11" name="Freeform 2"/>
          <p:cNvSpPr>
            <a:spLocks/>
          </p:cNvSpPr>
          <p:nvPr/>
        </p:nvSpPr>
        <p:spPr bwMode="gray">
          <a:xfrm>
            <a:off x="587375" y="1676400"/>
            <a:ext cx="6970713" cy="530225"/>
          </a:xfrm>
          <a:custGeom>
            <a:avLst/>
            <a:gdLst/>
            <a:ahLst/>
            <a:cxnLst>
              <a:cxn ang="0">
                <a:pos x="26" y="121"/>
              </a:cxn>
              <a:cxn ang="0">
                <a:pos x="26" y="291"/>
              </a:cxn>
              <a:cxn ang="0">
                <a:pos x="2014" y="291"/>
              </a:cxn>
              <a:cxn ang="0">
                <a:pos x="2014" y="114"/>
              </a:cxn>
              <a:cxn ang="0">
                <a:pos x="1868" y="13"/>
              </a:cxn>
              <a:cxn ang="0">
                <a:pos x="170" y="13"/>
              </a:cxn>
              <a:cxn ang="0">
                <a:pos x="26" y="121"/>
              </a:cxn>
            </a:cxnLst>
            <a:rect l="0" t="0" r="r" b="b"/>
            <a:pathLst>
              <a:path w="2019" h="291">
                <a:moveTo>
                  <a:pt x="26" y="121"/>
                </a:moveTo>
                <a:cubicBezTo>
                  <a:pt x="26" y="245"/>
                  <a:pt x="26" y="291"/>
                  <a:pt x="26" y="291"/>
                </a:cubicBezTo>
                <a:lnTo>
                  <a:pt x="2014" y="291"/>
                </a:lnTo>
                <a:lnTo>
                  <a:pt x="2014" y="114"/>
                </a:lnTo>
                <a:cubicBezTo>
                  <a:pt x="2009" y="76"/>
                  <a:pt x="2019" y="0"/>
                  <a:pt x="1868" y="13"/>
                </a:cubicBezTo>
                <a:cubicBezTo>
                  <a:pt x="1015" y="13"/>
                  <a:pt x="170" y="13"/>
                  <a:pt x="170" y="13"/>
                </a:cubicBezTo>
                <a:cubicBezTo>
                  <a:pt x="0" y="7"/>
                  <a:pt x="24" y="99"/>
                  <a:pt x="26" y="121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chemeClr val="tx1">
                  <a:lumMod val="40000"/>
                  <a:lumOff val="6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9525" cap="flat" cmpd="sng" algn="ctr">
            <a:solidFill>
              <a:srgbClr val="738AC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FILE *</a:t>
            </a:r>
            <a:r>
              <a:rPr lang="en-US" sz="1600" b="1" kern="0" dirty="0" err="1">
                <a:solidFill>
                  <a:srgbClr val="FF0000"/>
                </a:solidFill>
                <a:latin typeface="Verdana"/>
                <a:cs typeface="+mn-cs"/>
              </a:rPr>
              <a:t>fopen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(const char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>
                <a:solidFill>
                  <a:srgbClr val="FFC000"/>
                </a:solidFill>
                <a:latin typeface="Verdana"/>
                <a:cs typeface="+mn-cs"/>
              </a:rPr>
              <a:t>filename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const char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>
                <a:solidFill>
                  <a:srgbClr val="FFC000"/>
                </a:solidFill>
                <a:latin typeface="Verdana"/>
                <a:cs typeface="+mn-cs"/>
              </a:rPr>
              <a:t>mode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1" grpId="0" animBg="1"/>
      <p:bldP spid="23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Đối số mở tập tin (mode)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24000"/>
          <a:ext cx="6629400" cy="4689475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990600"/>
                <a:gridCol w="5638800"/>
              </a:tblGrid>
              <a:tr h="370890">
                <a:tc>
                  <a:txBody>
                    <a:bodyPr/>
                    <a:lstStyle/>
                    <a:p>
                      <a:r>
                        <a:rPr lang="en-US" sz="1800" b="1" kern="120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Đối</a:t>
                      </a:r>
                      <a:r>
                        <a:rPr 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số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Ý</a:t>
                      </a:r>
                      <a:r>
                        <a:rPr lang="en-US" sz="18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1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nghĩa</a:t>
                      </a:r>
                      <a:endParaRPr lang="en-US" sz="18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26" marB="45726"/>
                </a:tc>
              </a:tr>
              <a:tr h="37089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b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Mở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tập</a:t>
                      </a:r>
                      <a:r>
                        <a:rPr lang="en-US" sz="1800" baseline="0" dirty="0" smtClean="0"/>
                        <a:t> tin </a:t>
                      </a:r>
                      <a:r>
                        <a:rPr lang="en-US" sz="1800" baseline="0" dirty="0" err="1" smtClean="0"/>
                        <a:t>kiểu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>
                          <a:solidFill>
                            <a:srgbClr val="FF0000"/>
                          </a:solidFill>
                        </a:rPr>
                        <a:t>nhị</a:t>
                      </a:r>
                      <a:r>
                        <a:rPr lang="en-US" sz="18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FF0000"/>
                          </a:solidFill>
                        </a:rPr>
                        <a:t>phân</a:t>
                      </a:r>
                      <a:r>
                        <a:rPr lang="en-US" sz="1800" baseline="0" dirty="0" smtClean="0"/>
                        <a:t> (binary)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7089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t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Mở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tập</a:t>
                      </a:r>
                      <a:r>
                        <a:rPr lang="en-US" sz="1800" baseline="0" dirty="0" smtClean="0"/>
                        <a:t> tin </a:t>
                      </a:r>
                      <a:r>
                        <a:rPr lang="en-US" sz="1800" baseline="0" dirty="0" err="1" smtClean="0"/>
                        <a:t>kiểu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>
                          <a:solidFill>
                            <a:srgbClr val="FF0000"/>
                          </a:solidFill>
                        </a:rPr>
                        <a:t>văn</a:t>
                      </a:r>
                      <a:r>
                        <a:rPr lang="en-US" sz="18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FF0000"/>
                          </a:solidFill>
                        </a:rPr>
                        <a:t>bản</a:t>
                      </a:r>
                      <a:r>
                        <a:rPr lang="en-US" sz="1800" baseline="0" dirty="0" smtClean="0"/>
                        <a:t> (text) (</a:t>
                      </a:r>
                      <a:r>
                        <a:rPr lang="en-US" sz="1800" baseline="0" dirty="0" err="1" smtClean="0">
                          <a:solidFill>
                            <a:srgbClr val="FF0000"/>
                          </a:solidFill>
                        </a:rPr>
                        <a:t>mặc</a:t>
                      </a:r>
                      <a:r>
                        <a:rPr lang="en-US" sz="18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FF0000"/>
                          </a:solidFill>
                        </a:rPr>
                        <a:t>định</a:t>
                      </a:r>
                      <a:r>
                        <a:rPr lang="en-US" sz="1800" baseline="0" dirty="0" smtClean="0"/>
                        <a:t>)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64016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Mở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tập</a:t>
                      </a:r>
                      <a:r>
                        <a:rPr lang="en-US" sz="1800" baseline="0" dirty="0" smtClean="0"/>
                        <a:t> tin </a:t>
                      </a:r>
                      <a:r>
                        <a:rPr lang="en-US" sz="1800" baseline="0" dirty="0" err="1" smtClean="0">
                          <a:solidFill>
                            <a:srgbClr val="FF0000"/>
                          </a:solidFill>
                        </a:rPr>
                        <a:t>chỉ</a:t>
                      </a:r>
                      <a:r>
                        <a:rPr lang="en-US" sz="18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FF0000"/>
                          </a:solidFill>
                        </a:rPr>
                        <a:t>để</a:t>
                      </a:r>
                      <a:r>
                        <a:rPr lang="en-US" sz="18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FF0000"/>
                          </a:solidFill>
                        </a:rPr>
                        <a:t>đọc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dữ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liệu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từ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tập</a:t>
                      </a:r>
                      <a:r>
                        <a:rPr lang="en-US" sz="1800" baseline="0" dirty="0" smtClean="0"/>
                        <a:t> tin. </a:t>
                      </a:r>
                      <a:r>
                        <a:rPr lang="en-US" sz="1800" baseline="0" dirty="0" err="1" smtClean="0"/>
                        <a:t>Trả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về</a:t>
                      </a:r>
                      <a:r>
                        <a:rPr lang="en-US" sz="1800" baseline="0" dirty="0" smtClean="0"/>
                        <a:t> NULL </a:t>
                      </a:r>
                      <a:r>
                        <a:rPr lang="en-US" sz="1800" baseline="0" dirty="0" err="1" smtClean="0"/>
                        <a:t>nếu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không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tìm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thấy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tập</a:t>
                      </a:r>
                      <a:r>
                        <a:rPr lang="en-US" sz="1800" baseline="0" dirty="0" smtClean="0"/>
                        <a:t> tin.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914524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w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Mở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tập</a:t>
                      </a:r>
                      <a:r>
                        <a:rPr lang="en-US" sz="1800" baseline="0" dirty="0" smtClean="0"/>
                        <a:t> tin </a:t>
                      </a:r>
                      <a:r>
                        <a:rPr lang="en-US" sz="1800" baseline="0" dirty="0" err="1" smtClean="0">
                          <a:solidFill>
                            <a:srgbClr val="FF0000"/>
                          </a:solidFill>
                        </a:rPr>
                        <a:t>chỉ</a:t>
                      </a:r>
                      <a:r>
                        <a:rPr lang="en-US" sz="18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FF0000"/>
                          </a:solidFill>
                        </a:rPr>
                        <a:t>để</a:t>
                      </a:r>
                      <a:r>
                        <a:rPr lang="en-US" sz="18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FF0000"/>
                          </a:solidFill>
                        </a:rPr>
                        <a:t>ghi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dữ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liệu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vào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tập</a:t>
                      </a:r>
                      <a:r>
                        <a:rPr lang="en-US" sz="1800" baseline="0" dirty="0" smtClean="0"/>
                        <a:t> tin. </a:t>
                      </a:r>
                      <a:r>
                        <a:rPr lang="en-US" sz="1800" baseline="0" dirty="0" err="1" smtClean="0"/>
                        <a:t>Tập</a:t>
                      </a:r>
                      <a:r>
                        <a:rPr lang="en-US" sz="1800" baseline="0" dirty="0" smtClean="0"/>
                        <a:t> tin </a:t>
                      </a:r>
                      <a:r>
                        <a:rPr lang="en-US" sz="1800" baseline="0" dirty="0" err="1" smtClean="0"/>
                        <a:t>sẽ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được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tạo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nếu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chưa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có</a:t>
                      </a:r>
                      <a:r>
                        <a:rPr lang="en-US" sz="1800" baseline="0" dirty="0" smtClean="0"/>
                        <a:t>, </a:t>
                      </a:r>
                      <a:r>
                        <a:rPr lang="en-US" sz="1800" baseline="0" dirty="0" err="1" smtClean="0"/>
                        <a:t>ngược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lại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dữ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liệu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trước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đó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sẽ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bị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xóa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hết</a:t>
                      </a:r>
                      <a:r>
                        <a:rPr lang="en-US" sz="1800" baseline="0" dirty="0" smtClean="0"/>
                        <a:t>.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64016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r>
                        <a:rPr lang="en-US" sz="1800" dirty="0" err="1" smtClean="0"/>
                        <a:t>Mở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tập</a:t>
                      </a:r>
                      <a:r>
                        <a:rPr lang="en-US" sz="1800" baseline="0" dirty="0" smtClean="0"/>
                        <a:t> tin </a:t>
                      </a:r>
                      <a:r>
                        <a:rPr lang="en-US" sz="1800" baseline="0" dirty="0" err="1" smtClean="0">
                          <a:solidFill>
                            <a:srgbClr val="FF0000"/>
                          </a:solidFill>
                        </a:rPr>
                        <a:t>chỉ</a:t>
                      </a:r>
                      <a:r>
                        <a:rPr lang="en-US" sz="18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FF0000"/>
                          </a:solidFill>
                        </a:rPr>
                        <a:t>để</a:t>
                      </a:r>
                      <a:r>
                        <a:rPr lang="en-US" sz="1800" baseline="0" dirty="0" smtClean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sz="1800" baseline="0" dirty="0" err="1" smtClean="0">
                          <a:solidFill>
                            <a:srgbClr val="FF0000"/>
                          </a:solidFill>
                        </a:rPr>
                        <a:t>thêm</a:t>
                      </a:r>
                      <a:r>
                        <a:rPr lang="en-US" sz="1800" baseline="0" dirty="0" smtClean="0"/>
                        <a:t> (append) </a:t>
                      </a:r>
                      <a:r>
                        <a:rPr lang="en-US" sz="1800" baseline="0" dirty="0" err="1" smtClean="0"/>
                        <a:t>dữ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liệu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vào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cuối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tập</a:t>
                      </a:r>
                      <a:r>
                        <a:rPr lang="en-US" sz="1800" baseline="0" dirty="0" smtClean="0"/>
                        <a:t> tin. </a:t>
                      </a:r>
                      <a:r>
                        <a:rPr lang="en-US" sz="1800" baseline="0" dirty="0" err="1" smtClean="0"/>
                        <a:t>Tập</a:t>
                      </a:r>
                      <a:r>
                        <a:rPr lang="en-US" sz="1800" baseline="0" dirty="0" smtClean="0"/>
                        <a:t> tin </a:t>
                      </a:r>
                      <a:r>
                        <a:rPr lang="en-US" sz="1800" baseline="0" dirty="0" err="1" smtClean="0"/>
                        <a:t>sẽ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được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tạo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nếu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chưa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có</a:t>
                      </a:r>
                      <a:r>
                        <a:rPr lang="en-US" sz="1800" baseline="0" dirty="0" smtClean="0"/>
                        <a:t>.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640167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r+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/>
                        <a:t>Giống</a:t>
                      </a:r>
                      <a:r>
                        <a:rPr lang="en-US" sz="1800" baseline="0" dirty="0" smtClean="0"/>
                        <a:t> mode r </a:t>
                      </a:r>
                      <a:r>
                        <a:rPr lang="en-US" sz="1800" baseline="0" dirty="0" err="1" smtClean="0"/>
                        <a:t>và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bổ</a:t>
                      </a:r>
                      <a:r>
                        <a:rPr lang="en-US" sz="1800" baseline="0" dirty="0" smtClean="0"/>
                        <a:t> sung </a:t>
                      </a:r>
                      <a:r>
                        <a:rPr lang="en-US" sz="1800" baseline="0" dirty="0" err="1" smtClean="0"/>
                        <a:t>thêm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tính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năng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ghi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dữ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liệu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và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tập</a:t>
                      </a:r>
                      <a:r>
                        <a:rPr lang="en-US" sz="1800" baseline="0" dirty="0" smtClean="0"/>
                        <a:t> tin </a:t>
                      </a:r>
                      <a:r>
                        <a:rPr lang="en-US" sz="1800" baseline="0" dirty="0" err="1" smtClean="0"/>
                        <a:t>sẽ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được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tạo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nếu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chưa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có</a:t>
                      </a:r>
                      <a:r>
                        <a:rPr lang="en-US" sz="1800" baseline="0" dirty="0" smtClean="0"/>
                        <a:t>.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7089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w+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/>
                        <a:t>Giống</a:t>
                      </a:r>
                      <a:r>
                        <a:rPr lang="en-US" sz="1800" baseline="0" dirty="0" smtClean="0"/>
                        <a:t> mode w </a:t>
                      </a:r>
                      <a:r>
                        <a:rPr lang="en-US" sz="1800" baseline="0" dirty="0" err="1" smtClean="0"/>
                        <a:t>và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bổ</a:t>
                      </a:r>
                      <a:r>
                        <a:rPr lang="en-US" sz="1800" baseline="0" dirty="0" smtClean="0"/>
                        <a:t> sung </a:t>
                      </a:r>
                      <a:r>
                        <a:rPr lang="en-US" sz="1800" baseline="0" dirty="0" err="1" smtClean="0"/>
                        <a:t>thêm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tính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năng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đọc</a:t>
                      </a:r>
                      <a:r>
                        <a:rPr lang="en-US" sz="1800" baseline="0" dirty="0" smtClean="0"/>
                        <a:t>.</a:t>
                      </a:r>
                      <a:endParaRPr lang="en-US" sz="1800" dirty="0"/>
                    </a:p>
                  </a:txBody>
                  <a:tcPr marT="45726" marB="45726"/>
                </a:tc>
              </a:tr>
              <a:tr h="370890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a+</a:t>
                      </a:r>
                      <a:endParaRPr lang="en-US" sz="1800" dirty="0"/>
                    </a:p>
                  </a:txBody>
                  <a:tcPr marT="45726" marB="45726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 err="1" smtClean="0"/>
                        <a:t>Giống</a:t>
                      </a:r>
                      <a:r>
                        <a:rPr lang="en-US" sz="1800" baseline="0" dirty="0" smtClean="0"/>
                        <a:t> mode a </a:t>
                      </a:r>
                      <a:r>
                        <a:rPr lang="en-US" sz="1800" baseline="0" dirty="0" err="1" smtClean="0"/>
                        <a:t>và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bổ</a:t>
                      </a:r>
                      <a:r>
                        <a:rPr lang="en-US" sz="1800" baseline="0" dirty="0" smtClean="0"/>
                        <a:t> sung </a:t>
                      </a:r>
                      <a:r>
                        <a:rPr lang="en-US" sz="1800" baseline="0" dirty="0" err="1" smtClean="0"/>
                        <a:t>thêm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tính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năng</a:t>
                      </a:r>
                      <a:r>
                        <a:rPr lang="en-US" sz="1800" baseline="0" dirty="0" smtClean="0"/>
                        <a:t> </a:t>
                      </a:r>
                      <a:r>
                        <a:rPr lang="en-US" sz="1800" baseline="0" dirty="0" err="1" smtClean="0"/>
                        <a:t>đọc</a:t>
                      </a:r>
                      <a:r>
                        <a:rPr lang="en-US" sz="1800" baseline="0" dirty="0" smtClean="0"/>
                        <a:t>.</a:t>
                      </a:r>
                      <a:endParaRPr lang="en-US" sz="1800" dirty="0"/>
                    </a:p>
                  </a:txBody>
                  <a:tcPr marT="45726" marB="45726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Đọc và ghi dữ liệu (stdio.h)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Thực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hiện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đọc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/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ghi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dữ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liệu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theo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cách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sau: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dirty="0" err="1" smtClean="0"/>
              <a:t>Nhập</a:t>
            </a:r>
            <a:r>
              <a:rPr lang="en-US" dirty="0" smtClean="0"/>
              <a:t>/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theo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định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dạng</a:t>
            </a:r>
            <a:endParaRPr lang="en-US" dirty="0" smtClean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en-US" dirty="0" err="1" smtClean="0"/>
              <a:t>Hàm</a:t>
            </a:r>
            <a:r>
              <a:rPr lang="en-US" dirty="0" smtClean="0"/>
              <a:t>: </a:t>
            </a:r>
            <a:r>
              <a:rPr lang="en-US" dirty="0" err="1" smtClean="0">
                <a:solidFill>
                  <a:srgbClr val="FF0000"/>
                </a:solidFill>
              </a:rPr>
              <a:t>fscanf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fprintf</a:t>
            </a:r>
            <a:endParaRPr lang="en-US" dirty="0" smtClean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Chỉ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>
                <a:solidFill>
                  <a:srgbClr val="FF0000"/>
                </a:solidFill>
              </a:rPr>
              <a:t>kiểu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văn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bản</a:t>
            </a:r>
            <a:r>
              <a:rPr lang="en-US" dirty="0" smtClean="0"/>
              <a:t>.</a:t>
            </a:r>
          </a:p>
          <a:p>
            <a:pPr lvl="1">
              <a:defRPr/>
            </a:pPr>
            <a:r>
              <a:rPr lang="en-US" dirty="0" err="1" smtClean="0"/>
              <a:t>Nhập</a:t>
            </a:r>
            <a:r>
              <a:rPr lang="en-US" dirty="0" smtClean="0"/>
              <a:t>/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từng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ký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tự</a:t>
            </a:r>
            <a:r>
              <a:rPr lang="en-US" dirty="0" smtClean="0">
                <a:solidFill>
                  <a:srgbClr val="FF0000"/>
                </a:solidFill>
              </a:rPr>
              <a:t> hay </a:t>
            </a:r>
            <a:r>
              <a:rPr lang="en-US" dirty="0" err="1" smtClean="0">
                <a:solidFill>
                  <a:srgbClr val="FF0000"/>
                </a:solidFill>
              </a:rPr>
              <a:t>dòng</a:t>
            </a:r>
            <a:r>
              <a:rPr lang="en-US" dirty="0" smtClean="0"/>
              <a:t> </a:t>
            </a:r>
            <a:r>
              <a:rPr lang="en-US" dirty="0" err="1" smtClean="0"/>
              <a:t>lên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</a:t>
            </a:r>
          </a:p>
          <a:p>
            <a:pPr lvl="2">
              <a:defRPr/>
            </a:pPr>
            <a:r>
              <a:rPr lang="en-US" dirty="0" err="1" smtClean="0"/>
              <a:t>Hàm</a:t>
            </a:r>
            <a:r>
              <a:rPr lang="en-US" dirty="0" smtClean="0"/>
              <a:t>: </a:t>
            </a:r>
            <a:r>
              <a:rPr lang="en-US" dirty="0" err="1" smtClean="0">
                <a:solidFill>
                  <a:srgbClr val="FF0000"/>
                </a:solidFill>
              </a:rPr>
              <a:t>getc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fgetc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fgets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putc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fputs</a:t>
            </a:r>
            <a:endParaRPr lang="en-US" dirty="0" smtClean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Chỉ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nên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kiểu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văn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bản</a:t>
            </a:r>
            <a:r>
              <a:rPr lang="en-US" dirty="0" smtClean="0"/>
              <a:t>.</a:t>
            </a:r>
          </a:p>
          <a:p>
            <a:pPr lvl="1">
              <a:defRPr/>
            </a:pPr>
            <a:r>
              <a:rPr lang="en-US" dirty="0" err="1" smtClean="0"/>
              <a:t>Đọc</a:t>
            </a:r>
            <a:r>
              <a:rPr lang="en-US" dirty="0" smtClean="0"/>
              <a:t>/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trực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nhớ</a:t>
            </a:r>
            <a:r>
              <a:rPr lang="en-US" dirty="0" smtClean="0"/>
              <a:t> </a:t>
            </a:r>
            <a:r>
              <a:rPr lang="en-US" dirty="0" err="1" smtClean="0"/>
              <a:t>lên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</a:t>
            </a:r>
          </a:p>
          <a:p>
            <a:pPr lvl="2">
              <a:defRPr/>
            </a:pPr>
            <a:r>
              <a:rPr lang="en-US" dirty="0" err="1" smtClean="0"/>
              <a:t>Hàm</a:t>
            </a:r>
            <a:r>
              <a:rPr lang="en-US" dirty="0" smtClean="0"/>
              <a:t>: </a:t>
            </a:r>
            <a:r>
              <a:rPr lang="en-US" dirty="0" err="1" smtClean="0">
                <a:solidFill>
                  <a:srgbClr val="FF0000"/>
                </a:solidFill>
              </a:rPr>
              <a:t>fread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fwrite</a:t>
            </a:r>
            <a:endParaRPr lang="en-US" dirty="0" smtClean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Chỉ</a:t>
            </a:r>
            <a:r>
              <a:rPr lang="en-US" dirty="0" smtClean="0"/>
              <a:t> </a:t>
            </a:r>
            <a:r>
              <a:rPr lang="en-US" dirty="0" err="1" smtClean="0"/>
              <a:t>dùng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>
                <a:solidFill>
                  <a:srgbClr val="FF0000"/>
                </a:solidFill>
              </a:rPr>
              <a:t>kiểu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nhị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phân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xuất theo định dạng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  <p:sp>
        <p:nvSpPr>
          <p:cNvPr id="14" name="AutoShape 47"/>
          <p:cNvSpPr>
            <a:spLocks noChangeArrowheads="1"/>
          </p:cNvSpPr>
          <p:nvPr/>
        </p:nvSpPr>
        <p:spPr bwMode="gray">
          <a:xfrm>
            <a:off x="685800" y="2230438"/>
            <a:ext cx="6858000" cy="3865562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5" name="Picture 11" descr="book_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1524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9"/>
          <p:cNvSpPr txBox="1">
            <a:spLocks noChangeArrowheads="1"/>
          </p:cNvSpPr>
          <p:nvPr/>
        </p:nvSpPr>
        <p:spPr bwMode="gray">
          <a:xfrm>
            <a:off x="2286000" y="2341563"/>
            <a:ext cx="5181600" cy="11636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Ghi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dữ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liệu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có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chuỗi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định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dạng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fnt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giống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hàm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vào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Nếu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là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stdout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thì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hàm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giống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1" name="Text Box 49"/>
          <p:cNvSpPr txBox="1">
            <a:spLocks noChangeArrowheads="1"/>
          </p:cNvSpPr>
          <p:nvPr/>
        </p:nvSpPr>
        <p:spPr bwMode="gray">
          <a:xfrm>
            <a:off x="2286000" y="35814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Thành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số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byte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ghi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được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Thất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bại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EOF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có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giá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trị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là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-1,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được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định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nghĩa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trong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STDIO.H,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sử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dụng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trong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tập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có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kiểu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văn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bản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</a:t>
            </a: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gray">
          <a:xfrm>
            <a:off x="2286000" y="48006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= 2912;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c = ‘P’; float f = 17.06;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FILE*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=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fopen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(“taptin.txt”, “wt”);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if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!= NULL)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	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fprintf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“%d %c %.2f\n”,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c, f);</a:t>
            </a:r>
          </a:p>
        </p:txBody>
      </p:sp>
      <p:pic>
        <p:nvPicPr>
          <p:cNvPr id="24" name="Picture 40" descr="board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ight Arrow 24"/>
          <p:cNvSpPr/>
          <p:nvPr/>
        </p:nvSpPr>
        <p:spPr bwMode="auto">
          <a:xfrm>
            <a:off x="914400" y="3733800"/>
            <a:ext cx="1143000" cy="8382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24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Trả về</a:t>
            </a:r>
          </a:p>
        </p:txBody>
      </p:sp>
      <p:sp>
        <p:nvSpPr>
          <p:cNvPr id="11" name="Freeform 2"/>
          <p:cNvSpPr>
            <a:spLocks/>
          </p:cNvSpPr>
          <p:nvPr/>
        </p:nvSpPr>
        <p:spPr bwMode="gray">
          <a:xfrm>
            <a:off x="587375" y="1676400"/>
            <a:ext cx="6970713" cy="530225"/>
          </a:xfrm>
          <a:custGeom>
            <a:avLst/>
            <a:gdLst/>
            <a:ahLst/>
            <a:cxnLst>
              <a:cxn ang="0">
                <a:pos x="26" y="121"/>
              </a:cxn>
              <a:cxn ang="0">
                <a:pos x="26" y="291"/>
              </a:cxn>
              <a:cxn ang="0">
                <a:pos x="2014" y="291"/>
              </a:cxn>
              <a:cxn ang="0">
                <a:pos x="2014" y="114"/>
              </a:cxn>
              <a:cxn ang="0">
                <a:pos x="1868" y="13"/>
              </a:cxn>
              <a:cxn ang="0">
                <a:pos x="170" y="13"/>
              </a:cxn>
              <a:cxn ang="0">
                <a:pos x="26" y="121"/>
              </a:cxn>
            </a:cxnLst>
            <a:rect l="0" t="0" r="r" b="b"/>
            <a:pathLst>
              <a:path w="2019" h="291">
                <a:moveTo>
                  <a:pt x="26" y="121"/>
                </a:moveTo>
                <a:cubicBezTo>
                  <a:pt x="26" y="245"/>
                  <a:pt x="26" y="291"/>
                  <a:pt x="26" y="291"/>
                </a:cubicBezTo>
                <a:lnTo>
                  <a:pt x="2014" y="291"/>
                </a:lnTo>
                <a:lnTo>
                  <a:pt x="2014" y="114"/>
                </a:lnTo>
                <a:cubicBezTo>
                  <a:pt x="2009" y="76"/>
                  <a:pt x="2019" y="0"/>
                  <a:pt x="1868" y="13"/>
                </a:cubicBezTo>
                <a:cubicBezTo>
                  <a:pt x="1015" y="13"/>
                  <a:pt x="170" y="13"/>
                  <a:pt x="170" y="13"/>
                </a:cubicBezTo>
                <a:cubicBezTo>
                  <a:pt x="0" y="7"/>
                  <a:pt x="24" y="99"/>
                  <a:pt x="26" y="121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chemeClr val="tx1">
                  <a:lumMod val="40000"/>
                  <a:lumOff val="6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9525" cap="flat" cmpd="sng" algn="ctr">
            <a:solidFill>
              <a:srgbClr val="738AC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 err="1">
                <a:solidFill>
                  <a:srgbClr val="FF0000"/>
                </a:solidFill>
                <a:latin typeface="Verdana"/>
                <a:cs typeface="+mn-cs"/>
              </a:rPr>
              <a:t>fprintf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(FILE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fp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char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fnt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…)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1" grpId="0" animBg="1"/>
      <p:bldP spid="23" grpId="0" animBg="1"/>
      <p:bldP spid="1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nhập theo định dạng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  <p:sp>
        <p:nvSpPr>
          <p:cNvPr id="14" name="AutoShape 47"/>
          <p:cNvSpPr>
            <a:spLocks noChangeArrowheads="1"/>
          </p:cNvSpPr>
          <p:nvPr/>
        </p:nvSpPr>
        <p:spPr bwMode="gray">
          <a:xfrm>
            <a:off x="685800" y="2230438"/>
            <a:ext cx="6858000" cy="3865562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5" name="Picture 11" descr="book_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1524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9"/>
          <p:cNvSpPr txBox="1">
            <a:spLocks noChangeArrowheads="1"/>
          </p:cNvSpPr>
          <p:nvPr/>
        </p:nvSpPr>
        <p:spPr bwMode="gray">
          <a:xfrm>
            <a:off x="2286000" y="2341563"/>
            <a:ext cx="5181600" cy="11636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Đọc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dữ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liệu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có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chuỗi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định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dạng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fnt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giống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hàm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scanf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từ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Nếu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là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stdin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thì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hàm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giống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1" name="Text Box 49"/>
          <p:cNvSpPr txBox="1">
            <a:spLocks noChangeArrowheads="1"/>
          </p:cNvSpPr>
          <p:nvPr/>
        </p:nvSpPr>
        <p:spPr bwMode="gray">
          <a:xfrm>
            <a:off x="2286000" y="35814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Thành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số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thành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phần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đọc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và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lưu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trữ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được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Thất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bại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EOF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gray">
          <a:xfrm>
            <a:off x="2286000" y="48006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FILE*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=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fopen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(“taptin.txt”, “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rt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”);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if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!= NULL)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	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fscanf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“%d”, &amp;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);</a:t>
            </a:r>
          </a:p>
        </p:txBody>
      </p:sp>
      <p:pic>
        <p:nvPicPr>
          <p:cNvPr id="24" name="Picture 40" descr="board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ight Arrow 24"/>
          <p:cNvSpPr/>
          <p:nvPr/>
        </p:nvSpPr>
        <p:spPr bwMode="auto">
          <a:xfrm>
            <a:off x="914400" y="3733800"/>
            <a:ext cx="1143000" cy="8382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24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Trả về</a:t>
            </a:r>
          </a:p>
        </p:txBody>
      </p:sp>
      <p:sp>
        <p:nvSpPr>
          <p:cNvPr id="11" name="Freeform 2"/>
          <p:cNvSpPr>
            <a:spLocks/>
          </p:cNvSpPr>
          <p:nvPr/>
        </p:nvSpPr>
        <p:spPr bwMode="gray">
          <a:xfrm>
            <a:off x="587375" y="1676400"/>
            <a:ext cx="6970713" cy="530225"/>
          </a:xfrm>
          <a:custGeom>
            <a:avLst/>
            <a:gdLst/>
            <a:ahLst/>
            <a:cxnLst>
              <a:cxn ang="0">
                <a:pos x="26" y="121"/>
              </a:cxn>
              <a:cxn ang="0">
                <a:pos x="26" y="291"/>
              </a:cxn>
              <a:cxn ang="0">
                <a:pos x="2014" y="291"/>
              </a:cxn>
              <a:cxn ang="0">
                <a:pos x="2014" y="114"/>
              </a:cxn>
              <a:cxn ang="0">
                <a:pos x="1868" y="13"/>
              </a:cxn>
              <a:cxn ang="0">
                <a:pos x="170" y="13"/>
              </a:cxn>
              <a:cxn ang="0">
                <a:pos x="26" y="121"/>
              </a:cxn>
            </a:cxnLst>
            <a:rect l="0" t="0" r="r" b="b"/>
            <a:pathLst>
              <a:path w="2019" h="291">
                <a:moveTo>
                  <a:pt x="26" y="121"/>
                </a:moveTo>
                <a:cubicBezTo>
                  <a:pt x="26" y="245"/>
                  <a:pt x="26" y="291"/>
                  <a:pt x="26" y="291"/>
                </a:cubicBezTo>
                <a:lnTo>
                  <a:pt x="2014" y="291"/>
                </a:lnTo>
                <a:lnTo>
                  <a:pt x="2014" y="114"/>
                </a:lnTo>
                <a:cubicBezTo>
                  <a:pt x="2009" y="76"/>
                  <a:pt x="2019" y="0"/>
                  <a:pt x="1868" y="13"/>
                </a:cubicBezTo>
                <a:cubicBezTo>
                  <a:pt x="1015" y="13"/>
                  <a:pt x="170" y="13"/>
                  <a:pt x="170" y="13"/>
                </a:cubicBezTo>
                <a:cubicBezTo>
                  <a:pt x="0" y="7"/>
                  <a:pt x="24" y="99"/>
                  <a:pt x="26" y="121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chemeClr val="tx1">
                  <a:lumMod val="40000"/>
                  <a:lumOff val="6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9525" cap="flat" cmpd="sng" algn="ctr">
            <a:solidFill>
              <a:srgbClr val="738AC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err="1">
                <a:solidFill>
                  <a:srgbClr val="FF0000"/>
                </a:solidFill>
                <a:latin typeface="Verdana"/>
                <a:cs typeface="+mn-cs"/>
              </a:rPr>
              <a:t>fscanf</a:t>
            </a:r>
            <a:r>
              <a:rPr lang="en-US" sz="1600" b="1" kern="0">
                <a:solidFill>
                  <a:schemeClr val="accent3"/>
                </a:solidFill>
                <a:latin typeface="Verdana"/>
                <a:cs typeface="+mn-cs"/>
              </a:rPr>
              <a:t>(FILE </a:t>
            </a:r>
            <a:r>
              <a:rPr lang="en-US" sz="1600" b="1" kern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>
                <a:solidFill>
                  <a:srgbClr val="FFC000"/>
                </a:solidFill>
                <a:latin typeface="Verdana"/>
                <a:cs typeface="+mn-cs"/>
              </a:rPr>
              <a:t>fp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</a:t>
            </a:r>
            <a:r>
              <a:rPr lang="en-US" sz="1600" b="1" kern="0">
                <a:solidFill>
                  <a:schemeClr val="accent3"/>
                </a:solidFill>
                <a:latin typeface="Verdana"/>
                <a:cs typeface="+mn-cs"/>
              </a:rPr>
              <a:t>char </a:t>
            </a:r>
            <a:r>
              <a:rPr lang="en-US" sz="1600" b="1" kern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>
                <a:solidFill>
                  <a:srgbClr val="FFC000"/>
                </a:solidFill>
                <a:latin typeface="Verdana"/>
                <a:cs typeface="+mn-cs"/>
              </a:rPr>
              <a:t>fnt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…)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1" grpId="0" animBg="1"/>
      <p:bldP spid="23" grpId="0" animBg="1"/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nhập theo định dạng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Ví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dụ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chứa</a:t>
            </a:r>
            <a:r>
              <a:rPr lang="en-US" dirty="0" smtClean="0"/>
              <a:t> </a:t>
            </a:r>
            <a:r>
              <a:rPr lang="en-US" dirty="0" err="1" smtClean="0"/>
              <a:t>nhiều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,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thông</a:t>
            </a:r>
            <a:r>
              <a:rPr lang="en-US" dirty="0" smtClean="0"/>
              <a:t> tin </a:t>
            </a:r>
            <a:r>
              <a:rPr lang="en-US" dirty="0" err="1" smtClean="0"/>
              <a:t>mỗi</a:t>
            </a:r>
            <a:r>
              <a:rPr lang="en-US" dirty="0" smtClean="0"/>
              <a:t> </a:t>
            </a:r>
            <a:r>
              <a:rPr lang="en-US" dirty="0" err="1" smtClean="0"/>
              <a:t>sinh</a:t>
            </a:r>
            <a:r>
              <a:rPr lang="en-US" dirty="0" smtClean="0"/>
              <a:t> </a:t>
            </a:r>
            <a:r>
              <a:rPr lang="en-US" dirty="0" err="1" smtClean="0"/>
              <a:t>viên</a:t>
            </a:r>
            <a:r>
              <a:rPr lang="en-US" dirty="0" smtClean="0"/>
              <a:t> </a:t>
            </a:r>
            <a:r>
              <a:rPr lang="en-US" dirty="0" err="1" smtClean="0"/>
              <a:t>theo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:</a:t>
            </a:r>
          </a:p>
          <a:p>
            <a:pPr lvl="2">
              <a:defRPr/>
            </a:pP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&lt;MSSV&gt;</a:t>
            </a:r>
            <a:r>
              <a:rPr lang="en-US" dirty="0" smtClean="0">
                <a:solidFill>
                  <a:srgbClr val="FF0000"/>
                </a:solidFill>
              </a:rPr>
              <a:t>-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&lt;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Tên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&lt;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Phái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&gt;</a:t>
            </a:r>
            <a:r>
              <a:rPr lang="en-US" dirty="0" smtClean="0">
                <a:solidFill>
                  <a:srgbClr val="FF0000"/>
                </a:solidFill>
              </a:rPr>
              <a:t>)tab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&lt;NTNS&gt;</a:t>
            </a:r>
            <a:r>
              <a:rPr lang="en-US" dirty="0" smtClean="0">
                <a:solidFill>
                  <a:srgbClr val="FF0000"/>
                </a:solidFill>
              </a:rPr>
              <a:t>tab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&lt;ĐTB&gt;</a:t>
            </a:r>
          </a:p>
          <a:p>
            <a:pPr lvl="2">
              <a:defRPr/>
            </a:pPr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 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0312078</a:t>
            </a:r>
            <a:r>
              <a:rPr lang="en-US" dirty="0" smtClean="0">
                <a:solidFill>
                  <a:srgbClr val="FF0000"/>
                </a:solidFill>
              </a:rPr>
              <a:t>-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H. P.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Trang</a:t>
            </a:r>
            <a:r>
              <a:rPr lang="en-US" dirty="0" smtClean="0">
                <a:solidFill>
                  <a:srgbClr val="FF0000"/>
                </a:solidFill>
              </a:rPr>
              <a:t>(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Nu</a:t>
            </a:r>
            <a:r>
              <a:rPr lang="en-US" dirty="0" smtClean="0">
                <a:solidFill>
                  <a:srgbClr val="FF0000"/>
                </a:solidFill>
              </a:rPr>
              <a:t>)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  17/06/85   8.5</a:t>
            </a:r>
          </a:p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Đọc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chuỗi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thông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tin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phức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hợp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dirty="0" smtClean="0">
                <a:solidFill>
                  <a:srgbClr val="FF0000"/>
                </a:solidFill>
              </a:rPr>
              <a:t>%[</a:t>
            </a:r>
            <a:r>
              <a:rPr lang="en-US" dirty="0" err="1" smtClean="0">
                <a:solidFill>
                  <a:srgbClr val="FF0000"/>
                </a:solidFill>
              </a:rPr>
              <a:t>chuỗi</a:t>
            </a:r>
            <a:r>
              <a:rPr lang="en-US" dirty="0" smtClean="0">
                <a:solidFill>
                  <a:srgbClr val="FF0000"/>
                </a:solidFill>
              </a:rPr>
              <a:t>]</a:t>
            </a:r>
            <a:r>
              <a:rPr lang="en-US" dirty="0" smtClean="0"/>
              <a:t>: </a:t>
            </a:r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không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gặp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nào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chuỗi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dừng</a:t>
            </a:r>
            <a:r>
              <a:rPr lang="en-US" dirty="0" smtClean="0"/>
              <a:t>.</a:t>
            </a:r>
          </a:p>
          <a:p>
            <a:pPr lvl="1">
              <a:defRPr/>
            </a:pPr>
            <a:r>
              <a:rPr lang="en-US" dirty="0" smtClean="0">
                <a:solidFill>
                  <a:srgbClr val="FF0000"/>
                </a:solidFill>
              </a:rPr>
              <a:t>%[^</a:t>
            </a:r>
            <a:r>
              <a:rPr lang="en-US" dirty="0" err="1" smtClean="0">
                <a:solidFill>
                  <a:srgbClr val="FF0000"/>
                </a:solidFill>
              </a:rPr>
              <a:t>chuỗi</a:t>
            </a:r>
            <a:r>
              <a:rPr lang="en-US" dirty="0" smtClean="0">
                <a:solidFill>
                  <a:srgbClr val="FF0000"/>
                </a:solidFill>
              </a:rPr>
              <a:t>]</a:t>
            </a:r>
            <a:r>
              <a:rPr lang="en-US" dirty="0" smtClean="0"/>
              <a:t>: </a:t>
            </a:r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rgbClr val="FF0000"/>
                </a:solidFill>
              </a:rPr>
              <a:t>gặp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những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chuỗi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dừng</a:t>
            </a:r>
            <a:r>
              <a:rPr lang="en-US" dirty="0" smtClean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Tách 2 Mảng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152400" cy="5181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5845" name="TextBox 7"/>
          <p:cNvSpPr txBox="1">
            <a:spLocks noChangeArrowheads="1"/>
          </p:cNvSpPr>
          <p:nvPr/>
        </p:nvSpPr>
        <p:spPr bwMode="auto">
          <a:xfrm>
            <a:off x="838200" y="1371600"/>
            <a:ext cx="8305800" cy="532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struct SINHVIEN 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char MSSV[8];	// 0312078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char HoTen[30];	// H. P. Trang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char GioiTinh[4];	// Nu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char NTNS[9];	// 17/06/85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float DiemTB;	// 8.5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main</a:t>
            </a:r>
            <a:r>
              <a:rPr lang="en-US" sz="2000" b="1">
                <a:latin typeface="Courier New" pitchFamily="49" charset="0"/>
                <a:cs typeface="Courier New" pitchFamily="49" charset="0"/>
              </a:rPr>
              <a:t>() 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SINHVIEN sv;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FILE *fp = fopen(“dssv.txt”, “rt”);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if (fp != NULL) 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fscanf(fp, “%[^-]-%[^(](%[^)])\t%[^\t]</a:t>
            </a:r>
          </a:p>
          <a:p>
            <a:pPr algn="r"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\t%f”, &amp;sv.MSSV, &amp;sv.HoTen,</a:t>
            </a:r>
          </a:p>
          <a:p>
            <a:pPr algn="r"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&amp;sv.GioiTinh, &amp;sv.NTNS, &amp;sv.DiemTB);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	fclose(fp);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9" name="Rectangle 8"/>
          <p:cNvSpPr>
            <a:spLocks/>
          </p:cNvSpPr>
          <p:nvPr/>
        </p:nvSpPr>
        <p:spPr bwMode="auto">
          <a:xfrm>
            <a:off x="0" y="1447800"/>
            <a:ext cx="9128125" cy="20574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0" y="3810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" name="Rectangle 10"/>
          <p:cNvSpPr>
            <a:spLocks/>
          </p:cNvSpPr>
          <p:nvPr/>
        </p:nvSpPr>
        <p:spPr bwMode="auto">
          <a:xfrm>
            <a:off x="0" y="41148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" name="Rectangle 11"/>
          <p:cNvSpPr>
            <a:spLocks/>
          </p:cNvSpPr>
          <p:nvPr/>
        </p:nvSpPr>
        <p:spPr bwMode="auto">
          <a:xfrm>
            <a:off x="0" y="44196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" name="Rectangle 12"/>
          <p:cNvSpPr>
            <a:spLocks/>
          </p:cNvSpPr>
          <p:nvPr/>
        </p:nvSpPr>
        <p:spPr bwMode="auto">
          <a:xfrm>
            <a:off x="0" y="4724400"/>
            <a:ext cx="9128125" cy="9906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ectangle 13"/>
          <p:cNvSpPr>
            <a:spLocks/>
          </p:cNvSpPr>
          <p:nvPr/>
        </p:nvSpPr>
        <p:spPr bwMode="auto">
          <a:xfrm>
            <a:off x="0" y="5715000"/>
            <a:ext cx="9128125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nhập ký tự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  <p:sp>
        <p:nvSpPr>
          <p:cNvPr id="14" name="AutoShape 47"/>
          <p:cNvSpPr>
            <a:spLocks noChangeArrowheads="1"/>
          </p:cNvSpPr>
          <p:nvPr/>
        </p:nvSpPr>
        <p:spPr bwMode="gray">
          <a:xfrm>
            <a:off x="685800" y="2230438"/>
            <a:ext cx="6858000" cy="3865562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5" name="Picture 11" descr="book_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1524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9"/>
          <p:cNvSpPr txBox="1">
            <a:spLocks noChangeArrowheads="1"/>
          </p:cNvSpPr>
          <p:nvPr/>
        </p:nvSpPr>
        <p:spPr bwMode="gray">
          <a:xfrm>
            <a:off x="2286000" y="2341563"/>
            <a:ext cx="5181600" cy="11636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Đọc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một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ký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tự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từ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algn="just" eaLnBrk="0" hangingPunct="0">
              <a:defRPr/>
            </a:pP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getc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là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macro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còn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fgetc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là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phiên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bản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hàm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của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macro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getc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21" name="Text Box 49"/>
          <p:cNvSpPr txBox="1">
            <a:spLocks noChangeArrowheads="1"/>
          </p:cNvSpPr>
          <p:nvPr/>
        </p:nvSpPr>
        <p:spPr bwMode="gray">
          <a:xfrm>
            <a:off x="2286000" y="35814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Thành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ký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tự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đọc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được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sau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khi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chuyển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sang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số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nguyên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không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dấu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Thất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bại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EOF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khi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kết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thúc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hoặc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gặp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lỗi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gray">
          <a:xfrm>
            <a:off x="2286000" y="48006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char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ch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FILE*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=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fopen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(“taptin.txt”, “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rt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”);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if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!= NULL)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	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ch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=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getc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); // </a:t>
            </a:r>
            <a:r>
              <a:rPr lang="en-US" sz="2000" dirty="0">
                <a:latin typeface="Tahoma" pitchFamily="34" charset="0"/>
                <a:cs typeface="Tahoma" pitchFamily="34" charset="0"/>
                <a:sym typeface="Wingdings" pitchFamily="2" charset="2"/>
              </a:rPr>
              <a:t>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ch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=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fgetc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);</a:t>
            </a:r>
          </a:p>
        </p:txBody>
      </p:sp>
      <p:pic>
        <p:nvPicPr>
          <p:cNvPr id="24" name="Picture 40" descr="board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ight Arrow 24"/>
          <p:cNvSpPr/>
          <p:nvPr/>
        </p:nvSpPr>
        <p:spPr bwMode="auto">
          <a:xfrm>
            <a:off x="914400" y="3733800"/>
            <a:ext cx="1143000" cy="8382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24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Trả về</a:t>
            </a:r>
          </a:p>
        </p:txBody>
      </p:sp>
      <p:sp>
        <p:nvSpPr>
          <p:cNvPr id="11" name="Freeform 2"/>
          <p:cNvSpPr>
            <a:spLocks/>
          </p:cNvSpPr>
          <p:nvPr/>
        </p:nvSpPr>
        <p:spPr bwMode="gray">
          <a:xfrm>
            <a:off x="587375" y="1676400"/>
            <a:ext cx="6970713" cy="530225"/>
          </a:xfrm>
          <a:custGeom>
            <a:avLst/>
            <a:gdLst/>
            <a:ahLst/>
            <a:cxnLst>
              <a:cxn ang="0">
                <a:pos x="26" y="121"/>
              </a:cxn>
              <a:cxn ang="0">
                <a:pos x="26" y="291"/>
              </a:cxn>
              <a:cxn ang="0">
                <a:pos x="2014" y="291"/>
              </a:cxn>
              <a:cxn ang="0">
                <a:pos x="2014" y="114"/>
              </a:cxn>
              <a:cxn ang="0">
                <a:pos x="1868" y="13"/>
              </a:cxn>
              <a:cxn ang="0">
                <a:pos x="170" y="13"/>
              </a:cxn>
              <a:cxn ang="0">
                <a:pos x="26" y="121"/>
              </a:cxn>
            </a:cxnLst>
            <a:rect l="0" t="0" r="r" b="b"/>
            <a:pathLst>
              <a:path w="2019" h="291">
                <a:moveTo>
                  <a:pt x="26" y="121"/>
                </a:moveTo>
                <a:cubicBezTo>
                  <a:pt x="26" y="245"/>
                  <a:pt x="26" y="291"/>
                  <a:pt x="26" y="291"/>
                </a:cubicBezTo>
                <a:lnTo>
                  <a:pt x="2014" y="291"/>
                </a:lnTo>
                <a:lnTo>
                  <a:pt x="2014" y="114"/>
                </a:lnTo>
                <a:cubicBezTo>
                  <a:pt x="2009" y="76"/>
                  <a:pt x="2019" y="0"/>
                  <a:pt x="1868" y="13"/>
                </a:cubicBezTo>
                <a:cubicBezTo>
                  <a:pt x="1015" y="13"/>
                  <a:pt x="170" y="13"/>
                  <a:pt x="170" y="13"/>
                </a:cubicBezTo>
                <a:cubicBezTo>
                  <a:pt x="0" y="7"/>
                  <a:pt x="24" y="99"/>
                  <a:pt x="26" y="121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chemeClr val="tx1">
                  <a:lumMod val="40000"/>
                  <a:lumOff val="6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9525" cap="flat" cmpd="sng" algn="ctr">
            <a:solidFill>
              <a:srgbClr val="738AC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 err="1">
                <a:solidFill>
                  <a:srgbClr val="FF0000"/>
                </a:solidFill>
                <a:latin typeface="Verdana"/>
                <a:cs typeface="+mn-cs"/>
              </a:rPr>
              <a:t>getc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(FILE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fp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) </a:t>
            </a: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và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 err="1">
                <a:solidFill>
                  <a:srgbClr val="FF0000"/>
                </a:solidFill>
                <a:latin typeface="Verdana"/>
                <a:cs typeface="+mn-cs"/>
              </a:rPr>
              <a:t>fgetc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(FILE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fp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1" grpId="0" animBg="1"/>
      <p:bldP spid="23" grpId="0" animBg="1"/>
      <p:bldP spid="1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nhập chuỗi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  <p:sp>
        <p:nvSpPr>
          <p:cNvPr id="14" name="AutoShape 47"/>
          <p:cNvSpPr>
            <a:spLocks noChangeArrowheads="1"/>
          </p:cNvSpPr>
          <p:nvPr/>
        </p:nvSpPr>
        <p:spPr bwMode="gray">
          <a:xfrm>
            <a:off x="685800" y="2230438"/>
            <a:ext cx="6858000" cy="3865562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5" name="Picture 11" descr="book_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1524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9"/>
          <p:cNvSpPr txBox="1">
            <a:spLocks noChangeArrowheads="1"/>
          </p:cNvSpPr>
          <p:nvPr/>
        </p:nvSpPr>
        <p:spPr bwMode="gray">
          <a:xfrm>
            <a:off x="2286000" y="2341563"/>
            <a:ext cx="5181600" cy="11636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Đọc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một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dãy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ký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tự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từ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vào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vùng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nhớ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str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kết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thúc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khi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đủ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n-1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ký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tự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hoặc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gặp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ký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tự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xuống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dòng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21" name="Text Box 49"/>
          <p:cNvSpPr txBox="1">
            <a:spLocks noChangeArrowheads="1"/>
          </p:cNvSpPr>
          <p:nvPr/>
        </p:nvSpPr>
        <p:spPr bwMode="gray">
          <a:xfrm>
            <a:off x="2286000" y="35814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Thành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str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Thất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bại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NULL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khi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gặp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lỗi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hoặc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gặp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ký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tự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EOF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gray">
          <a:xfrm>
            <a:off x="2286000" y="48006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char s[20];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FILE*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=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fopen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(“taptin.txt”, “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rt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”);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if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!= NULL)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	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fgets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(s, 20,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);</a:t>
            </a:r>
          </a:p>
        </p:txBody>
      </p:sp>
      <p:pic>
        <p:nvPicPr>
          <p:cNvPr id="24" name="Picture 40" descr="board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ight Arrow 24"/>
          <p:cNvSpPr/>
          <p:nvPr/>
        </p:nvSpPr>
        <p:spPr bwMode="auto">
          <a:xfrm>
            <a:off x="914400" y="3733800"/>
            <a:ext cx="1143000" cy="8382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24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Trả về</a:t>
            </a:r>
          </a:p>
        </p:txBody>
      </p:sp>
      <p:sp>
        <p:nvSpPr>
          <p:cNvPr id="11" name="Freeform 2"/>
          <p:cNvSpPr>
            <a:spLocks/>
          </p:cNvSpPr>
          <p:nvPr/>
        </p:nvSpPr>
        <p:spPr bwMode="gray">
          <a:xfrm>
            <a:off x="587375" y="1676400"/>
            <a:ext cx="6970713" cy="530225"/>
          </a:xfrm>
          <a:custGeom>
            <a:avLst/>
            <a:gdLst/>
            <a:ahLst/>
            <a:cxnLst>
              <a:cxn ang="0">
                <a:pos x="26" y="121"/>
              </a:cxn>
              <a:cxn ang="0">
                <a:pos x="26" y="291"/>
              </a:cxn>
              <a:cxn ang="0">
                <a:pos x="2014" y="291"/>
              </a:cxn>
              <a:cxn ang="0">
                <a:pos x="2014" y="114"/>
              </a:cxn>
              <a:cxn ang="0">
                <a:pos x="1868" y="13"/>
              </a:cxn>
              <a:cxn ang="0">
                <a:pos x="170" y="13"/>
              </a:cxn>
              <a:cxn ang="0">
                <a:pos x="26" y="121"/>
              </a:cxn>
            </a:cxnLst>
            <a:rect l="0" t="0" r="r" b="b"/>
            <a:pathLst>
              <a:path w="2019" h="291">
                <a:moveTo>
                  <a:pt x="26" y="121"/>
                </a:moveTo>
                <a:cubicBezTo>
                  <a:pt x="26" y="245"/>
                  <a:pt x="26" y="291"/>
                  <a:pt x="26" y="291"/>
                </a:cubicBezTo>
                <a:lnTo>
                  <a:pt x="2014" y="291"/>
                </a:lnTo>
                <a:lnTo>
                  <a:pt x="2014" y="114"/>
                </a:lnTo>
                <a:cubicBezTo>
                  <a:pt x="2009" y="76"/>
                  <a:pt x="2019" y="0"/>
                  <a:pt x="1868" y="13"/>
                </a:cubicBezTo>
                <a:cubicBezTo>
                  <a:pt x="1015" y="13"/>
                  <a:pt x="170" y="13"/>
                  <a:pt x="170" y="13"/>
                </a:cubicBezTo>
                <a:cubicBezTo>
                  <a:pt x="0" y="7"/>
                  <a:pt x="24" y="99"/>
                  <a:pt x="26" y="121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chemeClr val="tx1">
                  <a:lumMod val="40000"/>
                  <a:lumOff val="6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9525" cap="flat" cmpd="sng" algn="ctr">
            <a:solidFill>
              <a:srgbClr val="738AC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 err="1">
                <a:solidFill>
                  <a:srgbClr val="FF0000"/>
                </a:solidFill>
                <a:latin typeface="Verdana"/>
                <a:cs typeface="+mn-cs"/>
              </a:rPr>
              <a:t>fgets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(char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str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</a:t>
            </a: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>
                <a:solidFill>
                  <a:srgbClr val="FFC000"/>
                </a:solidFill>
                <a:latin typeface="Verdana"/>
                <a:cs typeface="+mn-cs"/>
              </a:rPr>
              <a:t>n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FILE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fp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1" grpId="0" animBg="1"/>
      <p:bldP spid="23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xuất ký tự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  <p:sp>
        <p:nvSpPr>
          <p:cNvPr id="14" name="AutoShape 47"/>
          <p:cNvSpPr>
            <a:spLocks noChangeArrowheads="1"/>
          </p:cNvSpPr>
          <p:nvPr/>
        </p:nvSpPr>
        <p:spPr bwMode="gray">
          <a:xfrm>
            <a:off x="685800" y="2230438"/>
            <a:ext cx="6858000" cy="3865562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5" name="Picture 11" descr="book_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1524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9"/>
          <p:cNvSpPr txBox="1">
            <a:spLocks noChangeArrowheads="1"/>
          </p:cNvSpPr>
          <p:nvPr/>
        </p:nvSpPr>
        <p:spPr bwMode="gray">
          <a:xfrm>
            <a:off x="2286000" y="2341563"/>
            <a:ext cx="5181600" cy="11636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Ghi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ký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tự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ch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vào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algn="just" eaLnBrk="0" hangingPunct="0">
              <a:defRPr/>
            </a:pP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putc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là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macro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còn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fputc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là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phiên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bản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hàm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của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macro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putc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21" name="Text Box 49"/>
          <p:cNvSpPr txBox="1">
            <a:spLocks noChangeArrowheads="1"/>
          </p:cNvSpPr>
          <p:nvPr/>
        </p:nvSpPr>
        <p:spPr bwMode="gray">
          <a:xfrm>
            <a:off x="2286000" y="35814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Thành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ký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tự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ch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Thất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bại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EOF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gray">
          <a:xfrm>
            <a:off x="2286000" y="48006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FILE*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=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fopen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(“taptin.txt”, “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rt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”);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if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!= NULL)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	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putc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(‘a’,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); //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hoặc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fputc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(‘a’,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);</a:t>
            </a:r>
          </a:p>
        </p:txBody>
      </p:sp>
      <p:pic>
        <p:nvPicPr>
          <p:cNvPr id="24" name="Picture 40" descr="board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ight Arrow 24"/>
          <p:cNvSpPr/>
          <p:nvPr/>
        </p:nvSpPr>
        <p:spPr bwMode="auto">
          <a:xfrm>
            <a:off x="914400" y="3733800"/>
            <a:ext cx="1143000" cy="8382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24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Trả về</a:t>
            </a:r>
          </a:p>
        </p:txBody>
      </p:sp>
      <p:sp>
        <p:nvSpPr>
          <p:cNvPr id="11" name="Freeform 2"/>
          <p:cNvSpPr>
            <a:spLocks/>
          </p:cNvSpPr>
          <p:nvPr/>
        </p:nvSpPr>
        <p:spPr bwMode="gray">
          <a:xfrm>
            <a:off x="587375" y="1676400"/>
            <a:ext cx="6970713" cy="530225"/>
          </a:xfrm>
          <a:custGeom>
            <a:avLst/>
            <a:gdLst/>
            <a:ahLst/>
            <a:cxnLst>
              <a:cxn ang="0">
                <a:pos x="26" y="121"/>
              </a:cxn>
              <a:cxn ang="0">
                <a:pos x="26" y="291"/>
              </a:cxn>
              <a:cxn ang="0">
                <a:pos x="2014" y="291"/>
              </a:cxn>
              <a:cxn ang="0">
                <a:pos x="2014" y="114"/>
              </a:cxn>
              <a:cxn ang="0">
                <a:pos x="1868" y="13"/>
              </a:cxn>
              <a:cxn ang="0">
                <a:pos x="170" y="13"/>
              </a:cxn>
              <a:cxn ang="0">
                <a:pos x="26" y="121"/>
              </a:cxn>
            </a:cxnLst>
            <a:rect l="0" t="0" r="r" b="b"/>
            <a:pathLst>
              <a:path w="2019" h="291">
                <a:moveTo>
                  <a:pt x="26" y="121"/>
                </a:moveTo>
                <a:cubicBezTo>
                  <a:pt x="26" y="245"/>
                  <a:pt x="26" y="291"/>
                  <a:pt x="26" y="291"/>
                </a:cubicBezTo>
                <a:lnTo>
                  <a:pt x="2014" y="291"/>
                </a:lnTo>
                <a:lnTo>
                  <a:pt x="2014" y="114"/>
                </a:lnTo>
                <a:cubicBezTo>
                  <a:pt x="2009" y="76"/>
                  <a:pt x="2019" y="0"/>
                  <a:pt x="1868" y="13"/>
                </a:cubicBezTo>
                <a:cubicBezTo>
                  <a:pt x="1015" y="13"/>
                  <a:pt x="170" y="13"/>
                  <a:pt x="170" y="13"/>
                </a:cubicBezTo>
                <a:cubicBezTo>
                  <a:pt x="0" y="7"/>
                  <a:pt x="24" y="99"/>
                  <a:pt x="26" y="121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chemeClr val="tx1">
                  <a:lumMod val="40000"/>
                  <a:lumOff val="6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9525" cap="flat" cmpd="sng" algn="ctr">
            <a:solidFill>
              <a:srgbClr val="738AC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 err="1">
                <a:solidFill>
                  <a:srgbClr val="FF0000"/>
                </a:solidFill>
                <a:latin typeface="Verdana"/>
                <a:cs typeface="+mn-cs"/>
              </a:rPr>
              <a:t>putc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(</a:t>
            </a: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ch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FILE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fp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) </a:t>
            </a: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và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 err="1">
                <a:solidFill>
                  <a:srgbClr val="FF0000"/>
                </a:solidFill>
                <a:latin typeface="Verdana"/>
                <a:cs typeface="+mn-cs"/>
              </a:rPr>
              <a:t>fputc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(in 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ch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FILE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fp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1" grpId="0" animBg="1"/>
      <p:bldP spid="23" grpId="0" animBg="1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xuất chuỗi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  <p:sp>
        <p:nvSpPr>
          <p:cNvPr id="14" name="AutoShape 47"/>
          <p:cNvSpPr>
            <a:spLocks noChangeArrowheads="1"/>
          </p:cNvSpPr>
          <p:nvPr/>
        </p:nvSpPr>
        <p:spPr bwMode="gray">
          <a:xfrm>
            <a:off x="685800" y="2230438"/>
            <a:ext cx="6858000" cy="3865562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5" name="Picture 11" descr="book_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1524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9"/>
          <p:cNvSpPr txBox="1">
            <a:spLocks noChangeArrowheads="1"/>
          </p:cNvSpPr>
          <p:nvPr/>
        </p:nvSpPr>
        <p:spPr bwMode="gray">
          <a:xfrm>
            <a:off x="2286000" y="2341563"/>
            <a:ext cx="5181600" cy="11636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Ghi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chuỗi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ký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tự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str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vào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Nếu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là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stdout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thì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fputs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giống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hàm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puts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nhưng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puts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ghi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ký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tự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xuống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dòng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21" name="Text Box 49"/>
          <p:cNvSpPr txBox="1">
            <a:spLocks noChangeArrowheads="1"/>
          </p:cNvSpPr>
          <p:nvPr/>
        </p:nvSpPr>
        <p:spPr bwMode="gray">
          <a:xfrm>
            <a:off x="2286000" y="35814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Thành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ký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tự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cuối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cùng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ghi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Thất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bại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EOF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gray">
          <a:xfrm>
            <a:off x="2286000" y="48006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char s[] = “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Ky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thuat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lap trinh”;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FILE*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=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fopen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(“taptin.txt”, “wt”);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if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!= NULL)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	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fputs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(s,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);</a:t>
            </a:r>
          </a:p>
        </p:txBody>
      </p:sp>
      <p:pic>
        <p:nvPicPr>
          <p:cNvPr id="24" name="Picture 40" descr="board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ight Arrow 24"/>
          <p:cNvSpPr/>
          <p:nvPr/>
        </p:nvSpPr>
        <p:spPr bwMode="auto">
          <a:xfrm>
            <a:off x="914400" y="3733800"/>
            <a:ext cx="1143000" cy="8382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24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Trả về</a:t>
            </a:r>
          </a:p>
        </p:txBody>
      </p:sp>
      <p:sp>
        <p:nvSpPr>
          <p:cNvPr id="11" name="Freeform 2"/>
          <p:cNvSpPr>
            <a:spLocks/>
          </p:cNvSpPr>
          <p:nvPr/>
        </p:nvSpPr>
        <p:spPr bwMode="gray">
          <a:xfrm>
            <a:off x="587375" y="1676400"/>
            <a:ext cx="6970713" cy="530225"/>
          </a:xfrm>
          <a:custGeom>
            <a:avLst/>
            <a:gdLst/>
            <a:ahLst/>
            <a:cxnLst>
              <a:cxn ang="0">
                <a:pos x="26" y="121"/>
              </a:cxn>
              <a:cxn ang="0">
                <a:pos x="26" y="291"/>
              </a:cxn>
              <a:cxn ang="0">
                <a:pos x="2014" y="291"/>
              </a:cxn>
              <a:cxn ang="0">
                <a:pos x="2014" y="114"/>
              </a:cxn>
              <a:cxn ang="0">
                <a:pos x="1868" y="13"/>
              </a:cxn>
              <a:cxn ang="0">
                <a:pos x="170" y="13"/>
              </a:cxn>
              <a:cxn ang="0">
                <a:pos x="26" y="121"/>
              </a:cxn>
            </a:cxnLst>
            <a:rect l="0" t="0" r="r" b="b"/>
            <a:pathLst>
              <a:path w="2019" h="291">
                <a:moveTo>
                  <a:pt x="26" y="121"/>
                </a:moveTo>
                <a:cubicBezTo>
                  <a:pt x="26" y="245"/>
                  <a:pt x="26" y="291"/>
                  <a:pt x="26" y="291"/>
                </a:cubicBezTo>
                <a:lnTo>
                  <a:pt x="2014" y="291"/>
                </a:lnTo>
                <a:lnTo>
                  <a:pt x="2014" y="114"/>
                </a:lnTo>
                <a:cubicBezTo>
                  <a:pt x="2009" y="76"/>
                  <a:pt x="2019" y="0"/>
                  <a:pt x="1868" y="13"/>
                </a:cubicBezTo>
                <a:cubicBezTo>
                  <a:pt x="1015" y="13"/>
                  <a:pt x="170" y="13"/>
                  <a:pt x="170" y="13"/>
                </a:cubicBezTo>
                <a:cubicBezTo>
                  <a:pt x="0" y="7"/>
                  <a:pt x="24" y="99"/>
                  <a:pt x="26" y="121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chemeClr val="tx1">
                  <a:lumMod val="40000"/>
                  <a:lumOff val="6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9525" cap="flat" cmpd="sng" algn="ctr">
            <a:solidFill>
              <a:srgbClr val="738AC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 err="1">
                <a:solidFill>
                  <a:srgbClr val="FF0000"/>
                </a:solidFill>
                <a:latin typeface="Verdana"/>
                <a:cs typeface="+mn-cs"/>
              </a:rPr>
              <a:t>fputs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(const char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str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FILE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fp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1" grpId="0" animBg="1"/>
      <p:bldP spid="23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xuất trực tiếp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  <p:sp>
        <p:nvSpPr>
          <p:cNvPr id="14" name="AutoShape 47"/>
          <p:cNvSpPr>
            <a:spLocks noChangeArrowheads="1"/>
          </p:cNvSpPr>
          <p:nvPr/>
        </p:nvSpPr>
        <p:spPr bwMode="gray">
          <a:xfrm>
            <a:off x="685800" y="2230438"/>
            <a:ext cx="6858000" cy="3865562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5" name="Picture 11" descr="book_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1524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9"/>
          <p:cNvSpPr txBox="1">
            <a:spLocks noChangeArrowheads="1"/>
          </p:cNvSpPr>
          <p:nvPr/>
        </p:nvSpPr>
        <p:spPr bwMode="gray">
          <a:xfrm>
            <a:off x="2286000" y="2341563"/>
            <a:ext cx="5181600" cy="11636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Ghi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count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mẫu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có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kích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thước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mỗi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mẫu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là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size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(byte)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từ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vùng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nhớ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buf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vào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theo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kiểu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nhị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phân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21" name="Text Box 49"/>
          <p:cNvSpPr txBox="1">
            <a:spLocks noChangeArrowheads="1"/>
          </p:cNvSpPr>
          <p:nvPr/>
        </p:nvSpPr>
        <p:spPr bwMode="gray">
          <a:xfrm>
            <a:off x="2286000" y="35814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Thành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số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lượng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mẫu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không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phải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số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lượng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byte)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ghi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Thất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bại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số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lượng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nhỏ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hơn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count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gray">
          <a:xfrm>
            <a:off x="2286000" y="48006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a[] = {1, 2, 3};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FILE*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=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fopen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(“taptin.dat”, “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w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b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”);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if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!= NULL)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	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fwrite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(a,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sizeof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), 3,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);</a:t>
            </a:r>
          </a:p>
        </p:txBody>
      </p:sp>
      <p:pic>
        <p:nvPicPr>
          <p:cNvPr id="24" name="Picture 40" descr="board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ight Arrow 24"/>
          <p:cNvSpPr/>
          <p:nvPr/>
        </p:nvSpPr>
        <p:spPr bwMode="auto">
          <a:xfrm>
            <a:off x="914400" y="3733800"/>
            <a:ext cx="1143000" cy="8382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24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Trả về</a:t>
            </a:r>
          </a:p>
        </p:txBody>
      </p:sp>
      <p:sp>
        <p:nvSpPr>
          <p:cNvPr id="11" name="Freeform 2"/>
          <p:cNvSpPr>
            <a:spLocks/>
          </p:cNvSpPr>
          <p:nvPr/>
        </p:nvSpPr>
        <p:spPr bwMode="gray">
          <a:xfrm>
            <a:off x="587375" y="1676400"/>
            <a:ext cx="6970713" cy="530225"/>
          </a:xfrm>
          <a:custGeom>
            <a:avLst/>
            <a:gdLst/>
            <a:ahLst/>
            <a:cxnLst>
              <a:cxn ang="0">
                <a:pos x="26" y="121"/>
              </a:cxn>
              <a:cxn ang="0">
                <a:pos x="26" y="291"/>
              </a:cxn>
              <a:cxn ang="0">
                <a:pos x="2014" y="291"/>
              </a:cxn>
              <a:cxn ang="0">
                <a:pos x="2014" y="114"/>
              </a:cxn>
              <a:cxn ang="0">
                <a:pos x="1868" y="13"/>
              </a:cxn>
              <a:cxn ang="0">
                <a:pos x="170" y="13"/>
              </a:cxn>
              <a:cxn ang="0">
                <a:pos x="26" y="121"/>
              </a:cxn>
            </a:cxnLst>
            <a:rect l="0" t="0" r="r" b="b"/>
            <a:pathLst>
              <a:path w="2019" h="291">
                <a:moveTo>
                  <a:pt x="26" y="121"/>
                </a:moveTo>
                <a:cubicBezTo>
                  <a:pt x="26" y="245"/>
                  <a:pt x="26" y="291"/>
                  <a:pt x="26" y="291"/>
                </a:cubicBezTo>
                <a:lnTo>
                  <a:pt x="2014" y="291"/>
                </a:lnTo>
                <a:lnTo>
                  <a:pt x="2014" y="114"/>
                </a:lnTo>
                <a:cubicBezTo>
                  <a:pt x="2009" y="76"/>
                  <a:pt x="2019" y="0"/>
                  <a:pt x="1868" y="13"/>
                </a:cubicBezTo>
                <a:cubicBezTo>
                  <a:pt x="1015" y="13"/>
                  <a:pt x="170" y="13"/>
                  <a:pt x="170" y="13"/>
                </a:cubicBezTo>
                <a:cubicBezTo>
                  <a:pt x="0" y="7"/>
                  <a:pt x="24" y="99"/>
                  <a:pt x="26" y="121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chemeClr val="tx1">
                  <a:lumMod val="40000"/>
                  <a:lumOff val="6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9525" cap="flat" cmpd="sng" algn="ctr">
            <a:solidFill>
              <a:srgbClr val="738AC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 err="1">
                <a:solidFill>
                  <a:srgbClr val="FF0000"/>
                </a:solidFill>
                <a:latin typeface="Verdana"/>
                <a:cs typeface="+mn-cs"/>
              </a:rPr>
              <a:t>fwrite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(void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buf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</a:t>
            </a: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>
                <a:solidFill>
                  <a:srgbClr val="FFC000"/>
                </a:solidFill>
                <a:latin typeface="Verdana"/>
                <a:cs typeface="+mn-cs"/>
              </a:rPr>
              <a:t>size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</a:t>
            </a: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>
                <a:solidFill>
                  <a:srgbClr val="FFC000"/>
                </a:solidFill>
                <a:latin typeface="Verdana"/>
                <a:cs typeface="+mn-cs"/>
              </a:rPr>
              <a:t>count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FILE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fp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1" grpId="0" animBg="1"/>
      <p:bldP spid="23" grpId="0" animBg="1"/>
      <p:bldP spid="1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nhập trực tiếp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  <p:sp>
        <p:nvSpPr>
          <p:cNvPr id="14" name="AutoShape 47"/>
          <p:cNvSpPr>
            <a:spLocks noChangeArrowheads="1"/>
          </p:cNvSpPr>
          <p:nvPr/>
        </p:nvSpPr>
        <p:spPr bwMode="gray">
          <a:xfrm>
            <a:off x="685800" y="2230438"/>
            <a:ext cx="6858000" cy="3865562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5" name="Picture 11" descr="book_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1524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9"/>
          <p:cNvSpPr txBox="1">
            <a:spLocks noChangeArrowheads="1"/>
          </p:cNvSpPr>
          <p:nvPr/>
        </p:nvSpPr>
        <p:spPr bwMode="gray">
          <a:xfrm>
            <a:off x="2286000" y="2341563"/>
            <a:ext cx="5181600" cy="11636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Đọc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count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mẫu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có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kích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thước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mỗi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mẫu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là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size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(byte)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vào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vùng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nhớ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buf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từ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theo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kiểu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nhị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phân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</p:txBody>
      </p:sp>
      <p:sp>
        <p:nvSpPr>
          <p:cNvPr id="21" name="Text Box 49"/>
          <p:cNvSpPr txBox="1">
            <a:spLocks noChangeArrowheads="1"/>
          </p:cNvSpPr>
          <p:nvPr/>
        </p:nvSpPr>
        <p:spPr bwMode="gray">
          <a:xfrm>
            <a:off x="2286000" y="35814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Thành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số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lượng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mẫu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không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phải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số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lượng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byte)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thật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sự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đọc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Thất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bại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số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lượng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nhỏ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hơn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count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khi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kết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thúc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hoặc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gặp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lỗi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gray">
          <a:xfrm>
            <a:off x="2286000" y="48006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a[5];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FILE*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=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fopen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(“taptin.dat”, “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w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b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”);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if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!= NULL)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	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fread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(a,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sizeof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int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), 3,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);</a:t>
            </a:r>
          </a:p>
        </p:txBody>
      </p:sp>
      <p:pic>
        <p:nvPicPr>
          <p:cNvPr id="24" name="Picture 40" descr="board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ight Arrow 24"/>
          <p:cNvSpPr/>
          <p:nvPr/>
        </p:nvSpPr>
        <p:spPr bwMode="auto">
          <a:xfrm>
            <a:off x="914400" y="3733800"/>
            <a:ext cx="1143000" cy="8382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24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Trả về</a:t>
            </a:r>
          </a:p>
        </p:txBody>
      </p:sp>
      <p:sp>
        <p:nvSpPr>
          <p:cNvPr id="11" name="Freeform 2"/>
          <p:cNvSpPr>
            <a:spLocks/>
          </p:cNvSpPr>
          <p:nvPr/>
        </p:nvSpPr>
        <p:spPr bwMode="gray">
          <a:xfrm>
            <a:off x="587375" y="1676400"/>
            <a:ext cx="6970713" cy="530225"/>
          </a:xfrm>
          <a:custGeom>
            <a:avLst/>
            <a:gdLst/>
            <a:ahLst/>
            <a:cxnLst>
              <a:cxn ang="0">
                <a:pos x="26" y="121"/>
              </a:cxn>
              <a:cxn ang="0">
                <a:pos x="26" y="291"/>
              </a:cxn>
              <a:cxn ang="0">
                <a:pos x="2014" y="291"/>
              </a:cxn>
              <a:cxn ang="0">
                <a:pos x="2014" y="114"/>
              </a:cxn>
              <a:cxn ang="0">
                <a:pos x="1868" y="13"/>
              </a:cxn>
              <a:cxn ang="0">
                <a:pos x="170" y="13"/>
              </a:cxn>
              <a:cxn ang="0">
                <a:pos x="26" y="121"/>
              </a:cxn>
            </a:cxnLst>
            <a:rect l="0" t="0" r="r" b="b"/>
            <a:pathLst>
              <a:path w="2019" h="291">
                <a:moveTo>
                  <a:pt x="26" y="121"/>
                </a:moveTo>
                <a:cubicBezTo>
                  <a:pt x="26" y="245"/>
                  <a:pt x="26" y="291"/>
                  <a:pt x="26" y="291"/>
                </a:cubicBezTo>
                <a:lnTo>
                  <a:pt x="2014" y="291"/>
                </a:lnTo>
                <a:lnTo>
                  <a:pt x="2014" y="114"/>
                </a:lnTo>
                <a:cubicBezTo>
                  <a:pt x="2009" y="76"/>
                  <a:pt x="2019" y="0"/>
                  <a:pt x="1868" y="13"/>
                </a:cubicBezTo>
                <a:cubicBezTo>
                  <a:pt x="1015" y="13"/>
                  <a:pt x="170" y="13"/>
                  <a:pt x="170" y="13"/>
                </a:cubicBezTo>
                <a:cubicBezTo>
                  <a:pt x="0" y="7"/>
                  <a:pt x="24" y="99"/>
                  <a:pt x="26" y="121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chemeClr val="tx1">
                  <a:lumMod val="40000"/>
                  <a:lumOff val="6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9525" cap="flat" cmpd="sng" algn="ctr">
            <a:solidFill>
              <a:srgbClr val="738AC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 err="1">
                <a:solidFill>
                  <a:srgbClr val="FF0000"/>
                </a:solidFill>
                <a:latin typeface="Verdana"/>
                <a:cs typeface="+mn-cs"/>
              </a:rPr>
              <a:t>fread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(void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buf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</a:t>
            </a: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>
                <a:solidFill>
                  <a:srgbClr val="FFC000"/>
                </a:solidFill>
                <a:latin typeface="Verdana"/>
                <a:cs typeface="+mn-cs"/>
              </a:rPr>
              <a:t>size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</a:t>
            </a: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>
                <a:solidFill>
                  <a:srgbClr val="FFC000"/>
                </a:solidFill>
                <a:latin typeface="Verdana"/>
                <a:cs typeface="+mn-cs"/>
              </a:rPr>
              <a:t>count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FILE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fp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1" grpId="0" animBg="1"/>
      <p:bldP spid="23" grpId="0" animBg="1"/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đóng tập tin xác định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  <p:sp>
        <p:nvSpPr>
          <p:cNvPr id="14" name="AutoShape 47"/>
          <p:cNvSpPr>
            <a:spLocks noChangeArrowheads="1"/>
          </p:cNvSpPr>
          <p:nvPr/>
        </p:nvSpPr>
        <p:spPr bwMode="gray">
          <a:xfrm>
            <a:off x="685800" y="2230438"/>
            <a:ext cx="6858000" cy="3865562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5" name="Picture 11" descr="book_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1524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9"/>
          <p:cNvSpPr txBox="1">
            <a:spLocks noChangeArrowheads="1"/>
          </p:cNvSpPr>
          <p:nvPr/>
        </p:nvSpPr>
        <p:spPr bwMode="gray">
          <a:xfrm>
            <a:off x="2286000" y="2341563"/>
            <a:ext cx="5181600" cy="11636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Đóng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Dữ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liệu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trong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sẽ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được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“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vét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”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ghi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hết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lên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đĩa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trước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khi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đóng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1" name="Text Box 49"/>
          <p:cNvSpPr txBox="1">
            <a:spLocks noChangeArrowheads="1"/>
          </p:cNvSpPr>
          <p:nvPr/>
        </p:nvSpPr>
        <p:spPr bwMode="gray">
          <a:xfrm>
            <a:off x="2286000" y="35814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Thành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0.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Thất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bại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EOF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gray">
          <a:xfrm>
            <a:off x="2286000" y="48006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FILE*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=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fopen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(“taptin.txt”, “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rt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”);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…</a:t>
            </a:r>
          </a:p>
          <a:p>
            <a:pPr algn="just" eaLnBrk="0" hangingPunct="0">
              <a:defRPr/>
            </a:pP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fclose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);</a:t>
            </a:r>
          </a:p>
        </p:txBody>
      </p:sp>
      <p:pic>
        <p:nvPicPr>
          <p:cNvPr id="24" name="Picture 40" descr="board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ight Arrow 24"/>
          <p:cNvSpPr/>
          <p:nvPr/>
        </p:nvSpPr>
        <p:spPr bwMode="auto">
          <a:xfrm>
            <a:off x="914400" y="3733800"/>
            <a:ext cx="1143000" cy="8382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24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Trả về</a:t>
            </a:r>
          </a:p>
        </p:txBody>
      </p:sp>
      <p:sp>
        <p:nvSpPr>
          <p:cNvPr id="11" name="Freeform 2"/>
          <p:cNvSpPr>
            <a:spLocks/>
          </p:cNvSpPr>
          <p:nvPr/>
        </p:nvSpPr>
        <p:spPr bwMode="gray">
          <a:xfrm>
            <a:off x="587375" y="1676400"/>
            <a:ext cx="6970713" cy="530225"/>
          </a:xfrm>
          <a:custGeom>
            <a:avLst/>
            <a:gdLst/>
            <a:ahLst/>
            <a:cxnLst>
              <a:cxn ang="0">
                <a:pos x="26" y="121"/>
              </a:cxn>
              <a:cxn ang="0">
                <a:pos x="26" y="291"/>
              </a:cxn>
              <a:cxn ang="0">
                <a:pos x="2014" y="291"/>
              </a:cxn>
              <a:cxn ang="0">
                <a:pos x="2014" y="114"/>
              </a:cxn>
              <a:cxn ang="0">
                <a:pos x="1868" y="13"/>
              </a:cxn>
              <a:cxn ang="0">
                <a:pos x="170" y="13"/>
              </a:cxn>
              <a:cxn ang="0">
                <a:pos x="26" y="121"/>
              </a:cxn>
            </a:cxnLst>
            <a:rect l="0" t="0" r="r" b="b"/>
            <a:pathLst>
              <a:path w="2019" h="291">
                <a:moveTo>
                  <a:pt x="26" y="121"/>
                </a:moveTo>
                <a:cubicBezTo>
                  <a:pt x="26" y="245"/>
                  <a:pt x="26" y="291"/>
                  <a:pt x="26" y="291"/>
                </a:cubicBezTo>
                <a:lnTo>
                  <a:pt x="2014" y="291"/>
                </a:lnTo>
                <a:lnTo>
                  <a:pt x="2014" y="114"/>
                </a:lnTo>
                <a:cubicBezTo>
                  <a:pt x="2009" y="76"/>
                  <a:pt x="2019" y="0"/>
                  <a:pt x="1868" y="13"/>
                </a:cubicBezTo>
                <a:cubicBezTo>
                  <a:pt x="1015" y="13"/>
                  <a:pt x="170" y="13"/>
                  <a:pt x="170" y="13"/>
                </a:cubicBezTo>
                <a:cubicBezTo>
                  <a:pt x="0" y="7"/>
                  <a:pt x="24" y="99"/>
                  <a:pt x="26" y="121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chemeClr val="tx1">
                  <a:lumMod val="40000"/>
                  <a:lumOff val="6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9525" cap="flat" cmpd="sng" algn="ctr">
            <a:solidFill>
              <a:srgbClr val="738AC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 err="1">
                <a:solidFill>
                  <a:srgbClr val="FF0000"/>
                </a:solidFill>
                <a:latin typeface="Verdana"/>
                <a:cs typeface="+mn-cs"/>
              </a:rPr>
              <a:t>fclose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(FILE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fp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1" grpId="0" animBg="1"/>
      <p:bldP spid="23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đóng tất cả stream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  <p:sp>
        <p:nvSpPr>
          <p:cNvPr id="14" name="AutoShape 47"/>
          <p:cNvSpPr>
            <a:spLocks noChangeArrowheads="1"/>
          </p:cNvSpPr>
          <p:nvPr/>
        </p:nvSpPr>
        <p:spPr bwMode="gray">
          <a:xfrm>
            <a:off x="685800" y="2230438"/>
            <a:ext cx="6858000" cy="3865562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5" name="Picture 11" descr="book_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1524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9"/>
          <p:cNvSpPr txBox="1">
            <a:spLocks noChangeArrowheads="1"/>
          </p:cNvSpPr>
          <p:nvPr/>
        </p:nvSpPr>
        <p:spPr bwMode="gray">
          <a:xfrm>
            <a:off x="2286000" y="2341563"/>
            <a:ext cx="5181600" cy="11636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Đóng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tất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đang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được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mở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ngoại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trừ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các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chuẩn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stdin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stdout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stdprn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stderr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stdaux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Nên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đóng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từng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thay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vì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đóng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tất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1" name="Text Box 49"/>
          <p:cNvSpPr txBox="1">
            <a:spLocks noChangeArrowheads="1"/>
          </p:cNvSpPr>
          <p:nvPr/>
        </p:nvSpPr>
        <p:spPr bwMode="gray">
          <a:xfrm>
            <a:off x="2286000" y="35814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Thành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số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lượng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được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đóng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Thất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bại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EOF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gray">
          <a:xfrm>
            <a:off x="2286000" y="48006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FILE* fp1 =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fopen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(“taptin1.txt”, “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rt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”);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FILE* fp2 =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fopen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(“taptin2.txt”, “wt”);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…</a:t>
            </a:r>
          </a:p>
          <a:p>
            <a:pPr algn="just" eaLnBrk="0" hangingPunct="0">
              <a:defRPr/>
            </a:pP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fcloseall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();</a:t>
            </a:r>
          </a:p>
        </p:txBody>
      </p:sp>
      <p:pic>
        <p:nvPicPr>
          <p:cNvPr id="24" name="Picture 40" descr="board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ight Arrow 24"/>
          <p:cNvSpPr/>
          <p:nvPr/>
        </p:nvSpPr>
        <p:spPr bwMode="auto">
          <a:xfrm>
            <a:off x="914400" y="3733800"/>
            <a:ext cx="1143000" cy="8382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24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Trả về</a:t>
            </a:r>
          </a:p>
        </p:txBody>
      </p:sp>
      <p:sp>
        <p:nvSpPr>
          <p:cNvPr id="11" name="Freeform 2"/>
          <p:cNvSpPr>
            <a:spLocks/>
          </p:cNvSpPr>
          <p:nvPr/>
        </p:nvSpPr>
        <p:spPr bwMode="gray">
          <a:xfrm>
            <a:off x="587375" y="1676400"/>
            <a:ext cx="6970713" cy="530225"/>
          </a:xfrm>
          <a:custGeom>
            <a:avLst/>
            <a:gdLst/>
            <a:ahLst/>
            <a:cxnLst>
              <a:cxn ang="0">
                <a:pos x="26" y="121"/>
              </a:cxn>
              <a:cxn ang="0">
                <a:pos x="26" y="291"/>
              </a:cxn>
              <a:cxn ang="0">
                <a:pos x="2014" y="291"/>
              </a:cxn>
              <a:cxn ang="0">
                <a:pos x="2014" y="114"/>
              </a:cxn>
              <a:cxn ang="0">
                <a:pos x="1868" y="13"/>
              </a:cxn>
              <a:cxn ang="0">
                <a:pos x="170" y="13"/>
              </a:cxn>
              <a:cxn ang="0">
                <a:pos x="26" y="121"/>
              </a:cxn>
            </a:cxnLst>
            <a:rect l="0" t="0" r="r" b="b"/>
            <a:pathLst>
              <a:path w="2019" h="291">
                <a:moveTo>
                  <a:pt x="26" y="121"/>
                </a:moveTo>
                <a:cubicBezTo>
                  <a:pt x="26" y="245"/>
                  <a:pt x="26" y="291"/>
                  <a:pt x="26" y="291"/>
                </a:cubicBezTo>
                <a:lnTo>
                  <a:pt x="2014" y="291"/>
                </a:lnTo>
                <a:lnTo>
                  <a:pt x="2014" y="114"/>
                </a:lnTo>
                <a:cubicBezTo>
                  <a:pt x="2009" y="76"/>
                  <a:pt x="2019" y="0"/>
                  <a:pt x="1868" y="13"/>
                </a:cubicBezTo>
                <a:cubicBezTo>
                  <a:pt x="1015" y="13"/>
                  <a:pt x="170" y="13"/>
                  <a:pt x="170" y="13"/>
                </a:cubicBezTo>
                <a:cubicBezTo>
                  <a:pt x="0" y="7"/>
                  <a:pt x="24" y="99"/>
                  <a:pt x="26" y="121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chemeClr val="tx1">
                  <a:lumMod val="40000"/>
                  <a:lumOff val="6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9525" cap="flat" cmpd="sng" algn="ctr">
            <a:solidFill>
              <a:srgbClr val="738AC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 err="1">
                <a:solidFill>
                  <a:srgbClr val="FF0000"/>
                </a:solidFill>
                <a:latin typeface="Verdana"/>
                <a:cs typeface="+mn-cs"/>
              </a:rPr>
              <a:t>fcloseall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()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1" grpId="0" animBg="1"/>
      <p:bldP spid="23" grpId="0" animBg="1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“Vét” dữ liệu trong stream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thúc</a:t>
            </a:r>
            <a:r>
              <a:rPr lang="en-US" dirty="0" smtClean="0"/>
              <a:t>, </a:t>
            </a:r>
            <a:r>
              <a:rPr lang="en-US" dirty="0" err="1" smtClean="0"/>
              <a:t>các</a:t>
            </a:r>
            <a:r>
              <a:rPr lang="en-US" dirty="0" smtClean="0"/>
              <a:t> stream </a:t>
            </a:r>
            <a:r>
              <a:rPr lang="en-US" dirty="0" err="1" smtClean="0"/>
              <a:t>đang</a:t>
            </a:r>
            <a:r>
              <a:rPr lang="en-US" dirty="0" smtClean="0"/>
              <a:t> </a:t>
            </a: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sẽ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“</a:t>
            </a:r>
            <a:r>
              <a:rPr lang="en-US" dirty="0" err="1" smtClean="0">
                <a:solidFill>
                  <a:srgbClr val="FF0000"/>
                </a:solidFill>
              </a:rPr>
              <a:t>vét</a:t>
            </a:r>
            <a:r>
              <a:rPr lang="en-US" dirty="0" smtClean="0">
                <a:solidFill>
                  <a:srgbClr val="FF0000"/>
                </a:solidFill>
              </a:rPr>
              <a:t>”</a:t>
            </a:r>
            <a:r>
              <a:rPr lang="en-US" dirty="0" smtClean="0"/>
              <a:t> (</a:t>
            </a:r>
            <a:r>
              <a:rPr lang="en-US" dirty="0" smtClean="0">
                <a:solidFill>
                  <a:srgbClr val="FF0000"/>
                </a:solidFill>
              </a:rPr>
              <a:t>flush</a:t>
            </a:r>
            <a:r>
              <a:rPr lang="en-US" dirty="0" smtClean="0"/>
              <a:t>)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đóng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. </a:t>
            </a:r>
            <a:r>
              <a:rPr lang="en-US" dirty="0" err="1" smtClean="0"/>
              <a:t>Tuy</a:t>
            </a:r>
            <a:r>
              <a:rPr lang="en-US" dirty="0" smtClean="0"/>
              <a:t> </a:t>
            </a:r>
            <a:r>
              <a:rPr lang="en-US" dirty="0" err="1" smtClean="0"/>
              <a:t>nhiên</a:t>
            </a:r>
            <a:r>
              <a:rPr lang="en-US" dirty="0" smtClean="0"/>
              <a:t>, </a:t>
            </a:r>
            <a:r>
              <a:rPr lang="en-US" dirty="0" err="1" smtClean="0"/>
              <a:t>ta</a:t>
            </a:r>
            <a:r>
              <a:rPr lang="en-US" dirty="0" smtClean="0"/>
              <a:t> </a:t>
            </a:r>
            <a:r>
              <a:rPr lang="en-US" dirty="0" err="1" smtClean="0"/>
              <a:t>nên</a:t>
            </a:r>
            <a:r>
              <a:rPr lang="en-US" dirty="0" smtClean="0"/>
              <a:t> </a:t>
            </a:r>
            <a:r>
              <a:rPr lang="en-US" dirty="0" err="1" smtClean="0"/>
              <a:t>đóng</a:t>
            </a:r>
            <a:r>
              <a:rPr lang="en-US" dirty="0" smtClean="0"/>
              <a:t> </a:t>
            </a:r>
            <a:r>
              <a:rPr lang="en-US" err="1" smtClean="0"/>
              <a:t>một</a:t>
            </a:r>
            <a:r>
              <a:rPr lang="en-US" smtClean="0"/>
              <a:t> cách </a:t>
            </a:r>
            <a:r>
              <a:rPr lang="en-US" dirty="0" err="1" smtClean="0"/>
              <a:t>tường</a:t>
            </a:r>
            <a:r>
              <a:rPr lang="en-US" dirty="0" smtClean="0"/>
              <a:t> minh </a:t>
            </a:r>
            <a:r>
              <a:rPr lang="en-US" dirty="0" err="1" smtClean="0"/>
              <a:t>các</a:t>
            </a:r>
            <a:r>
              <a:rPr lang="en-US" dirty="0" smtClean="0"/>
              <a:t> stream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xong</a:t>
            </a:r>
            <a:r>
              <a:rPr lang="en-US" dirty="0" smtClean="0"/>
              <a:t> (</a:t>
            </a:r>
            <a:r>
              <a:rPr lang="en-US" dirty="0" err="1" smtClean="0"/>
              <a:t>nhất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stream </a:t>
            </a:r>
            <a:r>
              <a:rPr lang="en-US" dirty="0" err="1" smtClean="0"/>
              <a:t>tập</a:t>
            </a:r>
            <a:r>
              <a:rPr lang="en-US" dirty="0" smtClean="0"/>
              <a:t> tin)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tránh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cố</a:t>
            </a:r>
            <a:r>
              <a:rPr lang="en-US" dirty="0" smtClean="0"/>
              <a:t> </a:t>
            </a:r>
            <a:r>
              <a:rPr lang="en-US" dirty="0" err="1" smtClean="0"/>
              <a:t>xảy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thúc</a:t>
            </a:r>
            <a:r>
              <a:rPr lang="en-US" dirty="0" smtClean="0"/>
              <a:t> </a:t>
            </a:r>
            <a:r>
              <a:rPr lang="en-US" dirty="0" err="1" smtClean="0"/>
              <a:t>bình</a:t>
            </a:r>
            <a:r>
              <a:rPr lang="en-US" dirty="0" smtClean="0"/>
              <a:t> </a:t>
            </a:r>
            <a:r>
              <a:rPr lang="en-US" dirty="0" err="1" smtClean="0"/>
              <a:t>thường</a:t>
            </a:r>
            <a:r>
              <a:rPr lang="en-US" dirty="0" smtClean="0"/>
              <a:t>.</a:t>
            </a:r>
          </a:p>
          <a:p>
            <a:pPr>
              <a:defRPr/>
            </a:pPr>
            <a:r>
              <a:rPr lang="en-US" dirty="0" smtClean="0"/>
              <a:t>Ta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“</a:t>
            </a:r>
            <a:r>
              <a:rPr lang="en-US" dirty="0" err="1" smtClean="0"/>
              <a:t>vét</a:t>
            </a:r>
            <a:r>
              <a:rPr lang="en-US" dirty="0" smtClean="0"/>
              <a:t>”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stream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đóng</a:t>
            </a:r>
            <a:r>
              <a:rPr lang="en-US" dirty="0" smtClean="0"/>
              <a:t> stream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bằng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hàm</a:t>
            </a:r>
            <a:r>
              <a:rPr lang="en-US" dirty="0" smtClean="0"/>
              <a:t>:</a:t>
            </a:r>
          </a:p>
          <a:p>
            <a:pPr lvl="1">
              <a:defRPr/>
            </a:pPr>
            <a:r>
              <a:rPr lang="en-US" dirty="0" err="1" smtClean="0"/>
              <a:t>Vét</a:t>
            </a:r>
            <a:r>
              <a:rPr lang="en-US" dirty="0" smtClean="0"/>
              <a:t> stream </a:t>
            </a:r>
            <a:r>
              <a:rPr lang="en-US" dirty="0" err="1" smtClean="0">
                <a:solidFill>
                  <a:srgbClr val="FFC000"/>
                </a:solidFill>
              </a:rPr>
              <a:t>fp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: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  <a:ea typeface="+mn-ea"/>
              </a:rPr>
              <a:t>int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  <a:ea typeface="+mn-ea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ea typeface="+mn-ea"/>
              </a:rPr>
              <a:t>fflush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  <a:ea typeface="+mn-ea"/>
              </a:rPr>
              <a:t>(FILE *</a:t>
            </a:r>
            <a:r>
              <a:rPr lang="en-US" dirty="0" err="1" smtClean="0">
                <a:solidFill>
                  <a:srgbClr val="FFC000"/>
                </a:solidFill>
                <a:ea typeface="+mn-ea"/>
              </a:rPr>
              <a:t>fp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  <a:ea typeface="+mn-ea"/>
              </a:rPr>
              <a:t>);</a:t>
            </a:r>
          </a:p>
          <a:p>
            <a:pPr lvl="1">
              <a:defRPr/>
            </a:pPr>
            <a:r>
              <a:rPr lang="en-US" dirty="0" err="1" smtClean="0"/>
              <a:t>Vét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stream </a:t>
            </a:r>
            <a:r>
              <a:rPr lang="en-US" dirty="0" err="1" smtClean="0"/>
              <a:t>đang</a:t>
            </a:r>
            <a:r>
              <a:rPr lang="en-US" dirty="0" smtClean="0"/>
              <a:t> </a:t>
            </a:r>
            <a:r>
              <a:rPr lang="en-US" dirty="0" err="1" smtClean="0"/>
              <a:t>mở</a:t>
            </a:r>
            <a:r>
              <a:rPr lang="en-US" dirty="0" smtClean="0"/>
              <a:t>: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  <a:ea typeface="+mn-ea"/>
              </a:rPr>
              <a:t>int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  <a:ea typeface="+mn-ea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ea typeface="+mn-ea"/>
              </a:rPr>
              <a:t>flushall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  <a:ea typeface="+mn-ea"/>
              </a:rPr>
              <a:t>();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3"/>
          <p:cNvSpPr>
            <a:spLocks noGrp="1"/>
          </p:cNvSpPr>
          <p:nvPr>
            <p:ph type="title"/>
          </p:nvPr>
        </p:nvSpPr>
        <p:spPr>
          <a:xfrm>
            <a:off x="1143000" y="381000"/>
            <a:ext cx="7010400" cy="563563"/>
          </a:xfrm>
        </p:spPr>
        <p:txBody>
          <a:bodyPr/>
          <a:lstStyle/>
          <a:p>
            <a:r>
              <a:rPr lang="en-US" smtClean="0"/>
              <a:t>Con trỏ chỉ vị (position indicator)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Khái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niệm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tạo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tin.</a:t>
            </a:r>
          </a:p>
          <a:p>
            <a:pPr lvl="1">
              <a:defRPr/>
            </a:pP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nơi</a:t>
            </a:r>
            <a:r>
              <a:rPr lang="en-US" dirty="0" smtClean="0"/>
              <a:t> </a:t>
            </a:r>
            <a:r>
              <a:rPr lang="en-US" dirty="0" err="1" smtClean="0"/>
              <a:t>diễn</a:t>
            </a:r>
            <a:r>
              <a:rPr lang="en-US" dirty="0" smtClean="0"/>
              <a:t> </a:t>
            </a:r>
            <a:r>
              <a:rPr lang="en-US" dirty="0" err="1" smtClean="0"/>
              <a:t>ra</a:t>
            </a:r>
            <a:r>
              <a:rPr lang="en-US" dirty="0" smtClean="0"/>
              <a:t> </a:t>
            </a:r>
            <a:r>
              <a:rPr lang="en-US" dirty="0" err="1" smtClean="0"/>
              <a:t>việc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/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</a:t>
            </a:r>
          </a:p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Vị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trí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con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trỏ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chỉ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vị</a:t>
            </a:r>
            <a:endParaRPr lang="en-US" dirty="0" smtClean="0">
              <a:solidFill>
                <a:schemeClr val="tx1">
                  <a:lumMod val="60000"/>
                  <a:lumOff val="40000"/>
                </a:schemeClr>
              </a:solidFill>
            </a:endParaRPr>
          </a:p>
          <a:p>
            <a:pPr lvl="1">
              <a:defRPr/>
            </a:pP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chưa</a:t>
            </a:r>
            <a:r>
              <a:rPr lang="en-US" dirty="0" smtClean="0"/>
              <a:t> </a:t>
            </a:r>
            <a:r>
              <a:rPr lang="en-US" dirty="0" err="1" smtClean="0"/>
              <a:t>mở</a:t>
            </a:r>
            <a:r>
              <a:rPr lang="en-US" dirty="0" smtClean="0"/>
              <a:t>: ở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(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0).</a:t>
            </a:r>
          </a:p>
          <a:p>
            <a:pPr lvl="1">
              <a:defRPr/>
            </a:pP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tin:</a:t>
            </a:r>
          </a:p>
          <a:p>
            <a:pPr lvl="2">
              <a:defRPr/>
            </a:pPr>
            <a:r>
              <a:rPr lang="en-US" dirty="0" smtClean="0"/>
              <a:t>Ở </a:t>
            </a:r>
            <a:r>
              <a:rPr lang="en-US" dirty="0" err="1" smtClean="0"/>
              <a:t>cuối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chèn</a:t>
            </a:r>
            <a:r>
              <a:rPr lang="en-US" dirty="0" smtClean="0"/>
              <a:t> (mode </a:t>
            </a:r>
            <a:r>
              <a:rPr lang="en-US" dirty="0" smtClean="0">
                <a:solidFill>
                  <a:srgbClr val="FF0000"/>
                </a:solidFill>
              </a:rPr>
              <a:t>a</a:t>
            </a:r>
            <a:r>
              <a:rPr lang="en-US" dirty="0" smtClean="0"/>
              <a:t> hay </a:t>
            </a:r>
            <a:r>
              <a:rPr lang="en-US" dirty="0" smtClean="0">
                <a:solidFill>
                  <a:srgbClr val="FF0000"/>
                </a:solidFill>
              </a:rPr>
              <a:t>a+</a:t>
            </a:r>
            <a:r>
              <a:rPr lang="en-US" dirty="0" smtClean="0"/>
              <a:t>)</a:t>
            </a:r>
          </a:p>
          <a:p>
            <a:pPr lvl="2">
              <a:defRPr/>
            </a:pPr>
            <a:r>
              <a:rPr lang="en-US" dirty="0" smtClean="0"/>
              <a:t>Ở </a:t>
            </a:r>
            <a:r>
              <a:rPr lang="en-US" dirty="0" err="1" smtClean="0"/>
              <a:t>đầu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(hay </a:t>
            </a:r>
            <a:r>
              <a:rPr lang="en-US" dirty="0" err="1" smtClean="0"/>
              <a:t>giá</a:t>
            </a:r>
            <a:r>
              <a:rPr lang="en-US" dirty="0" smtClean="0"/>
              <a:t> </a:t>
            </a:r>
            <a:r>
              <a:rPr lang="en-US" dirty="0" err="1" smtClean="0"/>
              <a:t>trị</a:t>
            </a:r>
            <a:r>
              <a:rPr lang="en-US" dirty="0" smtClean="0"/>
              <a:t> 0)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mode </a:t>
            </a:r>
            <a:r>
              <a:rPr lang="en-US" dirty="0" err="1" smtClean="0"/>
              <a:t>khác</a:t>
            </a:r>
            <a:r>
              <a:rPr lang="en-US" dirty="0" smtClean="0"/>
              <a:t> (</a:t>
            </a:r>
            <a:r>
              <a:rPr lang="en-US" dirty="0" smtClean="0">
                <a:solidFill>
                  <a:srgbClr val="FF0000"/>
                </a:solidFill>
              </a:rPr>
              <a:t>w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w+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r</a:t>
            </a:r>
            <a:r>
              <a:rPr lang="en-US" dirty="0" smtClean="0"/>
              <a:t>, </a:t>
            </a:r>
            <a:r>
              <a:rPr lang="en-US" dirty="0" smtClean="0">
                <a:solidFill>
                  <a:srgbClr val="FF0000"/>
                </a:solidFill>
              </a:rPr>
              <a:t>r+</a:t>
            </a:r>
            <a:r>
              <a:rPr lang="en-US" dirty="0" smtClean="0"/>
              <a:t>).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3"/>
          <p:cNvSpPr>
            <a:spLocks noGrp="1"/>
          </p:cNvSpPr>
          <p:nvPr>
            <p:ph type="title"/>
          </p:nvPr>
        </p:nvSpPr>
        <p:spPr>
          <a:xfrm>
            <a:off x="1143000" y="381000"/>
            <a:ext cx="7010400" cy="563563"/>
          </a:xfrm>
        </p:spPr>
        <p:txBody>
          <a:bodyPr/>
          <a:lstStyle/>
          <a:p>
            <a:r>
              <a:rPr lang="en-US" smtClean="0"/>
              <a:t>Truy xuất tuần tự &amp; ngẫu nhiên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Truy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xuất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tuần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tự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(sequentially access)</a:t>
            </a:r>
          </a:p>
          <a:p>
            <a:pPr lvl="1">
              <a:defRPr/>
            </a:pP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/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con </a:t>
            </a:r>
            <a:r>
              <a:rPr lang="en-US" dirty="0" err="1" smtClean="0"/>
              <a:t>trỏ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đến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n-1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n-US" dirty="0" err="1" smtClean="0"/>
              <a:t>khi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n.</a:t>
            </a:r>
          </a:p>
          <a:p>
            <a:pPr lvl="1">
              <a:defRPr/>
            </a:pPr>
            <a:r>
              <a:rPr lang="en-US" dirty="0" err="1" smtClean="0">
                <a:solidFill>
                  <a:srgbClr val="FF0000"/>
                </a:solidFill>
              </a:rPr>
              <a:t>Không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cần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quan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tâm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đến</a:t>
            </a:r>
            <a:r>
              <a:rPr lang="en-US" dirty="0" smtClean="0">
                <a:solidFill>
                  <a:srgbClr val="FF0000"/>
                </a:solidFill>
              </a:rPr>
              <a:t> con </a:t>
            </a:r>
            <a:r>
              <a:rPr lang="en-US" dirty="0" err="1" smtClean="0">
                <a:solidFill>
                  <a:srgbClr val="FF0000"/>
                </a:solidFill>
              </a:rPr>
              <a:t>trỏ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chỉ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vị</a:t>
            </a:r>
            <a:r>
              <a:rPr lang="en-US" dirty="0" smtClean="0"/>
              <a:t> do con </a:t>
            </a:r>
            <a:r>
              <a:rPr lang="en-US" dirty="0" err="1" smtClean="0"/>
              <a:t>trỏ</a:t>
            </a:r>
            <a:r>
              <a:rPr lang="en-US" dirty="0" smtClean="0"/>
              <a:t> </a:t>
            </a:r>
            <a:r>
              <a:rPr lang="en-US" dirty="0" err="1" smtClean="0"/>
              <a:t>chỉ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động</a:t>
            </a:r>
            <a:r>
              <a:rPr lang="en-US" dirty="0" smtClean="0"/>
              <a:t> </a:t>
            </a:r>
            <a:r>
              <a:rPr lang="en-US" dirty="0" err="1" smtClean="0"/>
              <a:t>chuyển</a:t>
            </a:r>
            <a:r>
              <a:rPr lang="en-US" dirty="0" smtClean="0"/>
              <a:t> sang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thao</a:t>
            </a:r>
            <a:r>
              <a:rPr lang="en-US" dirty="0" smtClean="0"/>
              <a:t> </a:t>
            </a:r>
            <a:r>
              <a:rPr lang="en-US" dirty="0" err="1" smtClean="0"/>
              <a:t>tác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/</a:t>
            </a:r>
            <a:r>
              <a:rPr lang="en-US" dirty="0" err="1" smtClean="0"/>
              <a:t>ghi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dữ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liệu</a:t>
            </a:r>
            <a:r>
              <a:rPr lang="en-US" dirty="0" smtClean="0">
                <a:sym typeface="Wingdings" pitchFamily="2" charset="2"/>
              </a:rPr>
              <a:t>.</a:t>
            </a:r>
            <a:endParaRPr lang="en-US" dirty="0" smtClean="0"/>
          </a:p>
          <a:p>
            <a:pPr>
              <a:defRPr/>
            </a:pP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Truy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xuất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ngẫu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nhiên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(random access)</a:t>
            </a:r>
          </a:p>
          <a:p>
            <a:pPr lvl="1">
              <a:defRPr/>
            </a:pP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thể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/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tại</a:t>
            </a:r>
            <a:r>
              <a:rPr lang="en-US" dirty="0" smtClean="0"/>
              <a:t> </a:t>
            </a:r>
            <a:r>
              <a:rPr lang="en-US" dirty="0" err="1" smtClean="0"/>
              <a:t>vị</a:t>
            </a:r>
            <a:r>
              <a:rPr lang="en-US" dirty="0" smtClean="0"/>
              <a:t> </a:t>
            </a:r>
            <a:r>
              <a:rPr lang="en-US" dirty="0" err="1" smtClean="0"/>
              <a:t>trí</a:t>
            </a:r>
            <a:r>
              <a:rPr lang="en-US" dirty="0" smtClean="0"/>
              <a:t> </a:t>
            </a:r>
            <a:r>
              <a:rPr lang="en-US" dirty="0" err="1" smtClean="0"/>
              <a:t>bất</a:t>
            </a:r>
            <a:r>
              <a:rPr lang="en-US" dirty="0" smtClean="0"/>
              <a:t> </a:t>
            </a:r>
            <a:r>
              <a:rPr lang="en-US" dirty="0" err="1" smtClean="0"/>
              <a:t>kỳ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mà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cần</a:t>
            </a:r>
            <a:r>
              <a:rPr lang="en-US" dirty="0" smtClean="0"/>
              <a:t> </a:t>
            </a:r>
            <a:r>
              <a:rPr lang="en-US" dirty="0" err="1" smtClean="0"/>
              <a:t>phải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/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toàn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dữ</a:t>
            </a:r>
            <a:r>
              <a:rPr lang="en-US" dirty="0" smtClean="0"/>
              <a:t> </a:t>
            </a:r>
            <a:r>
              <a:rPr lang="en-US" dirty="0" err="1" smtClean="0"/>
              <a:t>liệu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err="1" smtClean="0">
                <a:solidFill>
                  <a:srgbClr val="FF0000"/>
                </a:solidFill>
                <a:sym typeface="Wingdings" pitchFamily="2" charset="2"/>
              </a:rPr>
              <a:t>quan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 pitchFamily="2" charset="2"/>
              </a:rPr>
              <a:t>tâm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 pitchFamily="2" charset="2"/>
              </a:rPr>
              <a:t>đến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 con </a:t>
            </a:r>
            <a:r>
              <a:rPr lang="en-US" dirty="0" err="1" smtClean="0">
                <a:solidFill>
                  <a:srgbClr val="FF0000"/>
                </a:solidFill>
                <a:sym typeface="Wingdings" pitchFamily="2" charset="2"/>
              </a:rPr>
              <a:t>trỏ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 pitchFamily="2" charset="2"/>
              </a:rPr>
              <a:t>chỉ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 </a:t>
            </a:r>
            <a:r>
              <a:rPr lang="en-US" dirty="0" err="1" smtClean="0">
                <a:solidFill>
                  <a:srgbClr val="FF0000"/>
                </a:solidFill>
                <a:sym typeface="Wingdings" pitchFamily="2" charset="2"/>
              </a:rPr>
              <a:t>vị</a:t>
            </a:r>
            <a:r>
              <a:rPr lang="en-US" dirty="0" smtClean="0">
                <a:sym typeface="Wingdings" pitchFamily="2" charset="2"/>
              </a:rPr>
              <a:t>.</a:t>
            </a:r>
            <a:endParaRPr lang="en-US" dirty="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đặt lại vị trí con trỏ chỉ vị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  <p:sp>
        <p:nvSpPr>
          <p:cNvPr id="14" name="AutoShape 47"/>
          <p:cNvSpPr>
            <a:spLocks noChangeArrowheads="1"/>
          </p:cNvSpPr>
          <p:nvPr/>
        </p:nvSpPr>
        <p:spPr bwMode="gray">
          <a:xfrm>
            <a:off x="685800" y="2230438"/>
            <a:ext cx="6858000" cy="3865562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5" name="Picture 11" descr="book_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1524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9"/>
          <p:cNvSpPr txBox="1">
            <a:spLocks noChangeArrowheads="1"/>
          </p:cNvSpPr>
          <p:nvPr/>
        </p:nvSpPr>
        <p:spPr bwMode="gray">
          <a:xfrm>
            <a:off x="2286000" y="2341563"/>
            <a:ext cx="5181600" cy="11636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Đặt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vị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trí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con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trỏ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chỉ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vị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đầu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(byte 0)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tập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1" name="Text Box 49"/>
          <p:cNvSpPr txBox="1">
            <a:spLocks noChangeArrowheads="1"/>
          </p:cNvSpPr>
          <p:nvPr/>
        </p:nvSpPr>
        <p:spPr bwMode="gray">
          <a:xfrm>
            <a:off x="2286000" y="35814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Không</a:t>
            </a:r>
            <a:endParaRPr lang="en-US" sz="2000" dirty="0">
              <a:latin typeface="Tahoma" pitchFamily="34" charset="0"/>
              <a:cs typeface="Tahoma" pitchFamily="34" charset="0"/>
            </a:endParaRP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gray">
          <a:xfrm>
            <a:off x="2286000" y="48006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FILE*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=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fopen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(“taptin.txt”, “w+”);</a:t>
            </a:r>
          </a:p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fprintf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“0123456789”);</a:t>
            </a:r>
          </a:p>
          <a:p>
            <a:pPr algn="just" eaLnBrk="0" hangingPunct="0">
              <a:defRPr/>
            </a:pP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rewind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);</a:t>
            </a:r>
          </a:p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fprintf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“*****”);</a:t>
            </a:r>
          </a:p>
        </p:txBody>
      </p:sp>
      <p:pic>
        <p:nvPicPr>
          <p:cNvPr id="24" name="Picture 40" descr="board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ight Arrow 24"/>
          <p:cNvSpPr/>
          <p:nvPr/>
        </p:nvSpPr>
        <p:spPr bwMode="auto">
          <a:xfrm>
            <a:off x="914400" y="3733800"/>
            <a:ext cx="1143000" cy="8382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24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Trả về</a:t>
            </a:r>
          </a:p>
        </p:txBody>
      </p:sp>
      <p:sp>
        <p:nvSpPr>
          <p:cNvPr id="11" name="Freeform 2"/>
          <p:cNvSpPr>
            <a:spLocks/>
          </p:cNvSpPr>
          <p:nvPr/>
        </p:nvSpPr>
        <p:spPr bwMode="gray">
          <a:xfrm>
            <a:off x="587375" y="1676400"/>
            <a:ext cx="6970713" cy="530225"/>
          </a:xfrm>
          <a:custGeom>
            <a:avLst/>
            <a:gdLst/>
            <a:ahLst/>
            <a:cxnLst>
              <a:cxn ang="0">
                <a:pos x="26" y="121"/>
              </a:cxn>
              <a:cxn ang="0">
                <a:pos x="26" y="291"/>
              </a:cxn>
              <a:cxn ang="0">
                <a:pos x="2014" y="291"/>
              </a:cxn>
              <a:cxn ang="0">
                <a:pos x="2014" y="114"/>
              </a:cxn>
              <a:cxn ang="0">
                <a:pos x="1868" y="13"/>
              </a:cxn>
              <a:cxn ang="0">
                <a:pos x="170" y="13"/>
              </a:cxn>
              <a:cxn ang="0">
                <a:pos x="26" y="121"/>
              </a:cxn>
            </a:cxnLst>
            <a:rect l="0" t="0" r="r" b="b"/>
            <a:pathLst>
              <a:path w="2019" h="291">
                <a:moveTo>
                  <a:pt x="26" y="121"/>
                </a:moveTo>
                <a:cubicBezTo>
                  <a:pt x="26" y="245"/>
                  <a:pt x="26" y="291"/>
                  <a:pt x="26" y="291"/>
                </a:cubicBezTo>
                <a:lnTo>
                  <a:pt x="2014" y="291"/>
                </a:lnTo>
                <a:lnTo>
                  <a:pt x="2014" y="114"/>
                </a:lnTo>
                <a:cubicBezTo>
                  <a:pt x="2009" y="76"/>
                  <a:pt x="2019" y="0"/>
                  <a:pt x="1868" y="13"/>
                </a:cubicBezTo>
                <a:cubicBezTo>
                  <a:pt x="1015" y="13"/>
                  <a:pt x="170" y="13"/>
                  <a:pt x="170" y="13"/>
                </a:cubicBezTo>
                <a:cubicBezTo>
                  <a:pt x="0" y="7"/>
                  <a:pt x="24" y="99"/>
                  <a:pt x="26" y="121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chemeClr val="tx1">
                  <a:lumMod val="40000"/>
                  <a:lumOff val="6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9525" cap="flat" cmpd="sng" algn="ctr">
            <a:solidFill>
              <a:srgbClr val="738AC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void </a:t>
            </a:r>
            <a:r>
              <a:rPr lang="en-US" sz="1600" b="1" kern="0" dirty="0">
                <a:solidFill>
                  <a:srgbClr val="FF0000"/>
                </a:solidFill>
                <a:latin typeface="Verdana"/>
                <a:cs typeface="+mn-cs"/>
              </a:rPr>
              <a:t>rewind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(FILE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fp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1" grpId="0" animBg="1"/>
      <p:bldP spid="23" grpId="0" animBg="1"/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tái định vị con trỏ chỉ vị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  <p:sp>
        <p:nvSpPr>
          <p:cNvPr id="14" name="AutoShape 47"/>
          <p:cNvSpPr>
            <a:spLocks noChangeArrowheads="1"/>
          </p:cNvSpPr>
          <p:nvPr/>
        </p:nvSpPr>
        <p:spPr bwMode="gray">
          <a:xfrm>
            <a:off x="685800" y="2230438"/>
            <a:ext cx="6858000" cy="3865562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5" name="Picture 11" descr="book_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1524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9"/>
          <p:cNvSpPr txBox="1">
            <a:spLocks noChangeArrowheads="1"/>
          </p:cNvSpPr>
          <p:nvPr/>
        </p:nvSpPr>
        <p:spPr bwMode="gray">
          <a:xfrm>
            <a:off x="2286000" y="2341563"/>
            <a:ext cx="5181600" cy="11636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Đặt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vị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trí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con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trỏ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chỉ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vị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trong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với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vị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trí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offset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so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với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cột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mốc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origin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(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SEEK_SET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hay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0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đầu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tập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tin;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SEEK_CUR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hay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1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vị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trí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hiện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;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SEEK_END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hay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2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cuối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tập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tin)</a:t>
            </a:r>
          </a:p>
        </p:txBody>
      </p:sp>
      <p:sp>
        <p:nvSpPr>
          <p:cNvPr id="21" name="Text Box 49"/>
          <p:cNvSpPr txBox="1">
            <a:spLocks noChangeArrowheads="1"/>
          </p:cNvSpPr>
          <p:nvPr/>
        </p:nvSpPr>
        <p:spPr bwMode="gray">
          <a:xfrm>
            <a:off x="2286000" y="35814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Thành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0.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Thất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bại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giá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trị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khác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0.</a:t>
            </a: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gray">
          <a:xfrm>
            <a:off x="2286000" y="48006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FILE*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=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fopen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(“taptin.txt”, “w+”);</a:t>
            </a:r>
          </a:p>
          <a:p>
            <a:pPr algn="just" eaLnBrk="0" hangingPunct="0">
              <a:defRPr/>
            </a:pP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fseek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0L, SEEK_SET);  // </a:t>
            </a:r>
            <a:r>
              <a:rPr lang="en-US" sz="2000" dirty="0">
                <a:latin typeface="Tahoma" pitchFamily="34" charset="0"/>
                <a:cs typeface="Tahoma" pitchFamily="34" charset="0"/>
                <a:sym typeface="Wingdings" pitchFamily="2" charset="2"/>
              </a:rPr>
              <a:t>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  <a:sym typeface="Wingdings" pitchFamily="2" charset="2"/>
              </a:rPr>
              <a:t>rewind</a:t>
            </a:r>
            <a:r>
              <a:rPr lang="en-US" sz="2000" dirty="0">
                <a:latin typeface="Tahoma" pitchFamily="34" charset="0"/>
                <a:cs typeface="Tahoma" pitchFamily="34" charset="0"/>
                <a:sym typeface="Wingdings" pitchFamily="2" charset="2"/>
              </a:rPr>
              <a:t>(</a:t>
            </a:r>
            <a:r>
              <a:rPr lang="en-US" sz="2000" dirty="0" err="1">
                <a:latin typeface="Tahoma" pitchFamily="34" charset="0"/>
                <a:cs typeface="Tahoma" pitchFamily="34" charset="0"/>
                <a:sym typeface="Wingdings" pitchFamily="2" charset="2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  <a:sym typeface="Wingdings" pitchFamily="2" charset="2"/>
              </a:rPr>
              <a:t>);</a:t>
            </a:r>
          </a:p>
          <a:p>
            <a:pPr algn="just" eaLnBrk="0" hangingPunct="0">
              <a:defRPr/>
            </a:pP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fseek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0L, SEEK_END); //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cuối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tập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</a:t>
            </a:r>
          </a:p>
          <a:p>
            <a:pPr algn="just" eaLnBrk="0" hangingPunct="0">
              <a:defRPr/>
            </a:pP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fseek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-2L, SEEK_CUR);//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lùi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2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vị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trí</a:t>
            </a:r>
            <a:endParaRPr lang="en-US" sz="2000" dirty="0">
              <a:latin typeface="Tahoma" pitchFamily="34" charset="0"/>
              <a:cs typeface="Tahoma" pitchFamily="34" charset="0"/>
            </a:endParaRPr>
          </a:p>
        </p:txBody>
      </p:sp>
      <p:pic>
        <p:nvPicPr>
          <p:cNvPr id="24" name="Picture 40" descr="board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ight Arrow 24"/>
          <p:cNvSpPr/>
          <p:nvPr/>
        </p:nvSpPr>
        <p:spPr bwMode="auto">
          <a:xfrm>
            <a:off x="914400" y="3733800"/>
            <a:ext cx="1143000" cy="8382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24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Trả về</a:t>
            </a:r>
          </a:p>
        </p:txBody>
      </p:sp>
      <p:sp>
        <p:nvSpPr>
          <p:cNvPr id="11" name="Freeform 2"/>
          <p:cNvSpPr>
            <a:spLocks/>
          </p:cNvSpPr>
          <p:nvPr/>
        </p:nvSpPr>
        <p:spPr bwMode="gray">
          <a:xfrm>
            <a:off x="587375" y="1676400"/>
            <a:ext cx="6970713" cy="530225"/>
          </a:xfrm>
          <a:custGeom>
            <a:avLst/>
            <a:gdLst/>
            <a:ahLst/>
            <a:cxnLst>
              <a:cxn ang="0">
                <a:pos x="26" y="121"/>
              </a:cxn>
              <a:cxn ang="0">
                <a:pos x="26" y="291"/>
              </a:cxn>
              <a:cxn ang="0">
                <a:pos x="2014" y="291"/>
              </a:cxn>
              <a:cxn ang="0">
                <a:pos x="2014" y="114"/>
              </a:cxn>
              <a:cxn ang="0">
                <a:pos x="1868" y="13"/>
              </a:cxn>
              <a:cxn ang="0">
                <a:pos x="170" y="13"/>
              </a:cxn>
              <a:cxn ang="0">
                <a:pos x="26" y="121"/>
              </a:cxn>
            </a:cxnLst>
            <a:rect l="0" t="0" r="r" b="b"/>
            <a:pathLst>
              <a:path w="2019" h="291">
                <a:moveTo>
                  <a:pt x="26" y="121"/>
                </a:moveTo>
                <a:cubicBezTo>
                  <a:pt x="26" y="245"/>
                  <a:pt x="26" y="291"/>
                  <a:pt x="26" y="291"/>
                </a:cubicBezTo>
                <a:lnTo>
                  <a:pt x="2014" y="291"/>
                </a:lnTo>
                <a:lnTo>
                  <a:pt x="2014" y="114"/>
                </a:lnTo>
                <a:cubicBezTo>
                  <a:pt x="2009" y="76"/>
                  <a:pt x="2019" y="0"/>
                  <a:pt x="1868" y="13"/>
                </a:cubicBezTo>
                <a:cubicBezTo>
                  <a:pt x="1015" y="13"/>
                  <a:pt x="170" y="13"/>
                  <a:pt x="170" y="13"/>
                </a:cubicBezTo>
                <a:cubicBezTo>
                  <a:pt x="0" y="7"/>
                  <a:pt x="24" y="99"/>
                  <a:pt x="26" y="121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chemeClr val="tx1">
                  <a:lumMod val="40000"/>
                  <a:lumOff val="6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9525" cap="flat" cmpd="sng" algn="ctr">
            <a:solidFill>
              <a:srgbClr val="738AC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 err="1">
                <a:solidFill>
                  <a:srgbClr val="FF0000"/>
                </a:solidFill>
                <a:latin typeface="Verdana"/>
                <a:cs typeface="+mn-cs"/>
              </a:rPr>
              <a:t>fseek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(FILE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fp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long </a:t>
            </a:r>
            <a:r>
              <a:rPr lang="en-US" sz="1600" b="1" kern="0" dirty="0">
                <a:solidFill>
                  <a:srgbClr val="FFC000"/>
                </a:solidFill>
                <a:latin typeface="Verdana"/>
                <a:cs typeface="+mn-cs"/>
              </a:rPr>
              <a:t>offset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</a:t>
            </a: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ing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>
                <a:solidFill>
                  <a:srgbClr val="FFC000"/>
                </a:solidFill>
                <a:latin typeface="Verdana"/>
                <a:cs typeface="+mn-cs"/>
              </a:rPr>
              <a:t>origin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1" grpId="0" animBg="1"/>
      <p:bldP spid="23" grpId="0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143000" y="381000"/>
            <a:ext cx="7010400" cy="563563"/>
          </a:xfrm>
        </p:spPr>
        <p:txBody>
          <a:bodyPr/>
          <a:lstStyle/>
          <a:p>
            <a:r>
              <a:rPr lang="en-US" smtClean="0"/>
              <a:t>Hàm xác định vị trí con trỏ chỉ vị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  <p:sp>
        <p:nvSpPr>
          <p:cNvPr id="14" name="AutoShape 47"/>
          <p:cNvSpPr>
            <a:spLocks noChangeArrowheads="1"/>
          </p:cNvSpPr>
          <p:nvPr/>
        </p:nvSpPr>
        <p:spPr bwMode="gray">
          <a:xfrm>
            <a:off x="685800" y="2230438"/>
            <a:ext cx="6858000" cy="3865562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5" name="Picture 11" descr="book_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1524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9"/>
          <p:cNvSpPr txBox="1">
            <a:spLocks noChangeArrowheads="1"/>
          </p:cNvSpPr>
          <p:nvPr/>
        </p:nvSpPr>
        <p:spPr bwMode="gray">
          <a:xfrm>
            <a:off x="2286000" y="2341563"/>
            <a:ext cx="5181600" cy="11636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Hàm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vị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trí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hiện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của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con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trỏ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chị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vị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tính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từ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vị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trí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đầu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tiên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của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tập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tin,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tức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là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0)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của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stream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1" name="Text Box 49"/>
          <p:cNvSpPr txBox="1">
            <a:spLocks noChangeArrowheads="1"/>
          </p:cNvSpPr>
          <p:nvPr/>
        </p:nvSpPr>
        <p:spPr bwMode="gray">
          <a:xfrm>
            <a:off x="2286000" y="35814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Thành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vị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trí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hiện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của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con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trỏ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chỉ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vị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Thất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bại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-1L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gray">
          <a:xfrm>
            <a:off x="2286000" y="48006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FILE*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=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fopen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(“taptin.txt”, “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rb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”);</a:t>
            </a:r>
          </a:p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fseek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, 0L, SEEK_END);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long size =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ftell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fp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);</a:t>
            </a:r>
          </a:p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Kich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thuoc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tap tin la %ld\n”, size);</a:t>
            </a:r>
          </a:p>
        </p:txBody>
      </p:sp>
      <p:pic>
        <p:nvPicPr>
          <p:cNvPr id="24" name="Picture 40" descr="board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ight Arrow 24"/>
          <p:cNvSpPr/>
          <p:nvPr/>
        </p:nvSpPr>
        <p:spPr bwMode="auto">
          <a:xfrm>
            <a:off x="914400" y="3733800"/>
            <a:ext cx="1143000" cy="8382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24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Trả về</a:t>
            </a:r>
          </a:p>
        </p:txBody>
      </p:sp>
      <p:sp>
        <p:nvSpPr>
          <p:cNvPr id="11" name="Freeform 2"/>
          <p:cNvSpPr>
            <a:spLocks/>
          </p:cNvSpPr>
          <p:nvPr/>
        </p:nvSpPr>
        <p:spPr bwMode="gray">
          <a:xfrm>
            <a:off x="587375" y="1676400"/>
            <a:ext cx="6970713" cy="530225"/>
          </a:xfrm>
          <a:custGeom>
            <a:avLst/>
            <a:gdLst/>
            <a:ahLst/>
            <a:cxnLst>
              <a:cxn ang="0">
                <a:pos x="26" y="121"/>
              </a:cxn>
              <a:cxn ang="0">
                <a:pos x="26" y="291"/>
              </a:cxn>
              <a:cxn ang="0">
                <a:pos x="2014" y="291"/>
              </a:cxn>
              <a:cxn ang="0">
                <a:pos x="2014" y="114"/>
              </a:cxn>
              <a:cxn ang="0">
                <a:pos x="1868" y="13"/>
              </a:cxn>
              <a:cxn ang="0">
                <a:pos x="170" y="13"/>
              </a:cxn>
              <a:cxn ang="0">
                <a:pos x="26" y="121"/>
              </a:cxn>
            </a:cxnLst>
            <a:rect l="0" t="0" r="r" b="b"/>
            <a:pathLst>
              <a:path w="2019" h="291">
                <a:moveTo>
                  <a:pt x="26" y="121"/>
                </a:moveTo>
                <a:cubicBezTo>
                  <a:pt x="26" y="245"/>
                  <a:pt x="26" y="291"/>
                  <a:pt x="26" y="291"/>
                </a:cubicBezTo>
                <a:lnTo>
                  <a:pt x="2014" y="291"/>
                </a:lnTo>
                <a:lnTo>
                  <a:pt x="2014" y="114"/>
                </a:lnTo>
                <a:cubicBezTo>
                  <a:pt x="2009" y="76"/>
                  <a:pt x="2019" y="0"/>
                  <a:pt x="1868" y="13"/>
                </a:cubicBezTo>
                <a:cubicBezTo>
                  <a:pt x="1015" y="13"/>
                  <a:pt x="170" y="13"/>
                  <a:pt x="170" y="13"/>
                </a:cubicBezTo>
                <a:cubicBezTo>
                  <a:pt x="0" y="7"/>
                  <a:pt x="24" y="99"/>
                  <a:pt x="26" y="121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chemeClr val="tx1">
                  <a:lumMod val="40000"/>
                  <a:lumOff val="6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9525" cap="flat" cmpd="sng" algn="ctr">
            <a:solidFill>
              <a:srgbClr val="738AC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long </a:t>
            </a:r>
            <a:r>
              <a:rPr lang="en-US" sz="1600" b="1" kern="0" dirty="0" err="1">
                <a:solidFill>
                  <a:srgbClr val="FF0000"/>
                </a:solidFill>
                <a:latin typeface="Verdana"/>
                <a:cs typeface="+mn-cs"/>
              </a:rPr>
              <a:t>ftell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(FILE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fp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1" grpId="0" animBg="1"/>
      <p:bldP spid="23" grpId="0" animBg="1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Dấu hiệu kết thúc tập tin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Khi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đã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biết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kích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thước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tập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tin</a:t>
            </a:r>
            <a:endParaRPr lang="en-US" dirty="0" smtClean="0"/>
          </a:p>
          <a:p>
            <a:pPr lvl="1">
              <a:defRPr/>
            </a:pP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fwrite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lưu</a:t>
            </a:r>
            <a:r>
              <a:rPr lang="en-US" dirty="0" smtClean="0"/>
              <a:t> n </a:t>
            </a:r>
            <a:r>
              <a:rPr lang="en-US" dirty="0" err="1" smtClean="0"/>
              <a:t>mẫu</a:t>
            </a:r>
            <a:r>
              <a:rPr lang="en-US" dirty="0" smtClean="0"/>
              <a:t> tin</a:t>
            </a:r>
            <a:br>
              <a:rPr lang="en-US" dirty="0" smtClean="0"/>
            </a:b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err="1" smtClean="0">
                <a:sym typeface="Wingdings" pitchFamily="2" charset="2"/>
              </a:rPr>
              <a:t>kích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thước</a:t>
            </a:r>
            <a:r>
              <a:rPr lang="en-US" dirty="0" smtClean="0">
                <a:sym typeface="Wingdings" pitchFamily="2" charset="2"/>
              </a:rPr>
              <a:t> = n * </a:t>
            </a:r>
            <a:r>
              <a:rPr lang="en-US" dirty="0" err="1" smtClean="0">
                <a:sym typeface="Wingdings" pitchFamily="2" charset="2"/>
              </a:rPr>
              <a:t>sizeof</a:t>
            </a:r>
            <a:r>
              <a:rPr lang="en-US" dirty="0" smtClean="0">
                <a:sym typeface="Wingdings" pitchFamily="2" charset="2"/>
              </a:rPr>
              <a:t>(1 </a:t>
            </a:r>
            <a:r>
              <a:rPr lang="en-US" dirty="0" err="1" smtClean="0">
                <a:sym typeface="Wingdings" pitchFamily="2" charset="2"/>
              </a:rPr>
              <a:t>mẫu</a:t>
            </a:r>
            <a:r>
              <a:rPr lang="en-US" dirty="0" smtClean="0">
                <a:sym typeface="Wingdings" pitchFamily="2" charset="2"/>
              </a:rPr>
              <a:t> tin);</a:t>
            </a:r>
            <a:endParaRPr lang="en-US" dirty="0" smtClean="0"/>
          </a:p>
          <a:p>
            <a:pPr lvl="1">
              <a:defRPr/>
            </a:pP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>
                <a:hlinkClick r:id="rId3" action="ppaction://hlinksldjump"/>
              </a:rPr>
              <a:t>hàm</a:t>
            </a:r>
            <a:r>
              <a:rPr lang="en-US" dirty="0" smtClean="0">
                <a:hlinkClick r:id="rId3" action="ppaction://hlinksldjump"/>
              </a:rPr>
              <a:t> </a:t>
            </a:r>
            <a:r>
              <a:rPr lang="en-US" dirty="0" err="1" smtClean="0">
                <a:hlinkClick r:id="rId3" action="ppaction://hlinksldjump"/>
              </a:rPr>
              <a:t>fseek</a:t>
            </a:r>
            <a:r>
              <a:rPr lang="en-US" dirty="0" smtClean="0">
                <a:hlinkClick r:id="rId3" action="ppaction://hlinksldjump"/>
              </a:rPr>
              <a:t> </a:t>
            </a:r>
            <a:r>
              <a:rPr lang="en-US" dirty="0" err="1" smtClean="0">
                <a:hlinkClick r:id="rId3" action="ppaction://hlinksldjump"/>
              </a:rPr>
              <a:t>kết</a:t>
            </a:r>
            <a:r>
              <a:rPr lang="en-US" dirty="0" smtClean="0">
                <a:hlinkClick r:id="rId3" action="ppaction://hlinksldjump"/>
              </a:rPr>
              <a:t> </a:t>
            </a:r>
            <a:r>
              <a:rPr lang="en-US" dirty="0" err="1" smtClean="0">
                <a:hlinkClick r:id="rId3" action="ppaction://hlinksldjump"/>
              </a:rPr>
              <a:t>hợp</a:t>
            </a:r>
            <a:r>
              <a:rPr lang="en-US" dirty="0" smtClean="0">
                <a:hlinkClick r:id="rId3" action="ppaction://hlinksldjump"/>
              </a:rPr>
              <a:t> </a:t>
            </a:r>
            <a:r>
              <a:rPr lang="en-US" dirty="0" err="1" smtClean="0">
                <a:hlinkClick r:id="rId3" action="ppaction://hlinksldjump"/>
              </a:rPr>
              <a:t>hàm</a:t>
            </a:r>
            <a:r>
              <a:rPr lang="en-US" dirty="0" smtClean="0">
                <a:hlinkClick r:id="rId3" action="ppaction://hlinksldjump"/>
              </a:rPr>
              <a:t> </a:t>
            </a:r>
            <a:r>
              <a:rPr lang="en-US" dirty="0" err="1" smtClean="0">
                <a:hlinkClick r:id="rId3" action="ppaction://hlinksldjump"/>
              </a:rPr>
              <a:t>ftell</a:t>
            </a:r>
            <a:endParaRPr lang="en-US" dirty="0" smtClean="0"/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Khi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chưa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biết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kích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thước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tập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tin</a:t>
            </a:r>
            <a:endParaRPr lang="en-US" dirty="0" smtClean="0"/>
          </a:p>
          <a:p>
            <a:pPr lvl="1">
              <a:defRPr/>
            </a:pPr>
            <a:r>
              <a:rPr lang="en-US" dirty="0" err="1" smtClean="0"/>
              <a:t>Hằng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EOF</a:t>
            </a:r>
            <a:r>
              <a:rPr lang="en-US" dirty="0" smtClean="0"/>
              <a:t> (=-1) (</a:t>
            </a:r>
            <a:r>
              <a:rPr lang="en-US" dirty="0" err="1" smtClean="0">
                <a:solidFill>
                  <a:srgbClr val="FF0000"/>
                </a:solidFill>
              </a:rPr>
              <a:t>chỉ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cho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tập</a:t>
            </a:r>
            <a:r>
              <a:rPr lang="en-US" dirty="0" smtClean="0">
                <a:solidFill>
                  <a:srgbClr val="FF0000"/>
                </a:solidFill>
              </a:rPr>
              <a:t> tin </a:t>
            </a:r>
            <a:r>
              <a:rPr lang="en-US" dirty="0" err="1" smtClean="0">
                <a:solidFill>
                  <a:srgbClr val="FF0000"/>
                </a:solidFill>
              </a:rPr>
              <a:t>văn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bản</a:t>
            </a:r>
            <a:r>
              <a:rPr lang="en-US" dirty="0" smtClean="0"/>
              <a:t>)</a:t>
            </a:r>
            <a:endParaRPr lang="en-US" dirty="0" smtClean="0">
              <a:solidFill>
                <a:srgbClr val="FF0000"/>
              </a:solidFill>
            </a:endParaRPr>
          </a:p>
          <a:p>
            <a:pPr lvl="1">
              <a:buFont typeface="Wingdings" pitchFamily="2" charset="2"/>
              <a:buNone/>
              <a:defRPr/>
            </a:pPr>
            <a:r>
              <a:rPr lang="en-US" dirty="0" smtClean="0">
                <a:sym typeface="Wingdings" pitchFamily="2" charset="2"/>
              </a:rPr>
              <a:t>	 while ((c = </a:t>
            </a:r>
            <a:r>
              <a:rPr lang="en-US" dirty="0" err="1" smtClean="0">
                <a:sym typeface="Wingdings" pitchFamily="2" charset="2"/>
              </a:rPr>
              <a:t>fgetc</a:t>
            </a:r>
            <a:r>
              <a:rPr lang="en-US" dirty="0" smtClean="0">
                <a:sym typeface="Wingdings" pitchFamily="2" charset="2"/>
              </a:rPr>
              <a:t>(</a:t>
            </a:r>
            <a:r>
              <a:rPr lang="en-US" dirty="0" err="1" smtClean="0">
                <a:sym typeface="Wingdings" pitchFamily="2" charset="2"/>
              </a:rPr>
              <a:t>fp</a:t>
            </a:r>
            <a:r>
              <a:rPr lang="en-US" dirty="0" smtClean="0">
                <a:sym typeface="Wingdings" pitchFamily="2" charset="2"/>
              </a:rPr>
              <a:t>)) != 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EOF</a:t>
            </a:r>
            <a:r>
              <a:rPr lang="en-US" dirty="0" smtClean="0">
                <a:sym typeface="Wingdings" pitchFamily="2" charset="2"/>
              </a:rPr>
              <a:t>) …</a:t>
            </a:r>
          </a:p>
          <a:p>
            <a:pPr lvl="1">
              <a:defRPr/>
            </a:pPr>
            <a:r>
              <a:rPr lang="en-US" dirty="0" err="1" smtClean="0"/>
              <a:t>Hàm</a:t>
            </a:r>
            <a:r>
              <a:rPr lang="en-US" dirty="0" smtClean="0"/>
              <a:t> 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int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>
                <a:solidFill>
                  <a:srgbClr val="FF0000"/>
                </a:solidFill>
              </a:rPr>
              <a:t>feof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(FILE *</a:t>
            </a:r>
            <a:r>
              <a:rPr lang="en-US" dirty="0" err="1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fp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)</a:t>
            </a:r>
            <a:r>
              <a:rPr lang="en-US" dirty="0" smtClean="0"/>
              <a:t> (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2 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tin)</a:t>
            </a:r>
          </a:p>
          <a:p>
            <a:pPr lvl="1">
              <a:buFont typeface="Wingdings" pitchFamily="2" charset="2"/>
              <a:buNone/>
              <a:defRPr/>
            </a:pPr>
            <a:r>
              <a:rPr lang="en-US" dirty="0" smtClean="0">
                <a:sym typeface="Wingdings" pitchFamily="2" charset="2"/>
              </a:rPr>
              <a:t>	 </a:t>
            </a:r>
            <a:r>
              <a:rPr lang="en-US" dirty="0" err="1" smtClean="0">
                <a:sym typeface="Wingdings" pitchFamily="2" charset="2"/>
              </a:rPr>
              <a:t>trả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về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số</a:t>
            </a:r>
            <a:r>
              <a:rPr lang="en-US" dirty="0" smtClean="0">
                <a:sym typeface="Wingdings" pitchFamily="2" charset="2"/>
              </a:rPr>
              <a:t> 0 </a:t>
            </a:r>
            <a:r>
              <a:rPr lang="en-US" dirty="0" err="1" smtClean="0">
                <a:sym typeface="Wingdings" pitchFamily="2" charset="2"/>
              </a:rPr>
              <a:t>nếu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chưa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đến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cuối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tập</a:t>
            </a:r>
            <a:r>
              <a:rPr lang="en-US" dirty="0" smtClean="0">
                <a:sym typeface="Wingdings" pitchFamily="2" charset="2"/>
              </a:rPr>
              <a:t> tin</a:t>
            </a:r>
            <a:br>
              <a:rPr lang="en-US" dirty="0" smtClean="0">
                <a:sym typeface="Wingdings" pitchFamily="2" charset="2"/>
              </a:rPr>
            </a:br>
            <a:r>
              <a:rPr lang="en-US" dirty="0" smtClean="0">
                <a:sym typeface="Wingdings" pitchFamily="2" charset="2"/>
              </a:rPr>
              <a:t> </a:t>
            </a:r>
            <a:r>
              <a:rPr lang="en-US" dirty="0" err="1" smtClean="0">
                <a:sym typeface="Wingdings" pitchFamily="2" charset="2"/>
              </a:rPr>
              <a:t>trả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về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số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khác</a:t>
            </a:r>
            <a:r>
              <a:rPr lang="en-US" dirty="0" smtClean="0">
                <a:sym typeface="Wingdings" pitchFamily="2" charset="2"/>
              </a:rPr>
              <a:t> 0 </a:t>
            </a:r>
            <a:r>
              <a:rPr lang="en-US" dirty="0" err="1" smtClean="0">
                <a:sym typeface="Wingdings" pitchFamily="2" charset="2"/>
              </a:rPr>
              <a:t>nếu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đã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đến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cuối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tập</a:t>
            </a:r>
            <a:r>
              <a:rPr lang="en-US" dirty="0" smtClean="0">
                <a:sym typeface="Wingdings" pitchFamily="2" charset="2"/>
              </a:rPr>
              <a:t> tin.</a:t>
            </a:r>
            <a:endParaRPr lang="en-US" dirty="0" smtClean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Các hàm quản lý tập tin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Hàm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nhập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xuất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tập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tin (File I/O function)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đề</a:t>
            </a:r>
            <a:r>
              <a:rPr lang="en-US" dirty="0" smtClean="0"/>
              <a:t> </a:t>
            </a:r>
            <a:r>
              <a:rPr lang="en-US" dirty="0" err="1" smtClean="0"/>
              <a:t>cập</a:t>
            </a:r>
            <a:r>
              <a:rPr lang="en-US" dirty="0" smtClean="0"/>
              <a:t> </a:t>
            </a:r>
            <a:r>
              <a:rPr lang="en-US" dirty="0" err="1" smtClean="0"/>
              <a:t>phần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endParaRPr lang="en-US" dirty="0" smtClean="0"/>
          </a:p>
          <a:p>
            <a:pPr lvl="1">
              <a:defRPr/>
            </a:pP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đóng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tin: </a:t>
            </a:r>
            <a:r>
              <a:rPr lang="en-US" dirty="0" err="1" smtClean="0">
                <a:solidFill>
                  <a:srgbClr val="FF0000"/>
                </a:solidFill>
              </a:rPr>
              <a:t>fopen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fclose</a:t>
            </a:r>
            <a:endParaRPr lang="en-US" dirty="0" smtClean="0">
              <a:solidFill>
                <a:srgbClr val="FF0000"/>
              </a:solidFill>
            </a:endParaRPr>
          </a:p>
          <a:p>
            <a:pPr lvl="1">
              <a:defRPr/>
            </a:pPr>
            <a:r>
              <a:rPr lang="en-US" dirty="0" err="1" smtClean="0"/>
              <a:t>Nhập</a:t>
            </a:r>
            <a:r>
              <a:rPr lang="en-US" dirty="0" smtClean="0"/>
              <a:t>/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tin:</a:t>
            </a:r>
          </a:p>
          <a:p>
            <a:pPr lvl="2">
              <a:defRPr/>
            </a:pPr>
            <a:r>
              <a:rPr lang="en-US" dirty="0" smtClean="0"/>
              <a:t>Theo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dạng</a:t>
            </a:r>
            <a:r>
              <a:rPr lang="en-US" dirty="0" smtClean="0"/>
              <a:t>: </a:t>
            </a:r>
            <a:r>
              <a:rPr lang="en-US" dirty="0" err="1" smtClean="0">
                <a:solidFill>
                  <a:srgbClr val="FF0000"/>
                </a:solidFill>
              </a:rPr>
              <a:t>fprintf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fscanf</a:t>
            </a:r>
            <a:endParaRPr lang="en-US" dirty="0" smtClean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en-US" dirty="0" err="1" smtClean="0"/>
              <a:t>Từng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hay </a:t>
            </a:r>
            <a:r>
              <a:rPr lang="en-US" dirty="0" err="1" smtClean="0"/>
              <a:t>chuỗi</a:t>
            </a:r>
            <a:r>
              <a:rPr lang="en-US" dirty="0" smtClean="0"/>
              <a:t>: </a:t>
            </a:r>
            <a:r>
              <a:rPr lang="en-US" dirty="0" err="1" smtClean="0">
                <a:solidFill>
                  <a:srgbClr val="FF0000"/>
                </a:solidFill>
              </a:rPr>
              <a:t>fputc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fputs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fgetc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fgets</a:t>
            </a:r>
            <a:endParaRPr lang="en-US" dirty="0" smtClean="0">
              <a:solidFill>
                <a:srgbClr val="FF0000"/>
              </a:solidFill>
            </a:endParaRPr>
          </a:p>
          <a:p>
            <a:pPr lvl="2">
              <a:defRPr/>
            </a:pPr>
            <a:r>
              <a:rPr lang="en-US" dirty="0" err="1" smtClean="0"/>
              <a:t>Trực</a:t>
            </a:r>
            <a:r>
              <a:rPr lang="en-US" dirty="0" smtClean="0"/>
              <a:t> </a:t>
            </a:r>
            <a:r>
              <a:rPr lang="en-US" dirty="0" err="1" smtClean="0"/>
              <a:t>tiếp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bộ</a:t>
            </a:r>
            <a:r>
              <a:rPr lang="en-US" dirty="0" smtClean="0"/>
              <a:t> </a:t>
            </a:r>
            <a:r>
              <a:rPr lang="en-US" dirty="0" err="1" smtClean="0"/>
              <a:t>nhớ</a:t>
            </a:r>
            <a:r>
              <a:rPr lang="en-US" dirty="0" smtClean="0"/>
              <a:t>: </a:t>
            </a:r>
            <a:r>
              <a:rPr lang="en-US" dirty="0" err="1" smtClean="0">
                <a:solidFill>
                  <a:srgbClr val="FF0000"/>
                </a:solidFill>
              </a:rPr>
              <a:t>fwrite</a:t>
            </a:r>
            <a:r>
              <a:rPr lang="en-US" dirty="0" smtClean="0"/>
              <a:t>, </a:t>
            </a:r>
            <a:r>
              <a:rPr lang="en-US" dirty="0" err="1" smtClean="0">
                <a:solidFill>
                  <a:srgbClr val="FF0000"/>
                </a:solidFill>
              </a:rPr>
              <a:t>fread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Hàm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quản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lý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</a:t>
            </a: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tập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tin (File-Management function)</a:t>
            </a:r>
          </a:p>
          <a:p>
            <a:pPr lvl="1">
              <a:defRPr/>
            </a:pPr>
            <a:r>
              <a:rPr lang="en-US" dirty="0" err="1" smtClean="0"/>
              <a:t>Xóa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tin: </a:t>
            </a:r>
            <a:r>
              <a:rPr lang="en-US" dirty="0" smtClean="0">
                <a:solidFill>
                  <a:srgbClr val="FF0000"/>
                </a:solidFill>
              </a:rPr>
              <a:t>remove</a:t>
            </a:r>
          </a:p>
          <a:p>
            <a:pPr lvl="1">
              <a:defRPr/>
            </a:pPr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tên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tin: </a:t>
            </a:r>
            <a:r>
              <a:rPr lang="en-US" dirty="0" smtClean="0">
                <a:solidFill>
                  <a:srgbClr val="FF0000"/>
                </a:solidFill>
              </a:rPr>
              <a:t>rename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xóa tập tin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  <p:sp>
        <p:nvSpPr>
          <p:cNvPr id="14" name="AutoShape 47"/>
          <p:cNvSpPr>
            <a:spLocks noChangeArrowheads="1"/>
          </p:cNvSpPr>
          <p:nvPr/>
        </p:nvSpPr>
        <p:spPr bwMode="gray">
          <a:xfrm>
            <a:off x="685800" y="2230438"/>
            <a:ext cx="6858000" cy="3865562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5" name="Picture 11" descr="book_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1524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9"/>
          <p:cNvSpPr txBox="1">
            <a:spLocks noChangeArrowheads="1"/>
          </p:cNvSpPr>
          <p:nvPr/>
        </p:nvSpPr>
        <p:spPr bwMode="gray">
          <a:xfrm>
            <a:off x="2286000" y="2341563"/>
            <a:ext cx="5181600" cy="11636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Xóa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tập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xác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định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bởi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filename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</p:txBody>
      </p:sp>
      <p:sp>
        <p:nvSpPr>
          <p:cNvPr id="21" name="Text Box 49"/>
          <p:cNvSpPr txBox="1">
            <a:spLocks noChangeArrowheads="1"/>
          </p:cNvSpPr>
          <p:nvPr/>
        </p:nvSpPr>
        <p:spPr bwMode="gray">
          <a:xfrm>
            <a:off x="2286000" y="35814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Thành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0.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Thất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bại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-1.</a:t>
            </a: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gray">
          <a:xfrm>
            <a:off x="2286000" y="48006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if (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remove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(“c:\\vc.txt”) == 0)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	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(“Tap tin vc.txt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da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bi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xoa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!”);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else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	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Ko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xoa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duoc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tap tin vc.txt!”);</a:t>
            </a:r>
          </a:p>
        </p:txBody>
      </p:sp>
      <p:pic>
        <p:nvPicPr>
          <p:cNvPr id="24" name="Picture 40" descr="board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ight Arrow 24"/>
          <p:cNvSpPr/>
          <p:nvPr/>
        </p:nvSpPr>
        <p:spPr bwMode="auto">
          <a:xfrm>
            <a:off x="914400" y="3733800"/>
            <a:ext cx="1143000" cy="8382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24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Trả về</a:t>
            </a:r>
          </a:p>
        </p:txBody>
      </p:sp>
      <p:sp>
        <p:nvSpPr>
          <p:cNvPr id="11" name="Freeform 2"/>
          <p:cNvSpPr>
            <a:spLocks/>
          </p:cNvSpPr>
          <p:nvPr/>
        </p:nvSpPr>
        <p:spPr bwMode="gray">
          <a:xfrm>
            <a:off x="587375" y="1676400"/>
            <a:ext cx="6970713" cy="530225"/>
          </a:xfrm>
          <a:custGeom>
            <a:avLst/>
            <a:gdLst/>
            <a:ahLst/>
            <a:cxnLst>
              <a:cxn ang="0">
                <a:pos x="26" y="121"/>
              </a:cxn>
              <a:cxn ang="0">
                <a:pos x="26" y="291"/>
              </a:cxn>
              <a:cxn ang="0">
                <a:pos x="2014" y="291"/>
              </a:cxn>
              <a:cxn ang="0">
                <a:pos x="2014" y="114"/>
              </a:cxn>
              <a:cxn ang="0">
                <a:pos x="1868" y="13"/>
              </a:cxn>
              <a:cxn ang="0">
                <a:pos x="170" y="13"/>
              </a:cxn>
              <a:cxn ang="0">
                <a:pos x="26" y="121"/>
              </a:cxn>
            </a:cxnLst>
            <a:rect l="0" t="0" r="r" b="b"/>
            <a:pathLst>
              <a:path w="2019" h="291">
                <a:moveTo>
                  <a:pt x="26" y="121"/>
                </a:moveTo>
                <a:cubicBezTo>
                  <a:pt x="26" y="245"/>
                  <a:pt x="26" y="291"/>
                  <a:pt x="26" y="291"/>
                </a:cubicBezTo>
                <a:lnTo>
                  <a:pt x="2014" y="291"/>
                </a:lnTo>
                <a:lnTo>
                  <a:pt x="2014" y="114"/>
                </a:lnTo>
                <a:cubicBezTo>
                  <a:pt x="2009" y="76"/>
                  <a:pt x="2019" y="0"/>
                  <a:pt x="1868" y="13"/>
                </a:cubicBezTo>
                <a:cubicBezTo>
                  <a:pt x="1015" y="13"/>
                  <a:pt x="170" y="13"/>
                  <a:pt x="170" y="13"/>
                </a:cubicBezTo>
                <a:cubicBezTo>
                  <a:pt x="0" y="7"/>
                  <a:pt x="24" y="99"/>
                  <a:pt x="26" y="121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chemeClr val="tx1">
                  <a:lumMod val="40000"/>
                  <a:lumOff val="6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9525" cap="flat" cmpd="sng" algn="ctr">
            <a:solidFill>
              <a:srgbClr val="738AC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>
                <a:solidFill>
                  <a:srgbClr val="FF0000"/>
                </a:solidFill>
                <a:latin typeface="Verdana"/>
                <a:cs typeface="+mn-cs"/>
              </a:rPr>
              <a:t>remove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(const char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>
                <a:solidFill>
                  <a:srgbClr val="FFC000"/>
                </a:solidFill>
                <a:latin typeface="Verdana"/>
                <a:cs typeface="+mn-cs"/>
              </a:rPr>
              <a:t>filename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1" grpId="0" animBg="1"/>
      <p:bldP spid="23" grpId="0" animBg="1"/>
      <p:bldP spid="11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Hàm đổi tên tập tin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  <p:sp>
        <p:nvSpPr>
          <p:cNvPr id="14" name="AutoShape 47"/>
          <p:cNvSpPr>
            <a:spLocks noChangeArrowheads="1"/>
          </p:cNvSpPr>
          <p:nvPr/>
        </p:nvSpPr>
        <p:spPr bwMode="gray">
          <a:xfrm>
            <a:off x="685800" y="2230438"/>
            <a:ext cx="6858000" cy="3865562"/>
          </a:xfrm>
          <a:prstGeom prst="roundRect">
            <a:avLst>
              <a:gd name="adj" fmla="val 0"/>
            </a:avLst>
          </a:prstGeom>
          <a:noFill/>
          <a:ln>
            <a:solidFill>
              <a:schemeClr val="tx1">
                <a:lumMod val="40000"/>
                <a:lumOff val="60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>
              <a:defRPr/>
            </a:pPr>
            <a:endParaRPr lang="en-US"/>
          </a:p>
        </p:txBody>
      </p:sp>
      <p:pic>
        <p:nvPicPr>
          <p:cNvPr id="15" name="Picture 11" descr="book_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86000"/>
            <a:ext cx="1524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49"/>
          <p:cNvSpPr txBox="1">
            <a:spLocks noChangeArrowheads="1"/>
          </p:cNvSpPr>
          <p:nvPr/>
        </p:nvSpPr>
        <p:spPr bwMode="gray">
          <a:xfrm>
            <a:off x="2286000" y="2341563"/>
            <a:ext cx="5181600" cy="11636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 err="1">
                <a:latin typeface="Tahoma" pitchFamily="34" charset="0"/>
                <a:cs typeface="Tahoma" pitchFamily="34" charset="0"/>
              </a:rPr>
              <a:t>Đổi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tên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tập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oldname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thành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C000"/>
                </a:solidFill>
                <a:latin typeface="Tahoma" pitchFamily="34" charset="0"/>
                <a:cs typeface="Tahoma" pitchFamily="34" charset="0"/>
              </a:rPr>
              <a:t>newname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.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Hai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tập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phải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cùng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 ổ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đĩa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nhưng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không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cần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thiết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phải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cùng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thư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mục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(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có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thể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sử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dụng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để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di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chuyển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hay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sao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chép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tập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tin).</a:t>
            </a:r>
          </a:p>
        </p:txBody>
      </p:sp>
      <p:sp>
        <p:nvSpPr>
          <p:cNvPr id="21" name="Text Box 49"/>
          <p:cNvSpPr txBox="1">
            <a:spLocks noChangeArrowheads="1"/>
          </p:cNvSpPr>
          <p:nvPr/>
        </p:nvSpPr>
        <p:spPr bwMode="gray">
          <a:xfrm>
            <a:off x="2286000" y="35814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Thành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công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0.</a:t>
            </a:r>
            <a:endParaRPr lang="en-US" sz="2000" dirty="0">
              <a:solidFill>
                <a:srgbClr val="FF0000"/>
              </a:solidFill>
              <a:latin typeface="Tahoma" pitchFamily="34" charset="0"/>
              <a:cs typeface="Tahoma" pitchFamily="34" charset="0"/>
            </a:endParaRPr>
          </a:p>
          <a:p>
            <a:pPr algn="just" eaLnBrk="0" hangingPunct="0">
              <a:buFontTx/>
              <a:buBlip>
                <a:blip r:embed="rId4"/>
              </a:buBlip>
              <a:defRPr/>
            </a:pP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Thất</a:t>
            </a:r>
            <a:r>
              <a:rPr lang="en-US" sz="2000" dirty="0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solidFill>
                  <a:schemeClr val="tx1">
                    <a:lumMod val="60000"/>
                    <a:lumOff val="40000"/>
                  </a:schemeClr>
                </a:solidFill>
                <a:latin typeface="Tahoma" pitchFamily="34" charset="0"/>
                <a:cs typeface="Tahoma" pitchFamily="34" charset="0"/>
              </a:rPr>
              <a:t>bại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: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trả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về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-1.</a:t>
            </a:r>
          </a:p>
        </p:txBody>
      </p:sp>
      <p:sp>
        <p:nvSpPr>
          <p:cNvPr id="23" name="Text Box 49"/>
          <p:cNvSpPr txBox="1">
            <a:spLocks noChangeArrowheads="1"/>
          </p:cNvSpPr>
          <p:nvPr/>
        </p:nvSpPr>
        <p:spPr bwMode="gray">
          <a:xfrm>
            <a:off x="2286000" y="4800600"/>
            <a:ext cx="5181600" cy="11636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if (</a:t>
            </a:r>
            <a:r>
              <a:rPr lang="en-US" sz="2000" dirty="0">
                <a:solidFill>
                  <a:srgbClr val="FF0000"/>
                </a:solidFill>
                <a:latin typeface="Tahoma" pitchFamily="34" charset="0"/>
                <a:cs typeface="Tahoma" pitchFamily="34" charset="0"/>
              </a:rPr>
              <a:t>rename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(“c:\\a.txt”, “c:\\BT\b.cpp”) == 0)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	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Doi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ten tap tin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thanh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cong”);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else</a:t>
            </a:r>
          </a:p>
          <a:p>
            <a:pPr algn="just" eaLnBrk="0" hangingPunct="0">
              <a:defRPr/>
            </a:pPr>
            <a:r>
              <a:rPr lang="en-US" sz="2000" dirty="0">
                <a:latin typeface="Tahoma" pitchFamily="34" charset="0"/>
                <a:cs typeface="Tahoma" pitchFamily="34" charset="0"/>
              </a:rPr>
              <a:t>	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printf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(“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Doi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 ten tap tin that </a:t>
            </a:r>
            <a:r>
              <a:rPr lang="en-US" sz="2000" dirty="0" err="1">
                <a:latin typeface="Tahoma" pitchFamily="34" charset="0"/>
                <a:cs typeface="Tahoma" pitchFamily="34" charset="0"/>
              </a:rPr>
              <a:t>bai</a:t>
            </a:r>
            <a:r>
              <a:rPr lang="en-US" sz="2000" dirty="0">
                <a:latin typeface="Tahoma" pitchFamily="34" charset="0"/>
                <a:cs typeface="Tahoma" pitchFamily="34" charset="0"/>
              </a:rPr>
              <a:t>”);</a:t>
            </a:r>
          </a:p>
        </p:txBody>
      </p:sp>
      <p:pic>
        <p:nvPicPr>
          <p:cNvPr id="24" name="Picture 40" descr="board"/>
          <p:cNvPicPr>
            <a:picLocks noChangeAspect="1" noChangeArrowheads="1" noCrop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648200"/>
            <a:ext cx="1371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ight Arrow 24"/>
          <p:cNvSpPr/>
          <p:nvPr/>
        </p:nvSpPr>
        <p:spPr bwMode="auto">
          <a:xfrm>
            <a:off x="914400" y="3733800"/>
            <a:ext cx="1143000" cy="8382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>
              <a:defRPr/>
            </a:pPr>
            <a:r>
              <a:rPr lang="en-US" sz="2400" b="1" spc="5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Arial" charset="0"/>
              </a:rPr>
              <a:t>Trả về</a:t>
            </a:r>
          </a:p>
        </p:txBody>
      </p:sp>
      <p:sp>
        <p:nvSpPr>
          <p:cNvPr id="11" name="Freeform 2"/>
          <p:cNvSpPr>
            <a:spLocks/>
          </p:cNvSpPr>
          <p:nvPr/>
        </p:nvSpPr>
        <p:spPr bwMode="gray">
          <a:xfrm>
            <a:off x="587375" y="1676400"/>
            <a:ext cx="6970713" cy="530225"/>
          </a:xfrm>
          <a:custGeom>
            <a:avLst/>
            <a:gdLst/>
            <a:ahLst/>
            <a:cxnLst>
              <a:cxn ang="0">
                <a:pos x="26" y="121"/>
              </a:cxn>
              <a:cxn ang="0">
                <a:pos x="26" y="291"/>
              </a:cxn>
              <a:cxn ang="0">
                <a:pos x="2014" y="291"/>
              </a:cxn>
              <a:cxn ang="0">
                <a:pos x="2014" y="114"/>
              </a:cxn>
              <a:cxn ang="0">
                <a:pos x="1868" y="13"/>
              </a:cxn>
              <a:cxn ang="0">
                <a:pos x="170" y="13"/>
              </a:cxn>
              <a:cxn ang="0">
                <a:pos x="26" y="121"/>
              </a:cxn>
            </a:cxnLst>
            <a:rect l="0" t="0" r="r" b="b"/>
            <a:pathLst>
              <a:path w="2019" h="291">
                <a:moveTo>
                  <a:pt x="26" y="121"/>
                </a:moveTo>
                <a:cubicBezTo>
                  <a:pt x="26" y="245"/>
                  <a:pt x="26" y="291"/>
                  <a:pt x="26" y="291"/>
                </a:cubicBezTo>
                <a:lnTo>
                  <a:pt x="2014" y="291"/>
                </a:lnTo>
                <a:lnTo>
                  <a:pt x="2014" y="114"/>
                </a:lnTo>
                <a:cubicBezTo>
                  <a:pt x="2009" y="76"/>
                  <a:pt x="2019" y="0"/>
                  <a:pt x="1868" y="13"/>
                </a:cubicBezTo>
                <a:cubicBezTo>
                  <a:pt x="1015" y="13"/>
                  <a:pt x="170" y="13"/>
                  <a:pt x="170" y="13"/>
                </a:cubicBezTo>
                <a:cubicBezTo>
                  <a:pt x="0" y="7"/>
                  <a:pt x="24" y="99"/>
                  <a:pt x="26" y="121"/>
                </a:cubicBezTo>
                <a:close/>
              </a:path>
            </a:pathLst>
          </a:custGeom>
          <a:gradFill>
            <a:gsLst>
              <a:gs pos="0">
                <a:schemeClr val="tx1">
                  <a:lumMod val="20000"/>
                  <a:lumOff val="80000"/>
                </a:schemeClr>
              </a:gs>
              <a:gs pos="50000">
                <a:schemeClr val="tx1">
                  <a:lumMod val="40000"/>
                  <a:lumOff val="60000"/>
                </a:schemeClr>
              </a:gs>
              <a:gs pos="100000">
                <a:schemeClr val="tx1">
                  <a:lumMod val="20000"/>
                  <a:lumOff val="80000"/>
                </a:schemeClr>
              </a:gs>
            </a:gsLst>
            <a:lin ang="5400000" scaled="0"/>
          </a:gradFill>
          <a:ln w="9525" cap="flat" cmpd="sng" algn="ctr">
            <a:solidFill>
              <a:srgbClr val="738AC8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kern="0" dirty="0" err="1">
                <a:solidFill>
                  <a:schemeClr val="accent3"/>
                </a:solidFill>
                <a:latin typeface="Verdana"/>
                <a:cs typeface="+mn-cs"/>
              </a:rPr>
              <a:t>int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 </a:t>
            </a:r>
            <a:r>
              <a:rPr lang="en-US" sz="1600" b="1" kern="0" dirty="0">
                <a:solidFill>
                  <a:srgbClr val="FF0000"/>
                </a:solidFill>
                <a:latin typeface="Verdana"/>
                <a:cs typeface="+mn-cs"/>
              </a:rPr>
              <a:t>rename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(const char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oldname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, const char </a:t>
            </a:r>
            <a:r>
              <a:rPr lang="en-US" sz="1600" b="1" kern="0" dirty="0">
                <a:solidFill>
                  <a:schemeClr val="bg1"/>
                </a:solidFill>
                <a:latin typeface="Verdana"/>
                <a:cs typeface="+mn-cs"/>
              </a:rPr>
              <a:t>*</a:t>
            </a:r>
            <a:r>
              <a:rPr lang="en-US" sz="1600" b="1" kern="0" dirty="0" err="1">
                <a:solidFill>
                  <a:srgbClr val="FFC000"/>
                </a:solidFill>
                <a:latin typeface="Verdana"/>
                <a:cs typeface="+mn-cs"/>
              </a:rPr>
              <a:t>newname</a:t>
            </a:r>
            <a:r>
              <a:rPr lang="en-US" sz="1600" b="1" kern="0" dirty="0">
                <a:solidFill>
                  <a:schemeClr val="accent3"/>
                </a:solidFill>
                <a:latin typeface="Verdana"/>
                <a:cs typeface="+mn-cs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 animBg="1"/>
      <p:bldP spid="21" grpId="0" animBg="1"/>
      <p:bldP spid="23" grpId="0" animBg="1"/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lý thuyết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1:</a:t>
            </a:r>
            <a:r>
              <a:rPr lang="en-US" dirty="0" smtClean="0"/>
              <a:t> </a:t>
            </a:r>
            <a:r>
              <a:rPr lang="en-US" dirty="0" err="1" smtClean="0"/>
              <a:t>Sự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nhau</a:t>
            </a:r>
            <a:r>
              <a:rPr lang="en-US" dirty="0" smtClean="0"/>
              <a:t> </a:t>
            </a:r>
            <a:r>
              <a:rPr lang="en-US" dirty="0" err="1" smtClean="0"/>
              <a:t>giữa</a:t>
            </a:r>
            <a:r>
              <a:rPr lang="en-US" dirty="0" smtClean="0"/>
              <a:t> stream 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stream 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nhị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?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mtClean="0">
                <a:sym typeface="Wingdings" pitchFamily="2" charset="2"/>
              </a:rPr>
              <a:t>	</a:t>
            </a:r>
            <a:br>
              <a:rPr lang="en-US" smtClean="0">
                <a:sym typeface="Wingdings" pitchFamily="2" charset="2"/>
              </a:rPr>
            </a:br>
            <a:r>
              <a:rPr lang="en-US" smtClean="0">
                <a:sym typeface="Wingdings" pitchFamily="2" charset="2"/>
              </a:rPr>
              <a:t/>
            </a:r>
            <a:br>
              <a:rPr lang="en-US" smtClean="0">
                <a:sym typeface="Wingdings" pitchFamily="2" charset="2"/>
              </a:rPr>
            </a:br>
            <a:r>
              <a:rPr lang="en-US" smtClean="0">
                <a:sym typeface="Wingdings" pitchFamily="2" charset="2"/>
              </a:rPr>
              <a:t/>
            </a:r>
            <a:br>
              <a:rPr lang="en-US" smtClean="0">
                <a:sym typeface="Wingdings" pitchFamily="2" charset="2"/>
              </a:rPr>
            </a:br>
            <a:endParaRPr lang="en-US" dirty="0" smtClean="0">
              <a:sym typeface="Wingdings" pitchFamily="2" charset="2"/>
            </a:endParaRPr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2: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Cần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phải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làm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gì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trước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khi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muốn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truy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xuất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tập</a:t>
            </a:r>
            <a:r>
              <a:rPr lang="en-US" dirty="0" smtClean="0">
                <a:sym typeface="Wingdings" pitchFamily="2" charset="2"/>
              </a:rPr>
              <a:t> tin?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mtClean="0">
                <a:sym typeface="Wingdings" pitchFamily="2" charset="2"/>
              </a:rPr>
              <a:t>	</a:t>
            </a:r>
            <a:endParaRPr lang="en-US" dirty="0" smtClean="0">
              <a:sym typeface="Wingdings" pitchFamily="2" charset="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lý thuyết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3: </a:t>
            </a:r>
            <a:r>
              <a:rPr lang="en-US" dirty="0" err="1" smtClean="0">
                <a:sym typeface="Wingdings" pitchFamily="2" charset="2"/>
              </a:rPr>
              <a:t>Khi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mở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tập</a:t>
            </a:r>
            <a:r>
              <a:rPr lang="en-US" dirty="0" smtClean="0">
                <a:sym typeface="Wingdings" pitchFamily="2" charset="2"/>
              </a:rPr>
              <a:t> tin </a:t>
            </a:r>
            <a:r>
              <a:rPr lang="en-US" dirty="0" err="1" smtClean="0">
                <a:sym typeface="Wingdings" pitchFamily="2" charset="2"/>
              </a:rPr>
              <a:t>bằng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fopen</a:t>
            </a:r>
            <a:r>
              <a:rPr lang="en-US" dirty="0" smtClean="0">
                <a:sym typeface="Wingdings" pitchFamily="2" charset="2"/>
              </a:rPr>
              <a:t>, </a:t>
            </a:r>
            <a:r>
              <a:rPr lang="en-US" dirty="0" err="1" smtClean="0">
                <a:sym typeface="Wingdings" pitchFamily="2" charset="2"/>
              </a:rPr>
              <a:t>ta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cần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phải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xác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định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thông</a:t>
            </a:r>
            <a:r>
              <a:rPr lang="en-US" dirty="0" smtClean="0">
                <a:sym typeface="Wingdings" pitchFamily="2" charset="2"/>
              </a:rPr>
              <a:t> tin </a:t>
            </a:r>
            <a:r>
              <a:rPr lang="en-US" dirty="0" err="1" smtClean="0">
                <a:sym typeface="Wingdings" pitchFamily="2" charset="2"/>
              </a:rPr>
              <a:t>nào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và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hàm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sẽ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trả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về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cái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gì</a:t>
            </a:r>
            <a:r>
              <a:rPr lang="en-US" dirty="0" smtClean="0">
                <a:sym typeface="Wingdings" pitchFamily="2" charset="2"/>
              </a:rPr>
              <a:t>?</a:t>
            </a:r>
          </a:p>
          <a:p>
            <a:pPr>
              <a:buFont typeface="Wingdings" pitchFamily="2" charset="2"/>
              <a:buNone/>
              <a:defRPr/>
            </a:pPr>
            <a:r>
              <a:rPr lang="en-US" dirty="0" smtClean="0">
                <a:sym typeface="Wingdings" pitchFamily="2" charset="2"/>
              </a:rPr>
              <a:t>	</a:t>
            </a:r>
            <a:r>
              <a:rPr lang="en-US" smtClean="0">
                <a:sym typeface="Wingdings" pitchFamily="2" charset="2"/>
              </a:rPr>
              <a:t> </a:t>
            </a:r>
            <a:br>
              <a:rPr lang="en-US" smtClean="0">
                <a:sym typeface="Wingdings" pitchFamily="2" charset="2"/>
              </a:rPr>
            </a:br>
            <a:r>
              <a:rPr lang="en-US" smtClean="0">
                <a:sym typeface="Wingdings" pitchFamily="2" charset="2"/>
              </a:rPr>
              <a:t/>
            </a:r>
            <a:br>
              <a:rPr lang="en-US" smtClean="0">
                <a:sym typeface="Wingdings" pitchFamily="2" charset="2"/>
              </a:rPr>
            </a:br>
            <a:r>
              <a:rPr lang="en-US" smtClean="0">
                <a:sym typeface="Wingdings" pitchFamily="2" charset="2"/>
              </a:rPr>
              <a:t/>
            </a:r>
            <a:br>
              <a:rPr lang="en-US" smtClean="0">
                <a:sym typeface="Wingdings" pitchFamily="2" charset="2"/>
              </a:rPr>
            </a:br>
            <a:endParaRPr lang="en-US" dirty="0" smtClean="0">
              <a:sym typeface="Wingdings" pitchFamily="2" charset="2"/>
            </a:endParaRPr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4:</a:t>
            </a:r>
            <a:r>
              <a:rPr lang="en-US" dirty="0" smtClean="0"/>
              <a:t> </a:t>
            </a:r>
            <a:r>
              <a:rPr lang="en-US" dirty="0" err="1" smtClean="0"/>
              <a:t>Ba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pháp</a:t>
            </a:r>
            <a:r>
              <a:rPr lang="en-US" dirty="0" smtClean="0"/>
              <a:t> </a:t>
            </a:r>
            <a:r>
              <a:rPr lang="en-US" dirty="0" err="1" smtClean="0"/>
              <a:t>để</a:t>
            </a:r>
            <a:r>
              <a:rPr lang="en-US" dirty="0" smtClean="0"/>
              <a:t> </a:t>
            </a:r>
            <a:r>
              <a:rPr lang="en-US" dirty="0" err="1" smtClean="0"/>
              <a:t>truy</a:t>
            </a:r>
            <a:r>
              <a:rPr lang="en-US" dirty="0" smtClean="0"/>
              <a:t> </a:t>
            </a:r>
            <a:r>
              <a:rPr lang="en-US" dirty="0" err="1" smtClean="0"/>
              <a:t>xuất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tin?</a:t>
            </a:r>
          </a:p>
          <a:p>
            <a:pPr>
              <a:buFont typeface="Wingdings" pitchFamily="2" charset="2"/>
              <a:buNone/>
              <a:defRPr/>
            </a:pPr>
            <a:r>
              <a:rPr lang="en-US" dirty="0" smtClean="0">
                <a:sym typeface="Wingdings" pitchFamily="2" charset="2"/>
              </a:rPr>
              <a:t>	 </a:t>
            </a:r>
            <a:r>
              <a:rPr lang="en-US" smtClean="0">
                <a:sym typeface="Wingdings" pitchFamily="2" charset="2"/>
              </a:rPr>
              <a:t>1.</a:t>
            </a:r>
            <a:endParaRPr lang="en-US" dirty="0" smtClean="0">
              <a:sym typeface="Wingdings" pitchFamily="2" charset="2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dirty="0" smtClean="0">
                <a:sym typeface="Wingdings" pitchFamily="2" charset="2"/>
              </a:rPr>
              <a:t>	 </a:t>
            </a:r>
            <a:r>
              <a:rPr lang="en-US" smtClean="0">
                <a:sym typeface="Wingdings" pitchFamily="2" charset="2"/>
              </a:rPr>
              <a:t>2.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mtClean="0">
                <a:sym typeface="Wingdings" pitchFamily="2" charset="2"/>
              </a:rPr>
              <a:t>	 3.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lý thuyết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5:</a:t>
            </a:r>
            <a:r>
              <a:rPr lang="en-US" dirty="0" smtClean="0">
                <a:sym typeface="Wingdings" pitchFamily="2" charset="2"/>
              </a:rPr>
              <a:t> Hai </a:t>
            </a:r>
            <a:r>
              <a:rPr lang="en-US" dirty="0" err="1" smtClean="0">
                <a:sym typeface="Wingdings" pitchFamily="2" charset="2"/>
              </a:rPr>
              <a:t>phương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pháp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để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đọc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thông</a:t>
            </a:r>
            <a:r>
              <a:rPr lang="en-US" dirty="0" smtClean="0">
                <a:sym typeface="Wingdings" pitchFamily="2" charset="2"/>
              </a:rPr>
              <a:t> tin </a:t>
            </a:r>
            <a:r>
              <a:rPr lang="en-US" dirty="0" err="1" smtClean="0">
                <a:sym typeface="Wingdings" pitchFamily="2" charset="2"/>
              </a:rPr>
              <a:t>từ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tập</a:t>
            </a:r>
            <a:r>
              <a:rPr lang="en-US" dirty="0" smtClean="0">
                <a:sym typeface="Wingdings" pitchFamily="2" charset="2"/>
              </a:rPr>
              <a:t> tin </a:t>
            </a:r>
            <a:r>
              <a:rPr lang="en-US" dirty="0" err="1" smtClean="0">
                <a:sym typeface="Wingdings" pitchFamily="2" charset="2"/>
              </a:rPr>
              <a:t>là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gì</a:t>
            </a:r>
            <a:r>
              <a:rPr lang="en-US" dirty="0" smtClean="0">
                <a:sym typeface="Wingdings" pitchFamily="2" charset="2"/>
              </a:rPr>
              <a:t>?</a:t>
            </a:r>
          </a:p>
          <a:p>
            <a:pPr>
              <a:buFont typeface="Wingdings" pitchFamily="2" charset="2"/>
              <a:buNone/>
              <a:defRPr/>
            </a:pPr>
            <a:r>
              <a:rPr lang="en-US" dirty="0" smtClean="0">
                <a:sym typeface="Wingdings" pitchFamily="2" charset="2"/>
              </a:rPr>
              <a:t>	 </a:t>
            </a:r>
            <a:r>
              <a:rPr lang="en-US" smtClean="0">
                <a:sym typeface="Wingdings" pitchFamily="2" charset="2"/>
              </a:rPr>
              <a:t>1.</a:t>
            </a:r>
            <a:endParaRPr lang="en-US" dirty="0" smtClean="0">
              <a:sym typeface="Wingdings" pitchFamily="2" charset="2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dirty="0" smtClean="0">
                <a:sym typeface="Wingdings" pitchFamily="2" charset="2"/>
              </a:rPr>
              <a:t>	 </a:t>
            </a:r>
            <a:r>
              <a:rPr lang="en-US" smtClean="0">
                <a:sym typeface="Wingdings" pitchFamily="2" charset="2"/>
              </a:rPr>
              <a:t>2.</a:t>
            </a:r>
            <a:endParaRPr lang="en-US" dirty="0" smtClean="0">
              <a:sym typeface="Wingdings" pitchFamily="2" charset="2"/>
            </a:endParaRPr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6: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Giá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trị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của</a:t>
            </a:r>
            <a:r>
              <a:rPr lang="en-US" dirty="0" smtClean="0">
                <a:sym typeface="Wingdings" pitchFamily="2" charset="2"/>
              </a:rPr>
              <a:t> EOF?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mtClean="0">
                <a:sym typeface="Wingdings" pitchFamily="2" charset="2"/>
              </a:rPr>
              <a:t>	</a:t>
            </a:r>
            <a:endParaRPr lang="en-US" dirty="0" smtClean="0">
              <a:sym typeface="Wingdings" pitchFamily="2" charset="2"/>
            </a:endParaRPr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7:</a:t>
            </a:r>
            <a:r>
              <a:rPr lang="en-US" dirty="0" smtClean="0">
                <a:sym typeface="Wingdings" pitchFamily="2" charset="2"/>
              </a:rPr>
              <a:t> Ta </a:t>
            </a:r>
            <a:r>
              <a:rPr lang="en-US" dirty="0" err="1" smtClean="0">
                <a:sym typeface="Wingdings" pitchFamily="2" charset="2"/>
              </a:rPr>
              <a:t>dùng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hằng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ký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hiệu</a:t>
            </a:r>
            <a:r>
              <a:rPr lang="en-US" dirty="0" smtClean="0">
                <a:sym typeface="Wingdings" pitchFamily="2" charset="2"/>
              </a:rPr>
              <a:t> EOF </a:t>
            </a:r>
            <a:r>
              <a:rPr lang="en-US" dirty="0" err="1" smtClean="0">
                <a:sym typeface="Wingdings" pitchFamily="2" charset="2"/>
              </a:rPr>
              <a:t>để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làm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gì</a:t>
            </a:r>
            <a:r>
              <a:rPr lang="en-US" dirty="0" smtClean="0">
                <a:sym typeface="Wingdings" pitchFamily="2" charset="2"/>
              </a:rPr>
              <a:t>?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mtClean="0">
                <a:sym typeface="Wingdings" pitchFamily="2" charset="2"/>
              </a:rPr>
              <a:t>	</a:t>
            </a:r>
            <a:endParaRPr lang="en-US" dirty="0" smtClean="0">
              <a:sym typeface="Wingdings" pitchFamily="2" charset="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lý thuyết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8:</a:t>
            </a:r>
            <a:r>
              <a:rPr lang="en-US" dirty="0" smtClean="0"/>
              <a:t> </a:t>
            </a:r>
            <a:r>
              <a:rPr lang="en-US" dirty="0" err="1" smtClean="0"/>
              <a:t>Cách</a:t>
            </a:r>
            <a:r>
              <a:rPr lang="en-US" dirty="0" smtClean="0"/>
              <a:t> </a:t>
            </a:r>
            <a:r>
              <a:rPr lang="en-US" dirty="0" err="1" smtClean="0"/>
              <a:t>xác</a:t>
            </a:r>
            <a:r>
              <a:rPr lang="en-US" dirty="0" smtClean="0"/>
              <a:t> </a:t>
            </a:r>
            <a:r>
              <a:rPr lang="en-US" dirty="0" err="1" smtClean="0"/>
              <a:t>định</a:t>
            </a:r>
            <a:r>
              <a:rPr lang="en-US" dirty="0" smtClean="0"/>
              <a:t> </a:t>
            </a:r>
            <a:r>
              <a:rPr lang="en-US" dirty="0" err="1" smtClean="0"/>
              <a:t>cuối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kiểu</a:t>
            </a:r>
            <a:r>
              <a:rPr lang="en-US" dirty="0" smtClean="0"/>
              <a:t> </a:t>
            </a:r>
            <a:r>
              <a:rPr lang="en-US" dirty="0" err="1" smtClean="0"/>
              <a:t>nhị</a:t>
            </a:r>
            <a:r>
              <a:rPr lang="en-US" dirty="0" smtClean="0"/>
              <a:t> </a:t>
            </a:r>
            <a:r>
              <a:rPr lang="en-US" dirty="0" err="1" smtClean="0"/>
              <a:t>phân</a:t>
            </a:r>
            <a:r>
              <a:rPr lang="en-US" dirty="0" smtClean="0"/>
              <a:t>?</a:t>
            </a:r>
          </a:p>
          <a:p>
            <a:pPr>
              <a:buFont typeface="Wingdings" pitchFamily="2" charset="2"/>
              <a:buNone/>
              <a:defRPr/>
            </a:pPr>
            <a:r>
              <a:rPr lang="en-US" dirty="0" smtClean="0">
                <a:sym typeface="Wingdings" pitchFamily="2" charset="2"/>
              </a:rPr>
              <a:t>	</a:t>
            </a:r>
            <a:r>
              <a:rPr lang="en-US" smtClean="0">
                <a:sym typeface="Wingdings" pitchFamily="2" charset="2"/>
              </a:rPr>
              <a:t> </a:t>
            </a:r>
            <a:br>
              <a:rPr lang="en-US" smtClean="0">
                <a:sym typeface="Wingdings" pitchFamily="2" charset="2"/>
              </a:rPr>
            </a:br>
            <a:endParaRPr lang="en-US" dirty="0" smtClean="0">
              <a:sym typeface="Wingdings" pitchFamily="2" charset="2"/>
            </a:endParaRPr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9:</a:t>
            </a:r>
            <a:r>
              <a:rPr lang="en-US" dirty="0" smtClean="0">
                <a:sym typeface="Wingdings" pitchFamily="2" charset="2"/>
              </a:rPr>
              <a:t> Con </a:t>
            </a:r>
            <a:r>
              <a:rPr lang="en-US" dirty="0" err="1" smtClean="0">
                <a:sym typeface="Wingdings" pitchFamily="2" charset="2"/>
              </a:rPr>
              <a:t>trỏ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chỉ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vị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là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gì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và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cách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thay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đổi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nó</a:t>
            </a:r>
            <a:r>
              <a:rPr lang="en-US" dirty="0" smtClean="0">
                <a:sym typeface="Wingdings" pitchFamily="2" charset="2"/>
              </a:rPr>
              <a:t>?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mtClean="0">
                <a:sym typeface="Wingdings" pitchFamily="2" charset="2"/>
              </a:rPr>
              <a:t>	</a:t>
            </a:r>
            <a:endParaRPr lang="en-US" dirty="0" smtClean="0">
              <a:sym typeface="Wingdings" pitchFamily="2" charset="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lý thuyết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10: </a:t>
            </a:r>
            <a:r>
              <a:rPr lang="en-US" dirty="0" err="1" smtClean="0">
                <a:sym typeface="Wingdings" pitchFamily="2" charset="2"/>
              </a:rPr>
              <a:t>Nếu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mở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một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tập</a:t>
            </a:r>
            <a:r>
              <a:rPr lang="en-US" dirty="0" smtClean="0">
                <a:sym typeface="Wingdings" pitchFamily="2" charset="2"/>
              </a:rPr>
              <a:t> tin </a:t>
            </a:r>
            <a:r>
              <a:rPr lang="en-US" dirty="0" err="1" smtClean="0">
                <a:sym typeface="Wingdings" pitchFamily="2" charset="2"/>
              </a:rPr>
              <a:t>chưa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có</a:t>
            </a:r>
            <a:r>
              <a:rPr lang="en-US" dirty="0" smtClean="0">
                <a:sym typeface="Wingdings" pitchFamily="2" charset="2"/>
              </a:rPr>
              <a:t> (</a:t>
            </a:r>
            <a:r>
              <a:rPr lang="en-US" dirty="0" err="1" smtClean="0">
                <a:sym typeface="Wingdings" pitchFamily="2" charset="2"/>
              </a:rPr>
              <a:t>bằng</a:t>
            </a:r>
            <a:r>
              <a:rPr lang="en-US" dirty="0" smtClean="0">
                <a:sym typeface="Wingdings" pitchFamily="2" charset="2"/>
              </a:rPr>
              <a:t> mode w), </a:t>
            </a:r>
            <a:r>
              <a:rPr lang="en-US" dirty="0" err="1" smtClean="0">
                <a:sym typeface="Wingdings" pitchFamily="2" charset="2"/>
              </a:rPr>
              <a:t>cho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biết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giá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trị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của</a:t>
            </a:r>
            <a:r>
              <a:rPr lang="en-US" dirty="0" smtClean="0">
                <a:sym typeface="Wingdings" pitchFamily="2" charset="2"/>
              </a:rPr>
              <a:t> con </a:t>
            </a:r>
            <a:r>
              <a:rPr lang="en-US" dirty="0" err="1" smtClean="0">
                <a:sym typeface="Wingdings" pitchFamily="2" charset="2"/>
              </a:rPr>
              <a:t>trỏ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chị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vị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lúc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đầu</a:t>
            </a:r>
            <a:r>
              <a:rPr lang="en-US" dirty="0" smtClean="0">
                <a:sym typeface="Wingdings" pitchFamily="2" charset="2"/>
              </a:rPr>
              <a:t>?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mtClean="0">
                <a:sym typeface="Wingdings" pitchFamily="2" charset="2"/>
              </a:rPr>
              <a:t>	</a:t>
            </a:r>
            <a:br>
              <a:rPr lang="en-US" smtClean="0">
                <a:sym typeface="Wingdings" pitchFamily="2" charset="2"/>
              </a:rPr>
            </a:br>
            <a:endParaRPr lang="en-US" dirty="0" smtClean="0">
              <a:sym typeface="Wingdings" pitchFamily="2" charset="2"/>
            </a:endParaRPr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11: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lệnh</a:t>
            </a:r>
            <a:r>
              <a:rPr lang="en-US" dirty="0" smtClean="0"/>
              <a:t> </a:t>
            </a:r>
            <a:r>
              <a:rPr lang="en-US" dirty="0" err="1" smtClean="0"/>
              <a:t>đóng</a:t>
            </a:r>
            <a:r>
              <a:rPr lang="en-US" dirty="0" smtClean="0"/>
              <a:t>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stream </a:t>
            </a:r>
            <a:r>
              <a:rPr lang="en-US" dirty="0" err="1" smtClean="0"/>
              <a:t>tập</a:t>
            </a:r>
            <a:r>
              <a:rPr lang="en-US" dirty="0" smtClean="0"/>
              <a:t> tin.</a:t>
            </a:r>
          </a:p>
          <a:p>
            <a:pPr>
              <a:buFont typeface="Wingdings" pitchFamily="2" charset="2"/>
              <a:buNone/>
              <a:defRPr/>
            </a:pPr>
            <a:r>
              <a:rPr lang="en-US" smtClean="0">
                <a:sym typeface="Wingdings" pitchFamily="2" charset="2"/>
              </a:rPr>
              <a:t>	</a:t>
            </a:r>
            <a:endParaRPr lang="en-US" dirty="0" smtClean="0">
              <a:sym typeface="Wingdings" pitchFamily="2" charset="2"/>
            </a:endParaRPr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12: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Trình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bày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hai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cách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khác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nhau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để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chuyển</a:t>
            </a:r>
            <a:r>
              <a:rPr lang="en-US" dirty="0" smtClean="0">
                <a:sym typeface="Wingdings" pitchFamily="2" charset="2"/>
              </a:rPr>
              <a:t> con </a:t>
            </a:r>
            <a:r>
              <a:rPr lang="en-US" dirty="0" err="1" smtClean="0">
                <a:sym typeface="Wingdings" pitchFamily="2" charset="2"/>
              </a:rPr>
              <a:t>trỏ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chỉ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vị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về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đầu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tập</a:t>
            </a:r>
            <a:r>
              <a:rPr lang="en-US" dirty="0" smtClean="0">
                <a:sym typeface="Wingdings" pitchFamily="2" charset="2"/>
              </a:rPr>
              <a:t> tin fp.</a:t>
            </a:r>
          </a:p>
          <a:p>
            <a:pPr>
              <a:buFont typeface="Wingdings" pitchFamily="2" charset="2"/>
              <a:buNone/>
              <a:defRPr/>
            </a:pPr>
            <a:r>
              <a:rPr lang="en-US" dirty="0" smtClean="0">
                <a:sym typeface="Wingdings" pitchFamily="2" charset="2"/>
              </a:rPr>
              <a:t>	 </a:t>
            </a:r>
            <a:r>
              <a:rPr lang="en-US" smtClean="0">
                <a:sym typeface="Wingdings" pitchFamily="2" charset="2"/>
              </a:rPr>
              <a:t>1.</a:t>
            </a:r>
            <a:endParaRPr lang="en-US" dirty="0" smtClean="0">
              <a:sym typeface="Wingdings" pitchFamily="2" charset="2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dirty="0" smtClean="0">
                <a:sym typeface="Wingdings" pitchFamily="2" charset="2"/>
              </a:rPr>
              <a:t>	 </a:t>
            </a:r>
            <a:r>
              <a:rPr lang="en-US" smtClean="0">
                <a:sym typeface="Wingdings" pitchFamily="2" charset="2"/>
              </a:rPr>
              <a:t>2.</a:t>
            </a:r>
            <a:endParaRPr lang="en-US" dirty="0" smtClean="0">
              <a:sym typeface="Wingdings" pitchFamily="2" charset="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lý thuyết</a:t>
            </a:r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13: </a:t>
            </a:r>
            <a:r>
              <a:rPr lang="en-US" dirty="0" err="1" smtClean="0"/>
              <a:t>Đoạn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sai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</a:p>
        </p:txBody>
      </p:sp>
      <p:sp>
        <p:nvSpPr>
          <p:cNvPr id="7" name="Rounded Rectangle 6">
            <a:hlinkClick r:id="rId3" action="ppaction://hlinksldjump"/>
          </p:cNvPr>
          <p:cNvSpPr/>
          <p:nvPr/>
        </p:nvSpPr>
        <p:spPr>
          <a:xfrm>
            <a:off x="685800" y="2209800"/>
            <a:ext cx="152400" cy="40386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838200" y="2209800"/>
            <a:ext cx="8305800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void main()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	FILE *fp;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	int c;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	if ((fp = fopen(“abc.xyz”, “rb”)) == NULL)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		printf(“Khong mo duoc tap abc.xyz\n”);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	else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	{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		while ((c = fgetc(fp)) != EOF)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			fprintf(stdout, “%c”, c);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		fclose(fp);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  <a:sym typeface="Wingdings" pitchFamily="2" charset="2"/>
              </a:rPr>
              <a:t>	}</a:t>
            </a:r>
          </a:p>
          <a:p>
            <a:pPr eaLnBrk="1" hangingPunct="1"/>
            <a:r>
              <a:rPr lang="en-US" sz="2000" b="1"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6705600" y="4648200"/>
            <a:ext cx="457200" cy="304800"/>
          </a:xfrm>
          <a:prstGeom prst="rect">
            <a:avLst/>
          </a:prstGeom>
          <a:solidFill>
            <a:srgbClr val="0099FF">
              <a:alpha val="2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thực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14: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3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a, b, c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bàn</a:t>
            </a:r>
            <a:r>
              <a:rPr lang="en-US" dirty="0" smtClean="0"/>
              <a:t> </a:t>
            </a:r>
            <a:r>
              <a:rPr lang="en-US" dirty="0" err="1" smtClean="0"/>
              <a:t>phím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tin.</a:t>
            </a:r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15: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 3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a, b, c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tin,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giải</a:t>
            </a:r>
            <a:r>
              <a:rPr lang="en-US" dirty="0" smtClean="0"/>
              <a:t> </a:t>
            </a:r>
            <a:r>
              <a:rPr lang="en-US" dirty="0" err="1" smtClean="0"/>
              <a:t>phương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ax</a:t>
            </a:r>
            <a:r>
              <a:rPr lang="en-US" baseline="30000" dirty="0" smtClean="0"/>
              <a:t>2</a:t>
            </a:r>
            <a:r>
              <a:rPr lang="en-US" dirty="0" smtClean="0"/>
              <a:t>+ </a:t>
            </a:r>
            <a:r>
              <a:rPr lang="en-US" dirty="0" err="1" smtClean="0"/>
              <a:t>bx</a:t>
            </a:r>
            <a:r>
              <a:rPr lang="en-US" dirty="0" smtClean="0"/>
              <a:t> + c = 0 </a:t>
            </a:r>
            <a:r>
              <a:rPr lang="en-US" dirty="0" err="1" smtClean="0"/>
              <a:t>rồi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khác</a:t>
            </a:r>
            <a:r>
              <a:rPr lang="en-US" dirty="0" smtClean="0"/>
              <a:t>.</a:t>
            </a:r>
            <a:endParaRPr lang="en-US" dirty="0" smtClean="0">
              <a:solidFill>
                <a:schemeClr val="accent4">
                  <a:lumMod val="50000"/>
                  <a:lumOff val="50000"/>
                </a:schemeClr>
              </a:solidFill>
            </a:endParaRPr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16: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 n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nguyên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,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sắp</a:t>
            </a:r>
            <a:r>
              <a:rPr lang="en-US" dirty="0" smtClean="0"/>
              <a:t> </a:t>
            </a:r>
            <a:r>
              <a:rPr lang="en-US" dirty="0" err="1" smtClean="0"/>
              <a:t>xếp</a:t>
            </a:r>
            <a:r>
              <a:rPr lang="en-US" dirty="0" smtClean="0"/>
              <a:t> </a:t>
            </a:r>
            <a:r>
              <a:rPr lang="en-US" dirty="0" err="1" smtClean="0"/>
              <a:t>tăng</a:t>
            </a:r>
            <a:r>
              <a:rPr lang="en-US" dirty="0" smtClean="0"/>
              <a:t> </a:t>
            </a:r>
            <a:r>
              <a:rPr lang="en-US" dirty="0" err="1" smtClean="0"/>
              <a:t>dần</a:t>
            </a:r>
            <a:r>
              <a:rPr lang="en-US" dirty="0" smtClean="0"/>
              <a:t> </a:t>
            </a:r>
            <a:r>
              <a:rPr lang="en-US" dirty="0" err="1" smtClean="0"/>
              <a:t>rồi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kết</a:t>
            </a:r>
            <a:r>
              <a:rPr lang="en-US" dirty="0" smtClean="0"/>
              <a:t> </a:t>
            </a:r>
            <a:r>
              <a:rPr lang="en-US" dirty="0" err="1" smtClean="0"/>
              <a:t>quả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1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khác</a:t>
            </a:r>
            <a:r>
              <a:rPr lang="en-US" dirty="0" smtClean="0"/>
              <a:t>. </a:t>
            </a:r>
            <a:r>
              <a:rPr lang="en-US" dirty="0" err="1" smtClean="0"/>
              <a:t>Ví</a:t>
            </a:r>
            <a:r>
              <a:rPr lang="en-US" dirty="0" smtClean="0"/>
              <a:t> </a:t>
            </a:r>
            <a:r>
              <a:rPr lang="en-US" dirty="0" err="1" smtClean="0"/>
              <a:t>dụ</a:t>
            </a:r>
            <a:r>
              <a:rPr lang="en-US" dirty="0" smtClean="0"/>
              <a:t>:</a:t>
            </a:r>
          </a:p>
          <a:p>
            <a:pPr>
              <a:buFont typeface="Wingdings" pitchFamily="2" charset="2"/>
              <a:buNone/>
              <a:defRPr/>
            </a:pPr>
            <a:r>
              <a:rPr lang="en-US" dirty="0" smtClean="0"/>
              <a:t>	4			</a:t>
            </a:r>
            <a:r>
              <a:rPr lang="en-US" dirty="0" smtClean="0">
                <a:sym typeface="Wingdings" pitchFamily="2" charset="2"/>
              </a:rPr>
              <a:t></a:t>
            </a:r>
            <a:r>
              <a:rPr lang="en-US" dirty="0" smtClean="0"/>
              <a:t>	4</a:t>
            </a:r>
          </a:p>
          <a:p>
            <a:pPr>
              <a:buFont typeface="Wingdings" pitchFamily="2" charset="2"/>
              <a:buNone/>
              <a:defRPr/>
            </a:pPr>
            <a:r>
              <a:rPr lang="en-US" dirty="0" smtClean="0"/>
              <a:t>	2   5   1   4	</a:t>
            </a:r>
            <a:r>
              <a:rPr lang="en-US" dirty="0" smtClean="0">
                <a:sym typeface="Wingdings" pitchFamily="2" charset="2"/>
              </a:rPr>
              <a:t></a:t>
            </a:r>
            <a:r>
              <a:rPr lang="en-US" dirty="0" smtClean="0"/>
              <a:t>	1   2   4   5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thực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17: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dòng</a:t>
            </a:r>
            <a:r>
              <a:rPr lang="en-US" dirty="0" smtClean="0"/>
              <a:t>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nhập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bàn</a:t>
            </a:r>
            <a:r>
              <a:rPr lang="en-US" dirty="0" smtClean="0"/>
              <a:t> </a:t>
            </a:r>
            <a:r>
              <a:rPr lang="en-US" dirty="0" err="1" smtClean="0"/>
              <a:t>phím</a:t>
            </a:r>
            <a:r>
              <a:rPr lang="en-US" dirty="0" smtClean="0"/>
              <a:t> </a:t>
            </a:r>
            <a:r>
              <a:rPr lang="en-US" dirty="0" err="1" smtClean="0"/>
              <a:t>lên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tin.</a:t>
            </a:r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18: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in </a:t>
            </a:r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lên</a:t>
            </a:r>
            <a:r>
              <a:rPr lang="en-US" dirty="0" smtClean="0"/>
              <a:t> </a:t>
            </a:r>
            <a:r>
              <a:rPr lang="en-US" dirty="0" err="1" smtClean="0"/>
              <a:t>màn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.</a:t>
            </a:r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19: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Viết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chương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trình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đếm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số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ký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tự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chữ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cái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của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tập</a:t>
            </a:r>
            <a:r>
              <a:rPr lang="en-US" dirty="0" smtClean="0">
                <a:sym typeface="Wingdings" pitchFamily="2" charset="2"/>
              </a:rPr>
              <a:t> tin </a:t>
            </a:r>
            <a:r>
              <a:rPr lang="en-US" dirty="0" err="1" smtClean="0">
                <a:sym typeface="Wingdings" pitchFamily="2" charset="2"/>
              </a:rPr>
              <a:t>và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xuất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kết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quả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ra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một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tập</a:t>
            </a:r>
            <a:r>
              <a:rPr lang="en-US" dirty="0" smtClean="0">
                <a:sym typeface="Wingdings" pitchFamily="2" charset="2"/>
              </a:rPr>
              <a:t> tin </a:t>
            </a:r>
            <a:r>
              <a:rPr lang="en-US" dirty="0" err="1" smtClean="0">
                <a:sym typeface="Wingdings" pitchFamily="2" charset="2"/>
              </a:rPr>
              <a:t>khác</a:t>
            </a:r>
            <a:r>
              <a:rPr lang="en-US" dirty="0" smtClean="0">
                <a:sym typeface="Wingdings" pitchFamily="2" charset="2"/>
              </a:rPr>
              <a:t>.</a:t>
            </a:r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20: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Viết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chương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trình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đếm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số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từ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của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tập</a:t>
            </a:r>
            <a:r>
              <a:rPr lang="en-US" dirty="0" smtClean="0">
                <a:sym typeface="Wingdings" pitchFamily="2" charset="2"/>
              </a:rPr>
              <a:t> tin </a:t>
            </a:r>
            <a:r>
              <a:rPr lang="en-US" dirty="0" err="1" smtClean="0">
                <a:sym typeface="Wingdings" pitchFamily="2" charset="2"/>
              </a:rPr>
              <a:t>và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xuất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kết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quả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ra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một</a:t>
            </a:r>
            <a:r>
              <a:rPr lang="en-US" dirty="0" smtClean="0">
                <a:sym typeface="Wingdings" pitchFamily="2" charset="2"/>
              </a:rPr>
              <a:t> </a:t>
            </a:r>
            <a:r>
              <a:rPr lang="en-US" dirty="0" err="1" smtClean="0">
                <a:sym typeface="Wingdings" pitchFamily="2" charset="2"/>
              </a:rPr>
              <a:t>tập</a:t>
            </a:r>
            <a:r>
              <a:rPr lang="en-US" dirty="0" smtClean="0">
                <a:sym typeface="Wingdings" pitchFamily="2" charset="2"/>
              </a:rPr>
              <a:t> tin </a:t>
            </a:r>
            <a:r>
              <a:rPr lang="en-US" dirty="0" err="1" smtClean="0">
                <a:sym typeface="Wingdings" pitchFamily="2" charset="2"/>
              </a:rPr>
              <a:t>khác</a:t>
            </a:r>
            <a:r>
              <a:rPr lang="en-US" dirty="0" smtClean="0">
                <a:sym typeface="Wingdings" pitchFamily="2" charset="2"/>
              </a:rPr>
              <a:t>.</a:t>
            </a:r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21: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đếm</a:t>
            </a:r>
            <a:r>
              <a:rPr lang="en-US" dirty="0" smtClean="0"/>
              <a:t> </a:t>
            </a:r>
            <a:r>
              <a:rPr lang="en-US" dirty="0" err="1" smtClean="0"/>
              <a:t>số</a:t>
            </a:r>
            <a:r>
              <a:rPr lang="en-US" dirty="0" smtClean="0"/>
              <a:t> </a:t>
            </a:r>
            <a:r>
              <a:rPr lang="en-US" dirty="0" err="1" smtClean="0"/>
              <a:t>lần</a:t>
            </a:r>
            <a:r>
              <a:rPr lang="en-US" dirty="0" smtClean="0"/>
              <a:t> </a:t>
            </a:r>
            <a:r>
              <a:rPr lang="en-US" dirty="0" err="1" smtClean="0"/>
              <a:t>lặp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 </a:t>
            </a:r>
            <a:r>
              <a:rPr lang="en-US" dirty="0" err="1" smtClean="0"/>
              <a:t>của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từ</a:t>
            </a:r>
            <a:r>
              <a:rPr lang="en-US" dirty="0" smtClean="0"/>
              <a:t> </a:t>
            </a:r>
            <a:r>
              <a:rPr lang="en-US" dirty="0" err="1" smtClean="0"/>
              <a:t>trong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tin.</a:t>
            </a:r>
            <a:endParaRPr lang="en-US" dirty="0" smtClean="0">
              <a:sym typeface="Wingdings" pitchFamily="2" charset="2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Bài tập thực hành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22:</a:t>
            </a:r>
            <a:r>
              <a:rPr lang="en-US" dirty="0" smtClean="0"/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mở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có</a:t>
            </a:r>
            <a:r>
              <a:rPr lang="en-US" dirty="0" smtClean="0"/>
              <a:t> </a:t>
            </a:r>
            <a:r>
              <a:rPr lang="en-US" dirty="0" err="1" smtClean="0"/>
              <a:t>trên</a:t>
            </a:r>
            <a:r>
              <a:rPr lang="en-US" dirty="0" smtClean="0"/>
              <a:t> </a:t>
            </a:r>
            <a:r>
              <a:rPr lang="en-US" dirty="0" err="1" smtClean="0"/>
              <a:t>đĩa</a:t>
            </a:r>
            <a:r>
              <a:rPr lang="en-US" dirty="0" smtClean="0"/>
              <a:t>,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chép</a:t>
            </a:r>
            <a:r>
              <a:rPr lang="en-US" dirty="0" smtClean="0"/>
              <a:t> </a:t>
            </a:r>
            <a:r>
              <a:rPr lang="en-US" dirty="0" err="1" smtClean="0"/>
              <a:t>nó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 </a:t>
            </a:r>
            <a:r>
              <a:rPr lang="en-US" dirty="0" err="1" smtClean="0"/>
              <a:t>mới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điều</a:t>
            </a:r>
            <a:r>
              <a:rPr lang="en-US" dirty="0" smtClean="0"/>
              <a:t> </a:t>
            </a:r>
            <a:r>
              <a:rPr lang="en-US" dirty="0" err="1" smtClean="0"/>
              <a:t>kiện</a:t>
            </a:r>
            <a:r>
              <a:rPr lang="en-US" dirty="0" smtClean="0"/>
              <a:t> </a:t>
            </a:r>
            <a:r>
              <a:rPr lang="en-US" dirty="0" err="1" smtClean="0"/>
              <a:t>là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chữ</a:t>
            </a:r>
            <a:r>
              <a:rPr lang="en-US" dirty="0" smtClean="0"/>
              <a:t> </a:t>
            </a:r>
            <a:r>
              <a:rPr lang="en-US" dirty="0" err="1" smtClean="0"/>
              <a:t>thường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 </a:t>
            </a:r>
            <a:r>
              <a:rPr lang="en-US" dirty="0" err="1" smtClean="0"/>
              <a:t>thành</a:t>
            </a:r>
            <a:r>
              <a:rPr lang="en-US" dirty="0" smtClean="0"/>
              <a:t> </a:t>
            </a:r>
            <a:r>
              <a:rPr lang="en-US" dirty="0" err="1" smtClean="0"/>
              <a:t>chữ</a:t>
            </a:r>
            <a:r>
              <a:rPr lang="en-US" dirty="0" smtClean="0"/>
              <a:t> </a:t>
            </a:r>
            <a:r>
              <a:rPr lang="en-US" dirty="0" err="1" smtClean="0"/>
              <a:t>hoa</a:t>
            </a:r>
            <a:r>
              <a:rPr lang="en-US" dirty="0" smtClean="0"/>
              <a:t>, </a:t>
            </a:r>
            <a:r>
              <a:rPr lang="en-US" dirty="0" err="1" smtClean="0"/>
              <a:t>tất</a:t>
            </a:r>
            <a:r>
              <a:rPr lang="en-US" dirty="0" smtClean="0"/>
              <a:t> </a:t>
            </a:r>
            <a:r>
              <a:rPr lang="en-US" dirty="0" err="1" smtClean="0"/>
              <a:t>cả</a:t>
            </a:r>
            <a:r>
              <a:rPr lang="en-US" dirty="0" smtClean="0"/>
              <a:t> </a:t>
            </a:r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ký</a:t>
            </a:r>
            <a:r>
              <a:rPr lang="en-US" dirty="0" smtClean="0"/>
              <a:t> </a:t>
            </a:r>
            <a:r>
              <a:rPr lang="en-US" dirty="0" err="1" smtClean="0"/>
              <a:t>tự</a:t>
            </a:r>
            <a:r>
              <a:rPr lang="en-US" dirty="0" smtClean="0"/>
              <a:t> </a:t>
            </a:r>
            <a:r>
              <a:rPr lang="en-US" dirty="0" err="1" smtClean="0"/>
              <a:t>khác</a:t>
            </a:r>
            <a:r>
              <a:rPr lang="en-US" dirty="0" smtClean="0"/>
              <a:t> </a:t>
            </a:r>
            <a:r>
              <a:rPr lang="en-US" dirty="0" err="1" smtClean="0"/>
              <a:t>không</a:t>
            </a:r>
            <a:r>
              <a:rPr lang="en-US" dirty="0" smtClean="0"/>
              <a:t> </a:t>
            </a:r>
            <a:r>
              <a:rPr lang="en-US" dirty="0" err="1" smtClean="0"/>
              <a:t>đổi</a:t>
            </a:r>
            <a:r>
              <a:rPr lang="en-US" dirty="0" smtClean="0"/>
              <a:t>.</a:t>
            </a:r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23: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ghép</a:t>
            </a:r>
            <a:r>
              <a:rPr lang="en-US" dirty="0" smtClean="0"/>
              <a:t> 2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văn</a:t>
            </a:r>
            <a:r>
              <a:rPr lang="en-US" dirty="0" smtClean="0"/>
              <a:t> </a:t>
            </a:r>
            <a:r>
              <a:rPr lang="en-US" dirty="0" err="1" smtClean="0"/>
              <a:t>bản</a:t>
            </a:r>
            <a:r>
              <a:rPr lang="en-US" dirty="0" smtClean="0"/>
              <a:t>, </a:t>
            </a:r>
            <a:r>
              <a:rPr lang="en-US" dirty="0" err="1" smtClean="0"/>
              <a:t>nội</a:t>
            </a:r>
            <a:r>
              <a:rPr lang="en-US" dirty="0" smtClean="0"/>
              <a:t> dung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ghép</a:t>
            </a:r>
            <a:r>
              <a:rPr lang="en-US" dirty="0" smtClean="0"/>
              <a:t>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thứ</a:t>
            </a:r>
            <a:r>
              <a:rPr lang="en-US" dirty="0" smtClean="0"/>
              <a:t> </a:t>
            </a:r>
            <a:r>
              <a:rPr lang="en-US" dirty="0" err="1" smtClean="0"/>
              <a:t>nhất</a:t>
            </a:r>
            <a:r>
              <a:rPr lang="en-US" dirty="0" smtClean="0"/>
              <a:t>.</a:t>
            </a:r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24: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sao</a:t>
            </a:r>
            <a:r>
              <a:rPr lang="en-US" dirty="0" smtClean="0"/>
              <a:t> </a:t>
            </a:r>
            <a:r>
              <a:rPr lang="en-US" dirty="0" err="1" smtClean="0"/>
              <a:t>chép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cho</a:t>
            </a:r>
            <a:r>
              <a:rPr lang="en-US" dirty="0" smtClean="0"/>
              <a:t> </a:t>
            </a:r>
            <a:r>
              <a:rPr lang="en-US" dirty="0" err="1" smtClean="0"/>
              <a:t>trước</a:t>
            </a:r>
            <a:r>
              <a:rPr lang="en-US" dirty="0" smtClean="0"/>
              <a:t>.</a:t>
            </a:r>
          </a:p>
          <a:p>
            <a:pPr>
              <a:defRPr/>
            </a:pPr>
            <a:r>
              <a:rPr lang="en-US" dirty="0" err="1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Bài</a:t>
            </a:r>
            <a:r>
              <a:rPr lang="en-US" dirty="0" smtClean="0">
                <a:solidFill>
                  <a:schemeClr val="accent4">
                    <a:lumMod val="50000"/>
                    <a:lumOff val="50000"/>
                  </a:schemeClr>
                </a:solidFill>
              </a:rPr>
              <a:t> 25:</a:t>
            </a:r>
            <a:r>
              <a:rPr lang="en-US" dirty="0" smtClean="0">
                <a:solidFill>
                  <a:schemeClr val="tx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 err="1" smtClean="0"/>
              <a:t>Viết</a:t>
            </a:r>
            <a:r>
              <a:rPr lang="en-US" dirty="0" smtClean="0"/>
              <a:t> </a:t>
            </a:r>
            <a:r>
              <a:rPr lang="en-US" dirty="0" err="1" smtClean="0"/>
              <a:t>chương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ghi</a:t>
            </a:r>
            <a:r>
              <a:rPr lang="en-US" dirty="0" smtClean="0"/>
              <a:t> </a:t>
            </a:r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danh</a:t>
            </a:r>
            <a:r>
              <a:rPr lang="en-US" dirty="0" smtClean="0"/>
              <a:t> </a:t>
            </a:r>
            <a:r>
              <a:rPr lang="en-US" dirty="0" err="1" smtClean="0"/>
              <a:t>sách</a:t>
            </a:r>
            <a:r>
              <a:rPr lang="en-US" dirty="0" smtClean="0"/>
              <a:t> </a:t>
            </a:r>
            <a:r>
              <a:rPr lang="en-US" dirty="0" err="1" smtClean="0"/>
              <a:t>cấu</a:t>
            </a:r>
            <a:r>
              <a:rPr lang="en-US" dirty="0" smtClean="0"/>
              <a:t> </a:t>
            </a:r>
            <a:r>
              <a:rPr lang="en-US" dirty="0" err="1" smtClean="0"/>
              <a:t>trúc</a:t>
            </a:r>
            <a:r>
              <a:rPr lang="en-US" dirty="0" smtClean="0"/>
              <a:t> </a:t>
            </a:r>
            <a:r>
              <a:rPr lang="en-US" dirty="0" err="1" smtClean="0"/>
              <a:t>xuống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tin </a:t>
            </a:r>
            <a:r>
              <a:rPr lang="en-US" dirty="0" err="1" smtClean="0"/>
              <a:t>sau</a:t>
            </a:r>
            <a:r>
              <a:rPr lang="en-US" dirty="0" smtClean="0"/>
              <a:t> </a:t>
            </a:r>
            <a:r>
              <a:rPr lang="en-US" dirty="0" err="1" smtClean="0"/>
              <a:t>đó</a:t>
            </a:r>
            <a:r>
              <a:rPr lang="en-US" dirty="0" smtClean="0"/>
              <a:t> </a:t>
            </a:r>
            <a:r>
              <a:rPr lang="en-US" dirty="0" err="1" smtClean="0"/>
              <a:t>đọc</a:t>
            </a:r>
            <a:r>
              <a:rPr lang="en-US" dirty="0" smtClean="0"/>
              <a:t> </a:t>
            </a:r>
            <a:r>
              <a:rPr lang="en-US" dirty="0" err="1" smtClean="0"/>
              <a:t>lên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tra</a:t>
            </a:r>
            <a:r>
              <a:rPr lang="en-US" dirty="0" smtClean="0"/>
              <a:t> </a:t>
            </a:r>
            <a:r>
              <a:rPr lang="en-US" dirty="0" err="1" smtClean="0"/>
              <a:t>lại</a:t>
            </a:r>
            <a:r>
              <a:rPr lang="en-US" dirty="0" smtClean="0"/>
              <a:t>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Tập tin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signed by VCBB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cdb2004146l</Template>
  <TotalTime>20</TotalTime>
  <Words>3799</Words>
  <Application>Microsoft Office PowerPoint</Application>
  <PresentationFormat>On-screen Show (4:3)</PresentationFormat>
  <Paragraphs>543</Paragraphs>
  <Slides>48</Slides>
  <Notes>47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49" baseType="lpstr">
      <vt:lpstr>Designed by VCBB</vt:lpstr>
      <vt:lpstr>PowerPoint Presentation</vt:lpstr>
      <vt:lpstr>Nội dung</vt:lpstr>
      <vt:lpstr>Nhập xuất</vt:lpstr>
      <vt:lpstr>Stream (dòng)</vt:lpstr>
      <vt:lpstr>Stream (dòng)</vt:lpstr>
      <vt:lpstr>Stream (dòng)</vt:lpstr>
      <vt:lpstr>Tập tin</vt:lpstr>
      <vt:lpstr>Tập tin</vt:lpstr>
      <vt:lpstr>Tập tin</vt:lpstr>
      <vt:lpstr>Phân loại tập tin</vt:lpstr>
      <vt:lpstr>Phân loại tập tin</vt:lpstr>
      <vt:lpstr>Quy tắc đặt tên tập tin</vt:lpstr>
      <vt:lpstr>Định vị tập tin</vt:lpstr>
      <vt:lpstr>Quy trình thao tác với tập tin</vt:lpstr>
      <vt:lpstr>Hàm mở tập tin</vt:lpstr>
      <vt:lpstr>Đối số mở tập tin (mode)</vt:lpstr>
      <vt:lpstr>Đọc và ghi dữ liệu (stdio.h)</vt:lpstr>
      <vt:lpstr>Hàm xuất theo định dạng</vt:lpstr>
      <vt:lpstr>Hàm nhập theo định dạng</vt:lpstr>
      <vt:lpstr>Hàm nhập theo định dạng</vt:lpstr>
      <vt:lpstr>Hàm Tách 2 Mảng</vt:lpstr>
      <vt:lpstr>Hàm nhập ký tự</vt:lpstr>
      <vt:lpstr>Hàm nhập chuỗi</vt:lpstr>
      <vt:lpstr>Hàm xuất ký tự</vt:lpstr>
      <vt:lpstr>Hàm xuất chuỗi</vt:lpstr>
      <vt:lpstr>Hàm xuất trực tiếp</vt:lpstr>
      <vt:lpstr>Hàm nhập trực tiếp</vt:lpstr>
      <vt:lpstr>Hàm đóng tập tin xác định</vt:lpstr>
      <vt:lpstr>Hàm đóng tất cả stream</vt:lpstr>
      <vt:lpstr>“Vét” dữ liệu trong stream</vt:lpstr>
      <vt:lpstr>Con trỏ chỉ vị (position indicator)</vt:lpstr>
      <vt:lpstr>Truy xuất tuần tự &amp; ngẫu nhiên</vt:lpstr>
      <vt:lpstr>Hàm đặt lại vị trí con trỏ chỉ vị</vt:lpstr>
      <vt:lpstr>Hàm tái định vị con trỏ chỉ vị</vt:lpstr>
      <vt:lpstr>Hàm xác định vị trí con trỏ chỉ vị</vt:lpstr>
      <vt:lpstr>Dấu hiệu kết thúc tập tin</vt:lpstr>
      <vt:lpstr>Các hàm quản lý tập tin</vt:lpstr>
      <vt:lpstr>Hàm xóa tập tin</vt:lpstr>
      <vt:lpstr>Hàm đổi tên tập tin</vt:lpstr>
      <vt:lpstr>Bài tập lý thuyết</vt:lpstr>
      <vt:lpstr>Bài tập lý thuyết</vt:lpstr>
      <vt:lpstr>Bài tập lý thuyết</vt:lpstr>
      <vt:lpstr>Bài tập lý thuyết</vt:lpstr>
      <vt:lpstr>Bài tập lý thuyết</vt:lpstr>
      <vt:lpstr>Bài tập lý thuyết</vt:lpstr>
      <vt:lpstr>Bài tập thực hành</vt:lpstr>
      <vt:lpstr>Bài tập thực hành</vt:lpstr>
      <vt:lpstr>Bài tập thực hành</vt:lpstr>
    </vt:vector>
  </TitlesOfParts>
  <Company>BABYDUCK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DANG BINH PHUONG</dc:creator>
  <cp:lastModifiedBy>LongHo</cp:lastModifiedBy>
  <cp:revision>1850</cp:revision>
  <dcterms:created xsi:type="dcterms:W3CDTF">2007-09-05T08:24:33Z</dcterms:created>
  <dcterms:modified xsi:type="dcterms:W3CDTF">2016-01-07T10:10:12Z</dcterms:modified>
</cp:coreProperties>
</file>