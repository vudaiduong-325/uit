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8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6858000" type="screen4x3"/>
  <p:notesSz cx="7315200" cy="9601200"/>
  <p:custDataLst>
    <p:tags r:id="rId3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FFCC66"/>
    <a:srgbClr val="5CADFF"/>
    <a:srgbClr val="FF99FF"/>
    <a:srgbClr val="FF66FF"/>
    <a:srgbClr val="FFCCFF"/>
    <a:srgbClr val="CCCC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77" autoAdjust="0"/>
    <p:restoredTop sz="94004" autoAdjust="0"/>
  </p:normalViewPr>
  <p:slideViewPr>
    <p:cSldViewPr>
      <p:cViewPr>
        <p:scale>
          <a:sx n="75" d="100"/>
          <a:sy n="75" d="100"/>
        </p:scale>
        <p:origin x="-1158" y="3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2508" y="-96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cs typeface="+mn-cs"/>
              </a:defRPr>
            </a:lvl1pPr>
          </a:lstStyle>
          <a:p>
            <a:pPr>
              <a:defRPr/>
            </a:pPr>
            <a:fld id="{81E8A834-4B52-46DA-B14C-E0A5B5469BB0}" type="datetimeFigureOut">
              <a:rPr lang="vi-VN"/>
              <a:pPr>
                <a:defRPr/>
              </a:pPr>
              <a:t>07/01/2016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>
                <a:cs typeface="+mn-cs"/>
              </a:defRPr>
            </a:lvl1pPr>
          </a:lstStyle>
          <a:p>
            <a:pPr>
              <a:defRPr/>
            </a:pPr>
            <a:fld id="{F5B1778D-39E0-4E20-81C1-BF2C75CF8334}" type="slidenum">
              <a:rPr lang="vi-VN"/>
              <a:pPr>
                <a:defRPr/>
              </a:pPr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09057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 smtClean="0">
                <a:cs typeface="+mn-cs"/>
              </a:defRPr>
            </a:lvl1pPr>
          </a:lstStyle>
          <a:p>
            <a:pPr>
              <a:defRPr/>
            </a:pPr>
            <a:fld id="{BD30E7F5-F162-42F6-A6EF-73B894E87BF7}" type="datetimeFigureOut">
              <a:rPr lang="en-US"/>
              <a:pPr>
                <a:defRPr/>
              </a:pPr>
              <a:t>1/7/2016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 smtClean="0">
                <a:cs typeface="+mn-cs"/>
              </a:defRPr>
            </a:lvl1pPr>
          </a:lstStyle>
          <a:p>
            <a:pPr>
              <a:defRPr/>
            </a:pPr>
            <a:fld id="{0407F291-AF59-4355-A936-23A46FABC7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253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5AA5DB5-4EF5-4E27-BA28-5B62731851A4}" type="slidenum">
              <a:rPr lang="en-US"/>
              <a:pPr eaLnBrk="1" hangingPunct="1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58DBAED-9106-4F32-A218-46DC4C94D8E3}" type="slidenum">
              <a:rPr lang="en-US"/>
              <a:pPr eaLnBrk="1" hangingPunct="1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B9B81F1-F24D-49D1-AC20-C8F9BB948198}" type="slidenum">
              <a:rPr lang="en-US"/>
              <a:pPr eaLnBrk="1" hangingPunct="1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4E27CCB-F85B-435E-AEB8-689C09F6B202}" type="slidenum">
              <a:rPr lang="en-US"/>
              <a:pPr eaLnBrk="1" hangingPunct="1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1E36E4E-5739-4ABD-9568-95A96AD65B5C}" type="slidenum">
              <a:rPr lang="en-US"/>
              <a:pPr eaLnBrk="1" hangingPunct="1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1212E15-1BF5-41F6-88F7-53DA4A5015D6}" type="slidenum">
              <a:rPr lang="en-US"/>
              <a:pPr eaLnBrk="1" hangingPunct="1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019C4AB-CCC4-48B9-ADC3-51A1005585A3}" type="slidenum">
              <a:rPr lang="en-US"/>
              <a:pPr eaLnBrk="1" hangingPunct="1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0B6DC0C-5F56-475F-BB37-A46873E00F41}" type="slidenum">
              <a:rPr lang="en-US"/>
              <a:pPr eaLnBrk="1" hangingPunct="1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93BDDF2-1C34-4858-8B4F-F34F923567D8}" type="slidenum">
              <a:rPr lang="en-US"/>
              <a:pPr eaLnBrk="1" hangingPunct="1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120BE43-55F2-4BC3-9944-F29B25A557AB}" type="slidenum">
              <a:rPr lang="en-US"/>
              <a:pPr eaLnBrk="1" hangingPunct="1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7FCB2FC-AD46-42B8-BA01-9A3A9701F4FA}" type="slidenum">
              <a:rPr lang="en-US"/>
              <a:pPr eaLnBrk="1" hangingPunct="1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D8193A5-F2A6-4A2C-86A8-95D7AAC1663B}" type="slidenum">
              <a:rPr lang="en-US"/>
              <a:pPr eaLnBrk="1" hangingPunct="1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4BD31F7-C01D-4DDA-9ACA-8B043F55F693}" type="slidenum">
              <a:rPr lang="en-US"/>
              <a:pPr eaLnBrk="1" hangingPunct="1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E1F6280-A650-43D1-B47D-9DD97E59DACA}" type="slidenum">
              <a:rPr lang="en-US"/>
              <a:pPr eaLnBrk="1" hangingPunct="1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451C7D3-4615-449B-81B9-7812EAF4CE77}" type="slidenum">
              <a:rPr lang="en-US"/>
              <a:pPr eaLnBrk="1" hangingPunct="1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5817F4C-B77D-4377-91C3-4560F5E295E0}" type="slidenum">
              <a:rPr lang="en-US"/>
              <a:pPr eaLnBrk="1" hangingPunct="1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9342FF8-7579-443A-A18F-F068E07C55BF}" type="slidenum">
              <a:rPr lang="en-US"/>
              <a:pPr eaLnBrk="1" hangingPunct="1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626C013-9EB6-4A55-A3CE-1238CE1A6465}" type="slidenum">
              <a:rPr lang="en-US"/>
              <a:pPr eaLnBrk="1" hangingPunct="1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BB6B43D-327C-44B9-BD9F-6D01B35252EC}" type="slidenum">
              <a:rPr lang="en-US"/>
              <a:pPr eaLnBrk="1" hangingPunct="1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9174797-7FAF-4AB9-9EB0-A98805C2E952}" type="slidenum">
              <a:rPr lang="en-US"/>
              <a:pPr eaLnBrk="1" hangingPunct="1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B3FDA18-DA4B-4A4A-941F-C98871DE2FCA}" type="slidenum">
              <a:rPr lang="en-US"/>
              <a:pPr eaLnBrk="1" hangingPunct="1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3F15097-0AED-4710-AE06-525CFA6E6641}" type="slidenum">
              <a:rPr lang="en-US"/>
              <a:pPr eaLnBrk="1" hangingPunct="1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CAB582E-DCC8-41B1-873D-5CAA9A358E93}" type="slidenum">
              <a:rPr lang="en-US"/>
              <a:pPr eaLnBrk="1" hangingPunct="1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4DD1BE0-BAE3-4EAC-8D00-A09009668AA2}" type="slidenum">
              <a:rPr lang="en-US"/>
              <a:pPr eaLnBrk="1" hangingPunct="1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81781D1-2BF0-4B4C-9A1E-03175652E147}" type="slidenum">
              <a:rPr lang="en-US"/>
              <a:pPr eaLnBrk="1" hangingPunct="1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B252B07-5089-4466-BBE5-8119B05F6FE6}" type="slidenum">
              <a:rPr lang="en-US"/>
              <a:pPr eaLnBrk="1" hangingPunct="1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4821B84-0DD3-4325-A3E6-362C7BD8A5E0}" type="slidenum">
              <a:rPr lang="en-US"/>
              <a:pPr eaLnBrk="1" hangingPunct="1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8FEB1A4-0559-46A3-8B2F-10852B5D94DC}" type="slidenum">
              <a:rPr lang="en-US"/>
              <a:pPr eaLnBrk="1" hangingPunct="1"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D8DA20E-DF85-42B0-8C74-29FCB36E91E8}" type="slidenum">
              <a:rPr lang="en-US"/>
              <a:pPr eaLnBrk="1" hangingPunct="1"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96B300C-ADC7-4A37-B57E-6CDC1DF6C836}" type="slidenum">
              <a:rPr lang="en-US"/>
              <a:pPr eaLnBrk="1" hangingPunct="1"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AEC51C0-58FC-493F-8AB5-45169713A5FC}" type="slidenum">
              <a:rPr lang="en-US"/>
              <a:pPr eaLnBrk="1" hangingPunct="1"/>
              <a:t>33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gray">
          <a:xfrm>
            <a:off x="8004175" y="0"/>
            <a:ext cx="1139825" cy="6858000"/>
          </a:xfrm>
          <a:prstGeom prst="rect">
            <a:avLst/>
          </a:prstGeom>
          <a:solidFill>
            <a:schemeClr val="bg2">
              <a:alpha val="39999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white">
          <a:xfrm>
            <a:off x="0" y="4638675"/>
            <a:ext cx="9144000" cy="2219325"/>
          </a:xfrm>
          <a:prstGeom prst="rect">
            <a:avLst/>
          </a:prstGeom>
          <a:solidFill>
            <a:schemeClr val="folHlink">
              <a:alpha val="31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gray">
          <a:xfrm>
            <a:off x="0" y="2149475"/>
            <a:ext cx="9144000" cy="249872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gray">
          <a:xfrm>
            <a:off x="-9525" y="2138363"/>
            <a:ext cx="8015288" cy="22717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049" y="2"/>
              </a:cxn>
              <a:cxn ang="0">
                <a:pos x="5048" y="1458"/>
              </a:cxn>
              <a:cxn ang="0">
                <a:pos x="0" y="1471"/>
              </a:cxn>
              <a:cxn ang="0">
                <a:pos x="0" y="0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folHlink">
              <a:alpha val="73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8" name="AutoShape 21"/>
          <p:cNvSpPr>
            <a:spLocks noChangeArrowheads="1"/>
          </p:cNvSpPr>
          <p:nvPr/>
        </p:nvSpPr>
        <p:spPr bwMode="gray">
          <a:xfrm>
            <a:off x="7696200" y="59436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9" name="AutoShape 22"/>
          <p:cNvSpPr>
            <a:spLocks noChangeArrowheads="1"/>
          </p:cNvSpPr>
          <p:nvPr/>
        </p:nvSpPr>
        <p:spPr bwMode="gray">
          <a:xfrm>
            <a:off x="8229600" y="56388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0" name="AutoShape 23"/>
          <p:cNvSpPr>
            <a:spLocks noChangeArrowheads="1"/>
          </p:cNvSpPr>
          <p:nvPr/>
        </p:nvSpPr>
        <p:spPr bwMode="gray">
          <a:xfrm>
            <a:off x="8220075" y="622935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1" name="Text Box 14"/>
          <p:cNvSpPr txBox="1">
            <a:spLocks noChangeArrowheads="1"/>
          </p:cNvSpPr>
          <p:nvPr userDrawn="1"/>
        </p:nvSpPr>
        <p:spPr bwMode="auto">
          <a:xfrm>
            <a:off x="1143000" y="228600"/>
            <a:ext cx="67056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600" err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Tr</a:t>
            </a:r>
            <a:r>
              <a:rPr lang="vi-VN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ườ</a:t>
            </a:r>
            <a:r>
              <a:rPr lang="en-US" sz="1600" err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ng</a:t>
            </a: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1600" err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Đại</a:t>
            </a: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1600" err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học</a:t>
            </a: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1600" err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Khoa</a:t>
            </a: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1600" err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học</a:t>
            </a: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1600" err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Tự</a:t>
            </a: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1600" err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nhiên</a:t>
            </a:r>
            <a:endParaRPr lang="en-US" sz="1600">
              <a:solidFill>
                <a:schemeClr val="tx2"/>
              </a:solidFill>
              <a:latin typeface="Tahoma" pitchFamily="34" charset="0"/>
              <a:cs typeface="Tahoma" pitchFamily="34" charset="0"/>
            </a:endParaRPr>
          </a:p>
          <a:p>
            <a:pPr>
              <a:defRPr/>
            </a:pPr>
            <a:r>
              <a:rPr lang="en-US" sz="1600" err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Khoa</a:t>
            </a: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1600" err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Công</a:t>
            </a: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1600" err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nghệ</a:t>
            </a: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thông tin</a:t>
            </a:r>
          </a:p>
          <a:p>
            <a:pPr>
              <a:defRPr/>
            </a:pP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Bộ môn Tin học c</a:t>
            </a:r>
            <a:r>
              <a:rPr lang="vi-VN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ơ</a:t>
            </a: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s</a:t>
            </a:r>
            <a:r>
              <a:rPr lang="vi-VN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ở</a:t>
            </a: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</a:t>
            </a:r>
          </a:p>
        </p:txBody>
      </p:sp>
      <p:sp>
        <p:nvSpPr>
          <p:cNvPr id="12" name="AutoShape 113" descr="gdd01"/>
          <p:cNvSpPr>
            <a:spLocks noChangeArrowheads="1"/>
          </p:cNvSpPr>
          <p:nvPr userDrawn="1"/>
        </p:nvSpPr>
        <p:spPr bwMode="gray">
          <a:xfrm>
            <a:off x="190500" y="3162300"/>
            <a:ext cx="1752600" cy="1600200"/>
          </a:xfrm>
          <a:prstGeom prst="hexagon">
            <a:avLst>
              <a:gd name="adj" fmla="val 27381"/>
              <a:gd name="vf" fmla="val 115470"/>
            </a:avLst>
          </a:prstGeom>
          <a:blipFill dpi="0" rotWithShape="1">
            <a:blip r:embed="rId2"/>
            <a:srcRect/>
            <a:stretch>
              <a:fillRect/>
            </a:stretch>
          </a:blip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125080" dir="1437749" algn="ctr" rotWithShape="0">
              <a:schemeClr val="bg2">
                <a:alpha val="32001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endParaRPr lang="ko-KR" altLang="en-US">
              <a:latin typeface="Times New Roman" pitchFamily="18" charset="0"/>
              <a:ea typeface="Gulim" pitchFamily="34" charset="-127"/>
              <a:cs typeface="+mn-cs"/>
            </a:endParaRPr>
          </a:p>
        </p:txBody>
      </p:sp>
      <p:sp>
        <p:nvSpPr>
          <p:cNvPr id="13" name="AutoShape 114" descr="gdd04"/>
          <p:cNvSpPr>
            <a:spLocks noChangeArrowheads="1"/>
          </p:cNvSpPr>
          <p:nvPr userDrawn="1"/>
        </p:nvSpPr>
        <p:spPr bwMode="gray">
          <a:xfrm>
            <a:off x="1638300" y="2324100"/>
            <a:ext cx="1828800" cy="1600200"/>
          </a:xfrm>
          <a:prstGeom prst="hexagon">
            <a:avLst>
              <a:gd name="adj" fmla="val 28571"/>
              <a:gd name="vf" fmla="val 115470"/>
            </a:avLst>
          </a:prstGeom>
          <a:blipFill dpi="0" rotWithShape="1">
            <a:blip r:embed="rId3"/>
            <a:srcRect/>
            <a:stretch>
              <a:fillRect/>
            </a:stretch>
          </a:blip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125080" dir="1437749" algn="ctr" rotWithShape="0">
              <a:schemeClr val="bg2">
                <a:alpha val="32001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endParaRPr lang="ko-KR" altLang="en-US">
              <a:latin typeface="Times New Roman" pitchFamily="18" charset="0"/>
              <a:ea typeface="Gulim" pitchFamily="34" charset="-127"/>
              <a:cs typeface="+mn-cs"/>
            </a:endParaRPr>
          </a:p>
        </p:txBody>
      </p:sp>
      <p:sp>
        <p:nvSpPr>
          <p:cNvPr id="14" name="AutoShape 115" descr="gdd03"/>
          <p:cNvSpPr>
            <a:spLocks noChangeArrowheads="1"/>
          </p:cNvSpPr>
          <p:nvPr userDrawn="1"/>
        </p:nvSpPr>
        <p:spPr bwMode="gray">
          <a:xfrm>
            <a:off x="1600200" y="4038600"/>
            <a:ext cx="1828800" cy="1600200"/>
          </a:xfrm>
          <a:prstGeom prst="hexagon">
            <a:avLst>
              <a:gd name="adj" fmla="val 28571"/>
              <a:gd name="vf" fmla="val 115470"/>
            </a:avLst>
          </a:prstGeom>
          <a:blipFill dpi="0" rotWithShape="1">
            <a:blip r:embed="rId4"/>
            <a:srcRect/>
            <a:stretch>
              <a:fillRect/>
            </a:stretch>
          </a:blip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125080" dir="1437749" algn="ctr" rotWithShape="0">
              <a:schemeClr val="bg2">
                <a:alpha val="32001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endParaRPr lang="ko-KR" altLang="en-US">
              <a:latin typeface="Times New Roman" pitchFamily="18" charset="0"/>
              <a:ea typeface="Gulim" pitchFamily="34" charset="-127"/>
              <a:cs typeface="+mn-cs"/>
            </a:endParaRPr>
          </a:p>
        </p:txBody>
      </p:sp>
      <p:sp>
        <p:nvSpPr>
          <p:cNvPr id="15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D6B70E25-0A41-4173-966C-5EC2E63B8FD6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 userDrawn="1"/>
        </p:nvSpPr>
        <p:spPr bwMode="white">
          <a:xfrm>
            <a:off x="3505200" y="1600200"/>
            <a:ext cx="4343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0" indent="0" algn="r">
              <a:buFont typeface="Wingdings" pitchFamily="2" charset="2"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kern="0" smtClean="0">
                <a:solidFill>
                  <a:schemeClr val="tx1"/>
                </a:solidFill>
                <a:latin typeface="+mn-lt"/>
                <a:cs typeface="+mn-cs"/>
              </a:rPr>
              <a:t>Đặng Bình Ph</a:t>
            </a:r>
            <a:r>
              <a:rPr lang="vi-VN" kern="0" smtClean="0">
                <a:solidFill>
                  <a:schemeClr val="tx1"/>
                </a:solidFill>
                <a:latin typeface="+mn-lt"/>
                <a:cs typeface="+mn-cs"/>
              </a:rPr>
              <a:t>ươ</a:t>
            </a:r>
            <a:r>
              <a:rPr lang="en-US" kern="0" smtClean="0">
                <a:solidFill>
                  <a:schemeClr val="tx1"/>
                </a:solidFill>
                <a:latin typeface="+mn-lt"/>
                <a:cs typeface="+mn-cs"/>
              </a:rPr>
              <a:t>ng</a:t>
            </a:r>
          </a:p>
          <a:p>
            <a:pPr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sz="1200" kern="0" smtClean="0">
                <a:solidFill>
                  <a:schemeClr val="tx1"/>
                </a:solidFill>
                <a:latin typeface="+mn-lt"/>
                <a:cs typeface="+mn-cs"/>
              </a:rPr>
              <a:t>dbphuong@fit.hcmuns.edu.vn</a:t>
            </a:r>
            <a:endParaRPr lang="en-US" sz="1200" kern="0">
              <a:solidFill>
                <a:schemeClr val="tx1"/>
              </a:solidFill>
              <a:latin typeface="+mn-lt"/>
              <a:cs typeface="+mn-cs"/>
            </a:endParaRPr>
          </a:p>
        </p:txBody>
      </p:sp>
      <p:sp>
        <p:nvSpPr>
          <p:cNvPr id="17" name="Rounded Rectangle 16"/>
          <p:cNvSpPr/>
          <p:nvPr userDrawn="1"/>
        </p:nvSpPr>
        <p:spPr>
          <a:xfrm>
            <a:off x="304800" y="152400"/>
            <a:ext cx="708025" cy="990600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1143000" y="1143000"/>
            <a:ext cx="6705600" cy="533400"/>
          </a:xfrm>
        </p:spPr>
        <p:txBody>
          <a:bodyPr/>
          <a:lstStyle>
            <a:lvl1pPr algn="r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0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3505200" y="2971800"/>
            <a:ext cx="4343400" cy="6858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8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352800" y="6553200"/>
            <a:ext cx="2133600" cy="152400"/>
          </a:xfrm>
        </p:spPr>
        <p:txBody>
          <a:bodyPr/>
          <a:lstStyle>
            <a:lvl1pPr algn="r">
              <a:defRPr sz="10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04800" y="6477000"/>
            <a:ext cx="2590800" cy="228600"/>
          </a:xfrm>
        </p:spPr>
        <p:txBody>
          <a:bodyPr/>
          <a:lstStyle>
            <a:lvl1pPr algn="ctr">
              <a:defRPr sz="12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698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027F9480-8C9A-45DA-832C-9ED3AEF79C26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/>
          <a:lstStyle>
            <a:lvl1pPr>
              <a:defRPr b="0"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50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B915D720-B9F9-4E1D-9DF7-9794F387A705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645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A2D1A18A-5E59-4655-BA8B-F5C72FDE023A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935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068F6CBE-BB75-49E4-BDA2-216932095A5B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6705600" cy="563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412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92185327-D197-4782-887E-19E40DADBC8B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978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D6BC8D07-9F5F-41EC-82E0-E4F624878534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041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4036BB1E-560C-49E2-BDD4-E83F65F37695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707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4EB26702-3D4C-4F0E-82F4-E4FCE639778E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693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79F3B0EC-5A05-414B-8417-957561C56169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890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1A92F36E-5296-428C-988D-DE55630BEA5D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81000"/>
            <a:ext cx="2057400" cy="5943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019800" cy="5943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549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65F8FC0B-F768-43BD-AA3A-8316F69BD1DC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6705600" cy="563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076325"/>
            <a:ext cx="8229600" cy="5248275"/>
          </a:xfrm>
        </p:spPr>
        <p:txBody>
          <a:bodyPr/>
          <a:lstStyle/>
          <a:p>
            <a:pPr lvl="0"/>
            <a:r>
              <a:rPr lang="en-US" noProof="0" smtClean="0"/>
              <a:t>Click icon to add table</a:t>
            </a:r>
            <a:endParaRPr lang="en-US" noProof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8059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8E1E005E-EB47-4A2F-A836-8979D0F62096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6705600" cy="563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076325"/>
            <a:ext cx="8229600" cy="5248275"/>
          </a:xfrm>
        </p:spPr>
        <p:txBody>
          <a:bodyPr/>
          <a:lstStyle/>
          <a:p>
            <a:pPr lvl="0"/>
            <a:r>
              <a:rPr lang="en-US" noProof="0" smtClean="0"/>
              <a:t>Click icon to add chart</a:t>
            </a:r>
            <a:endParaRPr lang="en-US" noProof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244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Freeform 15"/>
          <p:cNvSpPr>
            <a:spLocks/>
          </p:cNvSpPr>
          <p:nvPr/>
        </p:nvSpPr>
        <p:spPr bwMode="gray">
          <a:xfrm>
            <a:off x="-9525" y="344488"/>
            <a:ext cx="8194675" cy="6334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049" y="2"/>
              </a:cxn>
              <a:cxn ang="0">
                <a:pos x="5048" y="1458"/>
              </a:cxn>
              <a:cxn ang="0">
                <a:pos x="0" y="1471"/>
              </a:cxn>
              <a:cxn ang="0">
                <a:pos x="0" y="0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grpSp>
        <p:nvGrpSpPr>
          <p:cNvPr id="1027" name="Group 16"/>
          <p:cNvGrpSpPr>
            <a:grpSpLocks/>
          </p:cNvGrpSpPr>
          <p:nvPr/>
        </p:nvGrpSpPr>
        <p:grpSpPr bwMode="auto">
          <a:xfrm>
            <a:off x="8153400" y="0"/>
            <a:ext cx="990600" cy="6858000"/>
            <a:chOff x="5040" y="0"/>
            <a:chExt cx="720" cy="4320"/>
          </a:xfrm>
        </p:grpSpPr>
        <p:sp>
          <p:nvSpPr>
            <p:cNvPr id="1041" name="Rectangle 17"/>
            <p:cNvSpPr>
              <a:spLocks noChangeArrowheads="1"/>
            </p:cNvSpPr>
            <p:nvPr/>
          </p:nvSpPr>
          <p:spPr bwMode="gray"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999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042" name="Rectangle 18"/>
            <p:cNvSpPr>
              <a:spLocks noChangeArrowheads="1"/>
            </p:cNvSpPr>
            <p:nvPr/>
          </p:nvSpPr>
          <p:spPr bwMode="gray">
            <a:xfrm>
              <a:off x="5040" y="219"/>
              <a:ext cx="720" cy="393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sp>
        <p:nvSpPr>
          <p:cNvPr id="1043" name="AutoShape 19"/>
          <p:cNvSpPr>
            <a:spLocks noChangeArrowheads="1"/>
          </p:cNvSpPr>
          <p:nvPr/>
        </p:nvSpPr>
        <p:spPr bwMode="gray">
          <a:xfrm>
            <a:off x="7696200" y="59436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rgbClr val="5086C2">
              <a:alpha val="3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044" name="AutoShape 20"/>
          <p:cNvSpPr>
            <a:spLocks noChangeArrowheads="1"/>
          </p:cNvSpPr>
          <p:nvPr/>
        </p:nvSpPr>
        <p:spPr bwMode="gray">
          <a:xfrm>
            <a:off x="8229600" y="56388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rgbClr val="5086C2">
              <a:alpha val="3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045" name="AutoShape 21"/>
          <p:cNvSpPr>
            <a:spLocks noChangeArrowheads="1"/>
          </p:cNvSpPr>
          <p:nvPr/>
        </p:nvSpPr>
        <p:spPr bwMode="gray">
          <a:xfrm>
            <a:off x="8220075" y="622935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rgbClr val="5086C2">
              <a:alpha val="3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0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519863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181600" y="6477000"/>
            <a:ext cx="2895600" cy="233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1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7" name="AutoShape 23"/>
          <p:cNvSpPr>
            <a:spLocks noChangeArrowheads="1"/>
          </p:cNvSpPr>
          <p:nvPr userDrawn="1"/>
        </p:nvSpPr>
        <p:spPr bwMode="gray">
          <a:xfrm>
            <a:off x="169863" y="436563"/>
            <a:ext cx="473075" cy="419100"/>
          </a:xfrm>
          <a:prstGeom prst="hexagon">
            <a:avLst>
              <a:gd name="adj" fmla="val 30000"/>
              <a:gd name="vf" fmla="val 115470"/>
            </a:avLst>
          </a:prstGeom>
          <a:solidFill>
            <a:schemeClr val="tx1">
              <a:lumMod val="40000"/>
              <a:lumOff val="60000"/>
            </a:schemeClr>
          </a:solid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56796" dir="1593903" algn="ctr" rotWithShape="0">
              <a:srgbClr val="666633">
                <a:alpha val="50000"/>
              </a:srgb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VC</a:t>
            </a:r>
          </a:p>
        </p:txBody>
      </p:sp>
      <p:sp>
        <p:nvSpPr>
          <p:cNvPr id="1048" name="AutoShape 24"/>
          <p:cNvSpPr>
            <a:spLocks noChangeArrowheads="1"/>
          </p:cNvSpPr>
          <p:nvPr userDrawn="1"/>
        </p:nvSpPr>
        <p:spPr bwMode="gray">
          <a:xfrm>
            <a:off x="517525" y="228600"/>
            <a:ext cx="473075" cy="419100"/>
          </a:xfrm>
          <a:prstGeom prst="hexagon">
            <a:avLst>
              <a:gd name="adj" fmla="val 30000"/>
              <a:gd name="vf" fmla="val 115470"/>
            </a:avLst>
          </a:prstGeom>
          <a:solidFill>
            <a:srgbClr val="FFC000"/>
          </a:solid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56796" dir="1593903" algn="ctr" rotWithShape="0">
              <a:srgbClr val="666633">
                <a:alpha val="50000"/>
              </a:srgb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>
                <a:solidFill>
                  <a:schemeClr val="bg1"/>
                </a:solidFill>
                <a:cs typeface="+mn-cs"/>
              </a:rPr>
              <a:t>&amp;</a:t>
            </a:r>
          </a:p>
        </p:txBody>
      </p:sp>
      <p:sp>
        <p:nvSpPr>
          <p:cNvPr id="1049" name="AutoShape 25"/>
          <p:cNvSpPr>
            <a:spLocks noChangeArrowheads="1"/>
          </p:cNvSpPr>
          <p:nvPr userDrawn="1"/>
        </p:nvSpPr>
        <p:spPr bwMode="gray">
          <a:xfrm>
            <a:off x="517525" y="647700"/>
            <a:ext cx="473075" cy="419100"/>
          </a:xfrm>
          <a:prstGeom prst="hexagon">
            <a:avLst>
              <a:gd name="adj" fmla="val 30000"/>
              <a:gd name="vf" fmla="val 115470"/>
            </a:avLst>
          </a:prstGeom>
          <a:solidFill>
            <a:srgbClr val="FF99FF"/>
          </a:solid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56796" dir="1593903" algn="ctr" rotWithShape="0">
              <a:srgbClr val="666633">
                <a:alpha val="50000"/>
              </a:srgb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>
                <a:solidFill>
                  <a:schemeClr val="bg1"/>
                </a:solidFill>
                <a:cs typeface="+mn-cs"/>
              </a:rPr>
              <a:t>BB</a:t>
            </a:r>
            <a:endParaRPr lang="en-US" sz="1600" b="1" baseline="30000">
              <a:solidFill>
                <a:schemeClr val="bg1"/>
              </a:solidFill>
              <a:cs typeface="+mn-cs"/>
            </a:endParaRPr>
          </a:p>
        </p:txBody>
      </p:sp>
      <p:sp>
        <p:nvSpPr>
          <p:cNvPr id="1037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1143000" y="381000"/>
            <a:ext cx="67056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7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62F966B7-1285-4E82-A6D9-98BFB1826542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hf sldNum="0" hdr="0" dt="0"/>
  <p:txStyles>
    <p:titleStyle>
      <a:lvl1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 b="1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1"/>
          </a:solidFill>
          <a:latin typeface="Tahoma" pitchFamily="34" charset="0"/>
          <a:cs typeface="Tahoma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Tahoma" pitchFamily="34" charset="0"/>
          <a:cs typeface="Tahoma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ahoma" pitchFamily="34" charset="0"/>
          <a:cs typeface="Tahoma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ahoma" pitchFamily="34" charset="0"/>
          <a:cs typeface="Tahoma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Font typeface="Wingdings" pitchFamily="2" charset="2"/>
              <a:buNone/>
            </a:pPr>
            <a:endParaRPr lang="en-US" smtClean="0">
              <a:latin typeface="Arial" charset="0"/>
              <a:cs typeface="Arial" charset="0"/>
            </a:endParaRPr>
          </a:p>
          <a:p>
            <a:pPr algn="ctr" eaLnBrk="1" hangingPunct="1">
              <a:buFont typeface="Wingdings" pitchFamily="2" charset="2"/>
              <a:buNone/>
            </a:pPr>
            <a:endParaRPr lang="en-US" smtClean="0">
              <a:latin typeface="Arial" charset="0"/>
              <a:cs typeface="Arial" charset="0"/>
            </a:endParaRPr>
          </a:p>
          <a:p>
            <a:pPr algn="ctr" eaLnBrk="1" hangingPunct="1">
              <a:buFont typeface="Wingdings" pitchFamily="2" charset="2"/>
              <a:buNone/>
            </a:pPr>
            <a:r>
              <a:rPr lang="en-US" sz="3200" smtClean="0">
                <a:latin typeface="Arial" charset="0"/>
                <a:cs typeface="Arial" charset="0"/>
              </a:rPr>
              <a:t>Nhập môn Lập trình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sz="3200" smtClean="0">
                <a:latin typeface="Arial" charset="0"/>
                <a:cs typeface="Arial" charset="0"/>
              </a:rPr>
              <a:t>CẤU TRÚC</a:t>
            </a:r>
            <a:endParaRPr lang="en-US" sz="3200" smtClean="0">
              <a:latin typeface="Arial" charset="0"/>
              <a:cs typeface="Arial" charset="0"/>
            </a:endParaRPr>
          </a:p>
        </p:txBody>
      </p:sp>
      <p:sp>
        <p:nvSpPr>
          <p:cNvPr id="1536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smtClean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536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19388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Nội dung</a:t>
            </a:r>
          </a:p>
        </p:txBody>
      </p:sp>
      <p:sp>
        <p:nvSpPr>
          <p:cNvPr id="1638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Cấu trúc</a:t>
            </a:r>
          </a:p>
        </p:txBody>
      </p: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2133600" y="1905000"/>
            <a:ext cx="4724400" cy="685800"/>
            <a:chOff x="1296" y="1824"/>
            <a:chExt cx="2976" cy="432"/>
          </a:xfrm>
        </p:grpSpPr>
        <p:sp>
          <p:nvSpPr>
            <p:cNvPr id="6" name="AutoShape 47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2">
                    <a:gamma/>
                    <a:tint val="21176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7" name="AutoShape 48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2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6406" name="Text Box 49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b="1">
                  <a:solidFill>
                    <a:srgbClr val="000000"/>
                  </a:solidFill>
                </a:rPr>
                <a:t>Khái niệm kiểu cấu trúc (struct)</a:t>
              </a:r>
            </a:p>
          </p:txBody>
        </p:sp>
        <p:sp>
          <p:nvSpPr>
            <p:cNvPr id="16407" name="Text Box 50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240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5" name="Group 51"/>
          <p:cNvGrpSpPr>
            <a:grpSpLocks/>
          </p:cNvGrpSpPr>
          <p:nvPr/>
        </p:nvGrpSpPr>
        <p:grpSpPr bwMode="auto">
          <a:xfrm>
            <a:off x="2133600" y="2743200"/>
            <a:ext cx="4724400" cy="685800"/>
            <a:chOff x="1296" y="1824"/>
            <a:chExt cx="2976" cy="432"/>
          </a:xfrm>
        </p:grpSpPr>
        <p:sp>
          <p:nvSpPr>
            <p:cNvPr id="11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gamma/>
                    <a:tint val="21176"/>
                    <a:invGamma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2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6402" name="Text Box 54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b="1">
                  <a:solidFill>
                    <a:srgbClr val="000000"/>
                  </a:solidFill>
                </a:rPr>
                <a:t>Khai báo &amp; truy xuất kiểu cấu trúc</a:t>
              </a:r>
            </a:p>
          </p:txBody>
        </p:sp>
        <p:sp>
          <p:nvSpPr>
            <p:cNvPr id="16403" name="Text Box 55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240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" name="Group 56"/>
          <p:cNvGrpSpPr>
            <a:grpSpLocks/>
          </p:cNvGrpSpPr>
          <p:nvPr/>
        </p:nvGrpSpPr>
        <p:grpSpPr bwMode="auto">
          <a:xfrm>
            <a:off x="2133600" y="3581400"/>
            <a:ext cx="4724400" cy="685800"/>
            <a:chOff x="1296" y="1824"/>
            <a:chExt cx="2976" cy="432"/>
          </a:xfrm>
        </p:grpSpPr>
        <p:sp>
          <p:nvSpPr>
            <p:cNvPr id="16" name="AutoShape 57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tx2">
                    <a:gamma/>
                    <a:tint val="21176"/>
                    <a:invGamma/>
                  </a:schemeClr>
                </a:gs>
                <a:gs pos="100000">
                  <a:schemeClr val="tx2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7" name="AutoShape 58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6398" name="Text Box 59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b="1">
                  <a:solidFill>
                    <a:srgbClr val="000000"/>
                  </a:solidFill>
                </a:rPr>
                <a:t>Kiểu dữ liệu hợp nhất (union)</a:t>
              </a:r>
            </a:p>
          </p:txBody>
        </p:sp>
        <p:sp>
          <p:nvSpPr>
            <p:cNvPr id="16399" name="Text Box 60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240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5" name="Group 61"/>
          <p:cNvGrpSpPr>
            <a:grpSpLocks/>
          </p:cNvGrpSpPr>
          <p:nvPr/>
        </p:nvGrpSpPr>
        <p:grpSpPr bwMode="auto">
          <a:xfrm>
            <a:off x="2133600" y="4495800"/>
            <a:ext cx="4724400" cy="685800"/>
            <a:chOff x="1296" y="1824"/>
            <a:chExt cx="2976" cy="432"/>
          </a:xfrm>
        </p:grpSpPr>
        <p:sp>
          <p:nvSpPr>
            <p:cNvPr id="21" name="AutoShape 6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folHlink">
                    <a:gamma/>
                    <a:tint val="21176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2" name="AutoShape 6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fol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6394" name="Text Box 64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b="1">
                  <a:solidFill>
                    <a:srgbClr val="000000"/>
                  </a:solidFill>
                </a:rPr>
                <a:t>Bài tập</a:t>
              </a:r>
            </a:p>
          </p:txBody>
        </p:sp>
        <p:sp>
          <p:nvSpPr>
            <p:cNvPr id="16395" name="Text Box 65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2400">
                  <a:solidFill>
                    <a:schemeClr val="bg1"/>
                  </a:solidFill>
                </a:rPr>
                <a:t>4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Đặt vấn </a:t>
            </a:r>
            <a:r>
              <a:rPr lang="vi-VN" smtClean="0"/>
              <a:t>đề</a:t>
            </a:r>
            <a:endParaRPr 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Thông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tin 1 SV</a:t>
            </a:r>
          </a:p>
          <a:p>
            <a:pPr lvl="1">
              <a:defRPr/>
            </a:pPr>
            <a:r>
              <a:rPr lang="en-US" dirty="0" smtClean="0"/>
              <a:t>MSSV : </a:t>
            </a:r>
            <a:r>
              <a:rPr lang="en-US" dirty="0" err="1" smtClean="0"/>
              <a:t>kiểu</a:t>
            </a:r>
            <a:r>
              <a:rPr lang="en-US" dirty="0" smtClean="0"/>
              <a:t> </a:t>
            </a:r>
            <a:r>
              <a:rPr lang="en-US" dirty="0" err="1" smtClean="0"/>
              <a:t>chuỗi</a:t>
            </a:r>
            <a:endParaRPr lang="en-US" dirty="0" smtClean="0"/>
          </a:p>
          <a:p>
            <a:pPr lvl="1">
              <a:defRPr/>
            </a:pPr>
            <a:r>
              <a:rPr lang="en-US" dirty="0" err="1" smtClean="0"/>
              <a:t>Tên</a:t>
            </a:r>
            <a:r>
              <a:rPr lang="en-US" dirty="0" smtClean="0"/>
              <a:t> SV : </a:t>
            </a:r>
            <a:r>
              <a:rPr lang="en-US" dirty="0" err="1" smtClean="0"/>
              <a:t>kiểu</a:t>
            </a:r>
            <a:r>
              <a:rPr lang="en-US" dirty="0" smtClean="0"/>
              <a:t> </a:t>
            </a:r>
            <a:r>
              <a:rPr lang="en-US" dirty="0" err="1" smtClean="0"/>
              <a:t>chuỗi</a:t>
            </a:r>
            <a:endParaRPr lang="en-US" dirty="0" smtClean="0"/>
          </a:p>
          <a:p>
            <a:pPr lvl="1">
              <a:defRPr/>
            </a:pPr>
            <a:r>
              <a:rPr lang="en-US" dirty="0" smtClean="0"/>
              <a:t>NTNS : </a:t>
            </a:r>
            <a:r>
              <a:rPr lang="en-US" dirty="0" err="1" smtClean="0"/>
              <a:t>kiểu</a:t>
            </a:r>
            <a:r>
              <a:rPr lang="en-US" dirty="0" smtClean="0"/>
              <a:t> </a:t>
            </a:r>
            <a:r>
              <a:rPr lang="en-US" dirty="0" err="1" smtClean="0"/>
              <a:t>chuỗi</a:t>
            </a:r>
            <a:endParaRPr lang="en-US" dirty="0" smtClean="0"/>
          </a:p>
          <a:p>
            <a:pPr lvl="1">
              <a:defRPr/>
            </a:pPr>
            <a:r>
              <a:rPr lang="en-US" dirty="0" err="1" smtClean="0"/>
              <a:t>Phái</a:t>
            </a:r>
            <a:r>
              <a:rPr lang="en-US" dirty="0" smtClean="0"/>
              <a:t> : </a:t>
            </a:r>
            <a:r>
              <a:rPr lang="en-US" dirty="0" err="1" smtClean="0"/>
              <a:t>ký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endParaRPr lang="en-US" dirty="0" smtClean="0"/>
          </a:p>
          <a:p>
            <a:pPr lvl="1">
              <a:defRPr/>
            </a:pPr>
            <a:r>
              <a:rPr lang="en-US" smtClean="0"/>
              <a:t>Điểm </a:t>
            </a:r>
            <a:r>
              <a:rPr lang="en-US" dirty="0" err="1" smtClean="0"/>
              <a:t>Toán</a:t>
            </a:r>
            <a:r>
              <a:rPr lang="en-US" dirty="0" smtClean="0"/>
              <a:t>, </a:t>
            </a:r>
            <a:r>
              <a:rPr lang="en-US" dirty="0" err="1" smtClean="0"/>
              <a:t>Lý</a:t>
            </a:r>
            <a:r>
              <a:rPr lang="en-US" dirty="0" smtClean="0"/>
              <a:t>, </a:t>
            </a:r>
            <a:r>
              <a:rPr lang="en-US" dirty="0" err="1" smtClean="0"/>
              <a:t>Hóa</a:t>
            </a:r>
            <a:r>
              <a:rPr lang="en-US" dirty="0" smtClean="0"/>
              <a:t> :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endParaRPr lang="en-US" dirty="0" smtClean="0"/>
          </a:p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Yêu cầu</a:t>
            </a:r>
          </a:p>
          <a:p>
            <a:pPr lvl="1">
              <a:defRPr/>
            </a:pPr>
            <a:r>
              <a:rPr lang="en-US" smtClean="0"/>
              <a:t>L</a:t>
            </a:r>
            <a:r>
              <a:rPr lang="vi-VN" smtClean="0"/>
              <a:t>ư</a:t>
            </a:r>
            <a:r>
              <a:rPr lang="en-US" dirty="0" smtClean="0"/>
              <a:t>u </a:t>
            </a:r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smtClean="0"/>
              <a:t>n SV?</a:t>
            </a:r>
          </a:p>
          <a:p>
            <a:pPr lvl="1">
              <a:defRPr/>
            </a:pPr>
            <a:r>
              <a:rPr lang="en-US" smtClean="0"/>
              <a:t>Tuyền </a:t>
            </a:r>
            <a:r>
              <a:rPr lang="en-US" dirty="0" err="1" smtClean="0"/>
              <a:t>thông</a:t>
            </a:r>
            <a:r>
              <a:rPr lang="en-US" dirty="0" smtClean="0"/>
              <a:t> tin n SV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? </a:t>
            </a:r>
          </a:p>
        </p:txBody>
      </p:sp>
      <p:sp>
        <p:nvSpPr>
          <p:cNvPr id="1741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Cấu trúc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Đặt vấn </a:t>
            </a:r>
            <a:r>
              <a:rPr lang="vi-VN" smtClean="0"/>
              <a:t>đề</a:t>
            </a:r>
            <a:endParaRPr 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382000" cy="4800600"/>
          </a:xfrm>
        </p:spPr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Khai báo các biến 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để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l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u trữ </a:t>
            </a:r>
            <a:r>
              <a:rPr lang="en-US" smtClean="0">
                <a:solidFill>
                  <a:srgbClr val="FF0000"/>
                </a:solidFill>
              </a:rPr>
              <a:t>1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SV</a:t>
            </a:r>
          </a:p>
          <a:p>
            <a:pPr lvl="1">
              <a:defRPr/>
            </a:pPr>
            <a:r>
              <a:rPr lang="en-US" smtClean="0"/>
              <a:t>char mssv[7];	// “0012078”</a:t>
            </a:r>
          </a:p>
          <a:p>
            <a:pPr lvl="1">
              <a:defRPr/>
            </a:pPr>
            <a:r>
              <a:rPr lang="en-US" smtClean="0"/>
              <a:t>char hoten[30];	// “Nguyen Van A”</a:t>
            </a:r>
          </a:p>
          <a:p>
            <a:pPr lvl="1">
              <a:defRPr/>
            </a:pPr>
            <a:r>
              <a:rPr lang="en-US" smtClean="0"/>
              <a:t>char ntns[8];	// “29/12/82”</a:t>
            </a:r>
          </a:p>
          <a:p>
            <a:pPr lvl="1">
              <a:defRPr/>
            </a:pPr>
            <a:r>
              <a:rPr lang="en-US" smtClean="0"/>
              <a:t>char phai;		// ‘y’ </a:t>
            </a:r>
            <a:r>
              <a:rPr lang="en-US" smtClean="0">
                <a:sym typeface="Wingdings" pitchFamily="2" charset="2"/>
              </a:rPr>
              <a:t></a:t>
            </a:r>
            <a:r>
              <a:rPr lang="en-US" smtClean="0"/>
              <a:t> Nam, ‘n’ </a:t>
            </a:r>
            <a:r>
              <a:rPr lang="en-US" smtClean="0">
                <a:sym typeface="Wingdings" pitchFamily="2" charset="2"/>
              </a:rPr>
              <a:t></a:t>
            </a:r>
            <a:r>
              <a:rPr lang="en-US" smtClean="0"/>
              <a:t> Nữ</a:t>
            </a:r>
          </a:p>
          <a:p>
            <a:pPr lvl="1">
              <a:defRPr/>
            </a:pPr>
            <a:r>
              <a:rPr lang="en-US" smtClean="0"/>
              <a:t>float toan, ly, hoa;	// 8.5 9.0 10.0</a:t>
            </a:r>
          </a:p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Truyền thông tin </a:t>
            </a:r>
            <a:r>
              <a:rPr lang="en-US" smtClean="0">
                <a:solidFill>
                  <a:srgbClr val="FF0000"/>
                </a:solidFill>
              </a:rPr>
              <a:t>1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SV cho hàm</a:t>
            </a:r>
          </a:p>
          <a:p>
            <a:pPr lvl="1">
              <a:defRPr/>
            </a:pPr>
            <a:r>
              <a:rPr lang="en-US" smtClean="0"/>
              <a:t>void xuat(char mssv[], char hoten[], char ntns[], char phai, float toan, float ly, float hoa);</a:t>
            </a:r>
            <a:endParaRPr lang="en-US"/>
          </a:p>
        </p:txBody>
      </p:sp>
      <p:sp>
        <p:nvSpPr>
          <p:cNvPr id="1843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Cấu trúc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Đặt vấn </a:t>
            </a:r>
            <a:r>
              <a:rPr lang="vi-VN" smtClean="0"/>
              <a:t>đề</a:t>
            </a:r>
            <a:endParaRPr 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Nhận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xét</a:t>
            </a:r>
            <a:endParaRPr lang="en-US" dirty="0" smtClean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lvl="1">
              <a:defRPr/>
            </a:pPr>
            <a:r>
              <a:rPr lang="en-US" dirty="0" err="1" smtClean="0"/>
              <a:t>Đặt</a:t>
            </a:r>
            <a:r>
              <a:rPr lang="en-US" dirty="0" smtClean="0"/>
              <a:t> </a:t>
            </a:r>
            <a:r>
              <a:rPr lang="en-US" dirty="0" err="1" smtClean="0"/>
              <a:t>tên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khó</a:t>
            </a:r>
            <a:r>
              <a:rPr lang="en-US" dirty="0" smtClean="0"/>
              <a:t> </a:t>
            </a:r>
            <a:r>
              <a:rPr lang="en-US" dirty="0" err="1" smtClean="0"/>
              <a:t>kh</a:t>
            </a:r>
            <a:r>
              <a:rPr lang="vi-VN" dirty="0" smtClean="0"/>
              <a:t>ă</a:t>
            </a:r>
            <a:r>
              <a:rPr lang="en-US" dirty="0" smtClean="0"/>
              <a:t>n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khó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endParaRPr lang="en-US" dirty="0" smtClean="0"/>
          </a:p>
          <a:p>
            <a:pPr lvl="1">
              <a:defRPr/>
            </a:pPr>
            <a:r>
              <a:rPr lang="en-US" dirty="0" err="1" smtClean="0"/>
              <a:t>Truyền</a:t>
            </a:r>
            <a:r>
              <a:rPr lang="en-US" dirty="0" smtClean="0"/>
              <a:t> </a:t>
            </a:r>
            <a:r>
              <a:rPr lang="en-US" dirty="0" err="1" smtClean="0"/>
              <a:t>tham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nhiều</a:t>
            </a:r>
            <a:endParaRPr lang="en-US" dirty="0" smtClean="0"/>
          </a:p>
          <a:p>
            <a:pPr lvl="1">
              <a:defRPr/>
            </a:pP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kiếm</a:t>
            </a:r>
            <a:r>
              <a:rPr lang="en-US" dirty="0" smtClean="0"/>
              <a:t>, </a:t>
            </a:r>
            <a:r>
              <a:rPr lang="en-US" dirty="0" err="1" smtClean="0"/>
              <a:t>sắp</a:t>
            </a:r>
            <a:r>
              <a:rPr lang="en-US" dirty="0" smtClean="0"/>
              <a:t> </a:t>
            </a:r>
            <a:r>
              <a:rPr lang="en-US" dirty="0" err="1" smtClean="0"/>
              <a:t>xếp</a:t>
            </a:r>
            <a:r>
              <a:rPr lang="en-US" smtClean="0"/>
              <a:t>, sao chép,… </a:t>
            </a:r>
            <a:r>
              <a:rPr lang="en-US" dirty="0" err="1" smtClean="0"/>
              <a:t>khó</a:t>
            </a:r>
            <a:r>
              <a:rPr lang="en-US" dirty="0" smtClean="0"/>
              <a:t> </a:t>
            </a:r>
            <a:r>
              <a:rPr lang="en-US" dirty="0" err="1" smtClean="0"/>
              <a:t>kh</a:t>
            </a:r>
            <a:r>
              <a:rPr lang="vi-VN" dirty="0" smtClean="0"/>
              <a:t>ă</a:t>
            </a:r>
            <a:r>
              <a:rPr lang="en-US" dirty="0" smtClean="0"/>
              <a:t>n</a:t>
            </a:r>
          </a:p>
          <a:p>
            <a:pPr lvl="1">
              <a:defRPr/>
            </a:pPr>
            <a:r>
              <a:rPr lang="en-US" dirty="0" err="1" smtClean="0"/>
              <a:t>Tốn</a:t>
            </a:r>
            <a:r>
              <a:rPr lang="en-US" dirty="0" smtClean="0"/>
              <a:t> </a:t>
            </a:r>
            <a:r>
              <a:rPr lang="en-US" dirty="0" err="1" smtClean="0"/>
              <a:t>nhiều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nhớ</a:t>
            </a:r>
            <a:endParaRPr lang="en-US" dirty="0" smtClean="0"/>
          </a:p>
          <a:p>
            <a:pPr lvl="1">
              <a:defRPr/>
            </a:pPr>
            <a:r>
              <a:rPr lang="en-US" dirty="0" smtClean="0"/>
              <a:t>…</a:t>
            </a:r>
          </a:p>
          <a:p>
            <a:pPr>
              <a:defRPr/>
            </a:pP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Ý t</a:t>
            </a:r>
            <a:r>
              <a:rPr lang="vi-VN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ưở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ng</a:t>
            </a:r>
            <a:endParaRPr lang="en-US" dirty="0" smtClean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lvl="1">
              <a:defRPr/>
            </a:pPr>
            <a:r>
              <a:rPr lang="en-US" dirty="0" err="1" smtClean="0"/>
              <a:t>Gom</a:t>
            </a:r>
            <a:r>
              <a:rPr lang="en-US" dirty="0" smtClean="0"/>
              <a:t> </a:t>
            </a:r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cùng</a:t>
            </a:r>
            <a:r>
              <a:rPr lang="en-US" dirty="0" smtClean="0"/>
              <a:t> 1 SV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kiểu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mới</a:t>
            </a:r>
            <a:r>
              <a:rPr lang="en-US" dirty="0" smtClean="0"/>
              <a:t> =&gt; </a:t>
            </a:r>
            <a:r>
              <a:rPr lang="en-US" dirty="0" err="1" smtClean="0"/>
              <a:t>Kiểu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0000"/>
                </a:solidFill>
              </a:rPr>
              <a:t>struct</a:t>
            </a: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1946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Cấu trúc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Khai báo kiểu cấu trúc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Cú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pháp</a:t>
            </a:r>
            <a:endParaRPr lang="en-US" dirty="0" smtClean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dụ</a:t>
            </a:r>
            <a:endParaRPr lang="en-US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48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Cấu trúc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20888"/>
            <a:ext cx="152400" cy="20939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486" name="TextBox 5"/>
          <p:cNvSpPr txBox="1">
            <a:spLocks noChangeArrowheads="1"/>
          </p:cNvSpPr>
          <p:nvPr/>
        </p:nvSpPr>
        <p:spPr bwMode="auto">
          <a:xfrm>
            <a:off x="838200" y="2020888"/>
            <a:ext cx="7010400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struct &lt;tên kiểu cấu trúc&gt;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&lt;kiểu dữ liệu&gt; &lt;tên thành phần 1&gt;;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…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&lt;kiểu dữ liệu&gt; &lt;tên thành phần n&gt;;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611688"/>
            <a:ext cx="152400" cy="16367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38200" y="4611688"/>
            <a:ext cx="7010400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struct DIEM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x;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y;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Khai báo biến cấu trúc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Cú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pháp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t</a:t>
            </a:r>
            <a:r>
              <a:rPr lang="vi-VN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ườ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ng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minh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dụ</a:t>
            </a:r>
            <a:endParaRPr lang="en-US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50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Cấu trúc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20888"/>
            <a:ext cx="152400" cy="20939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510" name="TextBox 5"/>
          <p:cNvSpPr txBox="1">
            <a:spLocks noChangeArrowheads="1"/>
          </p:cNvSpPr>
          <p:nvPr/>
        </p:nvSpPr>
        <p:spPr bwMode="auto">
          <a:xfrm>
            <a:off x="838200" y="2020888"/>
            <a:ext cx="7010400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struct &lt;tên kiểu cấu trúc&gt;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&lt;kiểu dữ liệu&gt; &lt;tên thành phần 1&gt;;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…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&lt;kiểu dữ liệu&gt; &lt;tên thành phần n&gt;;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 &lt;tên biến 1&gt;, &lt;tên biến 2&gt;;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611688"/>
            <a:ext cx="152400" cy="16367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38200" y="4611688"/>
            <a:ext cx="7010400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struct DIEM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x;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y;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 diem1, diem2;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Khai báo biến cấu trúc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Cú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pháp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không t</a:t>
            </a:r>
            <a:r>
              <a:rPr lang="vi-VN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ườ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ng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minh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dụ</a:t>
            </a:r>
            <a:endParaRPr lang="en-US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53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Cấu trúc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20888"/>
            <a:ext cx="152400" cy="20939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534" name="TextBox 5"/>
          <p:cNvSpPr txBox="1">
            <a:spLocks noChangeArrowheads="1"/>
          </p:cNvSpPr>
          <p:nvPr/>
        </p:nvSpPr>
        <p:spPr bwMode="auto">
          <a:xfrm>
            <a:off x="838200" y="2020888"/>
            <a:ext cx="7010400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struct &lt;tên kiểu cấu trúc&gt;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&lt;kiểu dữ liệu&gt; &lt;tên thành phần 1&gt;;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…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&lt;kiểu dữ liệu&gt; &lt;tên thành phần n&gt;;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};</a:t>
            </a:r>
          </a:p>
          <a:p>
            <a:pPr eaLnBrk="1" hangingPunct="1"/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&lt;tên kiểu cấu trúc&gt; &lt;tên biến&gt;;</a:t>
            </a:r>
            <a:endParaRPr lang="en-US" sz="2000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4611688"/>
            <a:ext cx="152400" cy="18653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38200" y="4611688"/>
            <a:ext cx="7543800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struct DIEM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x;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y;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};</a:t>
            </a:r>
          </a:p>
          <a:p>
            <a:pPr eaLnBrk="1" hangingPunct="1"/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DIEM diem1, diem2;// C++ có thể bỏ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struct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4648200"/>
            <a:ext cx="9128125" cy="15240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6172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9" grpId="1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Sử dụng typedef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Cú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pháp</a:t>
            </a:r>
            <a:endParaRPr lang="en-US" dirty="0" smtClean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dụ</a:t>
            </a:r>
            <a:endParaRPr lang="en-US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55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Cấu trúc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20888"/>
            <a:ext cx="152400" cy="20939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558" name="TextBox 5"/>
          <p:cNvSpPr txBox="1">
            <a:spLocks noChangeArrowheads="1"/>
          </p:cNvSpPr>
          <p:nvPr/>
        </p:nvSpPr>
        <p:spPr bwMode="auto">
          <a:xfrm>
            <a:off x="838200" y="2020888"/>
            <a:ext cx="7010400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typedef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struct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&lt;kiểu dữ liệu&gt; &lt;tên thành phần 1&gt;;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…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&lt;kiểu dữ liệu&gt; &lt;tên thành phần n&gt;;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 &lt;tên kiểu cấu trúc&gt;;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&lt;tên kiểu cấu trúc&gt; &lt;tên biến&gt;;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611688"/>
            <a:ext cx="152400" cy="18653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38200" y="4611231"/>
            <a:ext cx="7010400" cy="193899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typedef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struct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int x;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int y;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 DIEM;</a:t>
            </a:r>
          </a:p>
          <a:p>
            <a:pPr>
              <a:defRPr/>
            </a:pPr>
            <a:r>
              <a:rPr lang="en-US" sz="2000" b="1" strike="sngStrike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DIEM diem1, diem2;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4648200"/>
            <a:ext cx="9128125" cy="15240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6172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9" grpId="1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Khởi tạo cho biến cấu trúc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Cú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pháp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t</a:t>
            </a:r>
            <a:r>
              <a:rPr lang="vi-VN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ườ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ng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minh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dụ</a:t>
            </a:r>
            <a:endParaRPr lang="en-US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58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Cấu trúc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20888"/>
            <a:ext cx="152400" cy="20939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582" name="TextBox 5"/>
          <p:cNvSpPr txBox="1">
            <a:spLocks noChangeArrowheads="1"/>
          </p:cNvSpPr>
          <p:nvPr/>
        </p:nvSpPr>
        <p:spPr bwMode="auto">
          <a:xfrm>
            <a:off x="838200" y="2020888"/>
            <a:ext cx="7010400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struct &lt;tên kiểu cấu trúc&gt;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&lt;kiểu dữ liệu&gt; &lt;tên thành phần 1&gt;;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…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&lt;kiểu dữ liệu&gt; &lt;tên thành phần n&gt;;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 &lt;tên biến&gt; = {&lt;giá trị 1&gt;,…,&lt;giá trị n&gt;};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611688"/>
            <a:ext cx="152400" cy="16367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38200" y="4611688"/>
            <a:ext cx="7010400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struct DIEM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x;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y;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 diem1 = {2912, 1706}, diem2;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1143000" y="5867400"/>
            <a:ext cx="3124200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Truy xuất dữ liệu kiểu cấu trúc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Đặc 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đ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iểm</a:t>
            </a:r>
          </a:p>
          <a:p>
            <a:pPr lvl="1">
              <a:defRPr/>
            </a:pPr>
            <a:r>
              <a:rPr lang="en-US" smtClean="0"/>
              <a:t>Không thể truy xuất trực tiếp</a:t>
            </a:r>
          </a:p>
          <a:p>
            <a:pPr lvl="1">
              <a:defRPr/>
            </a:pPr>
            <a:r>
              <a:rPr lang="en-US" smtClean="0"/>
              <a:t>Thông qua toán tử thành phần cấu trúc </a:t>
            </a:r>
            <a:r>
              <a:rPr lang="en-US" smtClean="0">
                <a:solidFill>
                  <a:srgbClr val="FF0000"/>
                </a:solidFill>
              </a:rPr>
              <a:t>.</a:t>
            </a:r>
            <a:r>
              <a:rPr lang="en-US" smtClean="0"/>
              <a:t> hay còn gọi là </a:t>
            </a:r>
            <a:r>
              <a:rPr lang="en-US" smtClean="0">
                <a:solidFill>
                  <a:srgbClr val="FF0000"/>
                </a:solidFill>
              </a:rPr>
              <a:t>toán tử chấm</a:t>
            </a:r>
            <a:r>
              <a:rPr lang="en-US" smtClean="0"/>
              <a:t> (dot operation)</a:t>
            </a:r>
          </a:p>
          <a:p>
            <a:pPr lvl="1">
              <a:defRPr/>
            </a:pPr>
            <a:endParaRPr lang="en-US" smtClean="0"/>
          </a:p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</p:txBody>
      </p:sp>
      <p:sp>
        <p:nvSpPr>
          <p:cNvPr id="2560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Cấu trúc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505200"/>
            <a:ext cx="152400" cy="457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3548063"/>
            <a:ext cx="7315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&lt;tên biến cấu trúc&gt;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&lt;tên thành phần&gt;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572000"/>
            <a:ext cx="152400" cy="1905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838200" y="4572000"/>
            <a:ext cx="73152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struct DIEM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x;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y;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 diem1;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printf(“x = %d, y = %d”, diem1.x, diem1.y);</a:t>
            </a:r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4648200"/>
            <a:ext cx="9128125" cy="15240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6172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9" grpId="0" animBg="1"/>
      <p:bldP spid="10" grpId="0"/>
      <p:bldP spid="11" grpId="0" animBg="1"/>
      <p:bldP spid="11" grpId="1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Gán dữ liệu kiểu cấu trúc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Có 2 cách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62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Cấu trúc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152400" cy="990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2057400"/>
            <a:ext cx="83058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&lt;biến cấu trúc 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đí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ch&gt; = &lt;biến cấu trúc nguồn&gt;;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&lt;biến cấu trúc 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đí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ch&gt;.&lt;tên thành phần&gt; = &lt;giá trị&gt;;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581400"/>
            <a:ext cx="152400" cy="2590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38200" y="3657600"/>
            <a:ext cx="7315200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struct DIEM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x, y;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 diem1 = {2912, 1706}, diem2;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…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diem2 = diem1;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diem2.x = diem1.x;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diem2.y = diem1.y * 2; </a:t>
            </a:r>
            <a:endParaRPr lang="en-US" sz="2000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2133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5257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2667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0" y="55626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Cấu trúc phức tạp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Thành phần của cấu trúc là cấu trúc khác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65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Cấu trúc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20888"/>
            <a:ext cx="152400" cy="43799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7654" name="TextBox 5"/>
          <p:cNvSpPr txBox="1">
            <a:spLocks noChangeArrowheads="1"/>
          </p:cNvSpPr>
          <p:nvPr/>
        </p:nvSpPr>
        <p:spPr bwMode="auto">
          <a:xfrm>
            <a:off x="838200" y="2020888"/>
            <a:ext cx="70104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struct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DIEM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x;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y;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struct HINHCHUNHAT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struct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DIEM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	traitren;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struct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DIEM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phaiduoi;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 hcn1;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…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hcn1.traitren.x = 2912;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hcn1.traitren.y = 1706;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0" y="2057400"/>
            <a:ext cx="9128125" cy="15240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0" y="44958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Cấu trúc phức tạp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Thành phần của cấu trúc là mảng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867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Cấu trúc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20888"/>
            <a:ext cx="152400" cy="31607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678" name="TextBox 5"/>
          <p:cNvSpPr txBox="1">
            <a:spLocks noChangeArrowheads="1"/>
          </p:cNvSpPr>
          <p:nvPr/>
        </p:nvSpPr>
        <p:spPr bwMode="auto">
          <a:xfrm>
            <a:off x="838200" y="2020888"/>
            <a:ext cx="7010400" cy="317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struct SINHVIEN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char hoten[30];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float toan, ly, hoa;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 sv1;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…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strcpy(sv1.hoten, “Nguyen Van A”);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sv1.toan = 10;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sv1.ly = 6.5;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sv1.hoa = 9;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0" y="2057400"/>
            <a:ext cx="9128125" cy="15240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Cấu trúc phức tạp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Cấu trúc 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đệ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quy (tự trỏ)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970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Cấu trúc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20888"/>
            <a:ext cx="152400" cy="34655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702" name="TextBox 5"/>
          <p:cNvSpPr txBox="1">
            <a:spLocks noChangeArrowheads="1"/>
          </p:cNvSpPr>
          <p:nvPr/>
        </p:nvSpPr>
        <p:spPr bwMode="auto">
          <a:xfrm>
            <a:off x="838200" y="2020888"/>
            <a:ext cx="7010400" cy="34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struct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PERSON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char hoten[30];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struct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PERSON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father,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mother;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struct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NODE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value;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struct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NODE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*pNext;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0" y="2057400"/>
            <a:ext cx="9128125" cy="15240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0" y="3962400"/>
            <a:ext cx="9128125" cy="15240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Cấu trúc phức tạp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Thành phần của cấu trúc có kích th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ướ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 theo bit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072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Cấu trúc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20888"/>
            <a:ext cx="152400" cy="22463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8200" y="2020888"/>
            <a:ext cx="7010400" cy="22463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struct bit_fields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 bit_0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1;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int bit_1_to_4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4;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 bit_5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1;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int bit_6_to_15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10;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gray">
          <a:xfrm>
            <a:off x="6858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gray">
          <a:xfrm>
            <a:off x="6858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15</a:t>
            </a:r>
            <a:endParaRPr lang="en-US" sz="2400" baseline="30000"/>
          </a:p>
        </p:txBody>
      </p:sp>
      <p:sp>
        <p:nvSpPr>
          <p:cNvPr id="11" name="AutoShape 6"/>
          <p:cNvSpPr>
            <a:spLocks noChangeArrowheads="1"/>
          </p:cNvSpPr>
          <p:nvPr/>
        </p:nvSpPr>
        <p:spPr bwMode="gray">
          <a:xfrm>
            <a:off x="11430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11430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14</a:t>
            </a:r>
            <a:endParaRPr lang="en-US" sz="2400" baseline="30000"/>
          </a:p>
        </p:txBody>
      </p:sp>
      <p:sp>
        <p:nvSpPr>
          <p:cNvPr id="13" name="AutoShape 6"/>
          <p:cNvSpPr>
            <a:spLocks noChangeArrowheads="1"/>
          </p:cNvSpPr>
          <p:nvPr/>
        </p:nvSpPr>
        <p:spPr bwMode="gray">
          <a:xfrm>
            <a:off x="16002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gray">
          <a:xfrm>
            <a:off x="16002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13</a:t>
            </a:r>
            <a:endParaRPr lang="en-US" sz="2400" baseline="30000"/>
          </a:p>
        </p:txBody>
      </p:sp>
      <p:sp>
        <p:nvSpPr>
          <p:cNvPr id="15" name="AutoShape 6"/>
          <p:cNvSpPr>
            <a:spLocks noChangeArrowheads="1"/>
          </p:cNvSpPr>
          <p:nvPr/>
        </p:nvSpPr>
        <p:spPr bwMode="gray">
          <a:xfrm>
            <a:off x="20574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6" name="AutoShape 6"/>
          <p:cNvSpPr>
            <a:spLocks noChangeArrowheads="1"/>
          </p:cNvSpPr>
          <p:nvPr/>
        </p:nvSpPr>
        <p:spPr bwMode="gray">
          <a:xfrm>
            <a:off x="20574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12</a:t>
            </a:r>
            <a:endParaRPr lang="en-US" sz="2400" baseline="30000"/>
          </a:p>
        </p:txBody>
      </p:sp>
      <p:sp>
        <p:nvSpPr>
          <p:cNvPr id="17" name="AutoShape 6"/>
          <p:cNvSpPr>
            <a:spLocks noChangeArrowheads="1"/>
          </p:cNvSpPr>
          <p:nvPr/>
        </p:nvSpPr>
        <p:spPr bwMode="gray">
          <a:xfrm>
            <a:off x="25146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8" name="AutoShape 6"/>
          <p:cNvSpPr>
            <a:spLocks noChangeArrowheads="1"/>
          </p:cNvSpPr>
          <p:nvPr/>
        </p:nvSpPr>
        <p:spPr bwMode="gray">
          <a:xfrm>
            <a:off x="25146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11</a:t>
            </a:r>
            <a:endParaRPr lang="en-US" sz="2400" baseline="30000"/>
          </a:p>
        </p:txBody>
      </p:sp>
      <p:sp>
        <p:nvSpPr>
          <p:cNvPr id="19" name="AutoShape 6"/>
          <p:cNvSpPr>
            <a:spLocks noChangeArrowheads="1"/>
          </p:cNvSpPr>
          <p:nvPr/>
        </p:nvSpPr>
        <p:spPr bwMode="gray">
          <a:xfrm>
            <a:off x="29718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0" name="AutoShape 6"/>
          <p:cNvSpPr>
            <a:spLocks noChangeArrowheads="1"/>
          </p:cNvSpPr>
          <p:nvPr/>
        </p:nvSpPr>
        <p:spPr bwMode="gray">
          <a:xfrm>
            <a:off x="29718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10</a:t>
            </a:r>
            <a:endParaRPr lang="en-US" sz="2400" baseline="30000"/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gray">
          <a:xfrm>
            <a:off x="34290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2" name="AutoShape 6"/>
          <p:cNvSpPr>
            <a:spLocks noChangeArrowheads="1"/>
          </p:cNvSpPr>
          <p:nvPr/>
        </p:nvSpPr>
        <p:spPr bwMode="gray">
          <a:xfrm>
            <a:off x="34290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9</a:t>
            </a:r>
            <a:endParaRPr lang="en-US" sz="2400" baseline="30000"/>
          </a:p>
        </p:txBody>
      </p:sp>
      <p:sp>
        <p:nvSpPr>
          <p:cNvPr id="23" name="AutoShape 6"/>
          <p:cNvSpPr>
            <a:spLocks noChangeArrowheads="1"/>
          </p:cNvSpPr>
          <p:nvPr/>
        </p:nvSpPr>
        <p:spPr bwMode="gray">
          <a:xfrm>
            <a:off x="38862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4" name="AutoShape 6"/>
          <p:cNvSpPr>
            <a:spLocks noChangeArrowheads="1"/>
          </p:cNvSpPr>
          <p:nvPr/>
        </p:nvSpPr>
        <p:spPr bwMode="gray">
          <a:xfrm>
            <a:off x="38862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8</a:t>
            </a:r>
            <a:endParaRPr lang="en-US" sz="2400" baseline="30000"/>
          </a:p>
        </p:txBody>
      </p:sp>
      <p:sp>
        <p:nvSpPr>
          <p:cNvPr id="25" name="AutoShape 6"/>
          <p:cNvSpPr>
            <a:spLocks noChangeArrowheads="1"/>
          </p:cNvSpPr>
          <p:nvPr/>
        </p:nvSpPr>
        <p:spPr bwMode="gray">
          <a:xfrm>
            <a:off x="43434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6" name="AutoShape 6"/>
          <p:cNvSpPr>
            <a:spLocks noChangeArrowheads="1"/>
          </p:cNvSpPr>
          <p:nvPr/>
        </p:nvSpPr>
        <p:spPr bwMode="gray">
          <a:xfrm>
            <a:off x="43434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7</a:t>
            </a:r>
            <a:endParaRPr lang="en-US" sz="2400" baseline="30000"/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gray">
          <a:xfrm>
            <a:off x="48006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8" name="AutoShape 6"/>
          <p:cNvSpPr>
            <a:spLocks noChangeArrowheads="1"/>
          </p:cNvSpPr>
          <p:nvPr/>
        </p:nvSpPr>
        <p:spPr bwMode="gray">
          <a:xfrm>
            <a:off x="48006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6</a:t>
            </a:r>
            <a:endParaRPr lang="en-US" sz="2400" baseline="30000"/>
          </a:p>
        </p:txBody>
      </p:sp>
      <p:sp>
        <p:nvSpPr>
          <p:cNvPr id="29" name="AutoShape 6"/>
          <p:cNvSpPr>
            <a:spLocks noChangeArrowheads="1"/>
          </p:cNvSpPr>
          <p:nvPr/>
        </p:nvSpPr>
        <p:spPr bwMode="gray">
          <a:xfrm>
            <a:off x="52578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0" name="AutoShape 6"/>
          <p:cNvSpPr>
            <a:spLocks noChangeArrowheads="1"/>
          </p:cNvSpPr>
          <p:nvPr/>
        </p:nvSpPr>
        <p:spPr bwMode="gray">
          <a:xfrm>
            <a:off x="52578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5</a:t>
            </a:r>
            <a:endParaRPr lang="en-US" sz="2400" baseline="30000"/>
          </a:p>
        </p:txBody>
      </p:sp>
      <p:sp>
        <p:nvSpPr>
          <p:cNvPr id="31" name="AutoShape 6"/>
          <p:cNvSpPr>
            <a:spLocks noChangeArrowheads="1"/>
          </p:cNvSpPr>
          <p:nvPr/>
        </p:nvSpPr>
        <p:spPr bwMode="gray">
          <a:xfrm>
            <a:off x="57150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2" name="AutoShape 6"/>
          <p:cNvSpPr>
            <a:spLocks noChangeArrowheads="1"/>
          </p:cNvSpPr>
          <p:nvPr/>
        </p:nvSpPr>
        <p:spPr bwMode="gray">
          <a:xfrm>
            <a:off x="57150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4</a:t>
            </a:r>
            <a:endParaRPr lang="en-US" sz="2400" baseline="30000"/>
          </a:p>
        </p:txBody>
      </p:sp>
      <p:sp>
        <p:nvSpPr>
          <p:cNvPr id="33" name="AutoShape 6"/>
          <p:cNvSpPr>
            <a:spLocks noChangeArrowheads="1"/>
          </p:cNvSpPr>
          <p:nvPr/>
        </p:nvSpPr>
        <p:spPr bwMode="gray">
          <a:xfrm>
            <a:off x="61722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4" name="AutoShape 6"/>
          <p:cNvSpPr>
            <a:spLocks noChangeArrowheads="1"/>
          </p:cNvSpPr>
          <p:nvPr/>
        </p:nvSpPr>
        <p:spPr bwMode="gray">
          <a:xfrm>
            <a:off x="61722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3</a:t>
            </a:r>
            <a:endParaRPr lang="en-US" sz="2400" baseline="30000"/>
          </a:p>
        </p:txBody>
      </p:sp>
      <p:sp>
        <p:nvSpPr>
          <p:cNvPr id="35" name="AutoShape 6"/>
          <p:cNvSpPr>
            <a:spLocks noChangeArrowheads="1"/>
          </p:cNvSpPr>
          <p:nvPr/>
        </p:nvSpPr>
        <p:spPr bwMode="gray">
          <a:xfrm>
            <a:off x="66294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6" name="AutoShape 6"/>
          <p:cNvSpPr>
            <a:spLocks noChangeArrowheads="1"/>
          </p:cNvSpPr>
          <p:nvPr/>
        </p:nvSpPr>
        <p:spPr bwMode="gray">
          <a:xfrm>
            <a:off x="66294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2</a:t>
            </a:r>
            <a:endParaRPr lang="en-US" sz="2400" baseline="30000"/>
          </a:p>
        </p:txBody>
      </p:sp>
      <p:sp>
        <p:nvSpPr>
          <p:cNvPr id="37" name="AutoShape 6"/>
          <p:cNvSpPr>
            <a:spLocks noChangeArrowheads="1"/>
          </p:cNvSpPr>
          <p:nvPr/>
        </p:nvSpPr>
        <p:spPr bwMode="gray">
          <a:xfrm>
            <a:off x="70866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8" name="AutoShape 6"/>
          <p:cNvSpPr>
            <a:spLocks noChangeArrowheads="1"/>
          </p:cNvSpPr>
          <p:nvPr/>
        </p:nvSpPr>
        <p:spPr bwMode="gray">
          <a:xfrm>
            <a:off x="70866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1</a:t>
            </a:r>
            <a:endParaRPr lang="en-US" sz="2400" baseline="30000"/>
          </a:p>
        </p:txBody>
      </p:sp>
      <p:sp>
        <p:nvSpPr>
          <p:cNvPr id="39" name="AutoShape 6"/>
          <p:cNvSpPr>
            <a:spLocks noChangeArrowheads="1"/>
          </p:cNvSpPr>
          <p:nvPr/>
        </p:nvSpPr>
        <p:spPr bwMode="gray">
          <a:xfrm>
            <a:off x="75438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0" name="AutoShape 6"/>
          <p:cNvSpPr>
            <a:spLocks noChangeArrowheads="1"/>
          </p:cNvSpPr>
          <p:nvPr/>
        </p:nvSpPr>
        <p:spPr bwMode="gray">
          <a:xfrm>
            <a:off x="75438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</a:t>
            </a:r>
            <a:endParaRPr lang="en-US" sz="2400" baseline="30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 animBg="1"/>
      <p:bldP spid="22" grpId="0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/>
      <p:bldP spid="33" grpId="0" animBg="1"/>
      <p:bldP spid="34" grpId="0"/>
      <p:bldP spid="35" grpId="0" animBg="1"/>
      <p:bldP spid="36" grpId="0"/>
      <p:bldP spid="37" grpId="0" animBg="1"/>
      <p:bldP spid="38" grpId="0"/>
      <p:bldP spid="39" grpId="0" animBg="1"/>
      <p:bldP spid="4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Kích th</a:t>
            </a:r>
            <a:r>
              <a:rPr lang="vi-VN" smtClean="0"/>
              <a:t>ướ</a:t>
            </a:r>
            <a:r>
              <a:rPr lang="en-US" smtClean="0"/>
              <a:t>c của struct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</p:txBody>
      </p:sp>
      <p:sp>
        <p:nvSpPr>
          <p:cNvPr id="3174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Cấu trúc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20888"/>
            <a:ext cx="152400" cy="19415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2020888"/>
            <a:ext cx="7010400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struct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a;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double b;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sizeof(A) = ???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154488"/>
            <a:ext cx="152400" cy="21701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838200" y="4154488"/>
            <a:ext cx="3429000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struct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B1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a;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b;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double c;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sizeof(B1) = ???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7200" y="4191000"/>
            <a:ext cx="152400" cy="2133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4419600" y="4191000"/>
            <a:ext cx="34290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struct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B2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a;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double c;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b;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sizeof(B2) = ???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9" grpId="0" animBg="1"/>
      <p:bldP spid="10" grpId="0"/>
      <p:bldP spid="11" grpId="0" animBg="1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Chỉ thị #pragma pack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Chỉ thị #pragma pack (n)</a:t>
            </a:r>
          </a:p>
          <a:p>
            <a:pPr lvl="1">
              <a:defRPr/>
            </a:pPr>
            <a:r>
              <a:rPr lang="en-US" smtClean="0"/>
              <a:t>n = 1, 2, 4, 8, 16 (byte)</a:t>
            </a:r>
          </a:p>
          <a:p>
            <a:pPr lvl="1">
              <a:defRPr/>
            </a:pPr>
            <a:r>
              <a:rPr lang="en-US" smtClean="0"/>
              <a:t>Biên lớn nhất của các thành phần trong struct</a:t>
            </a:r>
          </a:p>
          <a:p>
            <a:pPr lvl="2">
              <a:defRPr/>
            </a:pPr>
            <a:r>
              <a:rPr lang="en-US" smtClean="0"/>
              <a:t>BC n mặc </a:t>
            </a:r>
            <a:r>
              <a:rPr lang="vi-VN" smtClean="0"/>
              <a:t>đị</a:t>
            </a:r>
            <a:r>
              <a:rPr lang="en-US" smtClean="0"/>
              <a:t>nh là </a:t>
            </a:r>
            <a:r>
              <a:rPr lang="en-US" smtClean="0">
                <a:solidFill>
                  <a:srgbClr val="FF0000"/>
                </a:solidFill>
              </a:rPr>
              <a:t>1</a:t>
            </a:r>
          </a:p>
          <a:p>
            <a:pPr lvl="2">
              <a:defRPr/>
            </a:pPr>
            <a:r>
              <a:rPr lang="en-US" smtClean="0"/>
              <a:t>VC++ n mặc </a:t>
            </a:r>
            <a:r>
              <a:rPr lang="vi-VN" smtClean="0"/>
              <a:t>đị</a:t>
            </a:r>
            <a:r>
              <a:rPr lang="en-US" smtClean="0"/>
              <a:t>nh là </a:t>
            </a:r>
            <a:r>
              <a:rPr lang="en-US" smtClean="0">
                <a:solidFill>
                  <a:srgbClr val="FF0000"/>
                </a:solidFill>
              </a:rPr>
              <a:t>8</a:t>
            </a:r>
          </a:p>
          <a:p>
            <a:pPr lvl="2">
              <a:defRPr/>
            </a:pPr>
            <a:r>
              <a:rPr lang="en-US" smtClean="0"/>
              <a:t>Project settings </a:t>
            </a:r>
            <a:r>
              <a:rPr lang="en-US" smtClean="0">
                <a:sym typeface="Wingdings" pitchFamily="2" charset="2"/>
              </a:rPr>
              <a:t> </a:t>
            </a:r>
            <a:r>
              <a:rPr lang="en-US" smtClean="0"/>
              <a:t>Compile Option C/C++ </a:t>
            </a:r>
            <a:r>
              <a:rPr lang="en-US" smtClean="0">
                <a:sym typeface="Wingdings" pitchFamily="2" charset="2"/>
              </a:rPr>
              <a:t> </a:t>
            </a:r>
            <a:r>
              <a:rPr lang="en-US" smtClean="0"/>
              <a:t>Code Generation </a:t>
            </a:r>
            <a:r>
              <a:rPr lang="en-US" smtClean="0">
                <a:sym typeface="Wingdings" pitchFamily="2" charset="2"/>
              </a:rPr>
              <a:t> </a:t>
            </a:r>
            <a:r>
              <a:rPr lang="en-US" smtClean="0"/>
              <a:t>Structure Alignment</a:t>
            </a:r>
          </a:p>
          <a:p>
            <a:pPr lvl="1">
              <a:defRPr/>
            </a:pPr>
            <a:r>
              <a:rPr lang="en-US" smtClean="0"/>
              <a:t>Canh biên cho 1 cấu trúc</a:t>
            </a:r>
            <a:endParaRPr lang="en-US"/>
          </a:p>
        </p:txBody>
      </p:sp>
      <p:sp>
        <p:nvSpPr>
          <p:cNvPr id="3277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Cấu trúc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221288"/>
            <a:ext cx="152400" cy="10271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5221288"/>
            <a:ext cx="70104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#pragma pack(push, 1)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struct MYSTRUCT { … };</a:t>
            </a:r>
          </a:p>
          <a:p>
            <a:pPr eaLnBrk="1" hangingPunct="1"/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#pragma pack(pop)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#pragma pack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dụ: </a:t>
            </a:r>
            <a:r>
              <a:rPr lang="en-US" smtClean="0"/>
              <a:t>không có #pragma pack (1)</a:t>
            </a:r>
            <a:endParaRPr lang="en-US"/>
          </a:p>
        </p:txBody>
      </p:sp>
      <p:sp>
        <p:nvSpPr>
          <p:cNvPr id="3379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Cấu trúc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20888"/>
            <a:ext cx="152400" cy="46085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3798" name="TextBox 5"/>
          <p:cNvSpPr txBox="1">
            <a:spLocks noChangeArrowheads="1"/>
          </p:cNvSpPr>
          <p:nvPr/>
        </p:nvSpPr>
        <p:spPr bwMode="auto">
          <a:xfrm>
            <a:off x="838200" y="2020888"/>
            <a:ext cx="7010400" cy="470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struct A 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double a;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b;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c;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struct B 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b;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double a;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c;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struct C 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b;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c;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double a;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gray">
          <a:xfrm>
            <a:off x="4114800" y="2362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a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gray">
          <a:xfrm>
            <a:off x="4572000" y="2362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a</a:t>
            </a: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gray">
          <a:xfrm>
            <a:off x="5029200" y="2362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a</a:t>
            </a:r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gray">
          <a:xfrm>
            <a:off x="5486400" y="2362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a</a:t>
            </a:r>
          </a:p>
        </p:txBody>
      </p:sp>
      <p:sp>
        <p:nvSpPr>
          <p:cNvPr id="11" name="AutoShape 6"/>
          <p:cNvSpPr>
            <a:spLocks noChangeArrowheads="1"/>
          </p:cNvSpPr>
          <p:nvPr/>
        </p:nvSpPr>
        <p:spPr bwMode="gray">
          <a:xfrm>
            <a:off x="5943600" y="2362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a</a:t>
            </a: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6400800" y="2362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a</a:t>
            </a:r>
          </a:p>
        </p:txBody>
      </p:sp>
      <p:sp>
        <p:nvSpPr>
          <p:cNvPr id="13" name="AutoShape 6"/>
          <p:cNvSpPr>
            <a:spLocks noChangeArrowheads="1"/>
          </p:cNvSpPr>
          <p:nvPr/>
        </p:nvSpPr>
        <p:spPr bwMode="gray">
          <a:xfrm>
            <a:off x="6858000" y="2362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a</a:t>
            </a:r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gray">
          <a:xfrm>
            <a:off x="7315200" y="2362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a</a:t>
            </a:r>
          </a:p>
        </p:txBody>
      </p:sp>
      <p:sp>
        <p:nvSpPr>
          <p:cNvPr id="15" name="AutoShape 6"/>
          <p:cNvSpPr>
            <a:spLocks noChangeArrowheads="1"/>
          </p:cNvSpPr>
          <p:nvPr/>
        </p:nvSpPr>
        <p:spPr bwMode="gray">
          <a:xfrm>
            <a:off x="4114800" y="2819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b</a:t>
            </a:r>
          </a:p>
        </p:txBody>
      </p:sp>
      <p:sp>
        <p:nvSpPr>
          <p:cNvPr id="16" name="AutoShape 6"/>
          <p:cNvSpPr>
            <a:spLocks noChangeArrowheads="1"/>
          </p:cNvSpPr>
          <p:nvPr/>
        </p:nvSpPr>
        <p:spPr bwMode="gray">
          <a:xfrm>
            <a:off x="4572000" y="2819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b</a:t>
            </a:r>
          </a:p>
        </p:txBody>
      </p:sp>
      <p:sp>
        <p:nvSpPr>
          <p:cNvPr id="17" name="AutoShape 6"/>
          <p:cNvSpPr>
            <a:spLocks noChangeArrowheads="1"/>
          </p:cNvSpPr>
          <p:nvPr/>
        </p:nvSpPr>
        <p:spPr bwMode="gray">
          <a:xfrm>
            <a:off x="5029200" y="2819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b</a:t>
            </a:r>
          </a:p>
        </p:txBody>
      </p:sp>
      <p:sp>
        <p:nvSpPr>
          <p:cNvPr id="18" name="AutoShape 6"/>
          <p:cNvSpPr>
            <a:spLocks noChangeArrowheads="1"/>
          </p:cNvSpPr>
          <p:nvPr/>
        </p:nvSpPr>
        <p:spPr bwMode="gray">
          <a:xfrm>
            <a:off x="5486400" y="2819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b</a:t>
            </a:r>
          </a:p>
        </p:txBody>
      </p:sp>
      <p:sp>
        <p:nvSpPr>
          <p:cNvPr id="19" name="AutoShape 6"/>
          <p:cNvSpPr>
            <a:spLocks noChangeArrowheads="1"/>
          </p:cNvSpPr>
          <p:nvPr/>
        </p:nvSpPr>
        <p:spPr bwMode="gray">
          <a:xfrm>
            <a:off x="5943600" y="2819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c</a:t>
            </a:r>
          </a:p>
        </p:txBody>
      </p:sp>
      <p:sp>
        <p:nvSpPr>
          <p:cNvPr id="20" name="AutoShape 6"/>
          <p:cNvSpPr>
            <a:spLocks noChangeArrowheads="1"/>
          </p:cNvSpPr>
          <p:nvPr/>
        </p:nvSpPr>
        <p:spPr bwMode="gray">
          <a:xfrm>
            <a:off x="6400800" y="2819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c</a:t>
            </a:r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gray">
          <a:xfrm>
            <a:off x="6858000" y="2819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c</a:t>
            </a:r>
          </a:p>
        </p:txBody>
      </p:sp>
      <p:sp>
        <p:nvSpPr>
          <p:cNvPr id="22" name="AutoShape 6"/>
          <p:cNvSpPr>
            <a:spLocks noChangeArrowheads="1"/>
          </p:cNvSpPr>
          <p:nvPr/>
        </p:nvSpPr>
        <p:spPr bwMode="gray">
          <a:xfrm>
            <a:off x="7315200" y="2819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c</a:t>
            </a:r>
          </a:p>
        </p:txBody>
      </p:sp>
      <p:sp>
        <p:nvSpPr>
          <p:cNvPr id="23" name="AutoShape 6"/>
          <p:cNvSpPr>
            <a:spLocks noChangeArrowheads="1"/>
          </p:cNvSpPr>
          <p:nvPr/>
        </p:nvSpPr>
        <p:spPr bwMode="gray">
          <a:xfrm>
            <a:off x="4114800" y="3657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b</a:t>
            </a:r>
          </a:p>
        </p:txBody>
      </p:sp>
      <p:sp>
        <p:nvSpPr>
          <p:cNvPr id="24" name="AutoShape 6"/>
          <p:cNvSpPr>
            <a:spLocks noChangeArrowheads="1"/>
          </p:cNvSpPr>
          <p:nvPr/>
        </p:nvSpPr>
        <p:spPr bwMode="gray">
          <a:xfrm>
            <a:off x="4572000" y="3657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b</a:t>
            </a:r>
          </a:p>
        </p:txBody>
      </p:sp>
      <p:sp>
        <p:nvSpPr>
          <p:cNvPr id="25" name="AutoShape 6"/>
          <p:cNvSpPr>
            <a:spLocks noChangeArrowheads="1"/>
          </p:cNvSpPr>
          <p:nvPr/>
        </p:nvSpPr>
        <p:spPr bwMode="gray">
          <a:xfrm>
            <a:off x="5029200" y="3657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b</a:t>
            </a:r>
          </a:p>
        </p:txBody>
      </p:sp>
      <p:sp>
        <p:nvSpPr>
          <p:cNvPr id="26" name="AutoShape 6"/>
          <p:cNvSpPr>
            <a:spLocks noChangeArrowheads="1"/>
          </p:cNvSpPr>
          <p:nvPr/>
        </p:nvSpPr>
        <p:spPr bwMode="gray">
          <a:xfrm>
            <a:off x="5486400" y="3657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b</a:t>
            </a:r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gray">
          <a:xfrm>
            <a:off x="5943600" y="3657600"/>
            <a:ext cx="18288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vi-VN" sz="2400"/>
              <a:t>đệ</a:t>
            </a:r>
            <a:r>
              <a:rPr lang="en-US" sz="2400"/>
              <a:t>m 4B</a:t>
            </a:r>
          </a:p>
        </p:txBody>
      </p:sp>
      <p:sp>
        <p:nvSpPr>
          <p:cNvPr id="31" name="AutoShape 6"/>
          <p:cNvSpPr>
            <a:spLocks noChangeArrowheads="1"/>
          </p:cNvSpPr>
          <p:nvPr/>
        </p:nvSpPr>
        <p:spPr bwMode="gray">
          <a:xfrm>
            <a:off x="4114800" y="4114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a</a:t>
            </a:r>
          </a:p>
        </p:txBody>
      </p:sp>
      <p:sp>
        <p:nvSpPr>
          <p:cNvPr id="32" name="AutoShape 6"/>
          <p:cNvSpPr>
            <a:spLocks noChangeArrowheads="1"/>
          </p:cNvSpPr>
          <p:nvPr/>
        </p:nvSpPr>
        <p:spPr bwMode="gray">
          <a:xfrm>
            <a:off x="4572000" y="4114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a</a:t>
            </a:r>
          </a:p>
        </p:txBody>
      </p:sp>
      <p:sp>
        <p:nvSpPr>
          <p:cNvPr id="33" name="AutoShape 6"/>
          <p:cNvSpPr>
            <a:spLocks noChangeArrowheads="1"/>
          </p:cNvSpPr>
          <p:nvPr/>
        </p:nvSpPr>
        <p:spPr bwMode="gray">
          <a:xfrm>
            <a:off x="5029200" y="4114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a</a:t>
            </a:r>
          </a:p>
        </p:txBody>
      </p:sp>
      <p:sp>
        <p:nvSpPr>
          <p:cNvPr id="34" name="AutoShape 6"/>
          <p:cNvSpPr>
            <a:spLocks noChangeArrowheads="1"/>
          </p:cNvSpPr>
          <p:nvPr/>
        </p:nvSpPr>
        <p:spPr bwMode="gray">
          <a:xfrm>
            <a:off x="5486400" y="4114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a</a:t>
            </a:r>
          </a:p>
        </p:txBody>
      </p:sp>
      <p:sp>
        <p:nvSpPr>
          <p:cNvPr id="35" name="AutoShape 6"/>
          <p:cNvSpPr>
            <a:spLocks noChangeArrowheads="1"/>
          </p:cNvSpPr>
          <p:nvPr/>
        </p:nvSpPr>
        <p:spPr bwMode="gray">
          <a:xfrm>
            <a:off x="5943600" y="4114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a</a:t>
            </a:r>
          </a:p>
        </p:txBody>
      </p:sp>
      <p:sp>
        <p:nvSpPr>
          <p:cNvPr id="36" name="AutoShape 6"/>
          <p:cNvSpPr>
            <a:spLocks noChangeArrowheads="1"/>
          </p:cNvSpPr>
          <p:nvPr/>
        </p:nvSpPr>
        <p:spPr bwMode="gray">
          <a:xfrm>
            <a:off x="6400800" y="4114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a</a:t>
            </a:r>
          </a:p>
        </p:txBody>
      </p:sp>
      <p:sp>
        <p:nvSpPr>
          <p:cNvPr id="37" name="AutoShape 6"/>
          <p:cNvSpPr>
            <a:spLocks noChangeArrowheads="1"/>
          </p:cNvSpPr>
          <p:nvPr/>
        </p:nvSpPr>
        <p:spPr bwMode="gray">
          <a:xfrm>
            <a:off x="6858000" y="4114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a</a:t>
            </a:r>
          </a:p>
        </p:txBody>
      </p:sp>
      <p:sp>
        <p:nvSpPr>
          <p:cNvPr id="38" name="AutoShape 6"/>
          <p:cNvSpPr>
            <a:spLocks noChangeArrowheads="1"/>
          </p:cNvSpPr>
          <p:nvPr/>
        </p:nvSpPr>
        <p:spPr bwMode="gray">
          <a:xfrm>
            <a:off x="7315200" y="4114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a</a:t>
            </a:r>
          </a:p>
        </p:txBody>
      </p:sp>
      <p:sp>
        <p:nvSpPr>
          <p:cNvPr id="39" name="AutoShape 6"/>
          <p:cNvSpPr>
            <a:spLocks noChangeArrowheads="1"/>
          </p:cNvSpPr>
          <p:nvPr/>
        </p:nvSpPr>
        <p:spPr bwMode="gray">
          <a:xfrm>
            <a:off x="4114800" y="4572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c</a:t>
            </a:r>
          </a:p>
        </p:txBody>
      </p:sp>
      <p:sp>
        <p:nvSpPr>
          <p:cNvPr id="40" name="AutoShape 6"/>
          <p:cNvSpPr>
            <a:spLocks noChangeArrowheads="1"/>
          </p:cNvSpPr>
          <p:nvPr/>
        </p:nvSpPr>
        <p:spPr bwMode="gray">
          <a:xfrm>
            <a:off x="4572000" y="4572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c</a:t>
            </a:r>
          </a:p>
        </p:txBody>
      </p:sp>
      <p:sp>
        <p:nvSpPr>
          <p:cNvPr id="41" name="AutoShape 6"/>
          <p:cNvSpPr>
            <a:spLocks noChangeArrowheads="1"/>
          </p:cNvSpPr>
          <p:nvPr/>
        </p:nvSpPr>
        <p:spPr bwMode="gray">
          <a:xfrm>
            <a:off x="5029200" y="4572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c</a:t>
            </a:r>
          </a:p>
        </p:txBody>
      </p:sp>
      <p:sp>
        <p:nvSpPr>
          <p:cNvPr id="42" name="AutoShape 6"/>
          <p:cNvSpPr>
            <a:spLocks noChangeArrowheads="1"/>
          </p:cNvSpPr>
          <p:nvPr/>
        </p:nvSpPr>
        <p:spPr bwMode="gray">
          <a:xfrm>
            <a:off x="5486400" y="4572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c</a:t>
            </a:r>
          </a:p>
        </p:txBody>
      </p:sp>
      <p:sp>
        <p:nvSpPr>
          <p:cNvPr id="46" name="AutoShape 6"/>
          <p:cNvSpPr>
            <a:spLocks noChangeArrowheads="1"/>
          </p:cNvSpPr>
          <p:nvPr/>
        </p:nvSpPr>
        <p:spPr bwMode="gray">
          <a:xfrm>
            <a:off x="5943600" y="4572000"/>
            <a:ext cx="18288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vi-VN" sz="2400"/>
              <a:t>đệ</a:t>
            </a:r>
            <a:r>
              <a:rPr lang="en-US" sz="2400"/>
              <a:t>m 4B</a:t>
            </a:r>
          </a:p>
        </p:txBody>
      </p:sp>
      <p:sp>
        <p:nvSpPr>
          <p:cNvPr id="47" name="AutoShape 6"/>
          <p:cNvSpPr>
            <a:spLocks noChangeArrowheads="1"/>
          </p:cNvSpPr>
          <p:nvPr/>
        </p:nvSpPr>
        <p:spPr bwMode="gray">
          <a:xfrm>
            <a:off x="4114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b</a:t>
            </a:r>
          </a:p>
        </p:txBody>
      </p:sp>
      <p:sp>
        <p:nvSpPr>
          <p:cNvPr id="48" name="AutoShape 6"/>
          <p:cNvSpPr>
            <a:spLocks noChangeArrowheads="1"/>
          </p:cNvSpPr>
          <p:nvPr/>
        </p:nvSpPr>
        <p:spPr bwMode="gray">
          <a:xfrm>
            <a:off x="4572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b</a:t>
            </a:r>
          </a:p>
        </p:txBody>
      </p:sp>
      <p:sp>
        <p:nvSpPr>
          <p:cNvPr id="49" name="AutoShape 6"/>
          <p:cNvSpPr>
            <a:spLocks noChangeArrowheads="1"/>
          </p:cNvSpPr>
          <p:nvPr/>
        </p:nvSpPr>
        <p:spPr bwMode="gray">
          <a:xfrm>
            <a:off x="5029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b</a:t>
            </a:r>
          </a:p>
        </p:txBody>
      </p:sp>
      <p:sp>
        <p:nvSpPr>
          <p:cNvPr id="50" name="AutoShape 6"/>
          <p:cNvSpPr>
            <a:spLocks noChangeArrowheads="1"/>
          </p:cNvSpPr>
          <p:nvPr/>
        </p:nvSpPr>
        <p:spPr bwMode="gray">
          <a:xfrm>
            <a:off x="5486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b</a:t>
            </a:r>
          </a:p>
        </p:txBody>
      </p:sp>
      <p:sp>
        <p:nvSpPr>
          <p:cNvPr id="51" name="AutoShape 6"/>
          <p:cNvSpPr>
            <a:spLocks noChangeArrowheads="1"/>
          </p:cNvSpPr>
          <p:nvPr/>
        </p:nvSpPr>
        <p:spPr bwMode="gray">
          <a:xfrm>
            <a:off x="5943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c</a:t>
            </a:r>
          </a:p>
        </p:txBody>
      </p:sp>
      <p:sp>
        <p:nvSpPr>
          <p:cNvPr id="52" name="AutoShape 6"/>
          <p:cNvSpPr>
            <a:spLocks noChangeArrowheads="1"/>
          </p:cNvSpPr>
          <p:nvPr/>
        </p:nvSpPr>
        <p:spPr bwMode="gray">
          <a:xfrm>
            <a:off x="6400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c</a:t>
            </a:r>
          </a:p>
        </p:txBody>
      </p:sp>
      <p:sp>
        <p:nvSpPr>
          <p:cNvPr id="53" name="AutoShape 6"/>
          <p:cNvSpPr>
            <a:spLocks noChangeArrowheads="1"/>
          </p:cNvSpPr>
          <p:nvPr/>
        </p:nvSpPr>
        <p:spPr bwMode="gray">
          <a:xfrm>
            <a:off x="6858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c</a:t>
            </a:r>
          </a:p>
        </p:txBody>
      </p:sp>
      <p:sp>
        <p:nvSpPr>
          <p:cNvPr id="54" name="AutoShape 6"/>
          <p:cNvSpPr>
            <a:spLocks noChangeArrowheads="1"/>
          </p:cNvSpPr>
          <p:nvPr/>
        </p:nvSpPr>
        <p:spPr bwMode="gray">
          <a:xfrm>
            <a:off x="7315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c</a:t>
            </a:r>
          </a:p>
        </p:txBody>
      </p:sp>
      <p:sp>
        <p:nvSpPr>
          <p:cNvPr id="55" name="AutoShape 6"/>
          <p:cNvSpPr>
            <a:spLocks noChangeArrowheads="1"/>
          </p:cNvSpPr>
          <p:nvPr/>
        </p:nvSpPr>
        <p:spPr bwMode="gray">
          <a:xfrm>
            <a:off x="4114800" y="5867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a</a:t>
            </a:r>
          </a:p>
        </p:txBody>
      </p:sp>
      <p:sp>
        <p:nvSpPr>
          <p:cNvPr id="56" name="AutoShape 6"/>
          <p:cNvSpPr>
            <a:spLocks noChangeArrowheads="1"/>
          </p:cNvSpPr>
          <p:nvPr/>
        </p:nvSpPr>
        <p:spPr bwMode="gray">
          <a:xfrm>
            <a:off x="4572000" y="5867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a</a:t>
            </a:r>
          </a:p>
        </p:txBody>
      </p:sp>
      <p:sp>
        <p:nvSpPr>
          <p:cNvPr id="57" name="AutoShape 6"/>
          <p:cNvSpPr>
            <a:spLocks noChangeArrowheads="1"/>
          </p:cNvSpPr>
          <p:nvPr/>
        </p:nvSpPr>
        <p:spPr bwMode="gray">
          <a:xfrm>
            <a:off x="5029200" y="5867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a</a:t>
            </a:r>
          </a:p>
        </p:txBody>
      </p:sp>
      <p:sp>
        <p:nvSpPr>
          <p:cNvPr id="58" name="AutoShape 6"/>
          <p:cNvSpPr>
            <a:spLocks noChangeArrowheads="1"/>
          </p:cNvSpPr>
          <p:nvPr/>
        </p:nvSpPr>
        <p:spPr bwMode="gray">
          <a:xfrm>
            <a:off x="5486400" y="5867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a</a:t>
            </a:r>
          </a:p>
        </p:txBody>
      </p:sp>
      <p:sp>
        <p:nvSpPr>
          <p:cNvPr id="59" name="AutoShape 6"/>
          <p:cNvSpPr>
            <a:spLocks noChangeArrowheads="1"/>
          </p:cNvSpPr>
          <p:nvPr/>
        </p:nvSpPr>
        <p:spPr bwMode="gray">
          <a:xfrm>
            <a:off x="5943600" y="5867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a</a:t>
            </a:r>
          </a:p>
        </p:txBody>
      </p:sp>
      <p:sp>
        <p:nvSpPr>
          <p:cNvPr id="60" name="AutoShape 6"/>
          <p:cNvSpPr>
            <a:spLocks noChangeArrowheads="1"/>
          </p:cNvSpPr>
          <p:nvPr/>
        </p:nvSpPr>
        <p:spPr bwMode="gray">
          <a:xfrm>
            <a:off x="6400800" y="5867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a</a:t>
            </a:r>
          </a:p>
        </p:txBody>
      </p:sp>
      <p:sp>
        <p:nvSpPr>
          <p:cNvPr id="61" name="AutoShape 6"/>
          <p:cNvSpPr>
            <a:spLocks noChangeArrowheads="1"/>
          </p:cNvSpPr>
          <p:nvPr/>
        </p:nvSpPr>
        <p:spPr bwMode="gray">
          <a:xfrm>
            <a:off x="6858000" y="5867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a</a:t>
            </a:r>
          </a:p>
        </p:txBody>
      </p:sp>
      <p:sp>
        <p:nvSpPr>
          <p:cNvPr id="62" name="AutoShape 6"/>
          <p:cNvSpPr>
            <a:spLocks noChangeArrowheads="1"/>
          </p:cNvSpPr>
          <p:nvPr/>
        </p:nvSpPr>
        <p:spPr bwMode="gray">
          <a:xfrm>
            <a:off x="7315200" y="5867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a</a:t>
            </a:r>
          </a:p>
        </p:txBody>
      </p:sp>
      <p:sp>
        <p:nvSpPr>
          <p:cNvPr id="70" name="Rectangle 69"/>
          <p:cNvSpPr>
            <a:spLocks/>
          </p:cNvSpPr>
          <p:nvPr/>
        </p:nvSpPr>
        <p:spPr bwMode="auto">
          <a:xfrm>
            <a:off x="0" y="2057400"/>
            <a:ext cx="3733800" cy="15240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" name="Rectangle 70"/>
          <p:cNvSpPr>
            <a:spLocks/>
          </p:cNvSpPr>
          <p:nvPr/>
        </p:nvSpPr>
        <p:spPr bwMode="auto">
          <a:xfrm>
            <a:off x="0" y="3581400"/>
            <a:ext cx="3733800" cy="15240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" name="Rectangle 71"/>
          <p:cNvSpPr>
            <a:spLocks/>
          </p:cNvSpPr>
          <p:nvPr/>
        </p:nvSpPr>
        <p:spPr bwMode="auto">
          <a:xfrm>
            <a:off x="0" y="5105400"/>
            <a:ext cx="3733800" cy="15240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 nodeType="clickPar">
                      <p:stCondLst>
                        <p:cond delay="indefinite"/>
                      </p:stCondLst>
                      <p:childTnLst>
                        <p:par>
                          <p:cTn id="2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 nodeType="clickPar">
                      <p:stCondLst>
                        <p:cond delay="indefinite"/>
                      </p:stCondLst>
                      <p:childTnLst>
                        <p:par>
                          <p:cTn id="2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 nodeType="clickPar">
                      <p:stCondLst>
                        <p:cond delay="indefinite"/>
                      </p:stCondLst>
                      <p:childTnLst>
                        <p:par>
                          <p:cTn id="2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70" grpId="0" animBg="1"/>
      <p:bldP spid="7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Các l</a:t>
            </a:r>
            <a:r>
              <a:rPr lang="vi-VN" smtClean="0"/>
              <a:t>ư</a:t>
            </a:r>
            <a:r>
              <a:rPr lang="en-US" smtClean="0"/>
              <a:t>u ý về cấu trúc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L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u ý</a:t>
            </a:r>
          </a:p>
          <a:p>
            <a:pPr lvl="1">
              <a:defRPr/>
            </a:pPr>
            <a:r>
              <a:rPr lang="en-US" smtClean="0">
                <a:solidFill>
                  <a:srgbClr val="FF0000"/>
                </a:solidFill>
              </a:rPr>
              <a:t>Kiểu</a:t>
            </a:r>
            <a:r>
              <a:rPr lang="en-US" smtClean="0"/>
              <a:t> cấu trúc </a:t>
            </a:r>
            <a:r>
              <a:rPr lang="vi-VN" smtClean="0"/>
              <a:t>đượ</a:t>
            </a:r>
            <a:r>
              <a:rPr lang="en-US" smtClean="0"/>
              <a:t>c </a:t>
            </a:r>
            <a:r>
              <a:rPr lang="vi-VN" smtClean="0"/>
              <a:t>đị</a:t>
            </a:r>
            <a:r>
              <a:rPr lang="en-US" smtClean="0"/>
              <a:t>nh nghĩa </a:t>
            </a:r>
            <a:r>
              <a:rPr lang="vi-VN" smtClean="0">
                <a:solidFill>
                  <a:srgbClr val="FF0000"/>
                </a:solidFill>
              </a:rPr>
              <a:t>để</a:t>
            </a:r>
            <a:r>
              <a:rPr lang="en-US" smtClean="0">
                <a:solidFill>
                  <a:srgbClr val="FF0000"/>
                </a:solidFill>
              </a:rPr>
              <a:t> làm khuôn dạng</a:t>
            </a:r>
            <a:r>
              <a:rPr lang="en-US" smtClean="0"/>
              <a:t> còn </a:t>
            </a:r>
            <a:r>
              <a:rPr lang="en-US" smtClean="0">
                <a:solidFill>
                  <a:srgbClr val="FF0000"/>
                </a:solidFill>
              </a:rPr>
              <a:t>biến</a:t>
            </a:r>
            <a:r>
              <a:rPr lang="en-US" smtClean="0"/>
              <a:t> cấu trúc </a:t>
            </a:r>
            <a:r>
              <a:rPr lang="vi-VN" smtClean="0"/>
              <a:t>đượ</a:t>
            </a:r>
            <a:r>
              <a:rPr lang="en-US" smtClean="0"/>
              <a:t>c khai báo </a:t>
            </a:r>
            <a:r>
              <a:rPr lang="vi-VN" smtClean="0">
                <a:solidFill>
                  <a:srgbClr val="FF0000"/>
                </a:solidFill>
              </a:rPr>
              <a:t>để</a:t>
            </a:r>
            <a:r>
              <a:rPr lang="en-US" smtClean="0">
                <a:solidFill>
                  <a:srgbClr val="FF0000"/>
                </a:solidFill>
              </a:rPr>
              <a:t> sử dụng khuôn dạng </a:t>
            </a:r>
            <a:r>
              <a:rPr lang="vi-VN" smtClean="0">
                <a:solidFill>
                  <a:srgbClr val="FF0000"/>
                </a:solidFill>
              </a:rPr>
              <a:t>đã</a:t>
            </a:r>
            <a:r>
              <a:rPr lang="en-US" smtClean="0">
                <a:solidFill>
                  <a:srgbClr val="FF0000"/>
                </a:solidFill>
              </a:rPr>
              <a:t> </a:t>
            </a:r>
            <a:r>
              <a:rPr lang="vi-VN" smtClean="0">
                <a:solidFill>
                  <a:srgbClr val="FF0000"/>
                </a:solidFill>
              </a:rPr>
              <a:t>đị</a:t>
            </a:r>
            <a:r>
              <a:rPr lang="en-US" smtClean="0">
                <a:solidFill>
                  <a:srgbClr val="FF0000"/>
                </a:solidFill>
              </a:rPr>
              <a:t>nh nghĩa</a:t>
            </a:r>
            <a:r>
              <a:rPr lang="en-US" smtClean="0"/>
              <a:t>.</a:t>
            </a:r>
          </a:p>
          <a:p>
            <a:pPr lvl="1">
              <a:defRPr/>
            </a:pPr>
            <a:r>
              <a:rPr lang="en-US" smtClean="0">
                <a:solidFill>
                  <a:srgbClr val="FF0000"/>
                </a:solidFill>
              </a:rPr>
              <a:t>Trong C++</a:t>
            </a:r>
            <a:r>
              <a:rPr lang="en-US" smtClean="0"/>
              <a:t>, có thể bỏ từ khóa struct khi khai báo biến (hoặc sử dụng </a:t>
            </a:r>
            <a:r>
              <a:rPr lang="en-US" smtClean="0">
                <a:solidFill>
                  <a:srgbClr val="FF0000"/>
                </a:solidFill>
              </a:rPr>
              <a:t>typedef</a:t>
            </a:r>
            <a:r>
              <a:rPr lang="en-US" smtClean="0"/>
              <a:t>)</a:t>
            </a:r>
            <a:r>
              <a:rPr lang="en-US"/>
              <a:t>.</a:t>
            </a:r>
            <a:endParaRPr lang="en-US" smtClean="0"/>
          </a:p>
        </p:txBody>
      </p:sp>
      <p:sp>
        <p:nvSpPr>
          <p:cNvPr id="3482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Cấu trúc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Mảng cấu trúc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Mảng cấu trúc</a:t>
            </a:r>
          </a:p>
          <a:p>
            <a:pPr lvl="1">
              <a:defRPr/>
            </a:pPr>
            <a:r>
              <a:rPr lang="en-US" smtClean="0"/>
              <a:t>T</a:t>
            </a:r>
            <a:r>
              <a:rPr lang="vi-VN" smtClean="0"/>
              <a:t>ươ</a:t>
            </a:r>
            <a:r>
              <a:rPr lang="en-US" smtClean="0"/>
              <a:t>ng tự nh</a:t>
            </a:r>
            <a:r>
              <a:rPr lang="vi-VN" smtClean="0"/>
              <a:t>ư</a:t>
            </a:r>
            <a:r>
              <a:rPr lang="en-US" smtClean="0"/>
              <a:t> mảng với kiểu dữ liệu c</a:t>
            </a:r>
            <a:r>
              <a:rPr lang="vi-VN" smtClean="0"/>
              <a:t>ơ</a:t>
            </a:r>
            <a:r>
              <a:rPr lang="en-US" smtClean="0"/>
              <a:t> sở (char, int, float, …)</a:t>
            </a:r>
            <a:endParaRPr lang="en-US"/>
          </a:p>
        </p:txBody>
      </p:sp>
      <p:sp>
        <p:nvSpPr>
          <p:cNvPr id="3584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Cấu trúc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011488"/>
            <a:ext cx="152400" cy="25511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3011488"/>
            <a:ext cx="7010400" cy="255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struct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DIEM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x;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y;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DIEM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mang1[20];</a:t>
            </a:r>
          </a:p>
          <a:p>
            <a:pPr eaLnBrk="1" hangingPunct="1"/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DIEM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mang2[10] = {{3, 2}, {4, 4}, {2, 7}};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Truyền cấu trúc cho hàm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Truyền cấu trúc cho hàm</a:t>
            </a:r>
          </a:p>
          <a:p>
            <a:pPr lvl="1">
              <a:defRPr/>
            </a:pPr>
            <a:r>
              <a:rPr lang="en-US" smtClean="0"/>
              <a:t>Giống nh</a:t>
            </a:r>
            <a:r>
              <a:rPr lang="vi-VN" smtClean="0"/>
              <a:t>ư</a:t>
            </a:r>
            <a:r>
              <a:rPr lang="en-US" smtClean="0"/>
              <a:t> truyền kiểu dữ liệu c</a:t>
            </a:r>
            <a:r>
              <a:rPr lang="vi-VN" smtClean="0"/>
              <a:t>ơ</a:t>
            </a:r>
            <a:r>
              <a:rPr lang="en-US" smtClean="0"/>
              <a:t> sở</a:t>
            </a:r>
          </a:p>
          <a:p>
            <a:pPr lvl="2">
              <a:defRPr/>
            </a:pPr>
            <a:r>
              <a:rPr lang="en-US" smtClean="0"/>
              <a:t>Tham trị (không thay </a:t>
            </a:r>
            <a:r>
              <a:rPr lang="vi-VN" smtClean="0"/>
              <a:t>đổ</a:t>
            </a:r>
            <a:r>
              <a:rPr lang="en-US" smtClean="0"/>
              <a:t>i sau khi kết thúc hàm)</a:t>
            </a:r>
          </a:p>
          <a:p>
            <a:pPr lvl="2">
              <a:defRPr/>
            </a:pPr>
            <a:r>
              <a:rPr lang="en-US" smtClean="0"/>
              <a:t>Tham chiếu</a:t>
            </a:r>
          </a:p>
          <a:p>
            <a:pPr lvl="2">
              <a:defRPr/>
            </a:pPr>
            <a:r>
              <a:rPr lang="en-US" smtClean="0"/>
              <a:t>Con trỏ</a:t>
            </a:r>
          </a:p>
          <a:p>
            <a:pPr lvl="1">
              <a:defRPr/>
            </a:pPr>
            <a:r>
              <a:rPr lang="en-US" smtClean="0"/>
              <a:t>Ví dụ</a:t>
            </a:r>
          </a:p>
        </p:txBody>
      </p:sp>
      <p:sp>
        <p:nvSpPr>
          <p:cNvPr id="3686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Cấu trúc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379913"/>
            <a:ext cx="152400" cy="217328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4379913"/>
            <a:ext cx="7010400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struct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DIEM 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x, y;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xuat1(int x, int y) { … };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xuat2(DIEM diem) { … };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xuat3(DIEM &amp;diem) { … };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xuat4(DIEM *diem) { … };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Hợp nhất – union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Khái niệm</a:t>
            </a:r>
          </a:p>
          <a:p>
            <a:pPr lvl="1">
              <a:defRPr/>
            </a:pPr>
            <a:r>
              <a:rPr lang="en-US" smtClean="0"/>
              <a:t>Đ</a:t>
            </a:r>
            <a:r>
              <a:rPr lang="vi-VN" smtClean="0"/>
              <a:t>ượ</a:t>
            </a:r>
            <a:r>
              <a:rPr lang="en-US" smtClean="0"/>
              <a:t>c khai báo và sử dụng nh</a:t>
            </a:r>
            <a:r>
              <a:rPr lang="vi-VN" smtClean="0"/>
              <a:t>ư</a:t>
            </a:r>
            <a:r>
              <a:rPr lang="en-US" smtClean="0"/>
              <a:t> cấu trúc</a:t>
            </a:r>
          </a:p>
          <a:p>
            <a:pPr lvl="1">
              <a:defRPr/>
            </a:pPr>
            <a:r>
              <a:rPr lang="en-US" smtClean="0">
                <a:solidFill>
                  <a:srgbClr val="FF0000"/>
                </a:solidFill>
              </a:rPr>
              <a:t>Các thành phần của union có chung </a:t>
            </a:r>
            <a:r>
              <a:rPr lang="vi-VN" smtClean="0">
                <a:solidFill>
                  <a:srgbClr val="FF0000"/>
                </a:solidFill>
              </a:rPr>
              <a:t>đị</a:t>
            </a:r>
            <a:r>
              <a:rPr lang="en-US" smtClean="0">
                <a:solidFill>
                  <a:srgbClr val="FF0000"/>
                </a:solidFill>
              </a:rPr>
              <a:t>a chỉ </a:t>
            </a:r>
            <a:r>
              <a:rPr lang="vi-VN" smtClean="0">
                <a:solidFill>
                  <a:srgbClr val="FF0000"/>
                </a:solidFill>
              </a:rPr>
              <a:t>đầ</a:t>
            </a:r>
            <a:r>
              <a:rPr lang="en-US" smtClean="0">
                <a:solidFill>
                  <a:srgbClr val="FF0000"/>
                </a:solidFill>
              </a:rPr>
              <a:t>u (nằm chồng lên nhau trong bộ nhớ)</a:t>
            </a:r>
          </a:p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Khai báo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89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Cấu trúc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081463"/>
            <a:ext cx="152400" cy="1905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4081463"/>
            <a:ext cx="7315200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union &lt;tên kiểu union&gt;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&lt;kiểu dữ liệu&gt; &lt;tên thành phần 1&gt;;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…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&lt;kiểu dữ liệu&gt; &lt;tên thành phần 2&gt;;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AutoShape 6"/>
          <p:cNvSpPr>
            <a:spLocks noChangeArrowheads="1"/>
          </p:cNvSpPr>
          <p:nvPr/>
        </p:nvSpPr>
        <p:spPr bwMode="gray">
          <a:xfrm>
            <a:off x="6858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3" name="AutoShape 6"/>
          <p:cNvSpPr>
            <a:spLocks noChangeArrowheads="1"/>
          </p:cNvSpPr>
          <p:nvPr/>
        </p:nvSpPr>
        <p:spPr bwMode="gray">
          <a:xfrm>
            <a:off x="11430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4" name="AutoShape 6"/>
          <p:cNvSpPr>
            <a:spLocks noChangeArrowheads="1"/>
          </p:cNvSpPr>
          <p:nvPr/>
        </p:nvSpPr>
        <p:spPr bwMode="gray">
          <a:xfrm>
            <a:off x="16002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5" name="AutoShape 6"/>
          <p:cNvSpPr>
            <a:spLocks noChangeArrowheads="1"/>
          </p:cNvSpPr>
          <p:nvPr/>
        </p:nvSpPr>
        <p:spPr bwMode="gray">
          <a:xfrm>
            <a:off x="20574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6" name="AutoShape 6"/>
          <p:cNvSpPr>
            <a:spLocks noChangeArrowheads="1"/>
          </p:cNvSpPr>
          <p:nvPr/>
        </p:nvSpPr>
        <p:spPr bwMode="gray">
          <a:xfrm>
            <a:off x="25146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7" name="AutoShape 6"/>
          <p:cNvSpPr>
            <a:spLocks noChangeArrowheads="1"/>
          </p:cNvSpPr>
          <p:nvPr/>
        </p:nvSpPr>
        <p:spPr bwMode="gray">
          <a:xfrm>
            <a:off x="2971800" y="48768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48" name="AutoShape 6"/>
          <p:cNvSpPr>
            <a:spLocks noChangeArrowheads="1"/>
          </p:cNvSpPr>
          <p:nvPr/>
        </p:nvSpPr>
        <p:spPr bwMode="gray">
          <a:xfrm>
            <a:off x="34290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49" name="AutoShape 6"/>
          <p:cNvSpPr>
            <a:spLocks noChangeArrowheads="1"/>
          </p:cNvSpPr>
          <p:nvPr/>
        </p:nvSpPr>
        <p:spPr bwMode="gray">
          <a:xfrm>
            <a:off x="6858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</a:t>
            </a:r>
            <a:endParaRPr lang="en-US" sz="2400" baseline="30000"/>
          </a:p>
        </p:txBody>
      </p:sp>
      <p:sp>
        <p:nvSpPr>
          <p:cNvPr id="50" name="AutoShape 6"/>
          <p:cNvSpPr>
            <a:spLocks noChangeArrowheads="1"/>
          </p:cNvSpPr>
          <p:nvPr/>
        </p:nvSpPr>
        <p:spPr bwMode="gray">
          <a:xfrm>
            <a:off x="11430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1</a:t>
            </a:r>
            <a:endParaRPr lang="en-US" sz="2400" baseline="30000"/>
          </a:p>
        </p:txBody>
      </p:sp>
      <p:sp>
        <p:nvSpPr>
          <p:cNvPr id="51" name="AutoShape 6"/>
          <p:cNvSpPr>
            <a:spLocks noChangeArrowheads="1"/>
          </p:cNvSpPr>
          <p:nvPr/>
        </p:nvSpPr>
        <p:spPr bwMode="gray">
          <a:xfrm>
            <a:off x="16002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2</a:t>
            </a:r>
            <a:endParaRPr lang="en-US" sz="2400" baseline="30000"/>
          </a:p>
        </p:txBody>
      </p:sp>
      <p:sp>
        <p:nvSpPr>
          <p:cNvPr id="52" name="AutoShape 6"/>
          <p:cNvSpPr>
            <a:spLocks noChangeArrowheads="1"/>
          </p:cNvSpPr>
          <p:nvPr/>
        </p:nvSpPr>
        <p:spPr bwMode="gray">
          <a:xfrm>
            <a:off x="20574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3</a:t>
            </a:r>
            <a:endParaRPr lang="en-US" sz="2400" baseline="30000"/>
          </a:p>
        </p:txBody>
      </p:sp>
      <p:sp>
        <p:nvSpPr>
          <p:cNvPr id="53" name="AutoShape 6"/>
          <p:cNvSpPr>
            <a:spLocks noChangeArrowheads="1"/>
          </p:cNvSpPr>
          <p:nvPr/>
        </p:nvSpPr>
        <p:spPr bwMode="gray">
          <a:xfrm>
            <a:off x="25146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4</a:t>
            </a:r>
            <a:endParaRPr lang="en-US" sz="2400" baseline="30000"/>
          </a:p>
        </p:txBody>
      </p:sp>
      <p:sp>
        <p:nvSpPr>
          <p:cNvPr id="54" name="AutoShape 6"/>
          <p:cNvSpPr>
            <a:spLocks noChangeArrowheads="1"/>
          </p:cNvSpPr>
          <p:nvPr/>
        </p:nvSpPr>
        <p:spPr bwMode="gray">
          <a:xfrm>
            <a:off x="34290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  <a:endParaRPr lang="en-US" sz="2400" baseline="30000"/>
          </a:p>
        </p:txBody>
      </p:sp>
      <p:sp>
        <p:nvSpPr>
          <p:cNvPr id="55" name="AutoShape 6"/>
          <p:cNvSpPr>
            <a:spLocks noChangeArrowheads="1"/>
          </p:cNvSpPr>
          <p:nvPr/>
        </p:nvSpPr>
        <p:spPr bwMode="gray">
          <a:xfrm>
            <a:off x="29718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  <a:endParaRPr lang="en-US" sz="2400" baseline="30000"/>
          </a:p>
        </p:txBody>
      </p:sp>
      <p:sp>
        <p:nvSpPr>
          <p:cNvPr id="3892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 sánh struct và union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893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Cấu trúc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152400" cy="2133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2057400"/>
            <a:ext cx="35814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struct MYSTRUCT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char c;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n;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 s;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s.c = 1; s.n = 2;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9600" y="2057400"/>
            <a:ext cx="152400" cy="2133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572000" y="2057400"/>
            <a:ext cx="35814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union MYUNION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char c;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n;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 u;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u.c = 1; u.n = 2; </a:t>
            </a: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gray">
          <a:xfrm>
            <a:off x="6858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01</a:t>
            </a:r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gray">
          <a:xfrm>
            <a:off x="11430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02</a:t>
            </a:r>
          </a:p>
        </p:txBody>
      </p:sp>
      <p:sp>
        <p:nvSpPr>
          <p:cNvPr id="11" name="AutoShape 6"/>
          <p:cNvSpPr>
            <a:spLocks noChangeArrowheads="1"/>
          </p:cNvSpPr>
          <p:nvPr/>
        </p:nvSpPr>
        <p:spPr bwMode="gray">
          <a:xfrm>
            <a:off x="16002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20574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13" name="AutoShape 6"/>
          <p:cNvSpPr>
            <a:spLocks noChangeArrowheads="1"/>
          </p:cNvSpPr>
          <p:nvPr/>
        </p:nvSpPr>
        <p:spPr bwMode="gray">
          <a:xfrm>
            <a:off x="25146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gray">
          <a:xfrm>
            <a:off x="685800" y="5410200"/>
            <a:ext cx="457200" cy="4572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c</a:t>
            </a:r>
            <a:endParaRPr lang="en-US" sz="2400" baseline="30000"/>
          </a:p>
        </p:txBody>
      </p:sp>
      <p:sp>
        <p:nvSpPr>
          <p:cNvPr id="15" name="AutoShape 6"/>
          <p:cNvSpPr>
            <a:spLocks noChangeArrowheads="1"/>
          </p:cNvSpPr>
          <p:nvPr/>
        </p:nvSpPr>
        <p:spPr bwMode="gray">
          <a:xfrm>
            <a:off x="1143000" y="5410200"/>
            <a:ext cx="1828800" cy="4572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n</a:t>
            </a:r>
            <a:endParaRPr lang="en-US" sz="2400" baseline="30000"/>
          </a:p>
        </p:txBody>
      </p:sp>
      <p:sp>
        <p:nvSpPr>
          <p:cNvPr id="19" name="AutoShape 6"/>
          <p:cNvSpPr>
            <a:spLocks noChangeArrowheads="1"/>
          </p:cNvSpPr>
          <p:nvPr/>
        </p:nvSpPr>
        <p:spPr bwMode="gray">
          <a:xfrm>
            <a:off x="44196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0" name="AutoShape 6"/>
          <p:cNvSpPr>
            <a:spLocks noChangeArrowheads="1"/>
          </p:cNvSpPr>
          <p:nvPr/>
        </p:nvSpPr>
        <p:spPr bwMode="gray">
          <a:xfrm>
            <a:off x="48768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gray">
          <a:xfrm>
            <a:off x="53340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2" name="AutoShape 6"/>
          <p:cNvSpPr>
            <a:spLocks noChangeArrowheads="1"/>
          </p:cNvSpPr>
          <p:nvPr/>
        </p:nvSpPr>
        <p:spPr bwMode="gray">
          <a:xfrm>
            <a:off x="57912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3" name="AutoShape 6"/>
          <p:cNvSpPr>
            <a:spLocks noChangeArrowheads="1"/>
          </p:cNvSpPr>
          <p:nvPr/>
        </p:nvSpPr>
        <p:spPr bwMode="gray">
          <a:xfrm>
            <a:off x="6248400" y="48768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24" name="AutoShape 6"/>
          <p:cNvSpPr>
            <a:spLocks noChangeArrowheads="1"/>
          </p:cNvSpPr>
          <p:nvPr/>
        </p:nvSpPr>
        <p:spPr bwMode="gray">
          <a:xfrm>
            <a:off x="4419600" y="5410200"/>
            <a:ext cx="457200" cy="4572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c</a:t>
            </a:r>
            <a:endParaRPr lang="en-US" sz="2400" baseline="30000"/>
          </a:p>
        </p:txBody>
      </p:sp>
      <p:sp>
        <p:nvSpPr>
          <p:cNvPr id="25" name="AutoShape 6"/>
          <p:cNvSpPr>
            <a:spLocks noChangeArrowheads="1"/>
          </p:cNvSpPr>
          <p:nvPr/>
        </p:nvSpPr>
        <p:spPr bwMode="gray">
          <a:xfrm>
            <a:off x="4419600" y="5943600"/>
            <a:ext cx="1828800" cy="4572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n</a:t>
            </a:r>
            <a:endParaRPr lang="en-US" sz="2400" baseline="30000"/>
          </a:p>
        </p:txBody>
      </p:sp>
      <p:sp>
        <p:nvSpPr>
          <p:cNvPr id="26" name="AutoShape 6"/>
          <p:cNvSpPr>
            <a:spLocks noChangeArrowheads="1"/>
          </p:cNvSpPr>
          <p:nvPr/>
        </p:nvSpPr>
        <p:spPr bwMode="gray">
          <a:xfrm>
            <a:off x="6705600" y="48768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gray">
          <a:xfrm>
            <a:off x="71628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35" name="AutoShape 6"/>
          <p:cNvSpPr>
            <a:spLocks noChangeArrowheads="1"/>
          </p:cNvSpPr>
          <p:nvPr/>
        </p:nvSpPr>
        <p:spPr bwMode="gray">
          <a:xfrm>
            <a:off x="44196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</a:t>
            </a:r>
            <a:endParaRPr lang="en-US" sz="2400" baseline="30000"/>
          </a:p>
        </p:txBody>
      </p:sp>
      <p:sp>
        <p:nvSpPr>
          <p:cNvPr id="36" name="AutoShape 6"/>
          <p:cNvSpPr>
            <a:spLocks noChangeArrowheads="1"/>
          </p:cNvSpPr>
          <p:nvPr/>
        </p:nvSpPr>
        <p:spPr bwMode="gray">
          <a:xfrm>
            <a:off x="48768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1</a:t>
            </a:r>
            <a:endParaRPr lang="en-US" sz="2400" baseline="30000"/>
          </a:p>
        </p:txBody>
      </p:sp>
      <p:sp>
        <p:nvSpPr>
          <p:cNvPr id="37" name="AutoShape 6"/>
          <p:cNvSpPr>
            <a:spLocks noChangeArrowheads="1"/>
          </p:cNvSpPr>
          <p:nvPr/>
        </p:nvSpPr>
        <p:spPr bwMode="gray">
          <a:xfrm>
            <a:off x="53340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2</a:t>
            </a:r>
            <a:endParaRPr lang="en-US" sz="2400" baseline="30000"/>
          </a:p>
        </p:txBody>
      </p:sp>
      <p:sp>
        <p:nvSpPr>
          <p:cNvPr id="38" name="AutoShape 6"/>
          <p:cNvSpPr>
            <a:spLocks noChangeArrowheads="1"/>
          </p:cNvSpPr>
          <p:nvPr/>
        </p:nvSpPr>
        <p:spPr bwMode="gray">
          <a:xfrm>
            <a:off x="57912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3</a:t>
            </a:r>
            <a:endParaRPr lang="en-US" sz="2400" baseline="30000"/>
          </a:p>
        </p:txBody>
      </p:sp>
      <p:sp>
        <p:nvSpPr>
          <p:cNvPr id="39" name="AutoShape 6"/>
          <p:cNvSpPr>
            <a:spLocks noChangeArrowheads="1"/>
          </p:cNvSpPr>
          <p:nvPr/>
        </p:nvSpPr>
        <p:spPr bwMode="gray">
          <a:xfrm>
            <a:off x="62484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  <a:endParaRPr lang="en-US" sz="2400" baseline="30000"/>
          </a:p>
        </p:txBody>
      </p:sp>
      <p:sp>
        <p:nvSpPr>
          <p:cNvPr id="40" name="AutoShape 6"/>
          <p:cNvSpPr>
            <a:spLocks noChangeArrowheads="1"/>
          </p:cNvSpPr>
          <p:nvPr/>
        </p:nvSpPr>
        <p:spPr bwMode="gray">
          <a:xfrm>
            <a:off x="71628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  <a:endParaRPr lang="en-US" sz="2400" baseline="30000"/>
          </a:p>
        </p:txBody>
      </p:sp>
      <p:sp>
        <p:nvSpPr>
          <p:cNvPr id="41" name="AutoShape 6"/>
          <p:cNvSpPr>
            <a:spLocks noChangeArrowheads="1"/>
          </p:cNvSpPr>
          <p:nvPr/>
        </p:nvSpPr>
        <p:spPr bwMode="gray">
          <a:xfrm>
            <a:off x="67056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  <a:endParaRPr lang="en-US" sz="2400" baseline="30000"/>
          </a:p>
        </p:txBody>
      </p:sp>
      <p:sp>
        <p:nvSpPr>
          <p:cNvPr id="60" name="AutoShape 6"/>
          <p:cNvSpPr>
            <a:spLocks noChangeArrowheads="1"/>
          </p:cNvSpPr>
          <p:nvPr/>
        </p:nvSpPr>
        <p:spPr bwMode="gray">
          <a:xfrm>
            <a:off x="44196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01</a:t>
            </a:r>
          </a:p>
        </p:txBody>
      </p:sp>
      <p:sp>
        <p:nvSpPr>
          <p:cNvPr id="56" name="AutoShape 6"/>
          <p:cNvSpPr>
            <a:spLocks noChangeArrowheads="1"/>
          </p:cNvSpPr>
          <p:nvPr/>
        </p:nvSpPr>
        <p:spPr bwMode="gray">
          <a:xfrm>
            <a:off x="44196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02</a:t>
            </a:r>
          </a:p>
        </p:txBody>
      </p:sp>
      <p:sp>
        <p:nvSpPr>
          <p:cNvPr id="57" name="AutoShape 6"/>
          <p:cNvSpPr>
            <a:spLocks noChangeArrowheads="1"/>
          </p:cNvSpPr>
          <p:nvPr/>
        </p:nvSpPr>
        <p:spPr bwMode="gray">
          <a:xfrm>
            <a:off x="48768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58" name="AutoShape 6"/>
          <p:cNvSpPr>
            <a:spLocks noChangeArrowheads="1"/>
          </p:cNvSpPr>
          <p:nvPr/>
        </p:nvSpPr>
        <p:spPr bwMode="gray">
          <a:xfrm>
            <a:off x="53340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59" name="AutoShape 6"/>
          <p:cNvSpPr>
            <a:spLocks noChangeArrowheads="1"/>
          </p:cNvSpPr>
          <p:nvPr/>
        </p:nvSpPr>
        <p:spPr bwMode="gray">
          <a:xfrm>
            <a:off x="57912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45" grpId="0" animBg="1"/>
      <p:bldP spid="46" grpId="0" animBg="1"/>
      <p:bldP spid="47" grpId="0"/>
      <p:bldP spid="48" grpId="0" animBg="1"/>
      <p:bldP spid="49" grpId="0"/>
      <p:bldP spid="50" grpId="0"/>
      <p:bldP spid="51" grpId="0"/>
      <p:bldP spid="52" grpId="0"/>
      <p:bldP spid="53" grpId="0"/>
      <p:bldP spid="54" grpId="0"/>
      <p:bldP spid="55" grpId="0"/>
      <p:bldP spid="5" grpId="0" animBg="1"/>
      <p:bldP spid="6" grpId="0"/>
      <p:bldP spid="7" grpId="0" animBg="1"/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 animBg="1"/>
      <p:bldP spid="20" grpId="0" animBg="1"/>
      <p:bldP spid="21" grpId="0" animBg="1"/>
      <p:bldP spid="22" grpId="0" animBg="1"/>
      <p:bldP spid="23" grpId="0"/>
      <p:bldP spid="24" grpId="0" animBg="1"/>
      <p:bldP spid="25" grpId="0" animBg="1"/>
      <p:bldP spid="26" grpId="0"/>
      <p:bldP spid="27" grpId="0" animBg="1"/>
      <p:bldP spid="35" grpId="0"/>
      <p:bldP spid="36" grpId="0"/>
      <p:bldP spid="37" grpId="0"/>
      <p:bldP spid="38" grpId="0"/>
      <p:bldP spid="39" grpId="0"/>
      <p:bldP spid="40" grpId="0"/>
      <p:bldP spid="41" grpId="0"/>
      <p:bldP spid="60" grpId="0" animBg="1"/>
      <p:bldP spid="56" grpId="0" animBg="1"/>
      <p:bldP spid="57" grpId="0" animBg="1"/>
      <p:bldP spid="58" grpId="0" animBg="1"/>
      <p:bldP spid="5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Ví dụ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struct trong union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994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Cấu trúc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20888"/>
            <a:ext cx="152400" cy="37703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942" name="TextBox 5"/>
          <p:cNvSpPr txBox="1">
            <a:spLocks noChangeArrowheads="1"/>
          </p:cNvSpPr>
          <p:nvPr/>
        </p:nvSpPr>
        <p:spPr bwMode="auto">
          <a:xfrm>
            <a:off x="838200" y="2020888"/>
            <a:ext cx="70104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union date_tag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char full_date[9];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struct part_date_tag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char month[2];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char break_value1;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char day[2];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char break_value2;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char year[2];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 date = {“29/12/82”};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Ví dụ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union trong struct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096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Cấu trúc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20888"/>
            <a:ext cx="152400" cy="31607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966" name="TextBox 5"/>
          <p:cNvSpPr txBox="1">
            <a:spLocks noChangeArrowheads="1"/>
          </p:cNvSpPr>
          <p:nvPr/>
        </p:nvSpPr>
        <p:spPr bwMode="auto">
          <a:xfrm>
            <a:off x="838200" y="2020888"/>
            <a:ext cx="7010400" cy="317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struct generic_tag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char type;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union share_tag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char c;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int i;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float f;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tập về cấu trúc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Phân số</a:t>
            </a:r>
          </a:p>
          <a:p>
            <a:pPr lvl="1">
              <a:defRPr/>
            </a:pPr>
            <a:r>
              <a:rPr lang="en-US" smtClean="0"/>
              <a:t>Khai báo kiểu dữ liệu phân số (PHANSO)</a:t>
            </a:r>
          </a:p>
          <a:p>
            <a:pPr lvl="1">
              <a:defRPr/>
            </a:pPr>
            <a:r>
              <a:rPr lang="en-US" smtClean="0"/>
              <a:t>Nhập/Xuất phân số</a:t>
            </a:r>
          </a:p>
          <a:p>
            <a:pPr lvl="1">
              <a:defRPr/>
            </a:pPr>
            <a:r>
              <a:rPr lang="en-US" smtClean="0"/>
              <a:t>Rút gọn phân số</a:t>
            </a:r>
          </a:p>
          <a:p>
            <a:pPr lvl="1">
              <a:defRPr/>
            </a:pPr>
            <a:r>
              <a:rPr lang="en-US" smtClean="0"/>
              <a:t>Tính tổng, hiệu, tích, th</a:t>
            </a:r>
            <a:r>
              <a:rPr lang="vi-VN" smtClean="0"/>
              <a:t>ươ</a:t>
            </a:r>
            <a:r>
              <a:rPr lang="en-US" smtClean="0"/>
              <a:t>ng hai phân số</a:t>
            </a:r>
          </a:p>
          <a:p>
            <a:pPr lvl="1">
              <a:defRPr/>
            </a:pPr>
            <a:r>
              <a:rPr lang="en-US" smtClean="0"/>
              <a:t>Kiểm tra phân số tối giản</a:t>
            </a:r>
          </a:p>
          <a:p>
            <a:pPr lvl="1">
              <a:defRPr/>
            </a:pPr>
            <a:r>
              <a:rPr lang="en-US" smtClean="0"/>
              <a:t>Quy </a:t>
            </a:r>
            <a:r>
              <a:rPr lang="vi-VN" smtClean="0"/>
              <a:t>đồ</a:t>
            </a:r>
            <a:r>
              <a:rPr lang="en-US" smtClean="0"/>
              <a:t>ng hai phân số</a:t>
            </a:r>
          </a:p>
          <a:p>
            <a:pPr lvl="1">
              <a:defRPr/>
            </a:pPr>
            <a:r>
              <a:rPr lang="en-US" smtClean="0"/>
              <a:t>Kiểm tra phân số âm hay d</a:t>
            </a:r>
            <a:r>
              <a:rPr lang="vi-VN" smtClean="0"/>
              <a:t>ươ</a:t>
            </a:r>
            <a:r>
              <a:rPr lang="en-US" smtClean="0"/>
              <a:t>ng</a:t>
            </a:r>
          </a:p>
          <a:p>
            <a:pPr lvl="1">
              <a:defRPr/>
            </a:pPr>
            <a:r>
              <a:rPr lang="en-US" smtClean="0"/>
              <a:t>So sánh hai phân số</a:t>
            </a:r>
          </a:p>
        </p:txBody>
      </p:sp>
      <p:sp>
        <p:nvSpPr>
          <p:cNvPr id="4198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Cấu trúc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tập về cấu trúc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Đ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ơ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 thức</a:t>
            </a:r>
          </a:p>
          <a:p>
            <a:pPr lvl="1">
              <a:defRPr/>
            </a:pPr>
            <a:r>
              <a:rPr lang="en-US" smtClean="0"/>
              <a:t>Khai báo kiểu dữ liệu </a:t>
            </a:r>
            <a:r>
              <a:rPr lang="vi-VN" smtClean="0"/>
              <a:t>đơ</a:t>
            </a:r>
            <a:r>
              <a:rPr lang="en-US" smtClean="0"/>
              <a:t>n thức (DONTHUC)</a:t>
            </a:r>
          </a:p>
          <a:p>
            <a:pPr lvl="1">
              <a:defRPr/>
            </a:pPr>
            <a:r>
              <a:rPr lang="en-US" smtClean="0"/>
              <a:t>Nhập/Xuất </a:t>
            </a:r>
            <a:r>
              <a:rPr lang="vi-VN" smtClean="0"/>
              <a:t>đơ</a:t>
            </a:r>
            <a:r>
              <a:rPr lang="en-US" smtClean="0"/>
              <a:t>n thức</a:t>
            </a:r>
          </a:p>
          <a:p>
            <a:pPr lvl="1">
              <a:defRPr/>
            </a:pPr>
            <a:r>
              <a:rPr lang="en-US" smtClean="0"/>
              <a:t>Tính tích, th</a:t>
            </a:r>
            <a:r>
              <a:rPr lang="vi-VN" smtClean="0"/>
              <a:t>ươ</a:t>
            </a:r>
            <a:r>
              <a:rPr lang="en-US" smtClean="0"/>
              <a:t>ng hai </a:t>
            </a:r>
            <a:r>
              <a:rPr lang="vi-VN" smtClean="0"/>
              <a:t>đơ</a:t>
            </a:r>
            <a:r>
              <a:rPr lang="en-US" smtClean="0"/>
              <a:t>n thức</a:t>
            </a:r>
          </a:p>
          <a:p>
            <a:pPr lvl="1">
              <a:defRPr/>
            </a:pPr>
            <a:r>
              <a:rPr lang="en-US" smtClean="0"/>
              <a:t>Tính </a:t>
            </a:r>
            <a:r>
              <a:rPr lang="vi-VN" smtClean="0"/>
              <a:t>đạ</a:t>
            </a:r>
            <a:r>
              <a:rPr lang="en-US" smtClean="0"/>
              <a:t>o hàm cấp 1 của </a:t>
            </a:r>
            <a:r>
              <a:rPr lang="vi-VN" smtClean="0"/>
              <a:t>đơ</a:t>
            </a:r>
            <a:r>
              <a:rPr lang="en-US" smtClean="0"/>
              <a:t>n thức</a:t>
            </a:r>
          </a:p>
          <a:p>
            <a:pPr lvl="1">
              <a:defRPr/>
            </a:pPr>
            <a:r>
              <a:rPr lang="en-US" smtClean="0"/>
              <a:t>Tính giá trị </a:t>
            </a:r>
            <a:r>
              <a:rPr lang="vi-VN" smtClean="0"/>
              <a:t>đơ</a:t>
            </a:r>
            <a:r>
              <a:rPr lang="en-US" smtClean="0"/>
              <a:t>n thức tại x = x</a:t>
            </a:r>
            <a:r>
              <a:rPr lang="en-US" baseline="-25000" smtClean="0"/>
              <a:t>0</a:t>
            </a:r>
          </a:p>
        </p:txBody>
      </p:sp>
      <p:sp>
        <p:nvSpPr>
          <p:cNvPr id="4301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Cấu trúc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tập về cấu trúc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Đa thức</a:t>
            </a:r>
          </a:p>
          <a:p>
            <a:pPr lvl="1">
              <a:defRPr/>
            </a:pPr>
            <a:r>
              <a:rPr lang="en-US" smtClean="0"/>
              <a:t>Khai báo kiểu dữ liệu </a:t>
            </a:r>
            <a:r>
              <a:rPr lang="vi-VN" smtClean="0"/>
              <a:t>đ</a:t>
            </a:r>
            <a:r>
              <a:rPr lang="en-US" smtClean="0"/>
              <a:t>a thức (DATHUC)</a:t>
            </a:r>
          </a:p>
          <a:p>
            <a:pPr lvl="1">
              <a:defRPr/>
            </a:pPr>
            <a:r>
              <a:rPr lang="en-US" smtClean="0"/>
              <a:t>Nhập/Xuất </a:t>
            </a:r>
            <a:r>
              <a:rPr lang="vi-VN" smtClean="0"/>
              <a:t>đ</a:t>
            </a:r>
            <a:r>
              <a:rPr lang="en-US" smtClean="0"/>
              <a:t>a thức</a:t>
            </a:r>
          </a:p>
          <a:p>
            <a:pPr lvl="1">
              <a:defRPr/>
            </a:pPr>
            <a:r>
              <a:rPr lang="en-US" smtClean="0"/>
              <a:t>Tính tổng, hiệu, tích, th</a:t>
            </a:r>
            <a:r>
              <a:rPr lang="vi-VN" smtClean="0"/>
              <a:t>ươ</a:t>
            </a:r>
            <a:r>
              <a:rPr lang="en-US" smtClean="0"/>
              <a:t>ng hai </a:t>
            </a:r>
            <a:r>
              <a:rPr lang="vi-VN" smtClean="0"/>
              <a:t>đơ</a:t>
            </a:r>
            <a:r>
              <a:rPr lang="en-US" smtClean="0"/>
              <a:t>n thức</a:t>
            </a:r>
          </a:p>
          <a:p>
            <a:pPr lvl="1">
              <a:defRPr/>
            </a:pPr>
            <a:r>
              <a:rPr lang="en-US" smtClean="0"/>
              <a:t>Tính </a:t>
            </a:r>
            <a:r>
              <a:rPr lang="vi-VN" smtClean="0"/>
              <a:t>đạ</a:t>
            </a:r>
            <a:r>
              <a:rPr lang="en-US" smtClean="0"/>
              <a:t>o hàm cấp 1 của </a:t>
            </a:r>
            <a:r>
              <a:rPr lang="vi-VN" smtClean="0"/>
              <a:t>đơ</a:t>
            </a:r>
            <a:r>
              <a:rPr lang="en-US" smtClean="0"/>
              <a:t>n thức</a:t>
            </a:r>
          </a:p>
          <a:p>
            <a:pPr lvl="1">
              <a:defRPr/>
            </a:pPr>
            <a:r>
              <a:rPr lang="en-US" smtClean="0"/>
              <a:t>Tính </a:t>
            </a:r>
            <a:r>
              <a:rPr lang="vi-VN" smtClean="0"/>
              <a:t>đạ</a:t>
            </a:r>
            <a:r>
              <a:rPr lang="en-US" smtClean="0"/>
              <a:t>o hàm cấp k của </a:t>
            </a:r>
            <a:r>
              <a:rPr lang="vi-VN" smtClean="0"/>
              <a:t>đơ</a:t>
            </a:r>
            <a:r>
              <a:rPr lang="en-US" smtClean="0"/>
              <a:t>n thức</a:t>
            </a:r>
          </a:p>
          <a:p>
            <a:pPr lvl="1">
              <a:defRPr/>
            </a:pPr>
            <a:r>
              <a:rPr lang="en-US" smtClean="0"/>
              <a:t>Tính giá trị </a:t>
            </a:r>
            <a:r>
              <a:rPr lang="vi-VN" smtClean="0"/>
              <a:t>đơ</a:t>
            </a:r>
            <a:r>
              <a:rPr lang="en-US" smtClean="0"/>
              <a:t>n thức tại x = x</a:t>
            </a:r>
            <a:r>
              <a:rPr lang="en-US" baseline="-25000" smtClean="0"/>
              <a:t>0</a:t>
            </a:r>
          </a:p>
        </p:txBody>
      </p:sp>
      <p:sp>
        <p:nvSpPr>
          <p:cNvPr id="4403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Cấu trúc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tập về cấu trúc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Điểm trong mặt phẳng Oxy</a:t>
            </a:r>
          </a:p>
          <a:p>
            <a:pPr lvl="1">
              <a:defRPr/>
            </a:pPr>
            <a:r>
              <a:rPr lang="en-US" smtClean="0"/>
              <a:t>Khai báo kiểu dữ liệu </a:t>
            </a:r>
            <a:r>
              <a:rPr lang="vi-VN" smtClean="0"/>
              <a:t>đ</a:t>
            </a:r>
            <a:r>
              <a:rPr lang="en-US" smtClean="0"/>
              <a:t>iểm (DIEM)</a:t>
            </a:r>
          </a:p>
          <a:p>
            <a:pPr lvl="1">
              <a:defRPr/>
            </a:pPr>
            <a:r>
              <a:rPr lang="en-US" smtClean="0"/>
              <a:t>Nhập/Xuất tọa </a:t>
            </a:r>
            <a:r>
              <a:rPr lang="vi-VN" smtClean="0"/>
              <a:t>độ</a:t>
            </a:r>
            <a:r>
              <a:rPr lang="en-US" smtClean="0"/>
              <a:t> </a:t>
            </a:r>
            <a:r>
              <a:rPr lang="vi-VN" smtClean="0"/>
              <a:t>đ</a:t>
            </a:r>
            <a:r>
              <a:rPr lang="en-US" smtClean="0"/>
              <a:t>iểm</a:t>
            </a:r>
          </a:p>
          <a:p>
            <a:pPr lvl="1">
              <a:defRPr/>
            </a:pPr>
            <a:r>
              <a:rPr lang="en-US" smtClean="0"/>
              <a:t>Tính khoảng cách giữa hai </a:t>
            </a:r>
            <a:r>
              <a:rPr lang="vi-VN" smtClean="0"/>
              <a:t>đ</a:t>
            </a:r>
            <a:r>
              <a:rPr lang="en-US" smtClean="0"/>
              <a:t>iểm</a:t>
            </a:r>
          </a:p>
          <a:p>
            <a:pPr lvl="1">
              <a:defRPr/>
            </a:pPr>
            <a:r>
              <a:rPr lang="en-US" smtClean="0"/>
              <a:t>Tìm </a:t>
            </a:r>
            <a:r>
              <a:rPr lang="vi-VN" smtClean="0"/>
              <a:t>đ</a:t>
            </a:r>
            <a:r>
              <a:rPr lang="en-US" smtClean="0"/>
              <a:t>iểm </a:t>
            </a:r>
            <a:r>
              <a:rPr lang="vi-VN" smtClean="0"/>
              <a:t>đố</a:t>
            </a:r>
            <a:r>
              <a:rPr lang="en-US" smtClean="0"/>
              <a:t>i xứng qua gốc toạ </a:t>
            </a:r>
            <a:r>
              <a:rPr lang="vi-VN" smtClean="0"/>
              <a:t>độ</a:t>
            </a:r>
            <a:r>
              <a:rPr lang="en-US" smtClean="0"/>
              <a:t>/trục Ox/Oy</a:t>
            </a:r>
          </a:p>
          <a:p>
            <a:pPr lvl="1">
              <a:defRPr/>
            </a:pPr>
            <a:r>
              <a:rPr lang="en-US" smtClean="0"/>
              <a:t>Kiểm tra </a:t>
            </a:r>
            <a:r>
              <a:rPr lang="vi-VN" smtClean="0"/>
              <a:t>đ</a:t>
            </a:r>
            <a:r>
              <a:rPr lang="en-US" smtClean="0"/>
              <a:t>iểm thuộc phần t</a:t>
            </a:r>
            <a:r>
              <a:rPr lang="vi-VN" smtClean="0"/>
              <a:t>ư</a:t>
            </a:r>
            <a:r>
              <a:rPr lang="en-US" smtClean="0"/>
              <a:t> nào?</a:t>
            </a:r>
          </a:p>
          <a:p>
            <a:pPr marL="514350" indent="-514350">
              <a:buFont typeface="+mj-lt"/>
              <a:buAutoNum type="arabicPeriod" startAt="4"/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Tam giác</a:t>
            </a:r>
          </a:p>
          <a:p>
            <a:pPr lvl="1">
              <a:defRPr/>
            </a:pPr>
            <a:r>
              <a:rPr lang="en-US" smtClean="0"/>
              <a:t>Khai báo kiểu dữ lịêu tam giác (TAMGIAC)</a:t>
            </a:r>
          </a:p>
          <a:p>
            <a:pPr lvl="1">
              <a:defRPr/>
            </a:pPr>
            <a:r>
              <a:rPr lang="en-US" smtClean="0"/>
              <a:t>Nhập/Xuất tam giác</a:t>
            </a:r>
          </a:p>
          <a:p>
            <a:pPr lvl="1">
              <a:defRPr/>
            </a:pPr>
            <a:r>
              <a:rPr lang="en-US" smtClean="0"/>
              <a:t>Tính chu vi, diện tích tam giác</a:t>
            </a:r>
          </a:p>
        </p:txBody>
      </p:sp>
      <p:sp>
        <p:nvSpPr>
          <p:cNvPr id="4506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Cấu trúc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tập về cấu trúc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6"/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Ngày</a:t>
            </a:r>
          </a:p>
          <a:p>
            <a:pPr lvl="1">
              <a:defRPr/>
            </a:pPr>
            <a:r>
              <a:rPr lang="en-US" smtClean="0"/>
              <a:t>Khai báo kiểu dữ liệu ngày (NGAY)</a:t>
            </a:r>
          </a:p>
          <a:p>
            <a:pPr lvl="1">
              <a:defRPr/>
            </a:pPr>
            <a:r>
              <a:rPr lang="en-US" smtClean="0"/>
              <a:t>Nhập/Xuất ngày (ngày, tháng, n</a:t>
            </a:r>
            <a:r>
              <a:rPr lang="vi-VN" smtClean="0"/>
              <a:t>ă</a:t>
            </a:r>
            <a:r>
              <a:rPr lang="en-US" smtClean="0"/>
              <a:t>m)</a:t>
            </a:r>
          </a:p>
          <a:p>
            <a:pPr lvl="1">
              <a:defRPr/>
            </a:pPr>
            <a:r>
              <a:rPr lang="en-US" smtClean="0"/>
              <a:t>Kiểm tra n</a:t>
            </a:r>
            <a:r>
              <a:rPr lang="vi-VN" smtClean="0"/>
              <a:t>ă</a:t>
            </a:r>
            <a:r>
              <a:rPr lang="en-US" smtClean="0"/>
              <a:t>m nhuận</a:t>
            </a:r>
          </a:p>
          <a:p>
            <a:pPr lvl="1">
              <a:defRPr/>
            </a:pPr>
            <a:r>
              <a:rPr lang="en-US" smtClean="0"/>
              <a:t>Tính số thứ tự ngày trong n</a:t>
            </a:r>
            <a:r>
              <a:rPr lang="vi-VN" smtClean="0"/>
              <a:t>ă</a:t>
            </a:r>
            <a:r>
              <a:rPr lang="en-US" smtClean="0"/>
              <a:t>m</a:t>
            </a:r>
          </a:p>
          <a:p>
            <a:pPr lvl="1">
              <a:defRPr/>
            </a:pPr>
            <a:r>
              <a:rPr lang="en-US" smtClean="0"/>
              <a:t>Tính số thứ tự ngày kể từ ngày 1/1/1</a:t>
            </a:r>
          </a:p>
          <a:p>
            <a:pPr lvl="1">
              <a:defRPr/>
            </a:pPr>
            <a:r>
              <a:rPr lang="en-US" smtClean="0"/>
              <a:t>Tìm ngày tr</a:t>
            </a:r>
            <a:r>
              <a:rPr lang="vi-VN" smtClean="0"/>
              <a:t>ướ</a:t>
            </a:r>
            <a:r>
              <a:rPr lang="en-US" smtClean="0"/>
              <a:t>c </a:t>
            </a:r>
            <a:r>
              <a:rPr lang="vi-VN" smtClean="0"/>
              <a:t>đó</a:t>
            </a:r>
            <a:r>
              <a:rPr lang="en-US" smtClean="0"/>
              <a:t>, sau </a:t>
            </a:r>
            <a:r>
              <a:rPr lang="vi-VN" smtClean="0"/>
              <a:t>đó</a:t>
            </a:r>
            <a:r>
              <a:rPr lang="en-US" smtClean="0"/>
              <a:t> k ngày</a:t>
            </a:r>
          </a:p>
          <a:p>
            <a:pPr lvl="1">
              <a:defRPr/>
            </a:pPr>
            <a:r>
              <a:rPr lang="en-US" smtClean="0"/>
              <a:t>Tính khoảng cách giữa hai ngày</a:t>
            </a:r>
          </a:p>
          <a:p>
            <a:pPr lvl="1">
              <a:defRPr/>
            </a:pPr>
            <a:r>
              <a:rPr lang="en-US" smtClean="0"/>
              <a:t>So sánh hai ngày</a:t>
            </a:r>
          </a:p>
        </p:txBody>
      </p:sp>
      <p:sp>
        <p:nvSpPr>
          <p:cNvPr id="4608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Cấu trúc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tập về mảng cấu trúc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7"/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Mảng phân số</a:t>
            </a:r>
          </a:p>
          <a:p>
            <a:pPr lvl="1">
              <a:defRPr/>
            </a:pPr>
            <a:r>
              <a:rPr lang="en-US" smtClean="0"/>
              <a:t>Nhập/Xuất n phân số</a:t>
            </a:r>
          </a:p>
          <a:p>
            <a:pPr lvl="1">
              <a:defRPr/>
            </a:pPr>
            <a:r>
              <a:rPr lang="en-US" smtClean="0"/>
              <a:t>Rút gọn mọi phân số</a:t>
            </a:r>
          </a:p>
          <a:p>
            <a:pPr lvl="1">
              <a:defRPr/>
            </a:pPr>
            <a:r>
              <a:rPr lang="en-US" smtClean="0"/>
              <a:t>Đếm số l</a:t>
            </a:r>
            <a:r>
              <a:rPr lang="vi-VN" smtClean="0"/>
              <a:t>ượ</a:t>
            </a:r>
            <a:r>
              <a:rPr lang="en-US" smtClean="0"/>
              <a:t>ng phân số âm/d</a:t>
            </a:r>
            <a:r>
              <a:rPr lang="vi-VN" smtClean="0"/>
              <a:t>ươ</a:t>
            </a:r>
            <a:r>
              <a:rPr lang="en-US" smtClean="0"/>
              <a:t>ng trong mảng</a:t>
            </a:r>
          </a:p>
          <a:p>
            <a:pPr lvl="1">
              <a:defRPr/>
            </a:pPr>
            <a:r>
              <a:rPr lang="en-US" smtClean="0"/>
              <a:t>Tìm phân số d</a:t>
            </a:r>
            <a:r>
              <a:rPr lang="vi-VN" smtClean="0"/>
              <a:t>ươ</a:t>
            </a:r>
            <a:r>
              <a:rPr lang="en-US" smtClean="0"/>
              <a:t>ng </a:t>
            </a:r>
            <a:r>
              <a:rPr lang="vi-VN" smtClean="0"/>
              <a:t>đầ</a:t>
            </a:r>
            <a:r>
              <a:rPr lang="en-US" smtClean="0"/>
              <a:t>u tiên trong mảng</a:t>
            </a:r>
          </a:p>
          <a:p>
            <a:pPr lvl="1">
              <a:defRPr/>
            </a:pPr>
            <a:r>
              <a:rPr lang="en-US" smtClean="0"/>
              <a:t>Tìm phân số nhỏ nhất/lớn nhất trong mảng</a:t>
            </a:r>
          </a:p>
          <a:p>
            <a:pPr lvl="1">
              <a:defRPr/>
            </a:pPr>
            <a:r>
              <a:rPr lang="en-US" smtClean="0"/>
              <a:t>Sắp xếp mảng t</a:t>
            </a:r>
            <a:r>
              <a:rPr lang="vi-VN" smtClean="0"/>
              <a:t>ă</a:t>
            </a:r>
            <a:r>
              <a:rPr lang="en-US" smtClean="0"/>
              <a:t>ng dần/giảm dần</a:t>
            </a:r>
          </a:p>
        </p:txBody>
      </p:sp>
      <p:sp>
        <p:nvSpPr>
          <p:cNvPr id="4710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Cấu trúc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tập về mảng cấu trúc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8"/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Mảng 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đ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iểm</a:t>
            </a:r>
          </a:p>
          <a:p>
            <a:pPr lvl="1">
              <a:defRPr/>
            </a:pPr>
            <a:r>
              <a:rPr lang="en-US" smtClean="0"/>
              <a:t>Nhập/Xuất n </a:t>
            </a:r>
            <a:r>
              <a:rPr lang="vi-VN" smtClean="0"/>
              <a:t>đ</a:t>
            </a:r>
            <a:r>
              <a:rPr lang="en-US" smtClean="0"/>
              <a:t>iểm</a:t>
            </a:r>
          </a:p>
          <a:p>
            <a:pPr lvl="1">
              <a:defRPr/>
            </a:pPr>
            <a:r>
              <a:rPr lang="en-US" smtClean="0"/>
              <a:t>Đếm số l</a:t>
            </a:r>
            <a:r>
              <a:rPr lang="vi-VN" smtClean="0"/>
              <a:t>ượ</a:t>
            </a:r>
            <a:r>
              <a:rPr lang="en-US" smtClean="0"/>
              <a:t>ng </a:t>
            </a:r>
            <a:r>
              <a:rPr lang="vi-VN" smtClean="0"/>
              <a:t>đ</a:t>
            </a:r>
            <a:r>
              <a:rPr lang="en-US" smtClean="0"/>
              <a:t>iểm có hoành </a:t>
            </a:r>
            <a:r>
              <a:rPr lang="vi-VN" smtClean="0"/>
              <a:t>độ</a:t>
            </a:r>
            <a:r>
              <a:rPr lang="en-US" smtClean="0"/>
              <a:t> d</a:t>
            </a:r>
            <a:r>
              <a:rPr lang="vi-VN" smtClean="0"/>
              <a:t>ươ</a:t>
            </a:r>
            <a:r>
              <a:rPr lang="en-US" smtClean="0"/>
              <a:t>ng</a:t>
            </a:r>
          </a:p>
          <a:p>
            <a:pPr lvl="1">
              <a:defRPr/>
            </a:pPr>
            <a:r>
              <a:rPr lang="en-US" smtClean="0"/>
              <a:t>Đếm số l</a:t>
            </a:r>
            <a:r>
              <a:rPr lang="vi-VN" smtClean="0"/>
              <a:t>ượ</a:t>
            </a:r>
            <a:r>
              <a:rPr lang="en-US" smtClean="0"/>
              <a:t>ng </a:t>
            </a:r>
            <a:r>
              <a:rPr lang="vi-VN" smtClean="0"/>
              <a:t>đ</a:t>
            </a:r>
            <a:r>
              <a:rPr lang="en-US" smtClean="0"/>
              <a:t>iểm không trùng với các </a:t>
            </a:r>
            <a:r>
              <a:rPr lang="vi-VN" smtClean="0"/>
              <a:t>đ</a:t>
            </a:r>
            <a:r>
              <a:rPr lang="en-US" smtClean="0"/>
              <a:t>iểm khác trong mảng</a:t>
            </a:r>
          </a:p>
          <a:p>
            <a:pPr lvl="1">
              <a:defRPr/>
            </a:pPr>
            <a:r>
              <a:rPr lang="en-US" smtClean="0"/>
              <a:t>Tìm </a:t>
            </a:r>
            <a:r>
              <a:rPr lang="vi-VN" smtClean="0"/>
              <a:t>đ</a:t>
            </a:r>
            <a:r>
              <a:rPr lang="en-US" smtClean="0"/>
              <a:t>iểm có hoành </a:t>
            </a:r>
            <a:r>
              <a:rPr lang="vi-VN" smtClean="0"/>
              <a:t>độ</a:t>
            </a:r>
            <a:r>
              <a:rPr lang="en-US" smtClean="0"/>
              <a:t> lớn nhất/nhỏ nhất</a:t>
            </a:r>
          </a:p>
          <a:p>
            <a:pPr lvl="1">
              <a:defRPr/>
            </a:pPr>
            <a:r>
              <a:rPr lang="en-US" smtClean="0"/>
              <a:t>Tìm </a:t>
            </a:r>
            <a:r>
              <a:rPr lang="vi-VN" smtClean="0"/>
              <a:t>đ</a:t>
            </a:r>
            <a:r>
              <a:rPr lang="en-US" smtClean="0"/>
              <a:t>iểm gần gốc tọa </a:t>
            </a:r>
            <a:r>
              <a:rPr lang="vi-VN" smtClean="0"/>
              <a:t>độ</a:t>
            </a:r>
            <a:r>
              <a:rPr lang="en-US" smtClean="0"/>
              <a:t> nhất</a:t>
            </a:r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Cấu trúc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NHẬP MÔN LẬP TRÌNH&amp;quot;&quot;/&gt;&lt;property id=&quot;20307&quot; value=&quot;256&quot;/&gt;&lt;/object&gt;&lt;object type=&quot;3&quot; unique_id=&quot;10005&quot;&gt;&lt;property id=&quot;20148&quot; value=&quot;5&quot;/&gt;&lt;property id=&quot;20300&quot; value=&quot;Slide 2 - &amp;quot;Giới thiệu chung&amp;quot;&quot;/&gt;&lt;property id=&quot;20307&quot; value=&quot;259&quot;/&gt;&lt;/object&gt;&lt;object type=&quot;3&quot; unique_id=&quot;10006&quot;&gt;&lt;property id=&quot;20148&quot; value=&quot;5&quot;/&gt;&lt;property id=&quot;20300&quot; value=&quot;Slide 3 - &amp;quot;Nội dung môn học&amp;quot;&quot;/&gt;&lt;property id=&quot;20307&quot; value=&quot;260&quot;/&gt;&lt;/object&gt;&lt;object type=&quot;3&quot; unique_id=&quot;10037&quot;&gt;&lt;property id=&quot;20148&quot; value=&quot;5&quot;/&gt;&lt;property id=&quot;20300&quot; value=&quot;Slide 4 - &amp;quot;Nội dung môn học&amp;quot;&quot;/&gt;&lt;property id=&quot;20307&quot; value=&quot;263&quot;/&gt;&lt;/object&gt;&lt;object type=&quot;3&quot; unique_id=&quot;10088&quot;&gt;&lt;property id=&quot;20148&quot; value=&quot;5&quot;/&gt;&lt;property id=&quot;20300&quot; value=&quot;Slide 5 - &amp;quot;Nội dung môn học&amp;quot;&quot;/&gt;&lt;property id=&quot;20307&quot; value=&quot;264&quot;/&gt;&lt;/object&gt;&lt;object type=&quot;3&quot; unique_id=&quot;10089&quot;&gt;&lt;property id=&quot;20148&quot; value=&quot;5&quot;/&gt;&lt;property id=&quot;20300&quot; value=&quot;Slide 6 - &amp;quot;Nội dung môn học&amp;quot;&quot;/&gt;&lt;property id=&quot;20307&quot; value=&quot;266&quot;/&gt;&lt;/object&gt;&lt;object type=&quot;3&quot; unique_id=&quot;10090&quot;&gt;&lt;property id=&quot;20148&quot; value=&quot;5&quot;/&gt;&lt;property id=&quot;20300&quot; value=&quot;Slide 7 - &amp;quot;Nội dung môn học&amp;quot;&quot;/&gt;&lt;property id=&quot;20307&quot; value=&quot;265&quot;/&gt;&lt;/object&gt;&lt;object type=&quot;3&quot; unique_id=&quot;10091&quot;&gt;&lt;property id=&quot;20148&quot; value=&quot;5&quot;/&gt;&lt;property id=&quot;20300&quot; value=&quot;Slide 8 - &amp;quot;Nội dung môn học&amp;quot;&quot;/&gt;&lt;property id=&quot;20307&quot; value=&quot;26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VCBB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48806B"/>
        </a:dk1>
        <a:lt1>
          <a:srgbClr val="FFFFFF"/>
        </a:lt1>
        <a:dk2>
          <a:srgbClr val="77956D"/>
        </a:dk2>
        <a:lt2>
          <a:srgbClr val="C0C0C0"/>
        </a:lt2>
        <a:accent1>
          <a:srgbClr val="6BB9C3"/>
        </a:accent1>
        <a:accent2>
          <a:srgbClr val="E7BA15"/>
        </a:accent2>
        <a:accent3>
          <a:srgbClr val="FFFFFF"/>
        </a:accent3>
        <a:accent4>
          <a:srgbClr val="3C6C5A"/>
        </a:accent4>
        <a:accent5>
          <a:srgbClr val="BAD9DE"/>
        </a:accent5>
        <a:accent6>
          <a:srgbClr val="D1A812"/>
        </a:accent6>
        <a:hlink>
          <a:srgbClr val="76C14D"/>
        </a:hlink>
        <a:folHlink>
          <a:srgbClr val="B0C2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5F5F5F"/>
        </a:dk1>
        <a:lt1>
          <a:srgbClr val="FFFFFF"/>
        </a:lt1>
        <a:dk2>
          <a:srgbClr val="8D8D8D"/>
        </a:dk2>
        <a:lt2>
          <a:srgbClr val="C0C0C0"/>
        </a:lt2>
        <a:accent1>
          <a:srgbClr val="8EC072"/>
        </a:accent1>
        <a:accent2>
          <a:srgbClr val="5DB8CD"/>
        </a:accent2>
        <a:accent3>
          <a:srgbClr val="FFFFFF"/>
        </a:accent3>
        <a:accent4>
          <a:srgbClr val="505050"/>
        </a:accent4>
        <a:accent5>
          <a:srgbClr val="C6DCBC"/>
        </a:accent5>
        <a:accent6>
          <a:srgbClr val="53A6BA"/>
        </a:accent6>
        <a:hlink>
          <a:srgbClr val="D68B40"/>
        </a:hlink>
        <a:folHlink>
          <a:srgbClr val="D5D17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003366"/>
        </a:dk1>
        <a:lt1>
          <a:srgbClr val="FFFFFF"/>
        </a:lt1>
        <a:dk2>
          <a:srgbClr val="5086C2"/>
        </a:dk2>
        <a:lt2>
          <a:srgbClr val="C0C0C0"/>
        </a:lt2>
        <a:accent1>
          <a:srgbClr val="DE8848"/>
        </a:accent1>
        <a:accent2>
          <a:srgbClr val="85BA54"/>
        </a:accent2>
        <a:accent3>
          <a:srgbClr val="FFFFFF"/>
        </a:accent3>
        <a:accent4>
          <a:srgbClr val="002A56"/>
        </a:accent4>
        <a:accent5>
          <a:srgbClr val="ECC3B1"/>
        </a:accent5>
        <a:accent6>
          <a:srgbClr val="78A84B"/>
        </a:accent6>
        <a:hlink>
          <a:srgbClr val="4C59D2"/>
        </a:hlink>
        <a:folHlink>
          <a:srgbClr val="A0B5C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958</TotalTime>
  <Words>1460</Words>
  <Application>Microsoft Office PowerPoint</Application>
  <PresentationFormat>On-screen Show (4:3)</PresentationFormat>
  <Paragraphs>569</Paragraphs>
  <Slides>33</Slides>
  <Notes>31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VCBB</vt:lpstr>
      <vt:lpstr>PowerPoint Presentation</vt:lpstr>
      <vt:lpstr>Nội dung</vt:lpstr>
      <vt:lpstr>Đặt vấn đề</vt:lpstr>
      <vt:lpstr>Đặt vấn đề</vt:lpstr>
      <vt:lpstr>Đặt vấn đề</vt:lpstr>
      <vt:lpstr>Khai báo kiểu cấu trúc</vt:lpstr>
      <vt:lpstr>Khai báo biến cấu trúc</vt:lpstr>
      <vt:lpstr>Khai báo biến cấu trúc</vt:lpstr>
      <vt:lpstr>Sử dụng typedef</vt:lpstr>
      <vt:lpstr>Khởi tạo cho biến cấu trúc</vt:lpstr>
      <vt:lpstr>Truy xuất dữ liệu kiểu cấu trúc</vt:lpstr>
      <vt:lpstr>Gán dữ liệu kiểu cấu trúc</vt:lpstr>
      <vt:lpstr>Cấu trúc phức tạp</vt:lpstr>
      <vt:lpstr>Cấu trúc phức tạp</vt:lpstr>
      <vt:lpstr>Cấu trúc phức tạp</vt:lpstr>
      <vt:lpstr>Cấu trúc phức tạp</vt:lpstr>
      <vt:lpstr>Kích thước của struct</vt:lpstr>
      <vt:lpstr>Chỉ thị #pragma pack</vt:lpstr>
      <vt:lpstr>#pragma pack</vt:lpstr>
      <vt:lpstr>Các lưu ý về cấu trúc</vt:lpstr>
      <vt:lpstr>Mảng cấu trúc</vt:lpstr>
      <vt:lpstr>Truyền cấu trúc cho hàm</vt:lpstr>
      <vt:lpstr>Hợp nhất – union</vt:lpstr>
      <vt:lpstr>So sánh struct và union</vt:lpstr>
      <vt:lpstr>Ví dụ</vt:lpstr>
      <vt:lpstr>Ví dụ</vt:lpstr>
      <vt:lpstr>Bài tập về cấu trúc</vt:lpstr>
      <vt:lpstr>Bài tập về cấu trúc</vt:lpstr>
      <vt:lpstr>Bài tập về cấu trúc</vt:lpstr>
      <vt:lpstr>Bài tập về cấu trúc</vt:lpstr>
      <vt:lpstr>Bài tập về cấu trúc</vt:lpstr>
      <vt:lpstr>Bài tập về mảng cấu trúc</vt:lpstr>
      <vt:lpstr>Bài tập về mảng cấu trúc</vt:lpstr>
    </vt:vector>
  </TitlesOfParts>
  <Company>BABYDUCK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DANG BINH PHUONG</dc:creator>
  <cp:lastModifiedBy>LongHo</cp:lastModifiedBy>
  <cp:revision>287</cp:revision>
  <dcterms:created xsi:type="dcterms:W3CDTF">2007-09-05T08:24:33Z</dcterms:created>
  <dcterms:modified xsi:type="dcterms:W3CDTF">2016-01-07T10:44:12Z</dcterms:modified>
</cp:coreProperties>
</file>