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2" r:id="rId6"/>
    <p:sldId id="260" r:id="rId7"/>
    <p:sldId id="283" r:id="rId8"/>
    <p:sldId id="284" r:id="rId9"/>
    <p:sldId id="264" r:id="rId10"/>
    <p:sldId id="265" r:id="rId11"/>
    <p:sldId id="266" r:id="rId12"/>
    <p:sldId id="267" r:id="rId13"/>
    <p:sldId id="276" r:id="rId14"/>
    <p:sldId id="277" r:id="rId15"/>
    <p:sldId id="279" r:id="rId16"/>
    <p:sldId id="280" r:id="rId17"/>
    <p:sldId id="281" r:id="rId18"/>
    <p:sldId id="273" r:id="rId19"/>
    <p:sldId id="261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9/17/2015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6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1C88433-1A2B-4203-9778-7627DE2B11E5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6801E65-E908-4BB9-9AE8-56CE7406F83F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0D72C17-5440-4532-A7C0-D56A0D2C3143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95FBC9C-FBD8-4753-8B99-1AE829E75591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070A190-D312-4F91-9970-A05F21260946}" type="slidenum">
              <a:rPr lang="en-US" smtClean="0"/>
              <a:pPr eaLnBrk="1" hangingPunct="1"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A4EDFEF-1FC5-40E0-B1E8-8C38F72E13E8}" type="slidenum">
              <a:rPr lang="en-US" smtClean="0"/>
              <a:pPr eaLnBrk="1" hangingPunct="1">
                <a:defRPr/>
              </a:pPr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606BACF-CDCF-4BA9-96B7-5C98FDA29290}" type="slidenum">
              <a:rPr lang="en-US" smtClean="0"/>
              <a:pPr eaLnBrk="1" hangingPunct="1">
                <a:defRPr/>
              </a:pPr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6F0C197-B49E-4D97-AE89-D6F0A76F156F}" type="slidenum">
              <a:rPr lang="en-US" smtClean="0"/>
              <a:pPr eaLnBrk="1" hangingPunct="1"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D0539C6-3A3D-4408-A55C-C29DEE1DAF72}" type="slidenum">
              <a:rPr lang="en-US" smtClean="0"/>
              <a:pPr eaLnBrk="1" hangingPunct="1"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B4AD75A-B74E-4C0C-A781-3512F474C86E}" type="slidenum">
              <a:rPr lang="en-US" smtClean="0"/>
              <a:pPr eaLnBrk="1" hangingPunct="1"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F05360C-DDF3-481B-84DE-B53C128844AF}" type="slidenum">
              <a:rPr lang="en-US" smtClean="0"/>
              <a:pPr eaLnBrk="1" hangingPunct="1"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Buổi</a:t>
            </a:r>
            <a:r>
              <a:rPr lang="en-US" dirty="0" smtClean="0"/>
              <a:t> 02 –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– CĐR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Hiểu và áp dụng được một số phương pháp mô tả thuật toán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>
                <a:latin typeface="Calibri" pitchFamily="34" charset="0"/>
              </a:rPr>
              <a:t>Khái </a:t>
            </a:r>
            <a:r>
              <a:rPr lang="vi-VN" smtClean="0">
                <a:latin typeface="Calibri" pitchFamily="34" charset="0"/>
              </a:rPr>
              <a:t>niệm </a:t>
            </a:r>
            <a:r>
              <a:rPr lang="vi-VN" smtClean="0">
                <a:latin typeface="Calibri" pitchFamily="34" charset="0"/>
              </a:rPr>
              <a:t>về</a:t>
            </a:r>
            <a:r>
              <a:rPr lang="en-US">
                <a:latin typeface="Calibri" pitchFamily="34" charset="0"/>
              </a:rPr>
              <a:t> </a:t>
            </a:r>
            <a:r>
              <a:rPr lang="en-US" smtClean="0">
                <a:latin typeface="Calibri" pitchFamily="34" charset="0"/>
                <a:cs typeface="Arial" pitchFamily="34" charset="0"/>
              </a:rPr>
              <a:t>lập trình và </a:t>
            </a:r>
            <a:r>
              <a:rPr lang="vi-VN" smtClean="0">
                <a:latin typeface="Calibri" pitchFamily="34" charset="0"/>
              </a:rPr>
              <a:t>thuật </a:t>
            </a:r>
            <a:r>
              <a:rPr lang="vi-VN" dirty="0" smtClean="0">
                <a:latin typeface="Calibri" pitchFamily="34" charset="0"/>
              </a:rPr>
              <a:t>toán</a:t>
            </a:r>
          </a:p>
          <a:p>
            <a:r>
              <a:rPr lang="en-US">
                <a:latin typeface="Calibri" pitchFamily="34" charset="0"/>
              </a:rPr>
              <a:t>Các b</a:t>
            </a:r>
            <a:r>
              <a:rPr lang="vi-VN">
                <a:latin typeface="Calibri" pitchFamily="34" charset="0"/>
              </a:rPr>
              <a:t>ướ</a:t>
            </a:r>
            <a:r>
              <a:rPr lang="en-US">
                <a:latin typeface="Calibri" pitchFamily="34" charset="0"/>
              </a:rPr>
              <a:t>c xây dựng ch</a:t>
            </a:r>
            <a:r>
              <a:rPr lang="vi-VN">
                <a:latin typeface="Calibri" pitchFamily="34" charset="0"/>
              </a:rPr>
              <a:t>ươ</a:t>
            </a:r>
            <a:r>
              <a:rPr lang="en-US">
                <a:latin typeface="Calibri" pitchFamily="34" charset="0"/>
              </a:rPr>
              <a:t>ng </a:t>
            </a:r>
            <a:r>
              <a:rPr lang="en-US" smtClean="0">
                <a:latin typeface="Calibri" pitchFamily="34" charset="0"/>
              </a:rPr>
              <a:t>trình</a:t>
            </a:r>
          </a:p>
          <a:p>
            <a:r>
              <a:rPr lang="en-US">
                <a:solidFill>
                  <a:srgbClr val="000000"/>
                </a:solidFill>
                <a:latin typeface="Calibri" pitchFamily="34" charset="0"/>
              </a:rPr>
              <a:t>Biểu diễn thuật toán</a:t>
            </a:r>
          </a:p>
          <a:p>
            <a:r>
              <a:rPr lang="en-US" smtClean="0">
                <a:latin typeface="Calibri" pitchFamily="34" charset="0"/>
              </a:rPr>
              <a:t>Cài đặt thuật toán bằng ngôn ngữ lập trình</a:t>
            </a:r>
          </a:p>
          <a:p>
            <a:r>
              <a:rPr lang="vi-VN" smtClean="0">
                <a:latin typeface="Calibri" pitchFamily="34" charset="0"/>
              </a:rPr>
              <a:t>Độ </a:t>
            </a:r>
            <a:r>
              <a:rPr lang="vi-VN" dirty="0" smtClean="0">
                <a:latin typeface="Calibri" pitchFamily="34" charset="0"/>
              </a:rPr>
              <a:t>phức tạp </a:t>
            </a:r>
            <a:r>
              <a:rPr lang="vi-VN" smtClean="0">
                <a:latin typeface="Calibri" pitchFamily="34" charset="0"/>
              </a:rPr>
              <a:t>thuật </a:t>
            </a:r>
            <a:r>
              <a:rPr lang="vi-VN" smtClean="0">
                <a:latin typeface="Calibri" pitchFamily="34" charset="0"/>
              </a:rPr>
              <a:t>toán</a:t>
            </a:r>
            <a:endParaRPr lang="vi-VN" dirty="0" smtClean="0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err="1" smtClean="0"/>
              <a:t>niệm</a:t>
            </a:r>
            <a:r>
              <a:rPr lang="en-US" smtClean="0"/>
              <a:t> </a:t>
            </a:r>
            <a:r>
              <a:rPr lang="en-US" smtClean="0"/>
              <a:t>về lập trình và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Lập trình máy tính</a:t>
            </a:r>
          </a:p>
          <a:p>
            <a:pPr lvl="1">
              <a:defRPr/>
            </a:pPr>
            <a:r>
              <a:rPr lang="en-US"/>
              <a:t>Gọi tắt là </a:t>
            </a:r>
            <a:r>
              <a:rPr lang="en-US">
                <a:solidFill>
                  <a:srgbClr val="FF0000"/>
                </a:solidFill>
              </a:rPr>
              <a:t>lập trình</a:t>
            </a:r>
            <a:r>
              <a:rPr lang="en-US"/>
              <a:t> (programming).</a:t>
            </a:r>
          </a:p>
          <a:p>
            <a:pPr lvl="1">
              <a:defRPr/>
            </a:pPr>
            <a:r>
              <a:rPr lang="en-US"/>
              <a:t>Nghệ thuật </a:t>
            </a:r>
            <a:r>
              <a:rPr lang="en-US">
                <a:solidFill>
                  <a:srgbClr val="FF0000"/>
                </a:solidFill>
              </a:rPr>
              <a:t>cài </a:t>
            </a:r>
            <a:r>
              <a:rPr lang="vi-VN">
                <a:solidFill>
                  <a:srgbClr val="FF0000"/>
                </a:solidFill>
              </a:rPr>
              <a:t>đặ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/>
              <a:t> một hoặc nhiều </a:t>
            </a:r>
            <a:r>
              <a:rPr lang="en-US">
                <a:solidFill>
                  <a:srgbClr val="FF0000"/>
                </a:solidFill>
              </a:rPr>
              <a:t>thuật toán</a:t>
            </a:r>
            <a:r>
              <a:rPr lang="en-US"/>
              <a:t> trừu t</a:t>
            </a:r>
            <a:r>
              <a:rPr lang="vi-VN"/>
              <a:t>ượ</a:t>
            </a:r>
            <a:r>
              <a:rPr lang="en-US"/>
              <a:t>ng có liên quan với nhau bằng một </a:t>
            </a:r>
            <a:r>
              <a:rPr lang="en-US">
                <a:solidFill>
                  <a:srgbClr val="FF0000"/>
                </a:solidFill>
              </a:rPr>
              <a:t>ngôn ngữ lập trình</a:t>
            </a:r>
            <a:r>
              <a:rPr lang="en-US"/>
              <a:t> </a:t>
            </a:r>
            <a:r>
              <a:rPr lang="vi-VN"/>
              <a:t>để</a:t>
            </a:r>
            <a:r>
              <a:rPr lang="en-US"/>
              <a:t> tạo ra một </a:t>
            </a:r>
            <a:r>
              <a:rPr lang="en-US">
                <a:solidFill>
                  <a:srgbClr val="FF0000"/>
                </a:solidFill>
              </a:rPr>
              <a:t>ch</a:t>
            </a:r>
            <a:r>
              <a:rPr lang="vi-VN">
                <a:solidFill>
                  <a:srgbClr val="FF0000"/>
                </a:solidFill>
              </a:rPr>
              <a:t>ươ</a:t>
            </a:r>
            <a:r>
              <a:rPr lang="en-US">
                <a:solidFill>
                  <a:srgbClr val="FF0000"/>
                </a:solidFill>
              </a:rPr>
              <a:t>ng trình máy tính</a:t>
            </a:r>
            <a:r>
              <a:rPr lang="en-US"/>
              <a:t>.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Thuật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toán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- Algorithm</a:t>
            </a:r>
          </a:p>
          <a:p>
            <a:pPr lvl="1">
              <a:defRPr/>
            </a:pP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tập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hợp</a:t>
            </a:r>
            <a:r>
              <a:rPr lang="en-US" dirty="0" smtClean="0"/>
              <a:t> (</a:t>
            </a:r>
            <a:r>
              <a:rPr lang="en-US" dirty="0" err="1" smtClean="0"/>
              <a:t>dãy</a:t>
            </a:r>
            <a:r>
              <a:rPr lang="en-US" dirty="0" smtClean="0"/>
              <a:t>) </a:t>
            </a:r>
            <a:r>
              <a:rPr lang="en-US" dirty="0" err="1" smtClean="0">
                <a:solidFill>
                  <a:srgbClr val="FF0000"/>
                </a:solidFill>
              </a:rPr>
              <a:t>hữu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thị</a:t>
            </a:r>
            <a:r>
              <a:rPr lang="en-US" dirty="0" smtClean="0"/>
              <a:t> (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vi-VN" dirty="0" smtClean="0"/>
              <a:t>độ</a:t>
            </a:r>
            <a:r>
              <a:rPr lang="en-US" dirty="0" err="1" smtClean="0"/>
              <a:t>ng</a:t>
            </a:r>
            <a:r>
              <a:rPr lang="en-US" dirty="0" smtClean="0"/>
              <a:t>)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vi-VN" dirty="0" smtClean="0">
                <a:solidFill>
                  <a:srgbClr val="FF0000"/>
                </a:solidFill>
              </a:rPr>
              <a:t>đị</a:t>
            </a:r>
            <a:r>
              <a:rPr lang="en-US" dirty="0" err="1" smtClean="0">
                <a:solidFill>
                  <a:srgbClr val="FF0000"/>
                </a:solidFill>
              </a:rPr>
              <a:t>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nghĩa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rõ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ràng</a:t>
            </a:r>
            <a:r>
              <a:rPr lang="en-US" dirty="0" smtClean="0"/>
              <a:t> </a:t>
            </a:r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giải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quyết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một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bài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toán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cụ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vi-VN" dirty="0" smtClean="0"/>
              <a:t>đó</a:t>
            </a:r>
            <a:r>
              <a:rPr lang="en-US" dirty="0" smtClean="0"/>
              <a:t>.</a:t>
            </a:r>
            <a:endParaRPr lang="vi-V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err="1" smtClean="0"/>
              <a:t>niệm</a:t>
            </a:r>
            <a:r>
              <a:rPr lang="en-US" smtClean="0"/>
              <a:t> </a:t>
            </a:r>
            <a:r>
              <a:rPr lang="en-US" smtClean="0"/>
              <a:t>về lập trình và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>
              <a:defRPr/>
            </a:pPr>
            <a:r>
              <a:rPr lang="en-US"/>
              <a:t>Thuật toán giải PT bậc nhất: ax + b = 0</a:t>
            </a:r>
          </a:p>
          <a:p>
            <a:pPr lvl="1">
              <a:buNone/>
              <a:defRPr/>
            </a:pPr>
            <a:r>
              <a:rPr lang="en-US"/>
              <a:t>	(a, b là các số thực).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152400" cy="1676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962400"/>
            <a:ext cx="7010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Nếu a = 0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b = 0 thì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có nghiệm bất kì.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b ≠ 0 thì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vô nghiệm.</a:t>
            </a:r>
          </a:p>
          <a:p>
            <a:pPr eaLnBrk="1" hangingPunct="1">
              <a:buFont typeface="Arial" charset="0"/>
              <a:buChar char="•"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Nếu a ≠ 0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có nghiệm duy nhất x = -b/a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7162800" cy="70802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vào: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a, b thuộc R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ra: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nghiệm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ax + b = 0</a:t>
            </a:r>
          </a:p>
        </p:txBody>
      </p:sp>
    </p:spTree>
    <p:extLst>
      <p:ext uri="{BB962C8B-B14F-4D97-AF65-F5344CB8AC3E}">
        <p14:creationId xmlns:p14="http://schemas.microsoft.com/office/powerpoint/2010/main" val="54617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Bao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gồm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5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tính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chất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sau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xác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hay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rõ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ràng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minh </a:t>
            </a:r>
            <a:r>
              <a:rPr lang="en-US" dirty="0" err="1" smtClean="0"/>
              <a:t>bạch</a:t>
            </a:r>
            <a:r>
              <a:rPr lang="en-US" dirty="0" smtClean="0"/>
              <a:t>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vi-VN" dirty="0" smtClean="0"/>
              <a:t>đị</a:t>
            </a:r>
            <a:r>
              <a:rPr lang="en-US" dirty="0" err="1" smtClean="0"/>
              <a:t>nh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quan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ng</a:t>
            </a:r>
            <a:r>
              <a:rPr lang="vi-VN" dirty="0" smtClean="0"/>
              <a:t>ườ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nh</a:t>
            </a:r>
            <a:r>
              <a:rPr lang="vi-VN" dirty="0" smtClean="0"/>
              <a:t>ư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nh</a:t>
            </a:r>
            <a:r>
              <a:rPr lang="vi-VN" dirty="0" smtClean="0"/>
              <a:t>ư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phổ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dụng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vi-VN" dirty="0" smtClean="0"/>
              <a:t>đầ</a:t>
            </a:r>
            <a:r>
              <a:rPr lang="en-US" dirty="0" smtClean="0"/>
              <a:t>u </a:t>
            </a:r>
            <a:r>
              <a:rPr lang="en-US" dirty="0" err="1" smtClean="0"/>
              <a:t>vào</a:t>
            </a:r>
            <a:r>
              <a:rPr lang="en-US" dirty="0" smtClean="0"/>
              <a:t> t</a:t>
            </a:r>
            <a:r>
              <a:rPr lang="vi-VN" dirty="0" smtClean="0"/>
              <a:t>ươ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thúc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err="1" smtClean="0"/>
              <a:t>hữu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b</a:t>
            </a:r>
            <a:r>
              <a:rPr lang="vi-VN" dirty="0" smtClean="0"/>
              <a:t>ướ</a:t>
            </a:r>
            <a:r>
              <a:rPr lang="en-US" dirty="0" smtClean="0"/>
              <a:t>c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b</a:t>
            </a:r>
            <a:r>
              <a:rPr lang="vi-VN"/>
              <a:t>ướ</a:t>
            </a:r>
            <a:r>
              <a:rPr lang="en-US"/>
              <a:t>c xây dựng ch</a:t>
            </a:r>
            <a:r>
              <a:rPr lang="vi-VN"/>
              <a:t>ươ</a:t>
            </a:r>
            <a:r>
              <a:rPr lang="en-US"/>
              <a:t>ng trình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381000" y="14478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Xác 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đị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nh vấn 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đề</a:t>
            </a:r>
            <a:endParaRPr lang="en-US" sz="24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- bài toán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1295400" y="22860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Lựa chọn</a:t>
            </a: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ph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ươ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 pháp giải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3124200" y="39624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Cài 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đặ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</a:t>
            </a: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ươ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 trình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4038600" y="48006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Hiệu chỉnh</a:t>
            </a: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ươ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 trình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4953000" y="56388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Thực hiện</a:t>
            </a: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</a:t>
            </a:r>
            <a:r>
              <a:rPr lang="vi-VN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ươ</a:t>
            </a: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 trình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gray">
          <a:xfrm rot="16200000">
            <a:off x="3238550" y="1562145"/>
            <a:ext cx="685708" cy="762002"/>
          </a:xfrm>
          <a:custGeom>
            <a:avLst/>
            <a:gdLst>
              <a:gd name="T0" fmla="*/ 1654132314 w 580"/>
              <a:gd name="T1" fmla="*/ 0 h 798"/>
              <a:gd name="T2" fmla="*/ 1648427641 w 580"/>
              <a:gd name="T3" fmla="*/ 217809416 h 798"/>
              <a:gd name="T4" fmla="*/ 1619909341 w 580"/>
              <a:gd name="T5" fmla="*/ 421099761 h 798"/>
              <a:gd name="T6" fmla="*/ 1574277022 w 580"/>
              <a:gd name="T7" fmla="*/ 609867921 h 798"/>
              <a:gd name="T8" fmla="*/ 1500126403 w 580"/>
              <a:gd name="T9" fmla="*/ 784115455 h 798"/>
              <a:gd name="T10" fmla="*/ 1408865141 w 580"/>
              <a:gd name="T11" fmla="*/ 943842360 h 798"/>
              <a:gd name="T12" fmla="*/ 1289082203 w 580"/>
              <a:gd name="T13" fmla="*/ 1089050193 h 798"/>
              <a:gd name="T14" fmla="*/ 1146485638 w 580"/>
              <a:gd name="T15" fmla="*/ 1229416780 h 798"/>
              <a:gd name="T16" fmla="*/ 975367395 w 580"/>
              <a:gd name="T17" fmla="*/ 1355261183 h 798"/>
              <a:gd name="T18" fmla="*/ 770027869 w 580"/>
              <a:gd name="T19" fmla="*/ 1476267452 h 798"/>
              <a:gd name="T20" fmla="*/ 536166665 w 580"/>
              <a:gd name="T21" fmla="*/ 1587592783 h 798"/>
              <a:gd name="T22" fmla="*/ 536166665 w 580"/>
              <a:gd name="T23" fmla="*/ 1931248159 h 798"/>
              <a:gd name="T24" fmla="*/ 0 w 580"/>
              <a:gd name="T25" fmla="*/ 1243937408 h 798"/>
              <a:gd name="T26" fmla="*/ 536166665 w 580"/>
              <a:gd name="T27" fmla="*/ 556625101 h 798"/>
              <a:gd name="T28" fmla="*/ 536166665 w 580"/>
              <a:gd name="T29" fmla="*/ 900280477 h 798"/>
              <a:gd name="T30" fmla="*/ 638837273 w 580"/>
              <a:gd name="T31" fmla="*/ 890601095 h 798"/>
              <a:gd name="T32" fmla="*/ 752915538 w 580"/>
              <a:gd name="T33" fmla="*/ 861559840 h 798"/>
              <a:gd name="T34" fmla="*/ 872696788 w 580"/>
              <a:gd name="T35" fmla="*/ 813156710 h 798"/>
              <a:gd name="T36" fmla="*/ 992479726 w 580"/>
              <a:gd name="T37" fmla="*/ 750234508 h 798"/>
              <a:gd name="T38" fmla="*/ 1117965649 w 580"/>
              <a:gd name="T39" fmla="*/ 677631370 h 798"/>
              <a:gd name="T40" fmla="*/ 1232043914 w 580"/>
              <a:gd name="T41" fmla="*/ 595347294 h 798"/>
              <a:gd name="T42" fmla="*/ 1346122180 w 580"/>
              <a:gd name="T43" fmla="*/ 503382281 h 798"/>
              <a:gd name="T44" fmla="*/ 1443088114 w 580"/>
              <a:gd name="T45" fmla="*/ 401737886 h 798"/>
              <a:gd name="T46" fmla="*/ 1528646391 w 580"/>
              <a:gd name="T47" fmla="*/ 300093492 h 798"/>
              <a:gd name="T48" fmla="*/ 1591389353 w 580"/>
              <a:gd name="T49" fmla="*/ 198449098 h 798"/>
              <a:gd name="T50" fmla="*/ 1637019983 w 580"/>
              <a:gd name="T51" fmla="*/ 96804704 h 798"/>
              <a:gd name="T52" fmla="*/ 1648427641 w 580"/>
              <a:gd name="T53" fmla="*/ 0 h 798"/>
              <a:gd name="T54" fmla="*/ 1654132314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9"/>
          <p:cNvSpPr>
            <a:spLocks/>
          </p:cNvSpPr>
          <p:nvPr/>
        </p:nvSpPr>
        <p:spPr bwMode="gray">
          <a:xfrm rot="16200000">
            <a:off x="4953003" y="3124200"/>
            <a:ext cx="762000" cy="914400"/>
          </a:xfrm>
          <a:custGeom>
            <a:avLst/>
            <a:gdLst>
              <a:gd name="T0" fmla="*/ 1654132314 w 580"/>
              <a:gd name="T1" fmla="*/ 0 h 798"/>
              <a:gd name="T2" fmla="*/ 1648427641 w 580"/>
              <a:gd name="T3" fmla="*/ 217809416 h 798"/>
              <a:gd name="T4" fmla="*/ 1619909341 w 580"/>
              <a:gd name="T5" fmla="*/ 421099761 h 798"/>
              <a:gd name="T6" fmla="*/ 1574277022 w 580"/>
              <a:gd name="T7" fmla="*/ 609867921 h 798"/>
              <a:gd name="T8" fmla="*/ 1500126403 w 580"/>
              <a:gd name="T9" fmla="*/ 784115455 h 798"/>
              <a:gd name="T10" fmla="*/ 1408865141 w 580"/>
              <a:gd name="T11" fmla="*/ 943842360 h 798"/>
              <a:gd name="T12" fmla="*/ 1289082203 w 580"/>
              <a:gd name="T13" fmla="*/ 1089050193 h 798"/>
              <a:gd name="T14" fmla="*/ 1146485638 w 580"/>
              <a:gd name="T15" fmla="*/ 1229416780 h 798"/>
              <a:gd name="T16" fmla="*/ 975367395 w 580"/>
              <a:gd name="T17" fmla="*/ 1355261183 h 798"/>
              <a:gd name="T18" fmla="*/ 770027869 w 580"/>
              <a:gd name="T19" fmla="*/ 1476267452 h 798"/>
              <a:gd name="T20" fmla="*/ 536166665 w 580"/>
              <a:gd name="T21" fmla="*/ 1587592783 h 798"/>
              <a:gd name="T22" fmla="*/ 536166665 w 580"/>
              <a:gd name="T23" fmla="*/ 1931248159 h 798"/>
              <a:gd name="T24" fmla="*/ 0 w 580"/>
              <a:gd name="T25" fmla="*/ 1243937408 h 798"/>
              <a:gd name="T26" fmla="*/ 536166665 w 580"/>
              <a:gd name="T27" fmla="*/ 556625101 h 798"/>
              <a:gd name="T28" fmla="*/ 536166665 w 580"/>
              <a:gd name="T29" fmla="*/ 900280477 h 798"/>
              <a:gd name="T30" fmla="*/ 638837273 w 580"/>
              <a:gd name="T31" fmla="*/ 890601095 h 798"/>
              <a:gd name="T32" fmla="*/ 752915538 w 580"/>
              <a:gd name="T33" fmla="*/ 861559840 h 798"/>
              <a:gd name="T34" fmla="*/ 872696788 w 580"/>
              <a:gd name="T35" fmla="*/ 813156710 h 798"/>
              <a:gd name="T36" fmla="*/ 992479726 w 580"/>
              <a:gd name="T37" fmla="*/ 750234508 h 798"/>
              <a:gd name="T38" fmla="*/ 1117965649 w 580"/>
              <a:gd name="T39" fmla="*/ 677631370 h 798"/>
              <a:gd name="T40" fmla="*/ 1232043914 w 580"/>
              <a:gd name="T41" fmla="*/ 595347294 h 798"/>
              <a:gd name="T42" fmla="*/ 1346122180 w 580"/>
              <a:gd name="T43" fmla="*/ 503382281 h 798"/>
              <a:gd name="T44" fmla="*/ 1443088114 w 580"/>
              <a:gd name="T45" fmla="*/ 401737886 h 798"/>
              <a:gd name="T46" fmla="*/ 1528646391 w 580"/>
              <a:gd name="T47" fmla="*/ 300093492 h 798"/>
              <a:gd name="T48" fmla="*/ 1591389353 w 580"/>
              <a:gd name="T49" fmla="*/ 198449098 h 798"/>
              <a:gd name="T50" fmla="*/ 1637019983 w 580"/>
              <a:gd name="T51" fmla="*/ 96804704 h 798"/>
              <a:gd name="T52" fmla="*/ 1648427641 w 580"/>
              <a:gd name="T53" fmla="*/ 0 h 798"/>
              <a:gd name="T54" fmla="*/ 1654132314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9"/>
          <p:cNvSpPr>
            <a:spLocks/>
          </p:cNvSpPr>
          <p:nvPr/>
        </p:nvSpPr>
        <p:spPr bwMode="gray">
          <a:xfrm rot="16200000">
            <a:off x="5867403" y="3962400"/>
            <a:ext cx="762000" cy="914400"/>
          </a:xfrm>
          <a:custGeom>
            <a:avLst/>
            <a:gdLst>
              <a:gd name="T0" fmla="*/ 1654132314 w 580"/>
              <a:gd name="T1" fmla="*/ 0 h 798"/>
              <a:gd name="T2" fmla="*/ 1648427641 w 580"/>
              <a:gd name="T3" fmla="*/ 217809416 h 798"/>
              <a:gd name="T4" fmla="*/ 1619909341 w 580"/>
              <a:gd name="T5" fmla="*/ 421099761 h 798"/>
              <a:gd name="T6" fmla="*/ 1574277022 w 580"/>
              <a:gd name="T7" fmla="*/ 609867921 h 798"/>
              <a:gd name="T8" fmla="*/ 1500126403 w 580"/>
              <a:gd name="T9" fmla="*/ 784115455 h 798"/>
              <a:gd name="T10" fmla="*/ 1408865141 w 580"/>
              <a:gd name="T11" fmla="*/ 943842360 h 798"/>
              <a:gd name="T12" fmla="*/ 1289082203 w 580"/>
              <a:gd name="T13" fmla="*/ 1089050193 h 798"/>
              <a:gd name="T14" fmla="*/ 1146485638 w 580"/>
              <a:gd name="T15" fmla="*/ 1229416780 h 798"/>
              <a:gd name="T16" fmla="*/ 975367395 w 580"/>
              <a:gd name="T17" fmla="*/ 1355261183 h 798"/>
              <a:gd name="T18" fmla="*/ 770027869 w 580"/>
              <a:gd name="T19" fmla="*/ 1476267452 h 798"/>
              <a:gd name="T20" fmla="*/ 536166665 w 580"/>
              <a:gd name="T21" fmla="*/ 1587592783 h 798"/>
              <a:gd name="T22" fmla="*/ 536166665 w 580"/>
              <a:gd name="T23" fmla="*/ 1931248159 h 798"/>
              <a:gd name="T24" fmla="*/ 0 w 580"/>
              <a:gd name="T25" fmla="*/ 1243937408 h 798"/>
              <a:gd name="T26" fmla="*/ 536166665 w 580"/>
              <a:gd name="T27" fmla="*/ 556625101 h 798"/>
              <a:gd name="T28" fmla="*/ 536166665 w 580"/>
              <a:gd name="T29" fmla="*/ 900280477 h 798"/>
              <a:gd name="T30" fmla="*/ 638837273 w 580"/>
              <a:gd name="T31" fmla="*/ 890601095 h 798"/>
              <a:gd name="T32" fmla="*/ 752915538 w 580"/>
              <a:gd name="T33" fmla="*/ 861559840 h 798"/>
              <a:gd name="T34" fmla="*/ 872696788 w 580"/>
              <a:gd name="T35" fmla="*/ 813156710 h 798"/>
              <a:gd name="T36" fmla="*/ 992479726 w 580"/>
              <a:gd name="T37" fmla="*/ 750234508 h 798"/>
              <a:gd name="T38" fmla="*/ 1117965649 w 580"/>
              <a:gd name="T39" fmla="*/ 677631370 h 798"/>
              <a:gd name="T40" fmla="*/ 1232043914 w 580"/>
              <a:gd name="T41" fmla="*/ 595347294 h 798"/>
              <a:gd name="T42" fmla="*/ 1346122180 w 580"/>
              <a:gd name="T43" fmla="*/ 503382281 h 798"/>
              <a:gd name="T44" fmla="*/ 1443088114 w 580"/>
              <a:gd name="T45" fmla="*/ 401737886 h 798"/>
              <a:gd name="T46" fmla="*/ 1528646391 w 580"/>
              <a:gd name="T47" fmla="*/ 300093492 h 798"/>
              <a:gd name="T48" fmla="*/ 1591389353 w 580"/>
              <a:gd name="T49" fmla="*/ 198449098 h 798"/>
              <a:gd name="T50" fmla="*/ 1637019983 w 580"/>
              <a:gd name="T51" fmla="*/ 96804704 h 798"/>
              <a:gd name="T52" fmla="*/ 1648427641 w 580"/>
              <a:gd name="T53" fmla="*/ 0 h 798"/>
              <a:gd name="T54" fmla="*/ 1654132314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9"/>
          <p:cNvSpPr>
            <a:spLocks/>
          </p:cNvSpPr>
          <p:nvPr/>
        </p:nvSpPr>
        <p:spPr bwMode="gray">
          <a:xfrm rot="16200000">
            <a:off x="6781803" y="4800600"/>
            <a:ext cx="762000" cy="914400"/>
          </a:xfrm>
          <a:custGeom>
            <a:avLst/>
            <a:gdLst>
              <a:gd name="T0" fmla="*/ 1654132314 w 580"/>
              <a:gd name="T1" fmla="*/ 0 h 798"/>
              <a:gd name="T2" fmla="*/ 1648427641 w 580"/>
              <a:gd name="T3" fmla="*/ 217809416 h 798"/>
              <a:gd name="T4" fmla="*/ 1619909341 w 580"/>
              <a:gd name="T5" fmla="*/ 421099761 h 798"/>
              <a:gd name="T6" fmla="*/ 1574277022 w 580"/>
              <a:gd name="T7" fmla="*/ 609867921 h 798"/>
              <a:gd name="T8" fmla="*/ 1500126403 w 580"/>
              <a:gd name="T9" fmla="*/ 784115455 h 798"/>
              <a:gd name="T10" fmla="*/ 1408865141 w 580"/>
              <a:gd name="T11" fmla="*/ 943842360 h 798"/>
              <a:gd name="T12" fmla="*/ 1289082203 w 580"/>
              <a:gd name="T13" fmla="*/ 1089050193 h 798"/>
              <a:gd name="T14" fmla="*/ 1146485638 w 580"/>
              <a:gd name="T15" fmla="*/ 1229416780 h 798"/>
              <a:gd name="T16" fmla="*/ 975367395 w 580"/>
              <a:gd name="T17" fmla="*/ 1355261183 h 798"/>
              <a:gd name="T18" fmla="*/ 770027869 w 580"/>
              <a:gd name="T19" fmla="*/ 1476267452 h 798"/>
              <a:gd name="T20" fmla="*/ 536166665 w 580"/>
              <a:gd name="T21" fmla="*/ 1587592783 h 798"/>
              <a:gd name="T22" fmla="*/ 536166665 w 580"/>
              <a:gd name="T23" fmla="*/ 1931248159 h 798"/>
              <a:gd name="T24" fmla="*/ 0 w 580"/>
              <a:gd name="T25" fmla="*/ 1243937408 h 798"/>
              <a:gd name="T26" fmla="*/ 536166665 w 580"/>
              <a:gd name="T27" fmla="*/ 556625101 h 798"/>
              <a:gd name="T28" fmla="*/ 536166665 w 580"/>
              <a:gd name="T29" fmla="*/ 900280477 h 798"/>
              <a:gd name="T30" fmla="*/ 638837273 w 580"/>
              <a:gd name="T31" fmla="*/ 890601095 h 798"/>
              <a:gd name="T32" fmla="*/ 752915538 w 580"/>
              <a:gd name="T33" fmla="*/ 861559840 h 798"/>
              <a:gd name="T34" fmla="*/ 872696788 w 580"/>
              <a:gd name="T35" fmla="*/ 813156710 h 798"/>
              <a:gd name="T36" fmla="*/ 992479726 w 580"/>
              <a:gd name="T37" fmla="*/ 750234508 h 798"/>
              <a:gd name="T38" fmla="*/ 1117965649 w 580"/>
              <a:gd name="T39" fmla="*/ 677631370 h 798"/>
              <a:gd name="T40" fmla="*/ 1232043914 w 580"/>
              <a:gd name="T41" fmla="*/ 595347294 h 798"/>
              <a:gd name="T42" fmla="*/ 1346122180 w 580"/>
              <a:gd name="T43" fmla="*/ 503382281 h 798"/>
              <a:gd name="T44" fmla="*/ 1443088114 w 580"/>
              <a:gd name="T45" fmla="*/ 401737886 h 798"/>
              <a:gd name="T46" fmla="*/ 1528646391 w 580"/>
              <a:gd name="T47" fmla="*/ 300093492 h 798"/>
              <a:gd name="T48" fmla="*/ 1591389353 w 580"/>
              <a:gd name="T49" fmla="*/ 198449098 h 798"/>
              <a:gd name="T50" fmla="*/ 1637019983 w 580"/>
              <a:gd name="T51" fmla="*/ 96804704 h 798"/>
              <a:gd name="T52" fmla="*/ 1648427641 w 580"/>
              <a:gd name="T53" fmla="*/ 0 h 798"/>
              <a:gd name="T54" fmla="*/ 1654132314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381000" y="4800600"/>
            <a:ext cx="2133600" cy="762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Lỗi cú pháp</a:t>
            </a:r>
          </a:p>
          <a:p>
            <a:pPr algn="ctr"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Lỗi ngữ nghĩa</a:t>
            </a:r>
            <a:endParaRPr lang="en-US" sz="2000"/>
          </a:p>
        </p:txBody>
      </p:sp>
      <p:sp>
        <p:nvSpPr>
          <p:cNvPr id="16" name="Right Arrow 15"/>
          <p:cNvSpPr>
            <a:spLocks noChangeArrowheads="1"/>
          </p:cNvSpPr>
          <p:nvPr/>
        </p:nvSpPr>
        <p:spPr bwMode="auto">
          <a:xfrm flipH="1">
            <a:off x="2514600" y="4876799"/>
            <a:ext cx="1524000" cy="533402"/>
          </a:xfrm>
          <a:prstGeom prst="rightArrow">
            <a:avLst>
              <a:gd name="adj1" fmla="val 50000"/>
              <a:gd name="adj2" fmla="val 5000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sz="4000" b="1">
              <a:solidFill>
                <a:schemeClr val="bg1"/>
              </a:solidFill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486400" y="1447800"/>
            <a:ext cx="2667000" cy="12954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Biểu diễn bằng: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Ngôn ngữ tự nhiên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L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ư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u 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- S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ơ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khối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Mã giả</a:t>
            </a:r>
            <a:endParaRPr lang="en-US" sz="2000"/>
          </a:p>
        </p:txBody>
      </p:sp>
      <p:sp>
        <p:nvSpPr>
          <p:cNvPr id="18" name="Right Arrow 17"/>
          <p:cNvSpPr>
            <a:spLocks noChangeArrowheads="1"/>
          </p:cNvSpPr>
          <p:nvPr/>
        </p:nvSpPr>
        <p:spPr bwMode="auto">
          <a:xfrm rot="8100000" flipH="1">
            <a:off x="4667997" y="2534662"/>
            <a:ext cx="923644" cy="531286"/>
          </a:xfrm>
          <a:prstGeom prst="rightArrow">
            <a:avLst>
              <a:gd name="adj1" fmla="val 50000"/>
              <a:gd name="adj2" fmla="val 50000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sz="4000" b="1">
              <a:solidFill>
                <a:schemeClr val="bg1"/>
              </a:solidFill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209800" y="3124200"/>
            <a:ext cx="2895600" cy="762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Xây dựng</a:t>
            </a:r>
          </a:p>
          <a:p>
            <a:pPr algn="ctr">
              <a:defRPr/>
            </a:pPr>
            <a:r>
              <a:rPr lang="en-US" sz="2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thuật toán/ thuật giải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0" name="Freeform 9"/>
          <p:cNvSpPr>
            <a:spLocks/>
          </p:cNvSpPr>
          <p:nvPr/>
        </p:nvSpPr>
        <p:spPr bwMode="gray">
          <a:xfrm rot="16200000">
            <a:off x="3962403" y="2362199"/>
            <a:ext cx="762000" cy="762001"/>
          </a:xfrm>
          <a:custGeom>
            <a:avLst/>
            <a:gdLst>
              <a:gd name="T0" fmla="*/ 1654132314 w 580"/>
              <a:gd name="T1" fmla="*/ 0 h 798"/>
              <a:gd name="T2" fmla="*/ 1648427641 w 580"/>
              <a:gd name="T3" fmla="*/ 217809416 h 798"/>
              <a:gd name="T4" fmla="*/ 1619909341 w 580"/>
              <a:gd name="T5" fmla="*/ 421099761 h 798"/>
              <a:gd name="T6" fmla="*/ 1574277022 w 580"/>
              <a:gd name="T7" fmla="*/ 609867921 h 798"/>
              <a:gd name="T8" fmla="*/ 1500126403 w 580"/>
              <a:gd name="T9" fmla="*/ 784115455 h 798"/>
              <a:gd name="T10" fmla="*/ 1408865141 w 580"/>
              <a:gd name="T11" fmla="*/ 943842360 h 798"/>
              <a:gd name="T12" fmla="*/ 1289082203 w 580"/>
              <a:gd name="T13" fmla="*/ 1089050193 h 798"/>
              <a:gd name="T14" fmla="*/ 1146485638 w 580"/>
              <a:gd name="T15" fmla="*/ 1229416780 h 798"/>
              <a:gd name="T16" fmla="*/ 975367395 w 580"/>
              <a:gd name="T17" fmla="*/ 1355261183 h 798"/>
              <a:gd name="T18" fmla="*/ 770027869 w 580"/>
              <a:gd name="T19" fmla="*/ 1476267452 h 798"/>
              <a:gd name="T20" fmla="*/ 536166665 w 580"/>
              <a:gd name="T21" fmla="*/ 1587592783 h 798"/>
              <a:gd name="T22" fmla="*/ 536166665 w 580"/>
              <a:gd name="T23" fmla="*/ 1931248159 h 798"/>
              <a:gd name="T24" fmla="*/ 0 w 580"/>
              <a:gd name="T25" fmla="*/ 1243937408 h 798"/>
              <a:gd name="T26" fmla="*/ 536166665 w 580"/>
              <a:gd name="T27" fmla="*/ 556625101 h 798"/>
              <a:gd name="T28" fmla="*/ 536166665 w 580"/>
              <a:gd name="T29" fmla="*/ 900280477 h 798"/>
              <a:gd name="T30" fmla="*/ 638837273 w 580"/>
              <a:gd name="T31" fmla="*/ 890601095 h 798"/>
              <a:gd name="T32" fmla="*/ 752915538 w 580"/>
              <a:gd name="T33" fmla="*/ 861559840 h 798"/>
              <a:gd name="T34" fmla="*/ 872696788 w 580"/>
              <a:gd name="T35" fmla="*/ 813156710 h 798"/>
              <a:gd name="T36" fmla="*/ 992479726 w 580"/>
              <a:gd name="T37" fmla="*/ 750234508 h 798"/>
              <a:gd name="T38" fmla="*/ 1117965649 w 580"/>
              <a:gd name="T39" fmla="*/ 677631370 h 798"/>
              <a:gd name="T40" fmla="*/ 1232043914 w 580"/>
              <a:gd name="T41" fmla="*/ 595347294 h 798"/>
              <a:gd name="T42" fmla="*/ 1346122180 w 580"/>
              <a:gd name="T43" fmla="*/ 503382281 h 798"/>
              <a:gd name="T44" fmla="*/ 1443088114 w 580"/>
              <a:gd name="T45" fmla="*/ 401737886 h 798"/>
              <a:gd name="T46" fmla="*/ 1528646391 w 580"/>
              <a:gd name="T47" fmla="*/ 300093492 h 798"/>
              <a:gd name="T48" fmla="*/ 1591389353 w 580"/>
              <a:gd name="T49" fmla="*/ 198449098 h 798"/>
              <a:gd name="T50" fmla="*/ 1637019983 w 580"/>
              <a:gd name="T51" fmla="*/ 96804704 h 798"/>
              <a:gd name="T52" fmla="*/ 1648427641 w 580"/>
              <a:gd name="T53" fmla="*/ 0 h 798"/>
              <a:gd name="T54" fmla="*/ 1654132314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0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Biểu diễn thuật 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Ngôn ngữ tự nhiên</a:t>
            </a:r>
          </a:p>
          <a:p>
            <a:r>
              <a:rPr lang="en-US" smtClean="0"/>
              <a:t>Lưu đồ/Sơ đồ khối</a:t>
            </a:r>
          </a:p>
          <a:p>
            <a:r>
              <a:rPr lang="en-US" smtClean="0"/>
              <a:t>Mã giả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8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ngôn ngữ tự nhiên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622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38200" y="2362200"/>
            <a:ext cx="7010400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1. Nhập 2 số thực a và b.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2. Nếu a = 0 thì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2.1. Nếu b = 0 thì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2.1.1.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vô số nghiệm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2.1.2. Kết thúc thuật toán.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2.2. Ng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ượ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 lại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2.2.1.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vô nghiệm.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2.2.2. Kết thúc thuật toán.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3. Ng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ượ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 lại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3.1.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có nghiệm.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3.2. Giá trị của nghiệm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đó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là x = -b/a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3.3. Kết thúc thuật toán.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6400"/>
            <a:ext cx="7162800" cy="70802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vào: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a, b thuộc R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ra: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nghiệm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ax + b = 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2D-6A16-4C4F-8B9A-ED103857A37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l</a:t>
            </a:r>
            <a:r>
              <a:rPr lang="vi-VN" smtClean="0"/>
              <a:t>ư</a:t>
            </a:r>
            <a:r>
              <a:rPr lang="en-US" smtClean="0"/>
              <a:t>u </a:t>
            </a:r>
            <a:r>
              <a:rPr lang="vi-VN" smtClean="0"/>
              <a:t>đồ</a:t>
            </a:r>
            <a:r>
              <a:rPr lang="en-US" smtClean="0"/>
              <a:t> - s</a:t>
            </a:r>
            <a:r>
              <a:rPr lang="vi-VN" smtClean="0"/>
              <a:t>ơ</a:t>
            </a:r>
            <a:r>
              <a:rPr lang="en-US" smtClean="0"/>
              <a:t> </a:t>
            </a:r>
            <a:r>
              <a:rPr lang="vi-VN" smtClean="0"/>
              <a:t>đồ</a:t>
            </a:r>
            <a:r>
              <a:rPr lang="en-US" smtClean="0"/>
              <a:t> khối</a:t>
            </a:r>
          </a:p>
        </p:txBody>
      </p:sp>
      <p:sp>
        <p:nvSpPr>
          <p:cNvPr id="5" name="Oval 4"/>
          <p:cNvSpPr/>
          <p:nvPr/>
        </p:nvSpPr>
        <p:spPr>
          <a:xfrm>
            <a:off x="838200" y="1371600"/>
            <a:ext cx="1646238" cy="8223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 bwMode="auto">
          <a:xfrm>
            <a:off x="3048000" y="1447800"/>
            <a:ext cx="4038600" cy="762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Khối giới hạn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/>
              <a:t>Chỉ thị bắt </a:t>
            </a:r>
            <a:r>
              <a:rPr lang="vi-VN" sz="2000"/>
              <a:t>đầ</a:t>
            </a:r>
            <a:r>
              <a:rPr lang="en-US" sz="2000"/>
              <a:t>u và kết thúc.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762000" y="2362200"/>
            <a:ext cx="1646238" cy="822325"/>
          </a:xfrm>
          <a:prstGeom prst="parallelogram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ounded Rectangle 7"/>
          <p:cNvSpPr/>
          <p:nvPr/>
        </p:nvSpPr>
        <p:spPr bwMode="auto">
          <a:xfrm>
            <a:off x="3048000" y="2438400"/>
            <a:ext cx="4038600" cy="762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Khối vào ra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/>
              <a:t>Nhập/Xuất dữ liệu.</a:t>
            </a:r>
          </a:p>
        </p:txBody>
      </p:sp>
      <p:sp>
        <p:nvSpPr>
          <p:cNvPr id="9" name="Diamond 8"/>
          <p:cNvSpPr/>
          <p:nvPr/>
        </p:nvSpPr>
        <p:spPr>
          <a:xfrm>
            <a:off x="762000" y="3429000"/>
            <a:ext cx="1646238" cy="822325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ounded Rectangle 9"/>
          <p:cNvSpPr/>
          <p:nvPr/>
        </p:nvSpPr>
        <p:spPr bwMode="auto">
          <a:xfrm>
            <a:off x="3048000" y="3429000"/>
            <a:ext cx="4038600" cy="762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Khối lựa chọn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/>
              <a:t>Tùy </a:t>
            </a:r>
            <a:r>
              <a:rPr lang="vi-VN" sz="2000"/>
              <a:t>đ</a:t>
            </a:r>
            <a:r>
              <a:rPr lang="en-US" sz="2000"/>
              <a:t>iều kiện sẽ rẽ nhánh.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419600"/>
            <a:ext cx="1646238" cy="822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 bwMode="auto">
          <a:xfrm>
            <a:off x="3048000" y="4419600"/>
            <a:ext cx="4038600" cy="762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Khối thao tác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/>
              <a:t>Ghi thao tác cần thực hiện.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3048000" y="5410200"/>
            <a:ext cx="4038600" cy="762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ng </a:t>
            </a:r>
            <a:r>
              <a:rPr lang="vi-VN" sz="200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/>
              <a:t>Chỉ h</a:t>
            </a:r>
            <a:r>
              <a:rPr lang="vi-VN" sz="2000"/>
              <a:t>ướ</a:t>
            </a:r>
            <a:r>
              <a:rPr lang="en-US" sz="2000"/>
              <a:t>ng thao tác tiếp theo.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62000" y="5791200"/>
            <a:ext cx="1646238" cy="1588"/>
          </a:xfrm>
          <a:prstGeom prst="straightConnector1">
            <a:avLst/>
          </a:prstGeom>
          <a:ln w="38100"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2D-6A16-4C4F-8B9A-ED103857A37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l</a:t>
            </a:r>
            <a:r>
              <a:rPr lang="vi-VN" smtClean="0"/>
              <a:t>ư</a:t>
            </a:r>
            <a:r>
              <a:rPr lang="en-US" smtClean="0"/>
              <a:t>u </a:t>
            </a:r>
            <a:r>
              <a:rPr lang="vi-VN" smtClean="0"/>
              <a:t>đồ</a:t>
            </a:r>
            <a:r>
              <a:rPr lang="en-US" smtClean="0"/>
              <a:t> - s</a:t>
            </a:r>
            <a:r>
              <a:rPr lang="vi-VN" smtClean="0"/>
              <a:t>ơ</a:t>
            </a:r>
            <a:r>
              <a:rPr lang="en-US" smtClean="0"/>
              <a:t> </a:t>
            </a:r>
            <a:r>
              <a:rPr lang="vi-VN" smtClean="0"/>
              <a:t>đồ</a:t>
            </a:r>
            <a:r>
              <a:rPr lang="en-US" smtClean="0"/>
              <a:t> khối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rot="5400000">
            <a:off x="4038600" y="2133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4038600" y="3048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0" idx="6"/>
          </p:cNvCxnSpPr>
          <p:nvPr/>
        </p:nvCxnSpPr>
        <p:spPr>
          <a:xfrm rot="10800000" flipV="1">
            <a:off x="5013325" y="5410200"/>
            <a:ext cx="1693863" cy="7016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3"/>
          </p:cNvCxnSpPr>
          <p:nvPr/>
        </p:nvCxnSpPr>
        <p:spPr>
          <a:xfrm rot="16200000" flipH="1">
            <a:off x="3533775" y="5514976"/>
            <a:ext cx="350837" cy="201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3"/>
            <a:endCxn id="10" idx="2"/>
          </p:cNvCxnSpPr>
          <p:nvPr/>
        </p:nvCxnSpPr>
        <p:spPr>
          <a:xfrm rot="16200000" flipH="1">
            <a:off x="1887538" y="4722813"/>
            <a:ext cx="671512" cy="2106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6553200" y="46482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6515101" y="3695700"/>
            <a:ext cx="3810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029200" y="3505200"/>
            <a:ext cx="16764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438400" y="3505200"/>
            <a:ext cx="9144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2247901" y="3695700"/>
            <a:ext cx="3810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219200" y="4191000"/>
            <a:ext cx="381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>
            <a:off x="914401" y="4495800"/>
            <a:ext cx="6096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352800" y="4191000"/>
            <a:ext cx="381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52800" y="13716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3352800" y="22860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Đọc a,b</a:t>
            </a:r>
          </a:p>
        </p:txBody>
      </p:sp>
      <p:sp>
        <p:nvSpPr>
          <p:cNvPr id="12" name="Diamond 11"/>
          <p:cNvSpPr/>
          <p:nvPr/>
        </p:nvSpPr>
        <p:spPr>
          <a:xfrm>
            <a:off x="3352800" y="3200400"/>
            <a:ext cx="1736725" cy="6397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a =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67400" y="3886200"/>
            <a:ext cx="1736725" cy="6397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x = -b/a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819400" y="48006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“VN”</a:t>
            </a:r>
          </a:p>
        </p:txBody>
      </p:sp>
      <p:sp>
        <p:nvSpPr>
          <p:cNvPr id="15" name="Diamond 14"/>
          <p:cNvSpPr/>
          <p:nvPr/>
        </p:nvSpPr>
        <p:spPr>
          <a:xfrm>
            <a:off x="1600200" y="3886200"/>
            <a:ext cx="1736725" cy="6397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 = 0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381000" y="48006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“VSN”</a:t>
            </a:r>
          </a:p>
        </p:txBody>
      </p:sp>
      <p:sp>
        <p:nvSpPr>
          <p:cNvPr id="10" name="Oval 9"/>
          <p:cNvSpPr/>
          <p:nvPr/>
        </p:nvSpPr>
        <p:spPr>
          <a:xfrm>
            <a:off x="3276600" y="57912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5867400" y="48006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 x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rot="5400000">
            <a:off x="3429000" y="4495800"/>
            <a:ext cx="6111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62600" y="30480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19400" y="30480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9200" y="37338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52800" y="37338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2D-6A16-4C4F-8B9A-ED103857A37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7" grpId="0" animBg="1"/>
      <p:bldP spid="15" grpId="0" animBg="1"/>
      <p:bldP spid="16" grpId="0" animBg="1"/>
      <p:bldP spid="10" grpId="0" animBg="1"/>
      <p:bldP spid="14" grpId="0" animBg="1"/>
      <p:bldP spid="59" grpId="0"/>
      <p:bldP spid="60" grpId="0"/>
      <p:bldP spid="61" grpId="0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giả</a:t>
            </a:r>
            <a:endParaRPr lang="en-US" dirty="0" smtClean="0"/>
          </a:p>
        </p:txBody>
      </p:sp>
      <p:sp>
        <p:nvSpPr>
          <p:cNvPr id="2457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Vay m</a:t>
            </a:r>
            <a:r>
              <a:rPr lang="vi-VN" smtClean="0">
                <a:latin typeface="Arial" charset="0"/>
                <a:cs typeface="Arial" charset="0"/>
              </a:rPr>
              <a:t>ượ</a:t>
            </a:r>
            <a:r>
              <a:rPr lang="en-US" smtClean="0">
                <a:latin typeface="Arial" charset="0"/>
                <a:cs typeface="Arial" charset="0"/>
              </a:rPr>
              <a:t>n ngôn ngữ nào </a:t>
            </a:r>
            <a:r>
              <a:rPr lang="vi-VN" smtClean="0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 (ví dụ Pascal) </a:t>
            </a:r>
            <a:r>
              <a:rPr lang="vi-VN" smtClean="0">
                <a:latin typeface="Arial" charset="0"/>
                <a:cs typeface="Arial" charset="0"/>
              </a:rPr>
              <a:t>để</a:t>
            </a:r>
            <a:r>
              <a:rPr lang="en-US" smtClean="0">
                <a:latin typeface="Arial" charset="0"/>
                <a:cs typeface="Arial" charset="0"/>
              </a:rPr>
              <a:t> biểu diễn thuật toán.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76600"/>
            <a:ext cx="152400" cy="2819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38200" y="3276600"/>
            <a:ext cx="70104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If a = 0 Then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Begin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b = 0 Then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Xuất “Ph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vô số nghiệm”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Xuất “Ph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vô nghiệm”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End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Xuất “Ph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có nghiệm x = -b/a”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0800"/>
            <a:ext cx="7162800" cy="70802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vào: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a, b thuộc R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Đầu ra: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nghiệm ph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ng trình ax + b = 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D2C-CD8C-4326-A321-D508F451971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vi-VN" dirty="0" smtClean="0"/>
              <a:t>đặ</a:t>
            </a:r>
            <a:r>
              <a:rPr lang="en-US" dirty="0" smtClean="0"/>
              <a:t>t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C/C++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866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conio.h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a, b;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a, b: 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d%d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”, &amp;a, &amp;b);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if (b == 0)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(“Ph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trình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VSN”);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else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(“Ph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ươ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trình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VN”);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(“x = %.2f”, -float(b)/a);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Tx/>
              <a:buNone/>
            </a:pPr>
            <a:r>
              <a:rPr lang="en-US" b="1" i="1" dirty="0" smtClean="0"/>
              <a:t>1. </a:t>
            </a:r>
            <a:r>
              <a:rPr lang="en-US" b="1" i="1" dirty="0" err="1" smtClean="0"/>
              <a:t>Tính</a:t>
            </a:r>
            <a:r>
              <a:rPr lang="en-US" b="1" i="1" dirty="0" smtClean="0"/>
              <a:t> </a:t>
            </a:r>
            <a:r>
              <a:rPr lang="en-US" b="1" i="1" dirty="0" err="1" smtClean="0"/>
              <a:t>hiệu</a:t>
            </a:r>
            <a:r>
              <a:rPr lang="en-US" b="1" i="1" dirty="0" smtClean="0"/>
              <a:t> </a:t>
            </a:r>
            <a:r>
              <a:rPr lang="en-US" b="1" i="1" dirty="0" err="1" smtClean="0"/>
              <a:t>quả</a:t>
            </a:r>
            <a:r>
              <a:rPr lang="en-US" b="1" i="1" dirty="0" smtClean="0"/>
              <a:t> </a:t>
            </a:r>
            <a:r>
              <a:rPr lang="en-US" b="1" i="1" dirty="0" err="1" smtClean="0"/>
              <a:t>của</a:t>
            </a:r>
            <a:r>
              <a:rPr lang="en-US" b="1" i="1" dirty="0" smtClean="0"/>
              <a:t> </a:t>
            </a:r>
            <a:r>
              <a:rPr lang="en-US" b="1" i="1" dirty="0" err="1" smtClean="0"/>
              <a:t>giải</a:t>
            </a:r>
            <a:r>
              <a:rPr lang="en-US" b="1" i="1" dirty="0" smtClean="0"/>
              <a:t> </a:t>
            </a:r>
            <a:r>
              <a:rPr lang="en-US" b="1" i="1" dirty="0" err="1" smtClean="0"/>
              <a:t>thuật</a:t>
            </a:r>
            <a:endParaRPr lang="en-US" b="1" i="1" dirty="0" smtClean="0"/>
          </a:p>
          <a:p>
            <a:pPr marL="0" indent="0" algn="just">
              <a:buFontTx/>
              <a:buNone/>
            </a:pPr>
            <a:r>
              <a:rPr lang="en-US" sz="2800" smtClean="0"/>
              <a:t>Để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bài</a:t>
            </a:r>
            <a:r>
              <a:rPr lang="en-US" sz="2800" dirty="0" smtClean="0"/>
              <a:t> </a:t>
            </a:r>
            <a:r>
              <a:rPr lang="en-US" sz="2800" dirty="0" err="1" smtClean="0"/>
              <a:t>toán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thể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nhiều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 </a:t>
            </a:r>
            <a:r>
              <a:rPr lang="en-US" sz="2800" dirty="0" err="1" smtClean="0"/>
              <a:t>khác</a:t>
            </a:r>
            <a:r>
              <a:rPr lang="en-US" sz="2800" dirty="0" smtClean="0"/>
              <a:t> </a:t>
            </a:r>
            <a:r>
              <a:rPr lang="en-US" sz="2800" dirty="0" err="1" smtClean="0"/>
              <a:t>nhau</a:t>
            </a:r>
            <a:r>
              <a:rPr lang="en-US" sz="2800" smtClean="0"/>
              <a:t>. </a:t>
            </a:r>
            <a:r>
              <a:rPr lang="en-US" sz="2800" smtClean="0"/>
              <a:t>Cần lựa chọn một giải thuật tốt theo hai tiêu chuẩn:</a:t>
            </a:r>
          </a:p>
          <a:p>
            <a:pPr marL="696913" algn="just"/>
            <a:r>
              <a:rPr lang="en-US" sz="2800" smtClean="0"/>
              <a:t>Đơn </a:t>
            </a:r>
            <a:r>
              <a:rPr lang="en-US" sz="2800" dirty="0" err="1" smtClean="0"/>
              <a:t>giản</a:t>
            </a:r>
            <a:r>
              <a:rPr lang="en-US" sz="2800" dirty="0" smtClean="0"/>
              <a:t>, </a:t>
            </a:r>
            <a:r>
              <a:rPr lang="en-US" sz="2800" dirty="0" err="1" smtClean="0"/>
              <a:t>dễ</a:t>
            </a:r>
            <a:r>
              <a:rPr lang="en-US" sz="2800" dirty="0" smtClean="0"/>
              <a:t> </a:t>
            </a:r>
            <a:r>
              <a:rPr lang="en-US" sz="2800" dirty="0" err="1" smtClean="0"/>
              <a:t>hiểu</a:t>
            </a:r>
            <a:r>
              <a:rPr lang="en-US" sz="2800" dirty="0" smtClean="0"/>
              <a:t>, </a:t>
            </a:r>
            <a:r>
              <a:rPr lang="en-US" sz="2800" err="1" smtClean="0"/>
              <a:t>dễ</a:t>
            </a:r>
            <a:r>
              <a:rPr lang="en-US" sz="2800" smtClean="0"/>
              <a:t> </a:t>
            </a:r>
            <a:r>
              <a:rPr lang="en-US" sz="2800" smtClean="0"/>
              <a:t>lập </a:t>
            </a:r>
            <a:r>
              <a:rPr lang="en-US" sz="2800" dirty="0" err="1" smtClean="0"/>
              <a:t>trình</a:t>
            </a:r>
            <a:r>
              <a:rPr lang="en-US" sz="2800" dirty="0" smtClean="0"/>
              <a:t>.</a:t>
            </a:r>
          </a:p>
          <a:p>
            <a:pPr marL="696913" algn="just"/>
            <a:r>
              <a:rPr lang="en-US" sz="2800" smtClean="0"/>
              <a:t>Thời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nhanh</a:t>
            </a:r>
            <a:r>
              <a:rPr lang="en-US" sz="2800" dirty="0" smtClean="0"/>
              <a:t>, </a:t>
            </a:r>
            <a:r>
              <a:rPr lang="en-US" sz="2800" dirty="0" err="1" smtClean="0"/>
              <a:t>dùng</a:t>
            </a:r>
            <a:r>
              <a:rPr lang="en-US" sz="2800" dirty="0" smtClean="0"/>
              <a:t> </a:t>
            </a:r>
            <a:r>
              <a:rPr lang="en-US" sz="2800" dirty="0" err="1" smtClean="0"/>
              <a:t>ít</a:t>
            </a:r>
            <a:r>
              <a:rPr lang="en-US" sz="2800" dirty="0" smtClean="0"/>
              <a:t> </a:t>
            </a:r>
            <a:r>
              <a:rPr lang="en-US" sz="2800" dirty="0" err="1" smtClean="0"/>
              <a:t>tài</a:t>
            </a:r>
            <a:r>
              <a:rPr lang="en-US" sz="2800" dirty="0" smtClean="0"/>
              <a:t> </a:t>
            </a:r>
            <a:r>
              <a:rPr lang="en-US" sz="2800" dirty="0" err="1" smtClean="0"/>
              <a:t>nguyên</a:t>
            </a:r>
            <a:r>
              <a:rPr lang="en-US" sz="2800" dirty="0" smtClean="0"/>
              <a:t> </a:t>
            </a:r>
            <a:r>
              <a:rPr lang="en-US" sz="2800" dirty="0" err="1" smtClean="0"/>
              <a:t>máy</a:t>
            </a:r>
            <a:r>
              <a:rPr lang="en-US" sz="2800" dirty="0" smtClean="0"/>
              <a:t> </a:t>
            </a:r>
            <a:r>
              <a:rPr lang="en-US" sz="2800" dirty="0" err="1" smtClean="0"/>
              <a:t>tính</a:t>
            </a:r>
            <a:r>
              <a:rPr lang="en-US" sz="2800" dirty="0" smtClean="0"/>
              <a:t>.</a:t>
            </a:r>
          </a:p>
          <a:p>
            <a:pPr marL="0" indent="0" algn="just">
              <a:buFontTx/>
              <a:buNone/>
            </a:pP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 2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dirty="0" err="1" smtClean="0"/>
              <a:t>tính</a:t>
            </a:r>
            <a:r>
              <a:rPr lang="en-US" sz="2800" dirty="0" smtClean="0"/>
              <a:t> </a:t>
            </a:r>
            <a:r>
              <a:rPr lang="en-US" sz="2800" dirty="0" err="1" smtClean="0"/>
              <a:t>hiệu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. </a:t>
            </a:r>
            <a:r>
              <a:rPr lang="en-US" sz="2800" dirty="0" err="1" smtClean="0"/>
              <a:t>Đánh</a:t>
            </a:r>
            <a:r>
              <a:rPr lang="en-US" sz="2800" dirty="0" smtClean="0"/>
              <a:t> </a:t>
            </a:r>
            <a:r>
              <a:rPr lang="en-US" sz="2800" dirty="0" err="1" smtClean="0"/>
              <a:t>giá</a:t>
            </a:r>
            <a:r>
              <a:rPr lang="en-US" sz="2800" dirty="0" smtClean="0"/>
              <a:t> </a:t>
            </a:r>
            <a:r>
              <a:rPr lang="en-US" sz="2800" err="1" smtClean="0"/>
              <a:t>độ</a:t>
            </a:r>
            <a:r>
              <a:rPr lang="en-US" sz="2800" smtClean="0"/>
              <a:t> </a:t>
            </a:r>
            <a:r>
              <a:rPr lang="en-US" sz="2800" smtClean="0"/>
              <a:t>phức tạp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dirty="0" err="1" smtClean="0"/>
              <a:t>đánh</a:t>
            </a:r>
            <a:r>
              <a:rPr lang="en-US" sz="2800" dirty="0" smtClean="0"/>
              <a:t> </a:t>
            </a:r>
            <a:r>
              <a:rPr lang="en-US" sz="2800" dirty="0" err="1" smtClean="0"/>
              <a:t>giá</a:t>
            </a:r>
            <a:r>
              <a:rPr lang="en-US" sz="2800" dirty="0" smtClean="0"/>
              <a:t> </a:t>
            </a:r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 </a:t>
            </a:r>
            <a:r>
              <a:rPr lang="en-US" sz="2800" dirty="0" err="1" smtClean="0"/>
              <a:t>đó</a:t>
            </a:r>
            <a:r>
              <a:rPr lang="en-US" sz="2800" dirty="0" smtClean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Tx/>
              <a:buNone/>
              <a:defRPr/>
            </a:pPr>
            <a:r>
              <a:rPr lang="en-US" b="1" i="1" dirty="0" smtClean="0"/>
              <a:t>2. </a:t>
            </a:r>
            <a:r>
              <a:rPr lang="en-US" b="1" i="1" dirty="0" err="1" smtClean="0"/>
              <a:t>Đánh</a:t>
            </a:r>
            <a:r>
              <a:rPr lang="en-US" b="1" i="1" dirty="0" smtClean="0"/>
              <a:t> </a:t>
            </a:r>
            <a:r>
              <a:rPr lang="en-US" b="1" i="1" dirty="0" err="1" smtClean="0"/>
              <a:t>giá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thời</a:t>
            </a:r>
            <a:r>
              <a:rPr lang="en-US" b="1" i="1" dirty="0" smtClean="0"/>
              <a:t> </a:t>
            </a:r>
            <a:r>
              <a:rPr lang="en-US" b="1" i="1" dirty="0" err="1" smtClean="0"/>
              <a:t>gian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thực</a:t>
            </a:r>
            <a:r>
              <a:rPr lang="en-US" b="1" i="1" dirty="0" smtClean="0"/>
              <a:t> </a:t>
            </a:r>
            <a:r>
              <a:rPr lang="en-US" b="1" i="1" dirty="0" err="1" smtClean="0"/>
              <a:t>hiện</a:t>
            </a:r>
            <a:r>
              <a:rPr lang="en-US" b="1" i="1" dirty="0" smtClean="0"/>
              <a:t> </a:t>
            </a:r>
            <a:r>
              <a:rPr lang="en-US" b="1" i="1" dirty="0" err="1" smtClean="0"/>
              <a:t>giải</a:t>
            </a:r>
            <a:r>
              <a:rPr lang="en-US" b="1" i="1" dirty="0" smtClean="0"/>
              <a:t> </a:t>
            </a:r>
            <a:r>
              <a:rPr lang="en-US" b="1" i="1" dirty="0" err="1" smtClean="0"/>
              <a:t>thuật</a:t>
            </a:r>
            <a:endParaRPr lang="en-US" b="1" i="1" dirty="0" smtClean="0"/>
          </a:p>
          <a:p>
            <a:pPr marL="514350" indent="-514350">
              <a:buFontTx/>
              <a:buNone/>
              <a:defRPr/>
            </a:pPr>
            <a:endParaRPr lang="en-US" b="1" i="1" dirty="0" smtClean="0"/>
          </a:p>
          <a:p>
            <a:pPr marL="457200" indent="-457200">
              <a:buFontTx/>
              <a:buNone/>
              <a:defRPr/>
            </a:pPr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 </a:t>
            </a:r>
            <a:r>
              <a:rPr lang="en-US" sz="2800" dirty="0" err="1" smtClean="0"/>
              <a:t>phụ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: </a:t>
            </a:r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, </a:t>
            </a:r>
          </a:p>
          <a:p>
            <a:pPr marL="457200" indent="-457200">
              <a:buFontTx/>
              <a:buNone/>
              <a:defRPr/>
            </a:pPr>
            <a:r>
              <a:rPr lang="en-US" sz="2800" dirty="0" err="1" smtClean="0"/>
              <a:t>chương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</a:t>
            </a:r>
            <a:r>
              <a:rPr lang="en-US" sz="2800" dirty="0" err="1" smtClean="0"/>
              <a:t>dịch</a:t>
            </a:r>
            <a:r>
              <a:rPr lang="en-US" sz="2800" dirty="0" smtClean="0"/>
              <a:t>, </a:t>
            </a:r>
            <a:r>
              <a:rPr lang="en-US" sz="2800" dirty="0" err="1" smtClean="0"/>
              <a:t>hệ</a:t>
            </a:r>
            <a:r>
              <a:rPr lang="en-US" sz="2800" dirty="0" smtClean="0"/>
              <a:t> </a:t>
            </a:r>
            <a:r>
              <a:rPr lang="en-US" sz="2800" dirty="0" err="1" smtClean="0"/>
              <a:t>điều</a:t>
            </a:r>
            <a:r>
              <a:rPr lang="en-US" sz="2800" dirty="0" smtClean="0"/>
              <a:t> </a:t>
            </a:r>
            <a:r>
              <a:rPr lang="en-US" sz="2800" dirty="0" err="1" smtClean="0"/>
              <a:t>hành</a:t>
            </a:r>
            <a:r>
              <a:rPr lang="en-US" sz="2800" dirty="0" smtClean="0"/>
              <a:t>, </a:t>
            </a:r>
            <a:r>
              <a:rPr lang="en-US" sz="2800" dirty="0" err="1" smtClean="0"/>
              <a:t>phần</a:t>
            </a:r>
            <a:r>
              <a:rPr lang="en-US" sz="2800" dirty="0" smtClean="0"/>
              <a:t> </a:t>
            </a:r>
            <a:r>
              <a:rPr lang="en-US" sz="2800" dirty="0" err="1" smtClean="0"/>
              <a:t>cứng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máy</a:t>
            </a:r>
            <a:r>
              <a:rPr lang="en-US" sz="2800" dirty="0" smtClean="0"/>
              <a:t>,…</a:t>
            </a:r>
          </a:p>
          <a:p>
            <a:pPr>
              <a:buFontTx/>
              <a:buNone/>
              <a:defRPr/>
            </a:pPr>
            <a:r>
              <a:rPr lang="en-US" sz="2800" dirty="0" err="1" smtClean="0"/>
              <a:t>Mặt</a:t>
            </a:r>
            <a:r>
              <a:rPr lang="en-US" sz="2800" dirty="0" smtClean="0"/>
              <a:t> </a:t>
            </a:r>
            <a:r>
              <a:rPr lang="en-US" sz="2800" dirty="0" err="1" smtClean="0"/>
              <a:t>khác</a:t>
            </a:r>
            <a:r>
              <a:rPr lang="en-US" sz="2800" dirty="0" smtClean="0"/>
              <a:t> </a:t>
            </a:r>
            <a:r>
              <a:rPr lang="en-US" sz="2800" dirty="0" err="1" smtClean="0"/>
              <a:t>phải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</a:t>
            </a:r>
            <a:r>
              <a:rPr lang="en-US" sz="2800" dirty="0" err="1" smtClean="0"/>
              <a:t>mới</a:t>
            </a:r>
            <a:r>
              <a:rPr lang="en-US" sz="2800" dirty="0" smtClean="0"/>
              <a:t> </a:t>
            </a:r>
            <a:r>
              <a:rPr lang="en-US" sz="2800" dirty="0" err="1" smtClean="0"/>
              <a:t>đo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 </a:t>
            </a:r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.</a:t>
            </a:r>
          </a:p>
          <a:p>
            <a:pPr>
              <a:buFontTx/>
              <a:buNone/>
              <a:defRPr/>
            </a:pPr>
            <a:r>
              <a:rPr lang="en-US" sz="2800" dirty="0" err="1" smtClean="0"/>
              <a:t>Cần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cách</a:t>
            </a:r>
            <a:r>
              <a:rPr lang="en-US" sz="2800" dirty="0" smtClean="0"/>
              <a:t> </a:t>
            </a:r>
            <a:r>
              <a:rPr lang="en-US" sz="2800" dirty="0" err="1" smtClean="0"/>
              <a:t>đánh</a:t>
            </a:r>
            <a:r>
              <a:rPr lang="en-US" sz="2800" dirty="0" smtClean="0"/>
              <a:t> </a:t>
            </a:r>
            <a:r>
              <a:rPr lang="en-US" sz="2800" dirty="0" err="1" smtClean="0"/>
              <a:t>giá</a:t>
            </a:r>
            <a:r>
              <a:rPr lang="en-US" sz="2800" dirty="0" smtClean="0"/>
              <a:t> </a:t>
            </a:r>
            <a:r>
              <a:rPr lang="en-US" sz="2800" dirty="0" err="1" smtClean="0"/>
              <a:t>khác</a:t>
            </a:r>
            <a:r>
              <a:rPr lang="en-US" sz="2800" dirty="0" smtClean="0"/>
              <a:t> </a:t>
            </a:r>
            <a:r>
              <a:rPr lang="en-US" sz="2800" dirty="0" err="1" smtClean="0"/>
              <a:t>sao</a:t>
            </a:r>
            <a:r>
              <a:rPr lang="en-US" sz="2800" dirty="0" smtClean="0"/>
              <a:t> </a:t>
            </a:r>
            <a:r>
              <a:rPr lang="en-US" sz="2800" dirty="0" err="1" smtClean="0"/>
              <a:t>cho</a:t>
            </a:r>
            <a:r>
              <a:rPr lang="en-US" sz="2800" dirty="0" smtClean="0"/>
              <a:t>: </a:t>
            </a:r>
          </a:p>
          <a:p>
            <a:pPr>
              <a:defRPr/>
            </a:pPr>
            <a:r>
              <a:rPr lang="en-US" sz="2800" dirty="0" smtClean="0"/>
              <a:t>	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phụ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</a:t>
            </a:r>
            <a:r>
              <a:rPr lang="en-US" sz="2800" dirty="0" err="1" smtClean="0"/>
              <a:t>máy</a:t>
            </a:r>
            <a:r>
              <a:rPr lang="en-US" sz="2800" dirty="0" smtClean="0"/>
              <a:t>, </a:t>
            </a:r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, </a:t>
            </a:r>
            <a:r>
              <a:rPr lang="en-US" sz="2800" dirty="0" err="1" smtClean="0"/>
              <a:t>chương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</a:t>
            </a:r>
            <a:r>
              <a:rPr lang="en-US" sz="2800" dirty="0" err="1" smtClean="0"/>
              <a:t>dịch</a:t>
            </a:r>
            <a:r>
              <a:rPr lang="en-US" sz="2800" dirty="0" smtClean="0"/>
              <a:t>.</a:t>
            </a:r>
          </a:p>
          <a:p>
            <a:pPr>
              <a:defRPr/>
            </a:pPr>
            <a:r>
              <a:rPr lang="en-US" sz="2800" dirty="0" smtClean="0"/>
              <a:t>	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cần</a:t>
            </a:r>
            <a:r>
              <a:rPr lang="en-US" sz="2800" dirty="0" smtClean="0"/>
              <a:t> </a:t>
            </a:r>
            <a:r>
              <a:rPr lang="en-US" sz="2800" dirty="0" err="1" smtClean="0"/>
              <a:t>triển</a:t>
            </a:r>
            <a:r>
              <a:rPr lang="en-US" sz="2800" dirty="0" smtClean="0"/>
              <a:t> </a:t>
            </a:r>
            <a:r>
              <a:rPr lang="en-US" sz="2800" dirty="0" err="1" smtClean="0"/>
              <a:t>khai</a:t>
            </a:r>
            <a:r>
              <a:rPr lang="en-US" sz="2800" dirty="0" smtClean="0"/>
              <a:t> </a:t>
            </a:r>
            <a:r>
              <a:rPr lang="en-US" sz="2800" dirty="0" err="1" smtClean="0"/>
              <a:t>chương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.</a:t>
            </a:r>
          </a:p>
          <a:p>
            <a:pPr>
              <a:defRPr/>
            </a:pPr>
            <a:r>
              <a:rPr lang="en-US" sz="2800" dirty="0" smtClean="0"/>
              <a:t>	</a:t>
            </a:r>
            <a:r>
              <a:rPr lang="en-US" sz="2800" dirty="0" err="1" smtClean="0"/>
              <a:t>Chỉ</a:t>
            </a:r>
            <a:r>
              <a:rPr lang="en-US" sz="2800" dirty="0" smtClean="0"/>
              <a:t> </a:t>
            </a:r>
            <a:r>
              <a:rPr lang="en-US" sz="2800" dirty="0" err="1" smtClean="0"/>
              <a:t>dựa</a:t>
            </a:r>
            <a:r>
              <a:rPr lang="en-US" sz="2800" dirty="0" smtClean="0"/>
              <a:t> </a:t>
            </a:r>
            <a:r>
              <a:rPr lang="en-US" sz="2800" dirty="0" err="1" smtClean="0"/>
              <a:t>vào</a:t>
            </a:r>
            <a:r>
              <a:rPr lang="en-US" sz="2800" dirty="0" smtClean="0"/>
              <a:t> </a:t>
            </a: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  <a:r>
              <a:rPr lang="en-US" sz="2800" dirty="0" err="1" smtClean="0"/>
              <a:t>tích</a:t>
            </a:r>
            <a:r>
              <a:rPr lang="en-US" sz="2800" dirty="0" smtClean="0"/>
              <a:t> </a:t>
            </a:r>
            <a:r>
              <a:rPr lang="en-US" sz="2800" dirty="0" err="1" smtClean="0"/>
              <a:t>bản</a:t>
            </a:r>
            <a:r>
              <a:rPr lang="en-US" sz="2800" dirty="0" smtClean="0"/>
              <a:t> </a:t>
            </a:r>
            <a:r>
              <a:rPr lang="en-US" sz="2800" dirty="0" err="1" smtClean="0"/>
              <a:t>thân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.</a:t>
            </a:r>
          </a:p>
          <a:p>
            <a:pPr>
              <a:buFontTx/>
              <a:buNone/>
              <a:defRPr/>
            </a:pPr>
            <a:r>
              <a:rPr lang="en-US" sz="2800" dirty="0" err="1" smtClean="0"/>
              <a:t>Tổng</a:t>
            </a:r>
            <a:r>
              <a:rPr lang="en-US" sz="2800" dirty="0" smtClean="0"/>
              <a:t> </a:t>
            </a:r>
            <a:r>
              <a:rPr lang="en-US" sz="2800" dirty="0" err="1" smtClean="0"/>
              <a:t>số</a:t>
            </a:r>
            <a:r>
              <a:rPr lang="en-US" sz="2800" dirty="0" smtClean="0"/>
              <a:t> </a:t>
            </a:r>
            <a:r>
              <a:rPr lang="en-US" sz="2800" dirty="0" err="1" smtClean="0"/>
              <a:t>phép</a:t>
            </a:r>
            <a:r>
              <a:rPr lang="en-US" sz="2800" dirty="0" smtClean="0"/>
              <a:t> </a:t>
            </a:r>
            <a:r>
              <a:rPr lang="en-US" sz="2800" dirty="0" err="1" smtClean="0"/>
              <a:t>toán</a:t>
            </a:r>
            <a:r>
              <a:rPr lang="en-US" sz="2800" dirty="0" smtClean="0"/>
              <a:t> </a:t>
            </a:r>
            <a:r>
              <a:rPr lang="en-US" sz="2800" dirty="0" err="1" smtClean="0"/>
              <a:t>sơ</a:t>
            </a:r>
            <a:r>
              <a:rPr lang="en-US" sz="2800" dirty="0" smtClean="0"/>
              <a:t> </a:t>
            </a:r>
            <a:r>
              <a:rPr lang="en-US" sz="2800" dirty="0" err="1" smtClean="0"/>
              <a:t>cấp</a:t>
            </a:r>
            <a:r>
              <a:rPr lang="en-US" sz="2800" dirty="0" smtClean="0"/>
              <a:t> </a:t>
            </a:r>
            <a:r>
              <a:rPr lang="en-US" sz="2800" dirty="0" err="1" smtClean="0"/>
              <a:t>cần</a:t>
            </a:r>
            <a:r>
              <a:rPr lang="en-US" sz="2800" dirty="0" smtClean="0"/>
              <a:t> </a:t>
            </a:r>
            <a:r>
              <a:rPr lang="en-US" sz="2800" dirty="0" err="1" smtClean="0"/>
              <a:t>thiết</a:t>
            </a:r>
            <a:r>
              <a:rPr lang="en-US" sz="2800" dirty="0" smtClean="0"/>
              <a:t> </a:t>
            </a:r>
            <a:r>
              <a:rPr lang="en-US" sz="2800" dirty="0" err="1" smtClean="0"/>
              <a:t>để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thuật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dirty="0" err="1" smtClean="0"/>
              <a:t>cách</a:t>
            </a:r>
            <a:r>
              <a:rPr lang="en-US" sz="2800" dirty="0" smtClean="0"/>
              <a:t> </a:t>
            </a:r>
          </a:p>
          <a:p>
            <a:pPr>
              <a:buFontTx/>
              <a:buNone/>
              <a:defRPr/>
            </a:pP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đáp</a:t>
            </a:r>
            <a:r>
              <a:rPr lang="en-US" sz="2800" dirty="0" smtClean="0"/>
              <a:t> </a:t>
            </a:r>
            <a:r>
              <a:rPr lang="en-US" sz="2800" dirty="0" err="1" smtClean="0"/>
              <a:t>ứng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yêu</a:t>
            </a:r>
            <a:r>
              <a:rPr lang="en-US" sz="2800" dirty="0" smtClean="0"/>
              <a:t> </a:t>
            </a:r>
            <a:r>
              <a:rPr lang="en-US" sz="2800" dirty="0" err="1" smtClean="0"/>
              <a:t>cầu</a:t>
            </a:r>
            <a:r>
              <a:rPr lang="en-US" sz="2800" dirty="0" smtClean="0"/>
              <a:t> </a:t>
            </a:r>
            <a:r>
              <a:rPr lang="en-US" sz="2800" dirty="0" err="1" smtClean="0"/>
              <a:t>trên</a:t>
            </a:r>
            <a:r>
              <a:rPr lang="en-US" sz="2800" dirty="0" smtClean="0"/>
              <a:t>. 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Tx/>
              <a:buNone/>
            </a:pPr>
            <a:r>
              <a:rPr lang="en-US" b="1" i="1" dirty="0" smtClean="0"/>
              <a:t>3.</a:t>
            </a:r>
            <a:r>
              <a:rPr lang="en-US" b="1" i="1" dirty="0" smtClean="0">
                <a:latin typeface=".VnTime" pitchFamily="34" charset="0"/>
              </a:rPr>
              <a:t> §é </a:t>
            </a:r>
            <a:r>
              <a:rPr lang="en-US" b="1" i="1" dirty="0" err="1" smtClean="0">
                <a:latin typeface=".VnTime" pitchFamily="34" charset="0"/>
              </a:rPr>
              <a:t>phøc</a:t>
            </a:r>
            <a:r>
              <a:rPr lang="en-US" b="1" i="1" dirty="0" smtClean="0">
                <a:latin typeface=".VnTime" pitchFamily="34" charset="0"/>
              </a:rPr>
              <a:t> t¹p </a:t>
            </a:r>
            <a:r>
              <a:rPr lang="en-US" b="1" i="1" dirty="0" err="1" smtClean="0">
                <a:latin typeface=".VnTime" pitchFamily="34" charset="0"/>
              </a:rPr>
              <a:t>vÒ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thêi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gian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thùc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hiÖn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gi¶i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thuËt</a:t>
            </a:r>
            <a:r>
              <a:rPr lang="en-US" b="1" i="1" dirty="0" smtClean="0">
                <a:latin typeface=".VnTime" pitchFamily="34" charset="0"/>
              </a:rPr>
              <a:t> </a:t>
            </a:r>
          </a:p>
          <a:p>
            <a:pPr>
              <a:buFontTx/>
              <a:buNone/>
            </a:pPr>
            <a:endParaRPr lang="en-US" b="1" i="1" dirty="0" smtClean="0">
              <a:latin typeface=".VnTime" pitchFamily="34" charset="0"/>
            </a:endParaRPr>
          </a:p>
          <a:p>
            <a:r>
              <a:rPr lang="en-US" sz="2800" dirty="0" err="1" smtClean="0">
                <a:latin typeface=".VnTime" pitchFamily="34" charset="0"/>
              </a:rPr>
              <a:t>Gäi</a:t>
            </a:r>
            <a:r>
              <a:rPr lang="en-US" sz="2800" dirty="0" smtClean="0">
                <a:latin typeface=".VnTime" pitchFamily="34" charset="0"/>
              </a:rPr>
              <a:t> n lµ </a:t>
            </a:r>
            <a:r>
              <a:rPr lang="en-US" sz="2800" dirty="0" err="1" smtClean="0">
                <a:latin typeface=".VnTime" pitchFamily="34" charset="0"/>
              </a:rPr>
              <a:t>kÝch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th­íc</a:t>
            </a:r>
            <a:r>
              <a:rPr lang="en-US" sz="2800" dirty="0" smtClean="0">
                <a:latin typeface=".VnTime" pitchFamily="34" charset="0"/>
              </a:rPr>
              <a:t> d÷ </a:t>
            </a:r>
            <a:r>
              <a:rPr lang="en-US" sz="2800" dirty="0" err="1" smtClean="0">
                <a:latin typeface=".VnTime" pitchFamily="34" charset="0"/>
              </a:rPr>
              <a:t>liÖu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nhËp</a:t>
            </a:r>
            <a:r>
              <a:rPr lang="en-US" sz="2800" dirty="0" smtClean="0">
                <a:latin typeface=".VnTime" pitchFamily="34" charset="0"/>
              </a:rPr>
              <a:t>. </a:t>
            </a:r>
          </a:p>
          <a:p>
            <a:r>
              <a:rPr lang="en-US" sz="2800" dirty="0" smtClean="0">
                <a:latin typeface=".VnTime" pitchFamily="34" charset="0"/>
              </a:rPr>
              <a:t>T(n) lµ </a:t>
            </a:r>
            <a:r>
              <a:rPr lang="en-US" sz="2800" dirty="0" err="1" smtClean="0">
                <a:latin typeface=".VnTime" pitchFamily="34" charset="0"/>
              </a:rPr>
              <a:t>thêi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gian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thùc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hiÖn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gi¶i</a:t>
            </a:r>
            <a:r>
              <a:rPr lang="en-US" sz="2800" dirty="0" smtClean="0">
                <a:latin typeface=".VnTime" pitchFamily="34" charset="0"/>
              </a:rPr>
              <a:t> </a:t>
            </a:r>
            <a:r>
              <a:rPr lang="en-US" sz="2800" dirty="0" err="1" smtClean="0">
                <a:latin typeface=".VnTime" pitchFamily="34" charset="0"/>
              </a:rPr>
              <a:t>thuËt</a:t>
            </a:r>
            <a:r>
              <a:rPr lang="en-US" sz="2800" dirty="0" smtClean="0">
                <a:latin typeface=".VnTime" pitchFamily="34" charset="0"/>
              </a:rPr>
              <a:t> </a:t>
            </a:r>
            <a:endParaRPr lang="en-US" sz="2800" dirty="0" smtClean="0">
              <a:latin typeface=".VnTime" pitchFamily="34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Nếu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thời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gian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thực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hiện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một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giải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thuật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là</a:t>
            </a:r>
            <a:r>
              <a:rPr lang="en-US" sz="2800" dirty="0" smtClean="0">
                <a:cs typeface="Times New Roman" pitchFamily="18" charset="0"/>
              </a:rPr>
              <a:t>: T(n) = c.n</a:t>
            </a:r>
            <a:r>
              <a:rPr lang="en-US" sz="2800" baseline="30000" dirty="0" smtClean="0">
                <a:cs typeface="Times New Roman" pitchFamily="18" charset="0"/>
              </a:rPr>
              <a:t>2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sz="2800" baseline="30000" dirty="0" smtClean="0">
                <a:cs typeface="Times New Roman" pitchFamily="18" charset="0"/>
              </a:rPr>
              <a:t>	</a:t>
            </a:r>
            <a:r>
              <a:rPr lang="en-US" sz="2800" dirty="0" smtClean="0">
                <a:cs typeface="Times New Roman" pitchFamily="18" charset="0"/>
              </a:rPr>
              <a:t>(</a:t>
            </a:r>
            <a:r>
              <a:rPr lang="en-US" sz="2800" dirty="0" err="1" smtClean="0">
                <a:cs typeface="Times New Roman" pitchFamily="18" charset="0"/>
              </a:rPr>
              <a:t>với</a:t>
            </a:r>
            <a:r>
              <a:rPr lang="en-US" sz="2800" dirty="0" smtClean="0">
                <a:cs typeface="Times New Roman" pitchFamily="18" charset="0"/>
              </a:rPr>
              <a:t> c </a:t>
            </a:r>
            <a:r>
              <a:rPr lang="en-US" sz="2800" dirty="0" err="1" smtClean="0">
                <a:cs typeface="Times New Roman" pitchFamily="18" charset="0"/>
              </a:rPr>
              <a:t>là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hằng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số</a:t>
            </a:r>
            <a:r>
              <a:rPr lang="en-US" sz="2800" dirty="0" smtClean="0">
                <a:cs typeface="Times New Roman" pitchFamily="18" charset="0"/>
              </a:rPr>
              <a:t>) 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sz="2800" dirty="0" smtClean="0">
                <a:cs typeface="Times New Roman" pitchFamily="18" charset="0"/>
              </a:rPr>
              <a:t> Ta </a:t>
            </a:r>
            <a:r>
              <a:rPr lang="en-US" sz="2800" dirty="0" err="1" smtClean="0">
                <a:cs typeface="Times New Roman" pitchFamily="18" charset="0"/>
              </a:rPr>
              <a:t>nói</a:t>
            </a:r>
            <a:r>
              <a:rPr lang="en-US" sz="2800" dirty="0" smtClean="0">
                <a:cs typeface="Times New Roman" pitchFamily="18" charset="0"/>
              </a:rPr>
              <a:t>: </a:t>
            </a:r>
            <a:r>
              <a:rPr lang="en-US" sz="2800" dirty="0" err="1" smtClean="0">
                <a:cs typeface="Times New Roman" pitchFamily="18" charset="0"/>
              </a:rPr>
              <a:t>Độ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phức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tạp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về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thời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gian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của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giải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thuật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này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có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cấp</a:t>
            </a:r>
            <a:r>
              <a:rPr lang="en-US" sz="2800" dirty="0" smtClean="0">
                <a:cs typeface="Times New Roman" pitchFamily="18" charset="0"/>
              </a:rPr>
              <a:t> n</a:t>
            </a:r>
            <a:r>
              <a:rPr lang="en-US" sz="2800" baseline="30000" dirty="0" smtClean="0">
                <a:cs typeface="Times New Roman" pitchFamily="18" charset="0"/>
              </a:rPr>
              <a:t>2</a:t>
            </a:r>
            <a:r>
              <a:rPr lang="en-US" sz="2800" dirty="0" smtClean="0">
                <a:cs typeface="Times New Roman" pitchFamily="18" charset="0"/>
              </a:rPr>
              <a:t>  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sz="2800" dirty="0" smtClean="0">
                <a:cs typeface="Times New Roman" pitchFamily="18" charset="0"/>
              </a:rPr>
              <a:t>  </a:t>
            </a:r>
            <a:r>
              <a:rPr lang="en-US" sz="2800" dirty="0" err="1" smtClean="0">
                <a:cs typeface="Times New Roman" pitchFamily="18" charset="0"/>
              </a:rPr>
              <a:t>Ký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hiệu</a:t>
            </a:r>
            <a:r>
              <a:rPr lang="en-US" sz="2800" dirty="0" smtClean="0">
                <a:cs typeface="Times New Roman" pitchFamily="18" charset="0"/>
              </a:rPr>
              <a:t>: T(n) = O(n</a:t>
            </a:r>
            <a:r>
              <a:rPr lang="en-US" sz="2800" baseline="30000" dirty="0" smtClean="0">
                <a:cs typeface="Times New Roman" pitchFamily="18" charset="0"/>
              </a:rPr>
              <a:t>2</a:t>
            </a:r>
            <a:r>
              <a:rPr lang="en-US" sz="2800" dirty="0" smtClean="0">
                <a:cs typeface="Times New Roman" pitchFamily="18" charset="0"/>
              </a:rPr>
              <a:t>)  (</a:t>
            </a:r>
            <a:r>
              <a:rPr lang="en-US" sz="2800" dirty="0" err="1" smtClean="0">
                <a:cs typeface="Times New Roman" pitchFamily="18" charset="0"/>
              </a:rPr>
              <a:t>ký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hiệu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 err="1" smtClean="0">
                <a:cs typeface="Times New Roman" pitchFamily="18" charset="0"/>
              </a:rPr>
              <a:t>chữ</a:t>
            </a:r>
            <a:r>
              <a:rPr lang="en-US" sz="2800" dirty="0" smtClean="0">
                <a:cs typeface="Times New Roman" pitchFamily="18" charset="0"/>
              </a:rPr>
              <a:t> O </a:t>
            </a:r>
            <a:r>
              <a:rPr lang="en-US" sz="2800" dirty="0" err="1" smtClean="0">
                <a:cs typeface="Times New Roman" pitchFamily="18" charset="0"/>
              </a:rPr>
              <a:t>lớn</a:t>
            </a:r>
            <a:r>
              <a:rPr lang="en-US" sz="2800" dirty="0" smtClean="0">
                <a:cs typeface="Times New Roman" pitchFamily="18" charset="0"/>
              </a:rPr>
              <a:t>)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endParaRPr lang="en-US" sz="2800" dirty="0" smtClean="0">
              <a:cs typeface="Times New Roman" pitchFamily="18" charset="0"/>
            </a:endParaRPr>
          </a:p>
          <a:p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62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i="1" dirty="0" smtClean="0"/>
              <a:t>3.</a:t>
            </a:r>
            <a:r>
              <a:rPr lang="en-US" b="1" i="1" dirty="0" smtClean="0">
                <a:latin typeface=".VnTime" pitchFamily="34" charset="0"/>
              </a:rPr>
              <a:t> §é </a:t>
            </a:r>
            <a:r>
              <a:rPr lang="en-US" b="1" i="1" dirty="0" err="1" smtClean="0">
                <a:latin typeface=".VnTime" pitchFamily="34" charset="0"/>
              </a:rPr>
              <a:t>phøc</a:t>
            </a:r>
            <a:r>
              <a:rPr lang="en-US" b="1" i="1" dirty="0" smtClean="0">
                <a:latin typeface=".VnTime" pitchFamily="34" charset="0"/>
              </a:rPr>
              <a:t> t¹p </a:t>
            </a:r>
            <a:r>
              <a:rPr lang="en-US" b="1" i="1" dirty="0" err="1" smtClean="0">
                <a:latin typeface=".VnTime" pitchFamily="34" charset="0"/>
              </a:rPr>
              <a:t>vÒ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thêi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gian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thùc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hiÖn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gi¶i</a:t>
            </a:r>
            <a:r>
              <a:rPr lang="en-US" b="1" i="1" dirty="0" smtClean="0">
                <a:latin typeface=".VnTime" pitchFamily="34" charset="0"/>
              </a:rPr>
              <a:t> </a:t>
            </a:r>
            <a:r>
              <a:rPr lang="en-US" b="1" i="1" dirty="0" err="1" smtClean="0">
                <a:latin typeface=".VnTime" pitchFamily="34" charset="0"/>
              </a:rPr>
              <a:t>thuËt</a:t>
            </a:r>
            <a:r>
              <a:rPr lang="en-US" b="1" i="1" dirty="0" smtClean="0">
                <a:latin typeface=".VnTime" pitchFamily="34" charset="0"/>
              </a:rPr>
              <a:t> </a:t>
            </a:r>
          </a:p>
          <a:p>
            <a:pPr>
              <a:buFontTx/>
              <a:buNone/>
            </a:pPr>
            <a:endParaRPr lang="en-US" sz="2800" dirty="0" smtClean="0"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endParaRPr lang="en-US" sz="2800" dirty="0" smtClean="0">
              <a:cs typeface="Times New Roman" pitchFamily="18" charset="0"/>
            </a:endParaRPr>
          </a:p>
          <a:p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Box 61"/>
          <p:cNvSpPr txBox="1">
            <a:spLocks noChangeArrowheads="1"/>
          </p:cNvSpPr>
          <p:nvPr/>
        </p:nvSpPr>
        <p:spPr bwMode="auto">
          <a:xfrm>
            <a:off x="927100" y="2209800"/>
            <a:ext cx="7899400" cy="3559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dirty="0" err="1">
                <a:cs typeface="Times New Roman" pitchFamily="18" charset="0"/>
              </a:rPr>
              <a:t>Định</a:t>
            </a:r>
            <a:r>
              <a:rPr lang="en-US" sz="2400" b="1" i="1" dirty="0">
                <a:cs typeface="Times New Roman" pitchFamily="18" charset="0"/>
              </a:rPr>
              <a:t> </a:t>
            </a:r>
            <a:r>
              <a:rPr lang="en-US" sz="2400" b="1" i="1" dirty="0" err="1">
                <a:cs typeface="Times New Roman" pitchFamily="18" charset="0"/>
              </a:rPr>
              <a:t>nghĩa</a:t>
            </a:r>
            <a:r>
              <a:rPr lang="en-US" sz="2400" b="1" i="1" dirty="0">
                <a:cs typeface="Times New Roman" pitchFamily="18" charset="0"/>
              </a:rPr>
              <a:t>: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	</a:t>
            </a:r>
            <a:r>
              <a:rPr lang="en-US" sz="2400" dirty="0" err="1">
                <a:cs typeface="Times New Roman" pitchFamily="18" charset="0"/>
              </a:rPr>
              <a:t>Một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hàm</a:t>
            </a:r>
            <a:r>
              <a:rPr lang="en-US" sz="2400" dirty="0">
                <a:cs typeface="Times New Roman" pitchFamily="18" charset="0"/>
              </a:rPr>
              <a:t> T(n) </a:t>
            </a:r>
            <a:r>
              <a:rPr lang="en-US" sz="2400" dirty="0" err="1">
                <a:cs typeface="Times New Roman" pitchFamily="18" charset="0"/>
              </a:rPr>
              <a:t>được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xác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định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là</a:t>
            </a:r>
            <a:r>
              <a:rPr lang="en-US" sz="2400" dirty="0">
                <a:cs typeface="Times New Roman" pitchFamily="18" charset="0"/>
              </a:rPr>
              <a:t> O(g(n)):  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			T(n)=O(g(n)) 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	</a:t>
            </a:r>
            <a:r>
              <a:rPr lang="en-US" sz="2400" dirty="0" err="1">
                <a:cs typeface="Times New Roman" pitchFamily="18" charset="0"/>
              </a:rPr>
              <a:t>và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được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gọi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là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cấp</a:t>
            </a:r>
            <a:r>
              <a:rPr lang="en-US" sz="2400" dirty="0">
                <a:cs typeface="Times New Roman" pitchFamily="18" charset="0"/>
              </a:rPr>
              <a:t> g(n) </a:t>
            </a:r>
            <a:r>
              <a:rPr lang="en-US" sz="2400" dirty="0" err="1">
                <a:cs typeface="Times New Roman" pitchFamily="18" charset="0"/>
              </a:rPr>
              <a:t>nếu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tồn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tại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các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hàng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số</a:t>
            </a:r>
            <a:r>
              <a:rPr lang="en-US" sz="2400" dirty="0">
                <a:cs typeface="Times New Roman" pitchFamily="18" charset="0"/>
              </a:rPr>
              <a:t> c </a:t>
            </a:r>
            <a:r>
              <a:rPr lang="en-US" sz="2400" dirty="0" err="1">
                <a:cs typeface="Times New Roman" pitchFamily="18" charset="0"/>
              </a:rPr>
              <a:t>và</a:t>
            </a:r>
            <a:r>
              <a:rPr lang="en-US" sz="2400" dirty="0">
                <a:cs typeface="Times New Roman" pitchFamily="18" charset="0"/>
              </a:rPr>
              <a:t> 	n</a:t>
            </a:r>
            <a:r>
              <a:rPr lang="en-US" sz="2400" baseline="-30000" dirty="0">
                <a:cs typeface="Times New Roman" pitchFamily="18" charset="0"/>
              </a:rPr>
              <a:t>0 </a:t>
            </a:r>
            <a:r>
              <a:rPr lang="en-US" sz="2400" baseline="300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sao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cho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                     	T(n)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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c.g</a:t>
            </a:r>
            <a:r>
              <a:rPr lang="en-US" sz="2400" dirty="0">
                <a:cs typeface="Times New Roman" pitchFamily="18" charset="0"/>
              </a:rPr>
              <a:t>(n) </a:t>
            </a:r>
            <a:r>
              <a:rPr lang="en-US" sz="2400" dirty="0" err="1">
                <a:cs typeface="Times New Roman" pitchFamily="18" charset="0"/>
              </a:rPr>
              <a:t>khi</a:t>
            </a:r>
            <a:r>
              <a:rPr lang="en-US" sz="2400" dirty="0">
                <a:cs typeface="Times New Roman" pitchFamily="18" charset="0"/>
              </a:rPr>
              <a:t> n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</a:t>
            </a:r>
            <a:r>
              <a:rPr lang="en-US" sz="2400" dirty="0">
                <a:cs typeface="Times New Roman" pitchFamily="18" charset="0"/>
              </a:rPr>
              <a:t> n</a:t>
            </a:r>
            <a:r>
              <a:rPr lang="en-US" sz="2400" baseline="-30000" dirty="0">
                <a:cs typeface="Times New Roman" pitchFamily="18" charset="0"/>
              </a:rPr>
              <a:t>0</a:t>
            </a:r>
            <a:r>
              <a:rPr lang="en-US" sz="2400" dirty="0"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143000" y="2057400"/>
            <a:ext cx="4876800" cy="411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9D3DBE7-D337-4896-8B7E-BE2809585F82}" type="datetime1">
              <a:rPr lang="en-US" smtClean="0"/>
              <a:pPr/>
              <a:t>9/17/2015</a:t>
            </a:fld>
            <a:endParaRPr lang="en-US" smtClean="0"/>
          </a:p>
        </p:txBody>
      </p:sp>
      <p:sp>
        <p:nvSpPr>
          <p:cNvPr id="3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71BB59-D96B-4467-B1C7-9EB0CF9B2815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3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900" y="1447800"/>
            <a:ext cx="8674100" cy="4648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2800" b="1" i="1" dirty="0" smtClean="0">
                <a:solidFill>
                  <a:srgbClr val="00FF00"/>
                </a:solidFill>
                <a:latin typeface=".VnTime" pitchFamily="34" charset="0"/>
              </a:rPr>
              <a:t>	</a:t>
            </a:r>
            <a:r>
              <a:rPr lang="en-US" sz="2800" b="1" i="1" dirty="0" smtClean="0">
                <a:latin typeface=".VnTime" pitchFamily="34" charset="0"/>
              </a:rPr>
              <a:t>4.</a:t>
            </a:r>
            <a:r>
              <a:rPr lang="en-US" sz="2800" b="1" dirty="0" smtClean="0">
                <a:latin typeface=".VnTime" pitchFamily="34" charset="0"/>
              </a:rPr>
              <a:t> </a:t>
            </a:r>
            <a:r>
              <a:rPr lang="en-US" sz="2800" b="1" i="1" dirty="0" err="1" smtClean="0">
                <a:latin typeface=".VnTime" pitchFamily="34" charset="0"/>
              </a:rPr>
              <a:t>C¸c</a:t>
            </a:r>
            <a:r>
              <a:rPr lang="en-US" sz="2800" b="1" i="1" dirty="0" smtClean="0">
                <a:latin typeface=".VnTime" pitchFamily="34" charset="0"/>
              </a:rPr>
              <a:t> ®¬n </a:t>
            </a:r>
            <a:r>
              <a:rPr lang="en-US" sz="2800" b="1" i="1" dirty="0" err="1" smtClean="0">
                <a:latin typeface=".VnTime" pitchFamily="34" charset="0"/>
              </a:rPr>
              <a:t>vÞ</a:t>
            </a:r>
            <a:r>
              <a:rPr lang="en-US" sz="2800" b="1" i="1" dirty="0" smtClean="0">
                <a:latin typeface=".VnTime" pitchFamily="34" charset="0"/>
              </a:rPr>
              <a:t> ®o </a:t>
            </a:r>
            <a:r>
              <a:rPr lang="en-US" sz="2800" b="1" i="1" dirty="0" err="1" smtClean="0">
                <a:latin typeface=".VnTime" pitchFamily="34" charset="0"/>
              </a:rPr>
              <a:t>tèc</a:t>
            </a:r>
            <a:r>
              <a:rPr lang="en-US" sz="2800" b="1" i="1" dirty="0" smtClean="0">
                <a:latin typeface=".VnTime" pitchFamily="34" charset="0"/>
              </a:rPr>
              <a:t> ®é 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2400" i="1" dirty="0" smtClean="0">
                <a:solidFill>
                  <a:srgbClr val="FFFFFF"/>
                </a:solidFill>
                <a:latin typeface=".VnTime" pitchFamily="34" charset="0"/>
              </a:rPr>
              <a:t>  		</a:t>
            </a:r>
            <a:r>
              <a:rPr lang="en-US" sz="2400" i="1" dirty="0" smtClean="0">
                <a:solidFill>
                  <a:srgbClr val="FFFF00"/>
                </a:solidFill>
                <a:latin typeface=".VnTime" pitchFamily="34" charset="0"/>
              </a:rPr>
              <a:t>g(n) = c (</a:t>
            </a:r>
            <a:r>
              <a:rPr lang="en-US" sz="2400" i="1" dirty="0" err="1" smtClean="0">
                <a:solidFill>
                  <a:srgbClr val="FFFF00"/>
                </a:solidFill>
                <a:latin typeface=".VnTime" pitchFamily="34" charset="0"/>
              </a:rPr>
              <a:t>h»ng</a:t>
            </a:r>
            <a:r>
              <a:rPr lang="en-US" sz="2400" i="1" dirty="0" smtClean="0">
                <a:solidFill>
                  <a:srgbClr val="FFFF00"/>
                </a:solidFill>
                <a:latin typeface=".VnTime" pitchFamily="34" charset="0"/>
              </a:rPr>
              <a:t> </a:t>
            </a:r>
            <a:r>
              <a:rPr lang="en-US" sz="2400" i="1" dirty="0" err="1" smtClean="0">
                <a:solidFill>
                  <a:srgbClr val="FFFF00"/>
                </a:solidFill>
                <a:latin typeface=".VnTime" pitchFamily="34" charset="0"/>
              </a:rPr>
              <a:t>sè</a:t>
            </a:r>
            <a:r>
              <a:rPr lang="en-US" sz="2400" i="1" dirty="0" smtClean="0">
                <a:solidFill>
                  <a:srgbClr val="FFFF00"/>
                </a:solidFill>
                <a:latin typeface=".VnTime" pitchFamily="34" charset="0"/>
              </a:rPr>
              <a:t>)       T(n) = O(1)  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2400" i="1" dirty="0" smtClean="0">
                <a:solidFill>
                  <a:srgbClr val="FFFFFF"/>
                </a:solidFill>
                <a:latin typeface=".VnTime" pitchFamily="34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rgbClr val="FFFFFF"/>
                </a:solidFill>
                <a:latin typeface=".VnTime" pitchFamily="34" charset="0"/>
              </a:rPr>
              <a:t> </a:t>
            </a:r>
          </a:p>
        </p:txBody>
      </p:sp>
      <p:graphicFrame>
        <p:nvGraphicFramePr>
          <p:cNvPr id="3074" name="Object 10"/>
          <p:cNvGraphicFramePr>
            <a:graphicFrameLocks noChangeAspect="1"/>
          </p:cNvGraphicFramePr>
          <p:nvPr/>
        </p:nvGraphicFramePr>
        <p:xfrm>
          <a:off x="1422400" y="3151188"/>
          <a:ext cx="2368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" name="Equation" r:id="rId3" imgW="3162240" imgH="431640" progId="Equation.DSMT4">
                  <p:embed/>
                </p:oleObj>
              </mc:Choice>
              <mc:Fallback>
                <p:oleObj name="Equation" r:id="rId3" imgW="3162240" imgH="431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151188"/>
                        <a:ext cx="23685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1"/>
          <p:cNvGraphicFramePr>
            <a:graphicFrameLocks noChangeAspect="1"/>
          </p:cNvGraphicFramePr>
          <p:nvPr/>
        </p:nvGraphicFramePr>
        <p:xfrm>
          <a:off x="1460500" y="3748088"/>
          <a:ext cx="384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" name="Equation" r:id="rId5" imgW="4647960" imgH="380880" progId="Equation.DSMT4">
                  <p:embed/>
                </p:oleObj>
              </mc:Choice>
              <mc:Fallback>
                <p:oleObj name="Equation" r:id="rId5" imgW="4647960" imgH="3808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748088"/>
                        <a:ext cx="3848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2"/>
          <p:cNvGraphicFramePr>
            <a:graphicFrameLocks noChangeAspect="1"/>
          </p:cNvGraphicFramePr>
          <p:nvPr/>
        </p:nvGraphicFramePr>
        <p:xfrm>
          <a:off x="1409700" y="4332288"/>
          <a:ext cx="256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Equation" r:id="rId7" imgW="3327120" imgH="406080" progId="Equation.DSMT4">
                  <p:embed/>
                </p:oleObj>
              </mc:Choice>
              <mc:Fallback>
                <p:oleObj name="Equation" r:id="rId7" imgW="3327120" imgH="4060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4332288"/>
                        <a:ext cx="2565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3"/>
          <p:cNvGraphicFramePr>
            <a:graphicFrameLocks noChangeAspect="1"/>
          </p:cNvGraphicFramePr>
          <p:nvPr/>
        </p:nvGraphicFramePr>
        <p:xfrm>
          <a:off x="1422400" y="4992688"/>
          <a:ext cx="245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Equation" r:id="rId9" imgW="3301920" imgH="406080" progId="Equation.DSMT4">
                  <p:embed/>
                </p:oleObj>
              </mc:Choice>
              <mc:Fallback>
                <p:oleObj name="Equation" r:id="rId9" imgW="3301920" imgH="4060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4992688"/>
                        <a:ext cx="2451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4"/>
          <p:cNvGraphicFramePr>
            <a:graphicFrameLocks noChangeAspect="1"/>
          </p:cNvGraphicFramePr>
          <p:nvPr/>
        </p:nvGraphicFramePr>
        <p:xfrm>
          <a:off x="1447800" y="5640388"/>
          <a:ext cx="241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Equation" r:id="rId11" imgW="3327120" imgH="406080" progId="Equation.DSMT4">
                  <p:embed/>
                </p:oleObj>
              </mc:Choice>
              <mc:Fallback>
                <p:oleObj name="Equation" r:id="rId11" imgW="3327120" imgH="4060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640388"/>
                        <a:ext cx="2413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17"/>
          <p:cNvGraphicFramePr>
            <a:graphicFrameLocks noChangeAspect="1"/>
          </p:cNvGraphicFramePr>
          <p:nvPr/>
        </p:nvGraphicFramePr>
        <p:xfrm>
          <a:off x="1422400" y="2592388"/>
          <a:ext cx="416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Equation" r:id="rId13" imgW="4165560" imgH="380880" progId="Equation.DSMT4">
                  <p:embed/>
                </p:oleObj>
              </mc:Choice>
              <mc:Fallback>
                <p:oleObj name="Equation" r:id="rId13" imgW="4165560" imgH="3808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2592388"/>
                        <a:ext cx="4165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18"/>
          <p:cNvGraphicFramePr>
            <a:graphicFrameLocks noChangeAspect="1"/>
          </p:cNvGraphicFramePr>
          <p:nvPr/>
        </p:nvGraphicFramePr>
        <p:xfrm>
          <a:off x="3759200" y="2222500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" name="Equation" r:id="rId15" imgW="330120" imgH="228600" progId="Equation.DSMT4">
                  <p:embed/>
                </p:oleObj>
              </mc:Choice>
              <mc:Fallback>
                <p:oleObj name="Equation" r:id="rId15" imgW="33012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2222500"/>
                        <a:ext cx="330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mtClean="0">
                <a:latin typeface="Arial" pitchFamily="34" charset="0"/>
                <a:cs typeface="Arial" pitchFamily="34" charset="0"/>
              </a:rPr>
              <a:t>Trình bày thuật toán:</a:t>
            </a:r>
          </a:p>
          <a:p>
            <a:pPr marL="514350" indent="-514350">
              <a:buAutoNum type="arabicPeriod"/>
            </a:pPr>
            <a:r>
              <a:rPr lang="en-US" smtClean="0">
                <a:latin typeface="Arial" charset="0"/>
                <a:cs typeface="Arial" charset="0"/>
              </a:rPr>
              <a:t>Nhập </a:t>
            </a:r>
            <a:r>
              <a:rPr lang="en-US">
                <a:latin typeface="Arial" charset="0"/>
                <a:cs typeface="Arial" charset="0"/>
              </a:rPr>
              <a:t>n</a:t>
            </a:r>
            <a:r>
              <a:rPr lang="vi-VN">
                <a:latin typeface="Arial" charset="0"/>
                <a:cs typeface="Arial" charset="0"/>
              </a:rPr>
              <a:t>ă</a:t>
            </a:r>
            <a:r>
              <a:rPr lang="en-US">
                <a:latin typeface="Arial" charset="0"/>
                <a:cs typeface="Arial" charset="0"/>
              </a:rPr>
              <a:t>m sinh của một ng</a:t>
            </a:r>
            <a:r>
              <a:rPr lang="vi-VN">
                <a:latin typeface="Arial" charset="0"/>
                <a:cs typeface="Arial" charset="0"/>
              </a:rPr>
              <a:t>ườ</a:t>
            </a:r>
            <a:r>
              <a:rPr lang="en-US">
                <a:latin typeface="Arial" charset="0"/>
                <a:cs typeface="Arial" charset="0"/>
              </a:rPr>
              <a:t>i. Tính tuổi ng</a:t>
            </a:r>
            <a:r>
              <a:rPr lang="vi-VN">
                <a:latin typeface="Arial" charset="0"/>
                <a:cs typeface="Arial" charset="0"/>
              </a:rPr>
              <a:t>ườ</a:t>
            </a:r>
            <a:r>
              <a:rPr lang="en-US">
                <a:latin typeface="Arial" charset="0"/>
                <a:cs typeface="Arial" charset="0"/>
              </a:rPr>
              <a:t>i </a:t>
            </a:r>
            <a:r>
              <a:rPr lang="vi-VN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>
                <a:latin typeface="Arial" charset="0"/>
                <a:cs typeface="Arial" charset="0"/>
              </a:rPr>
              <a:t>Nhập 2 số a và b. Tính tổng, hiệu, tính và th</a:t>
            </a:r>
            <a:r>
              <a:rPr lang="vi-VN">
                <a:latin typeface="Arial" charset="0"/>
                <a:cs typeface="Arial" charset="0"/>
              </a:rPr>
              <a:t>ươ</a:t>
            </a:r>
            <a:r>
              <a:rPr lang="en-US">
                <a:latin typeface="Arial" charset="0"/>
                <a:cs typeface="Arial" charset="0"/>
              </a:rPr>
              <a:t>ng của hai số </a:t>
            </a:r>
            <a:r>
              <a:rPr lang="vi-VN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  <a:endParaRPr lang="en-US">
              <a:latin typeface="Arial" charset="0"/>
              <a:cs typeface="Arial" charset="0"/>
            </a:endParaRPr>
          </a:p>
          <a:p>
            <a:pPr marL="514350" indent="-514350">
              <a:buAutoNum type="arabicPeriod"/>
            </a:pPr>
            <a:r>
              <a:rPr lang="en-US" smtClean="0">
                <a:latin typeface="Arial" charset="0"/>
                <a:cs typeface="Arial" charset="0"/>
              </a:rPr>
              <a:t>Nhập </a:t>
            </a:r>
            <a:r>
              <a:rPr lang="en-US">
                <a:latin typeface="Arial" charset="0"/>
                <a:cs typeface="Arial" charset="0"/>
              </a:rPr>
              <a:t>tên sản phẩm, số l</a:t>
            </a:r>
            <a:r>
              <a:rPr lang="vi-VN">
                <a:latin typeface="Arial" charset="0"/>
                <a:cs typeface="Arial" charset="0"/>
              </a:rPr>
              <a:t>ượ</a:t>
            </a:r>
            <a:r>
              <a:rPr lang="en-US">
                <a:latin typeface="Arial" charset="0"/>
                <a:cs typeface="Arial" charset="0"/>
              </a:rPr>
              <a:t>ng và </a:t>
            </a:r>
            <a:r>
              <a:rPr lang="vi-VN">
                <a:latin typeface="Arial" charset="0"/>
                <a:cs typeface="Arial" charset="0"/>
              </a:rPr>
              <a:t>đơ</a:t>
            </a:r>
            <a:r>
              <a:rPr lang="en-US">
                <a:latin typeface="Arial" charset="0"/>
                <a:cs typeface="Arial" charset="0"/>
              </a:rPr>
              <a:t>n giá. Tính tiền và thuế giá trị gia t</a:t>
            </a:r>
            <a:r>
              <a:rPr lang="vi-VN">
                <a:latin typeface="Arial" charset="0"/>
                <a:cs typeface="Arial" charset="0"/>
              </a:rPr>
              <a:t>ă</a:t>
            </a:r>
            <a:r>
              <a:rPr lang="en-US">
                <a:latin typeface="Arial" charset="0"/>
                <a:cs typeface="Arial" charset="0"/>
              </a:rPr>
              <a:t>ng phải trả, biết:</a:t>
            </a:r>
          </a:p>
          <a:p>
            <a:pPr marL="914400" lvl="1" indent="-514350">
              <a:buFont typeface="Verdana" pitchFamily="34" charset="0"/>
              <a:buAutoNum type="alphaLcPeriod"/>
            </a:pPr>
            <a:r>
              <a:rPr lang="en-US">
                <a:latin typeface="Arial" charset="0"/>
                <a:cs typeface="Arial" charset="0"/>
              </a:rPr>
              <a:t>tiền = số l</a:t>
            </a:r>
            <a:r>
              <a:rPr lang="vi-VN">
                <a:latin typeface="Arial" charset="0"/>
                <a:cs typeface="Arial" charset="0"/>
              </a:rPr>
              <a:t>ượ</a:t>
            </a:r>
            <a:r>
              <a:rPr lang="en-US">
                <a:latin typeface="Arial" charset="0"/>
                <a:cs typeface="Arial" charset="0"/>
              </a:rPr>
              <a:t>ng * </a:t>
            </a:r>
            <a:r>
              <a:rPr lang="vi-VN">
                <a:latin typeface="Arial" charset="0"/>
                <a:cs typeface="Arial" charset="0"/>
              </a:rPr>
              <a:t>đơ</a:t>
            </a:r>
            <a:r>
              <a:rPr lang="en-US">
                <a:latin typeface="Arial" charset="0"/>
                <a:cs typeface="Arial" charset="0"/>
              </a:rPr>
              <a:t>n giá</a:t>
            </a:r>
          </a:p>
          <a:p>
            <a:pPr marL="914400" lvl="1" indent="-514350">
              <a:buFont typeface="Verdana" pitchFamily="34" charset="0"/>
              <a:buAutoNum type="alphaLcPeriod"/>
            </a:pPr>
            <a:r>
              <a:rPr lang="en-US">
                <a:latin typeface="Arial" charset="0"/>
                <a:cs typeface="Arial" charset="0"/>
              </a:rPr>
              <a:t>thuế giá trị gia t</a:t>
            </a:r>
            <a:r>
              <a:rPr lang="vi-VN">
                <a:latin typeface="Arial" charset="0"/>
                <a:cs typeface="Arial" charset="0"/>
              </a:rPr>
              <a:t>ă</a:t>
            </a:r>
            <a:r>
              <a:rPr lang="en-US">
                <a:latin typeface="Arial" charset="0"/>
                <a:cs typeface="Arial" charset="0"/>
              </a:rPr>
              <a:t>ng = 10% tiền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>
                <a:latin typeface="Arial" charset="0"/>
                <a:cs typeface="Arial" charset="0"/>
              </a:rPr>
              <a:t>Nhập </a:t>
            </a:r>
            <a:r>
              <a:rPr lang="vi-VN">
                <a:latin typeface="Arial" charset="0"/>
                <a:cs typeface="Arial" charset="0"/>
              </a:rPr>
              <a:t>đ</a:t>
            </a:r>
            <a:r>
              <a:rPr lang="en-US">
                <a:latin typeface="Arial" charset="0"/>
                <a:cs typeface="Arial" charset="0"/>
              </a:rPr>
              <a:t>iểm thi và hệ số 3 môn Toán, Lý, Hóa của một sinh viên. Tính </a:t>
            </a:r>
            <a:r>
              <a:rPr lang="vi-VN">
                <a:latin typeface="Arial" charset="0"/>
                <a:cs typeface="Arial" charset="0"/>
              </a:rPr>
              <a:t>đ</a:t>
            </a:r>
            <a:r>
              <a:rPr lang="en-US">
                <a:latin typeface="Arial" charset="0"/>
                <a:cs typeface="Arial" charset="0"/>
              </a:rPr>
              <a:t>iểm trung bình của sinh viên </a:t>
            </a:r>
            <a:r>
              <a:rPr lang="vi-VN">
                <a:latin typeface="Arial" charset="0"/>
                <a:cs typeface="Arial" charset="0"/>
              </a:rPr>
              <a:t>đó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  <a:p>
            <a:pPr marL="514350" indent="-514350">
              <a:buFont typeface="Verdana" pitchFamily="34" charset="0"/>
              <a:buAutoNum type="arabicPeriod" startAt="4"/>
            </a:pPr>
            <a:r>
              <a:rPr lang="en-US">
                <a:latin typeface="Arial" charset="0"/>
                <a:cs typeface="Arial" charset="0"/>
              </a:rPr>
              <a:t>Nhập bán kính của </a:t>
            </a:r>
            <a:r>
              <a:rPr lang="vi-VN">
                <a:latin typeface="Arial" charset="0"/>
                <a:cs typeface="Arial" charset="0"/>
              </a:rPr>
              <a:t>đườ</a:t>
            </a:r>
            <a:r>
              <a:rPr lang="en-US">
                <a:latin typeface="Arial" charset="0"/>
                <a:cs typeface="Arial" charset="0"/>
              </a:rPr>
              <a:t>ng tròn. Tính chu vi và diện tích của hình tròn </a:t>
            </a:r>
            <a:r>
              <a:rPr lang="vi-VN">
                <a:latin typeface="Arial" charset="0"/>
                <a:cs typeface="Arial" charset="0"/>
              </a:rPr>
              <a:t>đó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  <a:p>
            <a:pPr marL="514350" indent="-514350">
              <a:buFont typeface="Verdana" pitchFamily="34" charset="0"/>
              <a:buAutoNum type="arabicPeriod" startAt="4"/>
            </a:pPr>
            <a:r>
              <a:rPr lang="en-US">
                <a:latin typeface="Arial" charset="0"/>
                <a:cs typeface="Arial" charset="0"/>
              </a:rPr>
              <a:t>Nhập vào số xe (gồm 4 chữ số) của bạn. Cho biết số xe của bạn </a:t>
            </a:r>
            <a:r>
              <a:rPr lang="vi-VN">
                <a:latin typeface="Arial" charset="0"/>
                <a:cs typeface="Arial" charset="0"/>
              </a:rPr>
              <a:t>đượ</a:t>
            </a:r>
            <a:r>
              <a:rPr lang="en-US">
                <a:latin typeface="Arial" charset="0"/>
                <a:cs typeface="Arial" charset="0"/>
              </a:rPr>
              <a:t>c mấy nút?</a:t>
            </a:r>
          </a:p>
          <a:p>
            <a:pPr marL="514350" indent="-514350">
              <a:buFont typeface="Verdana" pitchFamily="34" charset="0"/>
              <a:buAutoNum type="arabicPeriod" startAt="4"/>
            </a:pPr>
            <a:r>
              <a:rPr lang="en-US">
                <a:latin typeface="Arial" charset="0"/>
                <a:cs typeface="Arial" charset="0"/>
              </a:rPr>
              <a:t>Nhập vào 2 số nguyên.</a:t>
            </a:r>
          </a:p>
          <a:p>
            <a:pPr marL="514350" indent="-514350">
              <a:buNone/>
            </a:pPr>
            <a:r>
              <a:rPr lang="en-US">
                <a:latin typeface="Arial" charset="0"/>
                <a:cs typeface="Arial" charset="0"/>
              </a:rPr>
              <a:t>	Tính min và max của hai số </a:t>
            </a:r>
            <a:r>
              <a:rPr lang="vi-VN">
                <a:latin typeface="Arial" charset="0"/>
                <a:cs typeface="Arial" charset="0"/>
              </a:rPr>
              <a:t>đó</a:t>
            </a:r>
            <a:r>
              <a:rPr lang="en-US">
                <a:latin typeface="Arial" charset="0"/>
                <a:cs typeface="Arial" charset="0"/>
              </a:rPr>
              <a:t>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/>
              <a:t>1</a:t>
            </a:r>
            <a:endParaRPr lang="en-US" smtClean="0"/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29700" name="Picture 4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3352800" y="1646238"/>
            <a:ext cx="1736725" cy="639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039394" y="24074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>
            <a:off x="3352800" y="2560638"/>
            <a:ext cx="1736725" cy="639762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n</a:t>
            </a:r>
            <a:r>
              <a:rPr lang="vi-VN"/>
              <a:t>ă</a:t>
            </a:r>
            <a:r>
              <a:rPr lang="en-US"/>
              <a:t>m sinh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475038"/>
            <a:ext cx="2971800" cy="6397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Tuổi = 2008 – n</a:t>
            </a:r>
            <a:r>
              <a:rPr lang="vi-VN"/>
              <a:t>ă</a:t>
            </a:r>
            <a:r>
              <a:rPr lang="en-US"/>
              <a:t>m sinh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4039394" y="33218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4039394" y="42362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rallelogram 11"/>
          <p:cNvSpPr/>
          <p:nvPr/>
        </p:nvSpPr>
        <p:spPr>
          <a:xfrm>
            <a:off x="3352800" y="4389438"/>
            <a:ext cx="1736725" cy="639762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 Tuổi</a:t>
            </a:r>
          </a:p>
        </p:txBody>
      </p:sp>
      <p:sp>
        <p:nvSpPr>
          <p:cNvPr id="13" name="Oval 12"/>
          <p:cNvSpPr/>
          <p:nvPr/>
        </p:nvSpPr>
        <p:spPr>
          <a:xfrm>
            <a:off x="3352800" y="5303838"/>
            <a:ext cx="1736725" cy="639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039394" y="51506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0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2</a:t>
            </a:r>
            <a:endParaRPr lang="en-US" smtClean="0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0724" name="Picture 5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3429000" y="13716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114800" y="2133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>
            <a:off x="3429000" y="22860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a và b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3200400"/>
            <a:ext cx="2971800" cy="1477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Tổng = a + b</a:t>
            </a:r>
          </a:p>
          <a:p>
            <a:pPr algn="ctr">
              <a:defRPr/>
            </a:pPr>
            <a:r>
              <a:rPr lang="en-US"/>
              <a:t>Hiệu = a – b</a:t>
            </a:r>
          </a:p>
          <a:p>
            <a:pPr algn="ctr">
              <a:defRPr/>
            </a:pPr>
            <a:r>
              <a:rPr lang="en-US"/>
              <a:t>Tích = a * b</a:t>
            </a:r>
          </a:p>
          <a:p>
            <a:pPr algn="ctr">
              <a:defRPr/>
            </a:pPr>
            <a:r>
              <a:rPr lang="en-US"/>
              <a:t>Th</a:t>
            </a:r>
            <a:r>
              <a:rPr lang="vi-VN"/>
              <a:t>ươ</a:t>
            </a:r>
            <a:r>
              <a:rPr lang="en-US"/>
              <a:t>ng = a / b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4114800" y="3048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52800" y="58674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2286000" y="4953000"/>
            <a:ext cx="3962400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Tổng, Hiệu, Tích, Th</a:t>
            </a:r>
            <a:r>
              <a:rPr lang="vi-VN"/>
              <a:t>ươ</a:t>
            </a:r>
            <a:r>
              <a:rPr lang="en-US"/>
              <a:t>ng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4114800" y="4800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4114800" y="571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94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3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3</a:t>
            </a:r>
            <a:endParaRPr lang="en-US" smtClean="0"/>
          </a:p>
        </p:txBody>
      </p:sp>
      <p:sp>
        <p:nvSpPr>
          <p:cNvPr id="3174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1748" name="Picture 5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3352800" y="1341438"/>
            <a:ext cx="1736725" cy="639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039394" y="21026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>
            <a:off x="2895600" y="2255838"/>
            <a:ext cx="2590800" cy="1173162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Tên sản phẩm</a:t>
            </a:r>
          </a:p>
          <a:p>
            <a:pPr algn="ctr">
              <a:defRPr/>
            </a:pPr>
            <a:r>
              <a:rPr lang="en-US"/>
              <a:t>Số l</a:t>
            </a:r>
            <a:r>
              <a:rPr lang="vi-VN"/>
              <a:t>ượ</a:t>
            </a:r>
            <a:r>
              <a:rPr lang="en-US"/>
              <a:t>ng</a:t>
            </a:r>
          </a:p>
          <a:p>
            <a:pPr algn="ctr">
              <a:defRPr/>
            </a:pPr>
            <a:r>
              <a:rPr lang="en-US"/>
              <a:t>Đ</a:t>
            </a:r>
            <a:r>
              <a:rPr lang="vi-VN"/>
              <a:t>ơ</a:t>
            </a:r>
            <a:r>
              <a:rPr lang="en-US"/>
              <a:t>n giá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3733800"/>
            <a:ext cx="32766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Tiền = Số l</a:t>
            </a:r>
            <a:r>
              <a:rPr lang="vi-VN"/>
              <a:t>ượ</a:t>
            </a:r>
            <a:r>
              <a:rPr lang="en-US"/>
              <a:t>ng * Đ</a:t>
            </a:r>
            <a:r>
              <a:rPr lang="vi-VN"/>
              <a:t>ơ</a:t>
            </a:r>
            <a:r>
              <a:rPr lang="en-US"/>
              <a:t>n giá</a:t>
            </a:r>
          </a:p>
          <a:p>
            <a:pPr algn="ctr">
              <a:defRPr/>
            </a:pPr>
            <a:r>
              <a:rPr lang="en-US"/>
              <a:t>VAT= Tiền * 0.1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4038600" y="35814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276600" y="58674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2895600" y="4953000"/>
            <a:ext cx="2438400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Tiền và VAT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4038600" y="4800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4038600" y="571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9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4</a:t>
            </a:r>
            <a:endParaRPr lang="en-US" smtClean="0"/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352800" y="1341438"/>
            <a:ext cx="1736725" cy="639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4039394" y="2102644"/>
            <a:ext cx="304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"/>
          <p:cNvSpPr/>
          <p:nvPr/>
        </p:nvSpPr>
        <p:spPr>
          <a:xfrm>
            <a:off x="1828800" y="2255838"/>
            <a:ext cx="4724400" cy="1173162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Điểm T, L, H</a:t>
            </a:r>
          </a:p>
          <a:p>
            <a:pPr algn="ctr">
              <a:defRPr/>
            </a:pPr>
            <a:r>
              <a:rPr lang="en-US"/>
              <a:t>Hệ số T, Hệ số L, Hệ số H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733800"/>
            <a:ext cx="46482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ĐTB = (T*HsT + L*HsL + H*HsH) / (HsT + HsL + HsH)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4038600" y="35814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76600" y="58674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2895600" y="4953000"/>
            <a:ext cx="2438400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ĐTB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4038600" y="4800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4038600" y="571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81" name="Picture 12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214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5</a:t>
            </a:r>
            <a:endParaRPr lang="en-US" smtClean="0"/>
          </a:p>
        </p:txBody>
      </p:sp>
      <p:sp>
        <p:nvSpPr>
          <p:cNvPr id="3379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29000" y="13716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4114800" y="2133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"/>
          <p:cNvSpPr/>
          <p:nvPr/>
        </p:nvSpPr>
        <p:spPr>
          <a:xfrm>
            <a:off x="3260725" y="2286000"/>
            <a:ext cx="207327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Bán kính 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200400"/>
            <a:ext cx="3048000" cy="1477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 algn="ctr">
              <a:defRPr/>
            </a:pPr>
            <a:r>
              <a:rPr lang="en-US"/>
              <a:t>PI = 3.1415</a:t>
            </a:r>
          </a:p>
          <a:p>
            <a:pPr algn="ctr">
              <a:defRPr/>
            </a:pPr>
            <a:r>
              <a:rPr lang="en-US"/>
              <a:t>Chu vi = 2*PI*R</a:t>
            </a:r>
          </a:p>
          <a:p>
            <a:pPr algn="ctr">
              <a:defRPr/>
            </a:pPr>
            <a:r>
              <a:rPr lang="en-US"/>
              <a:t>Diện tích = PI*R*R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4114800" y="3048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52800" y="58674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2743200" y="4953000"/>
            <a:ext cx="3048000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Chu vi và Diện tích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4114800" y="4800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4114800" y="571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805" name="Picture 13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06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6</a:t>
            </a:r>
            <a:endParaRPr lang="en-US" smtClean="0"/>
          </a:p>
        </p:txBody>
      </p:sp>
      <p:sp>
        <p:nvSpPr>
          <p:cNvPr id="3481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276600" y="11430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4038600" y="190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"/>
          <p:cNvSpPr/>
          <p:nvPr/>
        </p:nvSpPr>
        <p:spPr>
          <a:xfrm>
            <a:off x="2346325" y="2057400"/>
            <a:ext cx="374967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Nhập</a:t>
            </a:r>
          </a:p>
          <a:p>
            <a:pPr algn="ctr">
              <a:defRPr/>
            </a:pPr>
            <a:r>
              <a:rPr lang="en-US"/>
              <a:t>số xe N (gồm 4 chữ số)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2971800"/>
            <a:ext cx="4953000" cy="1706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Tính</a:t>
            </a:r>
          </a:p>
          <a:p>
            <a:pPr>
              <a:defRPr/>
            </a:pPr>
            <a:r>
              <a:rPr lang="en-US"/>
              <a:t>Số thứ 4: n4 = N % 10, N = N / 10</a:t>
            </a:r>
          </a:p>
          <a:p>
            <a:pPr>
              <a:defRPr/>
            </a:pPr>
            <a:r>
              <a:rPr lang="en-US"/>
              <a:t>Số thứ 3: n3 = N % 10, N = N / 10</a:t>
            </a:r>
          </a:p>
          <a:p>
            <a:pPr>
              <a:defRPr/>
            </a:pPr>
            <a:r>
              <a:rPr lang="en-US"/>
              <a:t>Số thứ 2: n2 = N % 10, N = N / 10</a:t>
            </a:r>
          </a:p>
          <a:p>
            <a:pPr>
              <a:defRPr/>
            </a:pPr>
            <a:r>
              <a:rPr lang="en-US"/>
              <a:t>Số thứ 1: n1 = N</a:t>
            </a:r>
          </a:p>
          <a:p>
            <a:pPr>
              <a:defRPr/>
            </a:pPr>
            <a:r>
              <a:rPr lang="en-US"/>
              <a:t>Số nút S = (n1 + n2+ n3 + n4) % 10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4038600" y="28194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76600" y="58674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3276600" y="4953000"/>
            <a:ext cx="1828800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Số nút 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4038600" y="4800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4038600" y="5715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29" name="Picture 22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229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</a:t>
            </a:r>
            <a:r>
              <a:rPr lang="en-US" smtClean="0"/>
              <a:t>tập </a:t>
            </a:r>
            <a:r>
              <a:rPr lang="en-US" smtClean="0"/>
              <a:t>7</a:t>
            </a:r>
            <a:endParaRPr lang="en-US" smtClean="0"/>
          </a:p>
        </p:txBody>
      </p:sp>
      <p:sp>
        <p:nvSpPr>
          <p:cNvPr id="3584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  <a:cs typeface="Tahoma" pitchFamily="34" charset="0"/>
              </a:rPr>
              <a:t>NMLT - Các khái niệm cơ bản về lập trình</a:t>
            </a: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rot="5400000">
            <a:off x="4038600" y="21336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>
            <a:off x="4038600" y="3048000"/>
            <a:ext cx="3063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3" idx="3"/>
            <a:endCxn id="24" idx="1"/>
          </p:cNvCxnSpPr>
          <p:nvPr/>
        </p:nvCxnSpPr>
        <p:spPr>
          <a:xfrm rot="16200000" flipH="1">
            <a:off x="2280444" y="4634707"/>
            <a:ext cx="1358900" cy="11414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5815013" y="3695700"/>
            <a:ext cx="382588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438400" y="3505200"/>
            <a:ext cx="9144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2247901" y="3695700"/>
            <a:ext cx="3810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352800" y="13716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Bắt </a:t>
            </a:r>
            <a:r>
              <a:rPr lang="vi-VN"/>
              <a:t>đầ</a:t>
            </a:r>
            <a:r>
              <a:rPr lang="en-US"/>
              <a:t>u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3352800" y="2286000"/>
            <a:ext cx="173672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Đọc a,b</a:t>
            </a:r>
          </a:p>
        </p:txBody>
      </p:sp>
      <p:sp>
        <p:nvSpPr>
          <p:cNvPr id="19" name="Diamond 18"/>
          <p:cNvSpPr/>
          <p:nvPr/>
        </p:nvSpPr>
        <p:spPr>
          <a:xfrm>
            <a:off x="3352800" y="3200400"/>
            <a:ext cx="1736725" cy="6397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a &gt; b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1355725" y="3886200"/>
            <a:ext cx="222567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a max, b min</a:t>
            </a:r>
          </a:p>
        </p:txBody>
      </p:sp>
      <p:sp>
        <p:nvSpPr>
          <p:cNvPr id="24" name="Oval 23"/>
          <p:cNvSpPr/>
          <p:nvPr/>
        </p:nvSpPr>
        <p:spPr>
          <a:xfrm>
            <a:off x="3276600" y="5791200"/>
            <a:ext cx="1736725" cy="639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Kết thúc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2600" y="30480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9400" y="30480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33" name="Parallelogram 32"/>
          <p:cNvSpPr/>
          <p:nvPr/>
        </p:nvSpPr>
        <p:spPr>
          <a:xfrm>
            <a:off x="4876800" y="3886200"/>
            <a:ext cx="2225675" cy="639763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Xuất</a:t>
            </a:r>
          </a:p>
          <a:p>
            <a:pPr algn="ctr">
              <a:defRPr/>
            </a:pPr>
            <a:r>
              <a:rPr lang="en-US"/>
              <a:t>a min, b max</a:t>
            </a:r>
          </a:p>
        </p:txBody>
      </p:sp>
      <p:cxnSp>
        <p:nvCxnSpPr>
          <p:cNvPr id="35" name="Straight Arrow Connector 34"/>
          <p:cNvCxnSpPr>
            <a:endCxn id="24" idx="7"/>
          </p:cNvCxnSpPr>
          <p:nvPr/>
        </p:nvCxnSpPr>
        <p:spPr>
          <a:xfrm rot="5400000">
            <a:off x="4708525" y="4573588"/>
            <a:ext cx="1362075" cy="12604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091113" y="3505200"/>
            <a:ext cx="9144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60" name="Picture 38" descr="question_pop_up_from_box_hg_clr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59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3" grpId="0" animBg="1"/>
      <p:bldP spid="24" grpId="0" animBg="1"/>
      <p:bldP spid="27" grpId="0"/>
      <p:bldP spid="28" grpId="0"/>
      <p:bldP spid="3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1524</Words>
  <Application>Microsoft Office PowerPoint</Application>
  <PresentationFormat>On-screen Show (4:3)</PresentationFormat>
  <Paragraphs>314</Paragraphs>
  <Slides>27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Equation</vt:lpstr>
      <vt:lpstr>Nhập môn Lập trình – IT001</vt:lpstr>
      <vt:lpstr>Mục tiêu buổi học – CĐR </vt:lpstr>
      <vt:lpstr>Nội dung</vt:lpstr>
      <vt:lpstr>Khái niệm về lập trình và thuật toán </vt:lpstr>
      <vt:lpstr>Khái niệm về lập trình và thuật toán </vt:lpstr>
      <vt:lpstr>Các tính chất của thuật toán</vt:lpstr>
      <vt:lpstr>Các bước xây dựng chương trình</vt:lpstr>
      <vt:lpstr>Biểu diễn thuật toán</vt:lpstr>
      <vt:lpstr>Sử dụng ngôn ngữ tự nhiên</vt:lpstr>
      <vt:lpstr>Sử dụng lưu đồ - sơ đồ khối</vt:lpstr>
      <vt:lpstr>Sử dụng lưu đồ - sơ đồ khối</vt:lpstr>
      <vt:lpstr>Sử dụng mã giả</vt:lpstr>
      <vt:lpstr>Cài đặt thuật toán bằng C/C++</vt:lpstr>
      <vt:lpstr>Độ phức tạp của thuật toán</vt:lpstr>
      <vt:lpstr>Độ phức tạp của thuật toán</vt:lpstr>
      <vt:lpstr>Độ phức tạp của thuật toán</vt:lpstr>
      <vt:lpstr>Độ phức tạp của thuật toán</vt:lpstr>
      <vt:lpstr>Độ phức tạp của thuật toán</vt:lpstr>
      <vt:lpstr>Bài tập</vt:lpstr>
      <vt:lpstr>Bài tập</vt:lpstr>
      <vt:lpstr>Bài tập 1</vt:lpstr>
      <vt:lpstr>Bài tập 2</vt:lpstr>
      <vt:lpstr>Bài tập 3</vt:lpstr>
      <vt:lpstr>Bài tập 4</vt:lpstr>
      <vt:lpstr>Bài tập 5</vt:lpstr>
      <vt:lpstr>Bài tập 6</vt:lpstr>
      <vt:lpstr>Bài tập 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29</cp:revision>
  <dcterms:created xsi:type="dcterms:W3CDTF">2015-09-05T09:18:39Z</dcterms:created>
  <dcterms:modified xsi:type="dcterms:W3CDTF">2015-09-17T08:27:29Z</dcterms:modified>
</cp:coreProperties>
</file>