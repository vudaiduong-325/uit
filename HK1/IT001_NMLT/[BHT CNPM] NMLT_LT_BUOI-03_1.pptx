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9"/>
  </p:notesMasterIdLst>
  <p:sldIdLst>
    <p:sldId id="256" r:id="rId2"/>
    <p:sldId id="257" r:id="rId3"/>
    <p:sldId id="258" r:id="rId4"/>
    <p:sldId id="260" r:id="rId5"/>
    <p:sldId id="261" r:id="rId6"/>
    <p:sldId id="311" r:id="rId7"/>
    <p:sldId id="312" r:id="rId8"/>
    <p:sldId id="313" r:id="rId9"/>
    <p:sldId id="301" r:id="rId10"/>
    <p:sldId id="299" r:id="rId11"/>
    <p:sldId id="314" r:id="rId12"/>
    <p:sldId id="294" r:id="rId13"/>
    <p:sldId id="302" r:id="rId14"/>
    <p:sldId id="304" r:id="rId15"/>
    <p:sldId id="305" r:id="rId16"/>
    <p:sldId id="306" r:id="rId17"/>
    <p:sldId id="358" r:id="rId18"/>
    <p:sldId id="307" r:id="rId19"/>
    <p:sldId id="308" r:id="rId20"/>
    <p:sldId id="309" r:id="rId21"/>
    <p:sldId id="268" r:id="rId22"/>
    <p:sldId id="269" r:id="rId23"/>
    <p:sldId id="270" r:id="rId24"/>
    <p:sldId id="271" r:id="rId25"/>
    <p:sldId id="318" r:id="rId26"/>
    <p:sldId id="365" r:id="rId27"/>
    <p:sldId id="277" r:id="rId28"/>
    <p:sldId id="319" r:id="rId29"/>
    <p:sldId id="320" r:id="rId30"/>
    <p:sldId id="321" r:id="rId31"/>
    <p:sldId id="322" r:id="rId32"/>
    <p:sldId id="323" r:id="rId33"/>
    <p:sldId id="324" r:id="rId34"/>
    <p:sldId id="325" r:id="rId35"/>
    <p:sldId id="326" r:id="rId36"/>
    <p:sldId id="327" r:id="rId37"/>
    <p:sldId id="328" r:id="rId38"/>
    <p:sldId id="332" r:id="rId39"/>
    <p:sldId id="331" r:id="rId40"/>
    <p:sldId id="333" r:id="rId41"/>
    <p:sldId id="334" r:id="rId42"/>
    <p:sldId id="335" r:id="rId43"/>
    <p:sldId id="336" r:id="rId44"/>
    <p:sldId id="356" r:id="rId45"/>
    <p:sldId id="361" r:id="rId46"/>
    <p:sldId id="362" r:id="rId47"/>
    <p:sldId id="359" r:id="rId48"/>
    <p:sldId id="360" r:id="rId49"/>
    <p:sldId id="357" r:id="rId50"/>
    <p:sldId id="339" r:id="rId51"/>
    <p:sldId id="340" r:id="rId52"/>
    <p:sldId id="341" r:id="rId53"/>
    <p:sldId id="342" r:id="rId54"/>
    <p:sldId id="363" r:id="rId55"/>
    <p:sldId id="364" r:id="rId56"/>
    <p:sldId id="343" r:id="rId57"/>
    <p:sldId id="344" r:id="rId58"/>
    <p:sldId id="345" r:id="rId59"/>
    <p:sldId id="346" r:id="rId60"/>
    <p:sldId id="348" r:id="rId61"/>
    <p:sldId id="349" r:id="rId62"/>
    <p:sldId id="350" r:id="rId63"/>
    <p:sldId id="351" r:id="rId64"/>
    <p:sldId id="352" r:id="rId65"/>
    <p:sldId id="353" r:id="rId66"/>
    <p:sldId id="354" r:id="rId67"/>
    <p:sldId id="355" r:id="rId6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7" autoAdjust="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E332E-4B6C-4FED-89C1-87EA01BB02E8}" type="datetimeFigureOut">
              <a:rPr lang="en-US" smtClean="0"/>
              <a:pPr/>
              <a:t>9/21/2015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503439-6E41-4473-881B-3C521882BB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55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E1CBFA3-A67C-4E05-BC9A-7FC6470EAA92}" type="slidenum">
              <a:rPr lang="en-US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22C2AE1-D8E0-49A0-8E91-D56A2B9837A5}" type="slidenum">
              <a:rPr lang="en-US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6ADD9D2-956C-4802-87F6-ED577947C207}" type="slidenum">
              <a:rPr lang="en-US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1236F2B-DFD6-4FE9-82FC-651E17C33CE0}" type="slidenum">
              <a:rPr lang="en-US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1F0807D-9952-420A-8975-F902F9E6B82C}" type="slidenum">
              <a:rPr lang="en-US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9B08933-E5D0-4241-8C88-B954AA7236FD}" type="slidenum">
              <a:rPr lang="en-US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9B08933-E5D0-4241-8C88-B954AA7236FD}" type="slidenum">
              <a:rPr lang="en-US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F93A8F0-E8A5-403E-B3A5-11B63359C54F}" type="slidenum">
              <a:rPr lang="en-US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5729763-38ED-4B2C-80AC-DC4A202BE900}" type="slidenum">
              <a:rPr lang="en-US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A212733-D5D8-4DD2-AE95-30AF4F02ACDA}" type="slidenum">
              <a:rPr lang="en-US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BD7D5F-07B5-422B-8489-70E17BBD1BB2}" type="slidenum">
              <a:rPr lang="en-US"/>
              <a:pPr/>
              <a:t>27</a:t>
            </a:fld>
            <a:endParaRPr lang="en-US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B3826831-B42E-4969-86D9-5FE52C6DFE2F}" type="slidenum">
              <a:rPr lang="en-US" smtClean="0"/>
              <a:pPr eaLnBrk="1" hangingPunct="1">
                <a:defRPr/>
              </a:pPr>
              <a:t>28</a:t>
            </a:fld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EE0829FC-8FF0-4E4E-BFD4-4664C86D7777}" type="slidenum">
              <a:rPr lang="en-US" smtClean="0"/>
              <a:pPr eaLnBrk="1" hangingPunct="1">
                <a:defRPr/>
              </a:pPr>
              <a:t>29</a:t>
            </a:fld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24869D00-4DE5-48D9-A2BF-6362ADC4429E}" type="slidenum">
              <a:rPr lang="en-US" smtClean="0"/>
              <a:pPr eaLnBrk="1" hangingPunct="1">
                <a:defRPr/>
              </a:pPr>
              <a:t>30</a:t>
            </a:fld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D6FFD84D-98ED-4E10-AC69-4255DFF825EF}" type="slidenum">
              <a:rPr lang="en-US" smtClean="0"/>
              <a:pPr eaLnBrk="1" hangingPunct="1">
                <a:defRPr/>
              </a:pPr>
              <a:t>31</a:t>
            </a:fld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5C24E9AD-2823-454F-A5D7-39396C8D6594}" type="slidenum">
              <a:rPr lang="en-US" smtClean="0"/>
              <a:pPr eaLnBrk="1" hangingPunct="1">
                <a:defRPr/>
              </a:pPr>
              <a:t>32</a:t>
            </a:fld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DF718D18-2DF9-4760-BF66-106757B678CE}" type="slidenum">
              <a:rPr lang="en-US" smtClean="0"/>
              <a:pPr eaLnBrk="1" hangingPunct="1">
                <a:defRPr/>
              </a:pPr>
              <a:t>33</a:t>
            </a:fld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7678F780-AFC8-4E83-9052-3C127AE80EF0}" type="slidenum">
              <a:rPr lang="en-US" smtClean="0"/>
              <a:pPr eaLnBrk="1" hangingPunct="1">
                <a:defRPr/>
              </a:pPr>
              <a:t>34</a:t>
            </a:fld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FF18567D-CD7D-4F2E-A0C4-1F605258CAE4}" type="slidenum">
              <a:rPr lang="en-US" smtClean="0"/>
              <a:pPr eaLnBrk="1" hangingPunct="1">
                <a:defRPr/>
              </a:pPr>
              <a:t>35</a:t>
            </a:fld>
            <a:endParaRPr 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C1354912-933F-4126-AEF0-29242785696B}" type="slidenum">
              <a:rPr lang="en-US" smtClean="0"/>
              <a:pPr eaLnBrk="1" hangingPunct="1">
                <a:defRPr/>
              </a:pPr>
              <a:t>36</a:t>
            </a:fld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C96C2BC1-A3D9-439B-976D-896AA48447E5}" type="slidenum">
              <a:rPr lang="en-US" smtClean="0"/>
              <a:pPr eaLnBrk="1" hangingPunct="1">
                <a:defRPr/>
              </a:pPr>
              <a:t>37</a:t>
            </a:fld>
            <a:endParaRPr 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F56F9C18-6DC3-4C3B-987E-FD07F795DB6A}" type="slidenum">
              <a:rPr lang="en-US" smtClean="0"/>
              <a:pPr eaLnBrk="1" hangingPunct="1">
                <a:defRPr/>
              </a:pPr>
              <a:t>38</a:t>
            </a:fld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0085339F-2811-4E75-8A13-CD01FAED2976}" type="slidenum">
              <a:rPr lang="en-US" smtClean="0"/>
              <a:pPr eaLnBrk="1" hangingPunct="1">
                <a:defRPr/>
              </a:pPr>
              <a:t>39</a:t>
            </a:fld>
            <a:endParaRPr 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581C03A1-9D6E-4BC3-BC3B-34D13C775863}" type="slidenum">
              <a:rPr lang="en-US" smtClean="0"/>
              <a:pPr eaLnBrk="1" hangingPunct="1">
                <a:defRPr/>
              </a:pPr>
              <a:t>40</a:t>
            </a:fld>
            <a:endParaRPr 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88944409-2CAB-4DF7-8319-CED36CED2F62}" type="slidenum">
              <a:rPr lang="en-US" smtClean="0"/>
              <a:pPr eaLnBrk="1" hangingPunct="1">
                <a:defRPr/>
              </a:pPr>
              <a:t>41</a:t>
            </a:fld>
            <a:endParaRPr 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E3BB90E5-F50E-4792-B7F9-BF31F79261FC}" type="slidenum">
              <a:rPr lang="en-US" smtClean="0"/>
              <a:pPr eaLnBrk="1" hangingPunct="1">
                <a:defRPr/>
              </a:pPr>
              <a:t>42</a:t>
            </a:fld>
            <a:endParaRPr 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05877C4B-5E0C-43D4-BAC9-85A27C2FB239}" type="slidenum">
              <a:rPr lang="en-US" smtClean="0"/>
              <a:pPr eaLnBrk="1" hangingPunct="1">
                <a:defRPr/>
              </a:pPr>
              <a:t>43</a:t>
            </a:fld>
            <a:endParaRPr 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05877C4B-5E0C-43D4-BAC9-85A27C2FB239}" type="slidenum">
              <a:rPr lang="en-US" smtClean="0"/>
              <a:pPr eaLnBrk="1" hangingPunct="1">
                <a:defRPr/>
              </a:pPr>
              <a:t>44</a:t>
            </a:fld>
            <a:endParaRPr 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08CCD933-DF3A-4404-A2B4-1A1D3B05E097}" type="slidenum">
              <a:rPr lang="en-US" smtClean="0"/>
              <a:pPr eaLnBrk="1" hangingPunct="1">
                <a:defRPr/>
              </a:pPr>
              <a:t>45</a:t>
            </a:fld>
            <a:endParaRPr 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7268C84D-5E7F-4D18-9AA1-066F9D68A0C1}" type="slidenum">
              <a:rPr lang="en-US" smtClean="0"/>
              <a:pPr eaLnBrk="1" hangingPunct="1">
                <a:defRPr/>
              </a:pPr>
              <a:t>46</a:t>
            </a:fld>
            <a:endParaRPr 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8D8FF5AA-04BF-40FC-A642-50F26C5260E7}" type="slidenum">
              <a:rPr lang="en-US" smtClean="0"/>
              <a:pPr eaLnBrk="1" hangingPunct="1">
                <a:defRPr/>
              </a:pPr>
              <a:t>47</a:t>
            </a:fld>
            <a:endParaRPr lang="en-US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8D8FF5AA-04BF-40FC-A642-50F26C5260E7}" type="slidenum">
              <a:rPr lang="en-US" smtClean="0"/>
              <a:pPr eaLnBrk="1" hangingPunct="1">
                <a:defRPr/>
              </a:pPr>
              <a:t>48</a:t>
            </a:fld>
            <a:endParaRPr 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05877C4B-5E0C-43D4-BAC9-85A27C2FB239}" type="slidenum">
              <a:rPr lang="en-US" smtClean="0"/>
              <a:pPr eaLnBrk="1" hangingPunct="1">
                <a:defRPr/>
              </a:pPr>
              <a:t>49</a:t>
            </a:fld>
            <a:endParaRPr 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ED03007D-F591-4161-9756-C5C910396E84}" type="slidenum">
              <a:rPr lang="en-US" smtClean="0"/>
              <a:pPr eaLnBrk="1" hangingPunct="1">
                <a:defRPr/>
              </a:pPr>
              <a:t>50</a:t>
            </a:fld>
            <a:endParaRPr 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CF0D2846-8FAE-41AB-A9F2-AECEE9AB9C37}" type="slidenum">
              <a:rPr lang="en-US" smtClean="0"/>
              <a:pPr eaLnBrk="1" hangingPunct="1">
                <a:defRPr/>
              </a:pPr>
              <a:t>51</a:t>
            </a:fld>
            <a:endParaRPr lang="en-US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8D8FF5AA-04BF-40FC-A642-50F26C5260E7}" type="slidenum">
              <a:rPr lang="en-US" smtClean="0"/>
              <a:pPr eaLnBrk="1" hangingPunct="1">
                <a:defRPr/>
              </a:pPr>
              <a:t>52</a:t>
            </a:fld>
            <a:endParaRPr lang="en-US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42D7675E-7151-4B00-95DC-5EF9B38AF9E9}" type="slidenum">
              <a:rPr lang="en-US" smtClean="0"/>
              <a:pPr eaLnBrk="1" hangingPunct="1">
                <a:defRPr/>
              </a:pPr>
              <a:t>53</a:t>
            </a:fld>
            <a:endParaRPr lang="en-US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05877C4B-5E0C-43D4-BAC9-85A27C2FB239}" type="slidenum">
              <a:rPr lang="en-US" smtClean="0"/>
              <a:pPr eaLnBrk="1" hangingPunct="1">
                <a:defRPr/>
              </a:pPr>
              <a:t>54</a:t>
            </a:fld>
            <a:endParaRPr lang="en-US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05877C4B-5E0C-43D4-BAC9-85A27C2FB239}" type="slidenum">
              <a:rPr lang="en-US" smtClean="0"/>
              <a:pPr eaLnBrk="1" hangingPunct="1">
                <a:defRPr/>
              </a:pPr>
              <a:t>55</a:t>
            </a:fld>
            <a:endParaRPr lang="en-US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A37DFF44-2BBD-4165-A1D8-D73F39A3F3A2}" type="slidenum">
              <a:rPr lang="en-US" smtClean="0"/>
              <a:pPr eaLnBrk="1" hangingPunct="1">
                <a:defRPr/>
              </a:pPr>
              <a:t>56</a:t>
            </a:fld>
            <a:endParaRPr lang="en-US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D44ECB97-E632-4D6E-85F8-1EE8812D84D5}" type="slidenum">
              <a:rPr lang="en-US" smtClean="0"/>
              <a:pPr eaLnBrk="1" hangingPunct="1">
                <a:defRPr/>
              </a:pPr>
              <a:t>57</a:t>
            </a:fld>
            <a:endParaRPr lang="en-US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421C8E3D-CFEB-490E-91B7-30B9B9FAC8A4}" type="slidenum">
              <a:rPr lang="en-US" smtClean="0"/>
              <a:pPr eaLnBrk="1" hangingPunct="1">
                <a:defRPr/>
              </a:pPr>
              <a:t>58</a:t>
            </a:fld>
            <a:endParaRPr lang="en-US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7B4D6EB4-6F34-44FC-95DA-CFB3D5D44BF8}" type="slidenum">
              <a:rPr lang="en-US" smtClean="0"/>
              <a:pPr eaLnBrk="1" hangingPunct="1">
                <a:defRPr/>
              </a:pPr>
              <a:t>59</a:t>
            </a:fld>
            <a:endParaRPr lang="en-US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317DE677-F2D9-4AC3-B746-F4AA7B348675}" type="slidenum">
              <a:rPr lang="en-US" smtClean="0"/>
              <a:pPr eaLnBrk="1" hangingPunct="1">
                <a:defRPr/>
              </a:pPr>
              <a:t>60</a:t>
            </a:fld>
            <a:endParaRPr lang="en-US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10138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94DB3372-1450-454F-97A1-85BB538C69FF}" type="slidenum">
              <a:rPr lang="en-US" smtClean="0"/>
              <a:pPr eaLnBrk="1" hangingPunct="1">
                <a:defRPr/>
              </a:pPr>
              <a:t>61</a:t>
            </a:fld>
            <a:endParaRPr lang="en-US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A84E53D3-6A0B-4FA1-8148-FA3AE8CC49E3}" type="slidenum">
              <a:rPr lang="en-US" smtClean="0"/>
              <a:pPr eaLnBrk="1" hangingPunct="1">
                <a:defRPr/>
              </a:pPr>
              <a:t>62</a:t>
            </a:fld>
            <a:endParaRPr lang="en-US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187DB1C0-9B8B-4FE6-8FDF-73796FFF1FAF}" type="slidenum">
              <a:rPr lang="en-US" smtClean="0"/>
              <a:pPr eaLnBrk="1" hangingPunct="1">
                <a:defRPr/>
              </a:pPr>
              <a:t>63</a:t>
            </a:fld>
            <a:endParaRPr lang="en-US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9A952128-8528-4533-A4F3-274B11C19C1C}" type="slidenum">
              <a:rPr lang="en-US" smtClean="0"/>
              <a:pPr eaLnBrk="1" hangingPunct="1">
                <a:defRPr/>
              </a:pPr>
              <a:t>64</a:t>
            </a:fld>
            <a:endParaRPr lang="en-US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2C89E648-7C37-4E4C-B158-C7728E3627FB}" type="slidenum">
              <a:rPr lang="en-US" smtClean="0"/>
              <a:pPr eaLnBrk="1" hangingPunct="1">
                <a:defRPr/>
              </a:pPr>
              <a:t>65</a:t>
            </a:fld>
            <a:endParaRPr lang="en-US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10650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F5111911-22D3-4B17-AE05-F406E678F32E}" type="slidenum">
              <a:rPr lang="en-US" smtClean="0"/>
              <a:pPr eaLnBrk="1" hangingPunct="1">
                <a:defRPr/>
              </a:pPr>
              <a:t>66</a:t>
            </a:fld>
            <a:endParaRPr lang="en-US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575C2617-29A9-483F-A52C-4C8F8A225DAD}" type="slidenum">
              <a:rPr lang="en-US" smtClean="0"/>
              <a:pPr eaLnBrk="1" hangingPunct="1">
                <a:defRPr/>
              </a:pPr>
              <a:t>67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447800"/>
            <a:ext cx="8229600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9" name="Picture 8" descr="Logo.png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286000" y="1905000"/>
            <a:ext cx="4614677" cy="381853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logo186x150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8458200" y="1"/>
            <a:ext cx="685800" cy="55306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7" Type="http://schemas.openxmlformats.org/officeDocument/2006/relationships/slide" Target="slide10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3.xml"/><Relationship Id="rId5" Type="http://schemas.openxmlformats.org/officeDocument/2006/relationships/image" Target="../media/image5.png"/><Relationship Id="rId4" Type="http://schemas.openxmlformats.org/officeDocument/2006/relationships/slide" Target="slide4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7" Type="http://schemas.openxmlformats.org/officeDocument/2006/relationships/slide" Target="slide13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5.xml"/><Relationship Id="rId5" Type="http://schemas.openxmlformats.org/officeDocument/2006/relationships/image" Target="../media/image5.png"/><Relationship Id="rId4" Type="http://schemas.openxmlformats.org/officeDocument/2006/relationships/slide" Target="slide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Nhập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– IT001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Buổi</a:t>
            </a:r>
            <a:r>
              <a:rPr lang="en-US" dirty="0" smtClean="0"/>
              <a:t> 03 – </a:t>
            </a:r>
            <a:r>
              <a:rPr lang="en-US" dirty="0" err="1" smtClean="0"/>
              <a:t>Kiểu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buổi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– CĐR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smtClean="0">
                <a:latin typeface="Arial" pitchFamily="34" charset="0"/>
                <a:cs typeface="Arial" pitchFamily="34" charset="0"/>
              </a:rPr>
              <a:t>Hiểu và vận dụng được các kiểu dữ liệu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cơ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bản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dung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sz="3600" dirty="0" smtClean="0"/>
              <a:t>Cấu trúc một chương trình</a:t>
            </a:r>
          </a:p>
          <a:p>
            <a:r>
              <a:rPr lang="vi-VN" sz="3600" dirty="0" smtClean="0"/>
              <a:t>Chương trình </a:t>
            </a:r>
            <a:r>
              <a:rPr lang="vi-VN" sz="3600" smtClean="0"/>
              <a:t>đơn giản</a:t>
            </a:r>
            <a:endParaRPr lang="en-US" sz="3600" smtClean="0"/>
          </a:p>
          <a:p>
            <a:r>
              <a:rPr lang="en-US" sz="3600" smtClean="0">
                <a:latin typeface="Arial" pitchFamily="34" charset="0"/>
                <a:cs typeface="Arial" pitchFamily="34" charset="0"/>
              </a:rPr>
              <a:t>Bộ từ vựng của C</a:t>
            </a:r>
          </a:p>
          <a:p>
            <a:r>
              <a:rPr lang="en-US" sz="3600">
                <a:latin typeface="Arial" pitchFamily="34" charset="0"/>
                <a:cs typeface="Arial" pitchFamily="34" charset="0"/>
              </a:rPr>
              <a:t>Qui tắc soạn thảo mã nguồn</a:t>
            </a:r>
            <a:endParaRPr lang="vi-VN" sz="3600" dirty="0" smtClean="0">
              <a:latin typeface="Arial" pitchFamily="34" charset="0"/>
              <a:cs typeface="Arial" pitchFamily="34" charset="0"/>
            </a:endParaRPr>
          </a:p>
          <a:p>
            <a:r>
              <a:rPr lang="vi-VN" sz="3600" dirty="0" smtClean="0"/>
              <a:t>Các kiểu dữ liệu cơ bản và phép toán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Cấu </a:t>
            </a:r>
            <a:r>
              <a:rPr lang="en-US" dirty="0" err="1" smtClean="0"/>
              <a:t>trúc</a:t>
            </a:r>
            <a:r>
              <a:rPr lang="en-US" dirty="0" smtClean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C/C++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600200"/>
            <a:ext cx="6705600" cy="456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Chương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giản</a:t>
            </a:r>
            <a:endParaRPr 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spcBef>
                <a:spcPct val="80000"/>
              </a:spcBef>
              <a:buFont typeface="Wingdings" pitchFamily="2" charset="2"/>
              <a:buNone/>
            </a:pPr>
            <a:r>
              <a:rPr lang="en-US" dirty="0">
                <a:solidFill>
                  <a:srgbClr val="99CC00"/>
                </a:solidFill>
                <a:latin typeface="VNI-Times" pitchFamily="2" charset="0"/>
              </a:rPr>
              <a:t># include &lt;</a:t>
            </a:r>
            <a:r>
              <a:rPr lang="en-US" dirty="0" err="1">
                <a:solidFill>
                  <a:srgbClr val="99CC00"/>
                </a:solidFill>
                <a:latin typeface="VNI-Times" pitchFamily="2" charset="0"/>
              </a:rPr>
              <a:t>stdio.h</a:t>
            </a:r>
            <a:r>
              <a:rPr lang="en-US" dirty="0">
                <a:solidFill>
                  <a:srgbClr val="99CC00"/>
                </a:solidFill>
                <a:latin typeface="VNI-Times" pitchFamily="2" charset="0"/>
              </a:rPr>
              <a:t>&gt;   </a:t>
            </a:r>
            <a:endParaRPr lang="en-US" i="1" dirty="0">
              <a:solidFill>
                <a:srgbClr val="99CC00"/>
              </a:solidFill>
              <a:latin typeface="VNI-Times" pitchFamily="2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dirty="0">
                <a:solidFill>
                  <a:srgbClr val="99CC00"/>
                </a:solidFill>
                <a:latin typeface="VNI-Times" pitchFamily="2" charset="0"/>
              </a:rPr>
              <a:t># define  PI   3.1415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dirty="0">
                <a:latin typeface="VNI-Times" pitchFamily="2" charset="0"/>
              </a:rPr>
              <a:t>void main ()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>
                <a:latin typeface="VNI-Times" pitchFamily="2" charset="0"/>
              </a:rPr>
              <a:t>{  </a:t>
            </a:r>
            <a:endParaRPr lang="en-US" smtClean="0">
              <a:latin typeface="VNI-Times" pitchFamily="2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>
                <a:latin typeface="VNI-Times" pitchFamily="2" charset="0"/>
              </a:rPr>
              <a:t>	</a:t>
            </a:r>
            <a:r>
              <a:rPr lang="en-US" smtClean="0">
                <a:latin typeface="VNI-Times" pitchFamily="2" charset="0"/>
              </a:rPr>
              <a:t>float </a:t>
            </a:r>
            <a:r>
              <a:rPr lang="en-US" dirty="0" err="1">
                <a:latin typeface="VNI-Times" pitchFamily="2" charset="0"/>
              </a:rPr>
              <a:t>cv,dt</a:t>
            </a:r>
            <a:r>
              <a:rPr lang="en-US" dirty="0">
                <a:latin typeface="VNI-Times" pitchFamily="2" charset="0"/>
              </a:rPr>
              <a:t>, r = 3.1;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>
                <a:latin typeface="VNI-Times" pitchFamily="2" charset="0"/>
              </a:rPr>
              <a:t>	</a:t>
            </a:r>
            <a:r>
              <a:rPr lang="en-US" smtClean="0">
                <a:latin typeface="VNI-Times" pitchFamily="2" charset="0"/>
              </a:rPr>
              <a:t>cv=2*r*PI</a:t>
            </a:r>
            <a:r>
              <a:rPr lang="en-US" dirty="0">
                <a:latin typeface="VNI-Times" pitchFamily="2" charset="0"/>
              </a:rPr>
              <a:t>;       </a:t>
            </a:r>
            <a:endParaRPr lang="en-US" i="1" dirty="0">
              <a:latin typeface="VNI-Times" pitchFamily="2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>
                <a:latin typeface="VNI-Times" pitchFamily="2" charset="0"/>
              </a:rPr>
              <a:t>	</a:t>
            </a:r>
            <a:r>
              <a:rPr lang="en-US" smtClean="0">
                <a:latin typeface="VNI-Times" pitchFamily="2" charset="0"/>
              </a:rPr>
              <a:t>dt=PI*r*r</a:t>
            </a:r>
            <a:r>
              <a:rPr lang="en-US" dirty="0">
                <a:latin typeface="VNI-Times" pitchFamily="2" charset="0"/>
              </a:rPr>
              <a:t>;  </a:t>
            </a:r>
            <a:r>
              <a:rPr lang="en-US" i="1" dirty="0">
                <a:latin typeface="VNI-Times" pitchFamily="2" charset="0"/>
              </a:rPr>
              <a:t>   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>
                <a:latin typeface="VNI-Times" pitchFamily="2" charset="0"/>
              </a:rPr>
              <a:t>	</a:t>
            </a:r>
            <a:r>
              <a:rPr lang="en-US" smtClean="0">
                <a:latin typeface="VNI-Times" pitchFamily="2" charset="0"/>
              </a:rPr>
              <a:t>printf</a:t>
            </a:r>
            <a:r>
              <a:rPr lang="en-US" dirty="0">
                <a:latin typeface="VNI-Times" pitchFamily="2" charset="0"/>
              </a:rPr>
              <a:t>("\</a:t>
            </a:r>
            <a:r>
              <a:rPr lang="en-US" dirty="0" err="1">
                <a:latin typeface="VNI-Times" pitchFamily="2" charset="0"/>
              </a:rPr>
              <a:t>nChu</a:t>
            </a:r>
            <a:r>
              <a:rPr lang="en-US" dirty="0">
                <a:latin typeface="VNI-Times" pitchFamily="2" charset="0"/>
              </a:rPr>
              <a:t> vi = %10.2f”,cv);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>
                <a:latin typeface="VNI-Times" pitchFamily="2" charset="0"/>
              </a:rPr>
              <a:t>    </a:t>
            </a:r>
            <a:r>
              <a:rPr lang="en-US" smtClean="0">
                <a:latin typeface="VNI-Times" pitchFamily="2" charset="0"/>
              </a:rPr>
              <a:t>printf</a:t>
            </a:r>
            <a:r>
              <a:rPr lang="en-US" dirty="0">
                <a:latin typeface="VNI-Times" pitchFamily="2" charset="0"/>
              </a:rPr>
              <a:t>(“\</a:t>
            </a:r>
            <a:r>
              <a:rPr lang="en-US" dirty="0" err="1">
                <a:latin typeface="VNI-Times" pitchFamily="2" charset="0"/>
              </a:rPr>
              <a:t>nDien</a:t>
            </a:r>
            <a:r>
              <a:rPr lang="en-US" dirty="0">
                <a:latin typeface="VNI-Times" pitchFamily="2" charset="0"/>
              </a:rPr>
              <a:t> </a:t>
            </a:r>
            <a:r>
              <a:rPr lang="en-US" dirty="0" err="1">
                <a:latin typeface="VNI-Times" pitchFamily="2" charset="0"/>
              </a:rPr>
              <a:t>tich</a:t>
            </a:r>
            <a:r>
              <a:rPr lang="en-US" dirty="0">
                <a:latin typeface="VNI-Times" pitchFamily="2" charset="0"/>
              </a:rPr>
              <a:t> =%10.2f",dt);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>
                <a:latin typeface="VNI-Times" pitchFamily="2" charset="0"/>
              </a:rPr>
              <a:t>}</a:t>
            </a:r>
            <a:r>
              <a:rPr lang="en-US" dirty="0">
                <a:latin typeface="VNI-Times" pitchFamily="2" charset="0"/>
              </a:rPr>
              <a:t>	</a:t>
            </a:r>
            <a:endParaRPr lang="en-US" i="1" u="sng" dirty="0">
              <a:latin typeface="VNI-Times" pitchFamily="2" charset="0"/>
            </a:endParaRPr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Chương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giản</a:t>
            </a:r>
            <a:endParaRPr 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spcBef>
                <a:spcPct val="80000"/>
              </a:spcBef>
              <a:buFont typeface="Wingdings" pitchFamily="2" charset="2"/>
              <a:buNone/>
            </a:pPr>
            <a:r>
              <a:rPr lang="en-US" dirty="0">
                <a:solidFill>
                  <a:srgbClr val="99CC00"/>
                </a:solidFill>
                <a:latin typeface="VNI-Times" pitchFamily="2" charset="0"/>
              </a:rPr>
              <a:t># include &lt;</a:t>
            </a:r>
            <a:r>
              <a:rPr lang="en-US" dirty="0" err="1">
                <a:solidFill>
                  <a:srgbClr val="99CC00"/>
                </a:solidFill>
                <a:latin typeface="VNI-Times" pitchFamily="2" charset="0"/>
              </a:rPr>
              <a:t>stdio.h</a:t>
            </a:r>
            <a:r>
              <a:rPr lang="en-US" dirty="0">
                <a:solidFill>
                  <a:srgbClr val="99CC00"/>
                </a:solidFill>
                <a:latin typeface="VNI-Times" pitchFamily="2" charset="0"/>
              </a:rPr>
              <a:t>&gt;   </a:t>
            </a:r>
            <a:endParaRPr lang="en-US" i="1" dirty="0">
              <a:solidFill>
                <a:srgbClr val="99CC00"/>
              </a:solidFill>
              <a:latin typeface="VNI-Times" pitchFamily="2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dirty="0">
                <a:solidFill>
                  <a:srgbClr val="99CC00"/>
                </a:solidFill>
                <a:latin typeface="VNI-Times" pitchFamily="2" charset="0"/>
              </a:rPr>
              <a:t># define  PI   3.1415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dirty="0">
                <a:latin typeface="VNI-Times" pitchFamily="2" charset="0"/>
              </a:rPr>
              <a:t>void main ()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>
                <a:latin typeface="VNI-Times" pitchFamily="2" charset="0"/>
              </a:rPr>
              <a:t>{  </a:t>
            </a:r>
            <a:endParaRPr lang="en-US" smtClean="0">
              <a:latin typeface="VNI-Times" pitchFamily="2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>
                <a:latin typeface="VNI-Times" pitchFamily="2" charset="0"/>
              </a:rPr>
              <a:t>	</a:t>
            </a:r>
            <a:r>
              <a:rPr lang="en-US" smtClean="0">
                <a:latin typeface="VNI-Times" pitchFamily="2" charset="0"/>
              </a:rPr>
              <a:t>float </a:t>
            </a:r>
            <a:r>
              <a:rPr lang="en-US" dirty="0" err="1">
                <a:latin typeface="VNI-Times" pitchFamily="2" charset="0"/>
              </a:rPr>
              <a:t>cv,dt</a:t>
            </a:r>
            <a:r>
              <a:rPr lang="en-US" dirty="0">
                <a:latin typeface="VNI-Times" pitchFamily="2" charset="0"/>
              </a:rPr>
              <a:t>, r = 3.1;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>
                <a:latin typeface="VNI-Times" pitchFamily="2" charset="0"/>
              </a:rPr>
              <a:t>	</a:t>
            </a:r>
            <a:r>
              <a:rPr lang="en-US" smtClean="0">
                <a:latin typeface="VNI-Times" pitchFamily="2" charset="0"/>
              </a:rPr>
              <a:t>cv=2*r*PI</a:t>
            </a:r>
            <a:r>
              <a:rPr lang="en-US" dirty="0">
                <a:latin typeface="VNI-Times" pitchFamily="2" charset="0"/>
              </a:rPr>
              <a:t>;       </a:t>
            </a:r>
            <a:endParaRPr lang="en-US" i="1" dirty="0">
              <a:latin typeface="VNI-Times" pitchFamily="2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>
                <a:latin typeface="VNI-Times" pitchFamily="2" charset="0"/>
              </a:rPr>
              <a:t>	</a:t>
            </a:r>
            <a:r>
              <a:rPr lang="en-US" smtClean="0">
                <a:latin typeface="VNI-Times" pitchFamily="2" charset="0"/>
              </a:rPr>
              <a:t>dt=PI*r*r</a:t>
            </a:r>
            <a:r>
              <a:rPr lang="en-US" dirty="0">
                <a:latin typeface="VNI-Times" pitchFamily="2" charset="0"/>
              </a:rPr>
              <a:t>;  </a:t>
            </a:r>
            <a:r>
              <a:rPr lang="en-US" i="1" dirty="0">
                <a:latin typeface="VNI-Times" pitchFamily="2" charset="0"/>
              </a:rPr>
              <a:t>   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>
                <a:latin typeface="VNI-Times" pitchFamily="2" charset="0"/>
              </a:rPr>
              <a:t>	</a:t>
            </a:r>
            <a:r>
              <a:rPr lang="en-US" smtClean="0">
                <a:latin typeface="VNI-Times" pitchFamily="2" charset="0"/>
              </a:rPr>
              <a:t>printf</a:t>
            </a:r>
            <a:r>
              <a:rPr lang="en-US" dirty="0">
                <a:latin typeface="VNI-Times" pitchFamily="2" charset="0"/>
              </a:rPr>
              <a:t>("\</a:t>
            </a:r>
            <a:r>
              <a:rPr lang="en-US" dirty="0" err="1">
                <a:latin typeface="VNI-Times" pitchFamily="2" charset="0"/>
              </a:rPr>
              <a:t>nChu</a:t>
            </a:r>
            <a:r>
              <a:rPr lang="en-US" dirty="0">
                <a:latin typeface="VNI-Times" pitchFamily="2" charset="0"/>
              </a:rPr>
              <a:t> vi = %10.2f”,cv);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>
                <a:latin typeface="VNI-Times" pitchFamily="2" charset="0"/>
              </a:rPr>
              <a:t>    </a:t>
            </a:r>
            <a:r>
              <a:rPr lang="en-US" smtClean="0">
                <a:latin typeface="VNI-Times" pitchFamily="2" charset="0"/>
              </a:rPr>
              <a:t>printf</a:t>
            </a:r>
            <a:r>
              <a:rPr lang="en-US" dirty="0">
                <a:latin typeface="VNI-Times" pitchFamily="2" charset="0"/>
              </a:rPr>
              <a:t>(“\</a:t>
            </a:r>
            <a:r>
              <a:rPr lang="en-US" dirty="0" err="1">
                <a:latin typeface="VNI-Times" pitchFamily="2" charset="0"/>
              </a:rPr>
              <a:t>nDien</a:t>
            </a:r>
            <a:r>
              <a:rPr lang="en-US" dirty="0">
                <a:latin typeface="VNI-Times" pitchFamily="2" charset="0"/>
              </a:rPr>
              <a:t> </a:t>
            </a:r>
            <a:r>
              <a:rPr lang="en-US" dirty="0" err="1">
                <a:latin typeface="VNI-Times" pitchFamily="2" charset="0"/>
              </a:rPr>
              <a:t>tich</a:t>
            </a:r>
            <a:r>
              <a:rPr lang="en-US" dirty="0">
                <a:latin typeface="VNI-Times" pitchFamily="2" charset="0"/>
              </a:rPr>
              <a:t> =%10.2f",dt);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>
                <a:latin typeface="VNI-Times" pitchFamily="2" charset="0"/>
              </a:rPr>
              <a:t>}</a:t>
            </a:r>
            <a:r>
              <a:rPr lang="en-US" dirty="0">
                <a:latin typeface="VNI-Times" pitchFamily="2" charset="0"/>
              </a:rPr>
              <a:t>	</a:t>
            </a:r>
            <a:endParaRPr lang="en-US" i="1" u="sng" dirty="0">
              <a:latin typeface="VNI-Times" pitchFamily="2" charset="0"/>
            </a:endParaRPr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221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Bộ từ vựng của C</a:t>
            </a:r>
            <a:endParaRPr 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Các </a:t>
            </a: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ký tự </a:t>
            </a:r>
            <a:r>
              <a:rPr lang="vi-VN">
                <a:solidFill>
                  <a:schemeClr val="tx1">
                    <a:lumMod val="60000"/>
                    <a:lumOff val="40000"/>
                  </a:schemeClr>
                </a:solidFill>
              </a:rPr>
              <a:t>đượ</a:t>
            </a: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c sử dụng</a:t>
            </a:r>
          </a:p>
          <a:p>
            <a:pPr lvl="1">
              <a:defRPr/>
            </a:pPr>
            <a:r>
              <a:rPr lang="fr-FR"/>
              <a:t>Bộ chữ cái 26 ký tự Latinh </a:t>
            </a:r>
            <a:r>
              <a:rPr lang="fr-FR">
                <a:solidFill>
                  <a:srgbClr val="FF0000"/>
                </a:solidFill>
              </a:rPr>
              <a:t>A</a:t>
            </a:r>
            <a:r>
              <a:rPr lang="fr-FR"/>
              <a:t>, </a:t>
            </a:r>
            <a:r>
              <a:rPr lang="fr-FR">
                <a:solidFill>
                  <a:srgbClr val="FF0000"/>
                </a:solidFill>
              </a:rPr>
              <a:t>B</a:t>
            </a:r>
            <a:r>
              <a:rPr lang="fr-FR"/>
              <a:t>, </a:t>
            </a:r>
            <a:r>
              <a:rPr lang="fr-FR">
                <a:solidFill>
                  <a:srgbClr val="FF0000"/>
                </a:solidFill>
              </a:rPr>
              <a:t>C</a:t>
            </a:r>
            <a:r>
              <a:rPr lang="fr-FR"/>
              <a:t>, …, </a:t>
            </a:r>
            <a:r>
              <a:rPr lang="fr-FR">
                <a:solidFill>
                  <a:srgbClr val="FF0000"/>
                </a:solidFill>
              </a:rPr>
              <a:t>Z</a:t>
            </a:r>
            <a:r>
              <a:rPr lang="fr-FR"/>
              <a:t>, </a:t>
            </a:r>
            <a:r>
              <a:rPr lang="fr-FR">
                <a:solidFill>
                  <a:srgbClr val="FF0000"/>
                </a:solidFill>
              </a:rPr>
              <a:t>a</a:t>
            </a:r>
            <a:r>
              <a:rPr lang="fr-FR"/>
              <a:t>, </a:t>
            </a:r>
            <a:r>
              <a:rPr lang="fr-FR">
                <a:solidFill>
                  <a:srgbClr val="FF0000"/>
                </a:solidFill>
              </a:rPr>
              <a:t>b</a:t>
            </a:r>
            <a:r>
              <a:rPr lang="fr-FR"/>
              <a:t>, </a:t>
            </a:r>
            <a:r>
              <a:rPr lang="fr-FR">
                <a:solidFill>
                  <a:srgbClr val="FF0000"/>
                </a:solidFill>
              </a:rPr>
              <a:t>c</a:t>
            </a:r>
            <a:r>
              <a:rPr lang="fr-FR"/>
              <a:t>, …, </a:t>
            </a:r>
            <a:r>
              <a:rPr lang="fr-FR">
                <a:solidFill>
                  <a:srgbClr val="FF0000"/>
                </a:solidFill>
              </a:rPr>
              <a:t>z</a:t>
            </a:r>
            <a:endParaRPr lang="en-US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fr-FR"/>
              <a:t>Bộ chữ số thập phân : </a:t>
            </a:r>
            <a:r>
              <a:rPr lang="fr-FR">
                <a:solidFill>
                  <a:srgbClr val="FF0000"/>
                </a:solidFill>
              </a:rPr>
              <a:t>0</a:t>
            </a:r>
            <a:r>
              <a:rPr lang="fr-FR"/>
              <a:t>, </a:t>
            </a:r>
            <a:r>
              <a:rPr lang="fr-FR">
                <a:solidFill>
                  <a:srgbClr val="FF0000"/>
                </a:solidFill>
              </a:rPr>
              <a:t>1</a:t>
            </a:r>
            <a:r>
              <a:rPr lang="fr-FR"/>
              <a:t>, </a:t>
            </a:r>
            <a:r>
              <a:rPr lang="fr-FR">
                <a:solidFill>
                  <a:srgbClr val="FF0000"/>
                </a:solidFill>
              </a:rPr>
              <a:t>2</a:t>
            </a:r>
            <a:r>
              <a:rPr lang="fr-FR"/>
              <a:t>, …, </a:t>
            </a:r>
            <a:r>
              <a:rPr lang="fr-FR">
                <a:solidFill>
                  <a:srgbClr val="FF0000"/>
                </a:solidFill>
              </a:rPr>
              <a:t>9</a:t>
            </a:r>
            <a:endParaRPr lang="en-US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fr-FR"/>
              <a:t>Các ký hiệu toán học : </a:t>
            </a:r>
            <a:r>
              <a:rPr lang="fr-FR">
                <a:solidFill>
                  <a:srgbClr val="FF0000"/>
                </a:solidFill>
              </a:rPr>
              <a:t>+</a:t>
            </a:r>
            <a:r>
              <a:rPr lang="fr-FR"/>
              <a:t> </a:t>
            </a:r>
            <a:r>
              <a:rPr lang="fr-FR">
                <a:solidFill>
                  <a:srgbClr val="FF0000"/>
                </a:solidFill>
              </a:rPr>
              <a:t>–</a:t>
            </a:r>
            <a:r>
              <a:rPr lang="fr-FR"/>
              <a:t> </a:t>
            </a:r>
            <a:r>
              <a:rPr lang="fr-FR">
                <a:solidFill>
                  <a:srgbClr val="FF0000"/>
                </a:solidFill>
              </a:rPr>
              <a:t>*</a:t>
            </a:r>
            <a:r>
              <a:rPr lang="fr-FR"/>
              <a:t> </a:t>
            </a:r>
            <a:r>
              <a:rPr lang="fr-FR">
                <a:solidFill>
                  <a:srgbClr val="FF0000"/>
                </a:solidFill>
              </a:rPr>
              <a:t>/</a:t>
            </a:r>
            <a:r>
              <a:rPr lang="fr-FR"/>
              <a:t> </a:t>
            </a:r>
            <a:r>
              <a:rPr lang="fr-FR">
                <a:solidFill>
                  <a:srgbClr val="FF0000"/>
                </a:solidFill>
              </a:rPr>
              <a:t>=</a:t>
            </a:r>
            <a:r>
              <a:rPr lang="fr-FR"/>
              <a:t> </a:t>
            </a:r>
            <a:r>
              <a:rPr lang="fr-FR">
                <a:solidFill>
                  <a:srgbClr val="FF0000"/>
                </a:solidFill>
              </a:rPr>
              <a:t>&lt;</a:t>
            </a:r>
            <a:r>
              <a:rPr lang="fr-FR"/>
              <a:t> </a:t>
            </a:r>
            <a:r>
              <a:rPr lang="fr-FR">
                <a:solidFill>
                  <a:srgbClr val="FF0000"/>
                </a:solidFill>
              </a:rPr>
              <a:t>&gt;</a:t>
            </a:r>
            <a:r>
              <a:rPr lang="fr-FR"/>
              <a:t> </a:t>
            </a:r>
            <a:r>
              <a:rPr lang="fr-FR">
                <a:solidFill>
                  <a:srgbClr val="FF0000"/>
                </a:solidFill>
              </a:rPr>
              <a:t>(</a:t>
            </a:r>
            <a:r>
              <a:rPr lang="fr-FR"/>
              <a:t> </a:t>
            </a:r>
            <a:r>
              <a:rPr lang="fr-FR">
                <a:solidFill>
                  <a:srgbClr val="FF0000"/>
                </a:solidFill>
              </a:rPr>
              <a:t>)</a:t>
            </a:r>
            <a:endParaRPr lang="en-US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fr-FR"/>
              <a:t>Các ký tự đặc biệt : </a:t>
            </a:r>
            <a:r>
              <a:rPr lang="fr-FR">
                <a:solidFill>
                  <a:srgbClr val="FF0000"/>
                </a:solidFill>
              </a:rPr>
              <a:t>.</a:t>
            </a:r>
            <a:r>
              <a:rPr lang="fr-FR"/>
              <a:t> </a:t>
            </a:r>
            <a:r>
              <a:rPr lang="fr-FR">
                <a:solidFill>
                  <a:srgbClr val="FF0000"/>
                </a:solidFill>
              </a:rPr>
              <a:t>,</a:t>
            </a:r>
            <a:r>
              <a:rPr lang="fr-FR"/>
              <a:t> </a:t>
            </a:r>
            <a:r>
              <a:rPr lang="fr-FR">
                <a:solidFill>
                  <a:srgbClr val="FF0000"/>
                </a:solidFill>
              </a:rPr>
              <a:t>:</a:t>
            </a:r>
            <a:r>
              <a:rPr lang="fr-FR"/>
              <a:t> </a:t>
            </a:r>
            <a:r>
              <a:rPr lang="fr-FR">
                <a:solidFill>
                  <a:srgbClr val="FF0000"/>
                </a:solidFill>
              </a:rPr>
              <a:t>;</a:t>
            </a:r>
            <a:r>
              <a:rPr lang="fr-FR"/>
              <a:t> </a:t>
            </a:r>
            <a:r>
              <a:rPr lang="fr-FR">
                <a:solidFill>
                  <a:srgbClr val="FF0000"/>
                </a:solidFill>
              </a:rPr>
              <a:t>[</a:t>
            </a:r>
            <a:r>
              <a:rPr lang="fr-FR"/>
              <a:t> </a:t>
            </a:r>
            <a:r>
              <a:rPr lang="fr-FR">
                <a:solidFill>
                  <a:srgbClr val="FF0000"/>
                </a:solidFill>
              </a:rPr>
              <a:t>]</a:t>
            </a:r>
            <a:r>
              <a:rPr lang="fr-FR"/>
              <a:t> </a:t>
            </a:r>
            <a:r>
              <a:rPr lang="fr-FR">
                <a:solidFill>
                  <a:srgbClr val="FF0000"/>
                </a:solidFill>
              </a:rPr>
              <a:t>%</a:t>
            </a:r>
            <a:r>
              <a:rPr lang="fr-FR"/>
              <a:t> </a:t>
            </a:r>
            <a:r>
              <a:rPr lang="fr-FR">
                <a:solidFill>
                  <a:srgbClr val="FF0000"/>
                </a:solidFill>
              </a:rPr>
              <a:t>\</a:t>
            </a:r>
            <a:r>
              <a:rPr lang="fr-FR"/>
              <a:t> </a:t>
            </a:r>
            <a:r>
              <a:rPr lang="fr-FR">
                <a:solidFill>
                  <a:srgbClr val="FF0000"/>
                </a:solidFill>
              </a:rPr>
              <a:t>#</a:t>
            </a:r>
            <a:r>
              <a:rPr lang="fr-FR"/>
              <a:t> </a:t>
            </a:r>
            <a:r>
              <a:rPr lang="fr-FR">
                <a:solidFill>
                  <a:srgbClr val="FF0000"/>
                </a:solidFill>
              </a:rPr>
              <a:t>$</a:t>
            </a:r>
            <a:r>
              <a:rPr lang="fr-FR"/>
              <a:t> </a:t>
            </a:r>
            <a:r>
              <a:rPr lang="fr-FR">
                <a:solidFill>
                  <a:srgbClr val="FF0000"/>
                </a:solidFill>
              </a:rPr>
              <a:t>‘</a:t>
            </a:r>
            <a:endParaRPr lang="en-US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fr-FR"/>
              <a:t>Ký tự gạch nối </a:t>
            </a:r>
            <a:r>
              <a:rPr lang="fr-FR">
                <a:solidFill>
                  <a:srgbClr val="FF0000"/>
                </a:solidFill>
              </a:rPr>
              <a:t>_</a:t>
            </a:r>
            <a:r>
              <a:rPr lang="fr-FR"/>
              <a:t> và khoảng trắng </a:t>
            </a:r>
            <a:r>
              <a:rPr lang="fr-FR">
                <a:solidFill>
                  <a:srgbClr val="FF0000"/>
                </a:solidFill>
              </a:rPr>
              <a:t>‘</a:t>
            </a:r>
            <a:r>
              <a:rPr lang="fr-FR"/>
              <a:t> </a:t>
            </a:r>
            <a:r>
              <a:rPr lang="fr-FR">
                <a:solidFill>
                  <a:srgbClr val="FF0000"/>
                </a:solidFill>
              </a:rPr>
              <a:t>’</a:t>
            </a:r>
            <a:endParaRPr lang="en-US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600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Bộ từ vựng của C</a:t>
            </a:r>
            <a:endParaRPr 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Từ khóa (keyword)</a:t>
            </a:r>
          </a:p>
          <a:p>
            <a:pPr lvl="1">
              <a:defRPr/>
            </a:pPr>
            <a:r>
              <a:rPr lang="en-US"/>
              <a:t>Các từ </a:t>
            </a:r>
            <a:r>
              <a:rPr lang="en-US">
                <a:solidFill>
                  <a:srgbClr val="FF0000"/>
                </a:solidFill>
              </a:rPr>
              <a:t>dành riêng</a:t>
            </a:r>
            <a:r>
              <a:rPr lang="en-US"/>
              <a:t> trong ngôn ngữ.</a:t>
            </a:r>
          </a:p>
          <a:p>
            <a:pPr lvl="1">
              <a:defRPr/>
            </a:pPr>
            <a:r>
              <a:rPr lang="en-US">
                <a:solidFill>
                  <a:srgbClr val="FF0000"/>
                </a:solidFill>
              </a:rPr>
              <a:t>Không</a:t>
            </a:r>
            <a:r>
              <a:rPr lang="en-US"/>
              <a:t> thể sử dụng từ khóa </a:t>
            </a:r>
            <a:r>
              <a:rPr lang="vi-VN"/>
              <a:t>để</a:t>
            </a:r>
            <a:r>
              <a:rPr lang="en-US"/>
              <a:t> </a:t>
            </a:r>
            <a:r>
              <a:rPr lang="vi-VN"/>
              <a:t>đặ</a:t>
            </a:r>
            <a:r>
              <a:rPr lang="en-US"/>
              <a:t>t tên cho biến, hàm, tên ch</a:t>
            </a:r>
            <a:r>
              <a:rPr lang="vi-VN"/>
              <a:t>ươ</a:t>
            </a:r>
            <a:r>
              <a:rPr lang="en-US"/>
              <a:t>ng trình con.</a:t>
            </a:r>
          </a:p>
          <a:p>
            <a:pPr lvl="1">
              <a:defRPr/>
            </a:pPr>
            <a:r>
              <a:rPr lang="en-US"/>
              <a:t>Một số từ khóa thông dụng:</a:t>
            </a:r>
          </a:p>
          <a:p>
            <a:pPr lvl="2">
              <a:defRPr/>
            </a:pPr>
            <a:r>
              <a:rPr lang="en-US"/>
              <a:t>const, enum, signed, struct, typedef, unsigned…</a:t>
            </a:r>
          </a:p>
          <a:p>
            <a:pPr lvl="2">
              <a:defRPr/>
            </a:pPr>
            <a:r>
              <a:rPr lang="en-US"/>
              <a:t>char, double, float, int, long, short, void</a:t>
            </a:r>
          </a:p>
          <a:p>
            <a:pPr lvl="2">
              <a:defRPr/>
            </a:pPr>
            <a:r>
              <a:rPr lang="en-US"/>
              <a:t>case, default, else, if, switch</a:t>
            </a:r>
          </a:p>
          <a:p>
            <a:pPr lvl="2">
              <a:defRPr/>
            </a:pPr>
            <a:r>
              <a:rPr lang="en-US"/>
              <a:t>do, for, while</a:t>
            </a:r>
          </a:p>
          <a:p>
            <a:pPr lvl="2">
              <a:defRPr/>
            </a:pPr>
            <a:r>
              <a:rPr lang="en-US"/>
              <a:t>break, continue, goto, return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42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Bộ từ vựng của C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Tên/Định danh (Identifier)</a:t>
            </a:r>
          </a:p>
          <a:p>
            <a:pPr lvl="1">
              <a:defRPr/>
            </a:pPr>
            <a:r>
              <a:rPr lang="fr-FR" smtClean="0">
                <a:solidFill>
                  <a:srgbClr val="FF0000"/>
                </a:solidFill>
              </a:rPr>
              <a:t>Một dãy ký tự</a:t>
            </a:r>
            <a:r>
              <a:rPr lang="fr-FR" smtClean="0"/>
              <a:t> dùng để </a:t>
            </a:r>
            <a:r>
              <a:rPr lang="fr-FR" smtClean="0">
                <a:solidFill>
                  <a:srgbClr val="FF0000"/>
                </a:solidFill>
              </a:rPr>
              <a:t>chỉ tên</a:t>
            </a:r>
            <a:r>
              <a:rPr lang="fr-FR" smtClean="0"/>
              <a:t> một hằng số, hằng ký tự, tên một biến, một kiểu dữ liệu, một hàm.</a:t>
            </a:r>
          </a:p>
          <a:p>
            <a:pPr lvl="1">
              <a:defRPr/>
            </a:pPr>
            <a:r>
              <a:rPr lang="fr-FR" smtClean="0">
                <a:solidFill>
                  <a:srgbClr val="FF0000"/>
                </a:solidFill>
              </a:rPr>
              <a:t>Không được trùng với các từ khóa</a:t>
            </a:r>
            <a:r>
              <a:rPr lang="fr-FR" smtClean="0"/>
              <a:t> và được tạo thành từ các chữ cái và các chữ số nhưng bắt buộc </a:t>
            </a:r>
            <a:r>
              <a:rPr lang="fr-FR" smtClean="0">
                <a:solidFill>
                  <a:srgbClr val="FF0000"/>
                </a:solidFill>
              </a:rPr>
              <a:t>chữ đầu phải là chữ cái </a:t>
            </a:r>
            <a:r>
              <a:rPr lang="fr-FR" smtClean="0"/>
              <a:t>hoặc</a:t>
            </a:r>
            <a:r>
              <a:rPr lang="fr-FR" smtClean="0">
                <a:solidFill>
                  <a:srgbClr val="FF0000"/>
                </a:solidFill>
              </a:rPr>
              <a:t> _.</a:t>
            </a:r>
            <a:endParaRPr lang="fr-FR" smtClean="0"/>
          </a:p>
          <a:p>
            <a:pPr lvl="1">
              <a:defRPr/>
            </a:pPr>
            <a:r>
              <a:rPr lang="fr-FR" smtClean="0"/>
              <a:t>Số ký tự </a:t>
            </a:r>
            <a:r>
              <a:rPr lang="fr-FR" smtClean="0">
                <a:solidFill>
                  <a:srgbClr val="FF0000"/>
                </a:solidFill>
              </a:rPr>
              <a:t>tối đa</a:t>
            </a:r>
            <a:r>
              <a:rPr lang="fr-FR" smtClean="0"/>
              <a:t> trong một tên là </a:t>
            </a:r>
            <a:r>
              <a:rPr lang="fr-FR" smtClean="0">
                <a:solidFill>
                  <a:srgbClr val="FF0000"/>
                </a:solidFill>
              </a:rPr>
              <a:t>255 ký tự</a:t>
            </a:r>
            <a:r>
              <a:rPr lang="fr-FR" smtClean="0"/>
              <a:t> và </a:t>
            </a:r>
            <a:r>
              <a:rPr lang="fr-FR" smtClean="0">
                <a:solidFill>
                  <a:srgbClr val="FF0000"/>
                </a:solidFill>
              </a:rPr>
              <a:t>được dùng ký tự _</a:t>
            </a:r>
            <a:r>
              <a:rPr lang="fr-FR" smtClean="0"/>
              <a:t> chen trong tên nhưng </a:t>
            </a:r>
            <a:r>
              <a:rPr lang="fr-FR" smtClean="0">
                <a:solidFill>
                  <a:srgbClr val="FF0000"/>
                </a:solidFill>
              </a:rPr>
              <a:t>không</a:t>
            </a:r>
            <a:r>
              <a:rPr lang="fr-FR" smtClean="0"/>
              <a:t> cho phép </a:t>
            </a:r>
            <a:r>
              <a:rPr lang="fr-FR" smtClean="0">
                <a:solidFill>
                  <a:srgbClr val="FF0000"/>
                </a:solidFill>
              </a:rPr>
              <a:t>chen giữa </a:t>
            </a:r>
            <a:r>
              <a:rPr lang="fr-FR" smtClean="0"/>
              <a:t>các </a:t>
            </a:r>
            <a:r>
              <a:rPr lang="fr-FR" smtClean="0">
                <a:solidFill>
                  <a:srgbClr val="FF0000"/>
                </a:solidFill>
              </a:rPr>
              <a:t>khoảng trắng</a:t>
            </a:r>
            <a:r>
              <a:rPr lang="fr-FR" smtClean="0"/>
              <a:t>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2D2C-CD8C-4326-A321-D508F451971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Bộ từ vựng của C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dụ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Tên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/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Định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danh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(Identifier)</a:t>
            </a:r>
          </a:p>
          <a:p>
            <a:pPr lvl="1">
              <a:defRPr/>
            </a:pPr>
            <a:r>
              <a:rPr lang="fr-FR" dirty="0" err="1" smtClean="0"/>
              <a:t>Các</a:t>
            </a:r>
            <a:r>
              <a:rPr lang="fr-FR" dirty="0" smtClean="0"/>
              <a:t> </a:t>
            </a:r>
            <a:r>
              <a:rPr lang="fr-FR" dirty="0" err="1" smtClean="0"/>
              <a:t>tên</a:t>
            </a:r>
            <a:r>
              <a:rPr lang="fr-FR" dirty="0" smtClean="0"/>
              <a:t> </a:t>
            </a:r>
            <a:r>
              <a:rPr lang="fr-FR" dirty="0" err="1" smtClean="0"/>
              <a:t>hợp</a:t>
            </a:r>
            <a:r>
              <a:rPr lang="fr-FR" dirty="0" smtClean="0"/>
              <a:t> </a:t>
            </a:r>
            <a:r>
              <a:rPr lang="fr-FR" dirty="0" err="1" smtClean="0"/>
              <a:t>lệ</a:t>
            </a:r>
            <a:r>
              <a:rPr lang="fr-FR" dirty="0" smtClean="0"/>
              <a:t>: </a:t>
            </a:r>
            <a:r>
              <a:rPr lang="fr-FR" dirty="0" err="1" smtClean="0"/>
              <a:t>GiaiPhuongTrinh</a:t>
            </a:r>
            <a:r>
              <a:rPr lang="fr-FR" dirty="0" smtClean="0"/>
              <a:t>, Bai_Tap1</a:t>
            </a:r>
          </a:p>
          <a:p>
            <a:pPr lvl="1">
              <a:defRPr/>
            </a:pPr>
            <a:r>
              <a:rPr lang="fr-FR" dirty="0" err="1" smtClean="0"/>
              <a:t>Các</a:t>
            </a:r>
            <a:r>
              <a:rPr lang="fr-FR" dirty="0" smtClean="0"/>
              <a:t> </a:t>
            </a:r>
            <a:r>
              <a:rPr lang="fr-FR" dirty="0" err="1" smtClean="0"/>
              <a:t>tên</a:t>
            </a:r>
            <a:r>
              <a:rPr lang="fr-FR" dirty="0" smtClean="0"/>
              <a:t> </a:t>
            </a:r>
            <a:r>
              <a:rPr lang="fr-FR" dirty="0" err="1" smtClean="0"/>
              <a:t>không</a:t>
            </a:r>
            <a:r>
              <a:rPr lang="fr-FR" dirty="0" smtClean="0"/>
              <a:t> </a:t>
            </a:r>
            <a:r>
              <a:rPr lang="fr-FR" dirty="0" err="1" smtClean="0"/>
              <a:t>hợp</a:t>
            </a:r>
            <a:r>
              <a:rPr lang="fr-FR" dirty="0" smtClean="0"/>
              <a:t> </a:t>
            </a:r>
            <a:r>
              <a:rPr lang="fr-FR" dirty="0" err="1" smtClean="0"/>
              <a:t>lệ</a:t>
            </a:r>
            <a:r>
              <a:rPr lang="fr-FR" dirty="0" smtClean="0"/>
              <a:t>: 1A, </a:t>
            </a:r>
            <a:r>
              <a:rPr lang="fr-FR" dirty="0" err="1" smtClean="0"/>
              <a:t>Giai</a:t>
            </a:r>
            <a:r>
              <a:rPr lang="fr-FR" dirty="0" smtClean="0"/>
              <a:t> </a:t>
            </a:r>
            <a:r>
              <a:rPr lang="fr-FR" dirty="0" err="1" smtClean="0"/>
              <a:t>Phuong</a:t>
            </a:r>
            <a:r>
              <a:rPr lang="fr-FR" dirty="0" smtClean="0"/>
              <a:t> Trinh</a:t>
            </a:r>
          </a:p>
          <a:p>
            <a:pPr lvl="1">
              <a:defRPr/>
            </a:pPr>
            <a:r>
              <a:rPr lang="fr-FR" dirty="0" err="1" smtClean="0">
                <a:solidFill>
                  <a:srgbClr val="FF0000"/>
                </a:solidFill>
              </a:rPr>
              <a:t>Phân</a:t>
            </a:r>
            <a:r>
              <a:rPr lang="fr-FR" dirty="0" smtClean="0">
                <a:solidFill>
                  <a:srgbClr val="FF0000"/>
                </a:solidFill>
              </a:rPr>
              <a:t> </a:t>
            </a:r>
            <a:r>
              <a:rPr lang="fr-FR" dirty="0" err="1" smtClean="0">
                <a:solidFill>
                  <a:srgbClr val="FF0000"/>
                </a:solidFill>
              </a:rPr>
              <a:t>biệt</a:t>
            </a:r>
            <a:r>
              <a:rPr lang="fr-FR" dirty="0" smtClean="0">
                <a:solidFill>
                  <a:srgbClr val="FF0000"/>
                </a:solidFill>
              </a:rPr>
              <a:t> </a:t>
            </a:r>
            <a:r>
              <a:rPr lang="fr-FR" dirty="0" err="1" smtClean="0">
                <a:solidFill>
                  <a:srgbClr val="FF0000"/>
                </a:solidFill>
              </a:rPr>
              <a:t>chữ</a:t>
            </a:r>
            <a:r>
              <a:rPr lang="fr-FR" dirty="0" smtClean="0">
                <a:solidFill>
                  <a:srgbClr val="FF0000"/>
                </a:solidFill>
              </a:rPr>
              <a:t> </a:t>
            </a:r>
            <a:r>
              <a:rPr lang="fr-FR" dirty="0" err="1" smtClean="0">
                <a:solidFill>
                  <a:srgbClr val="FF0000"/>
                </a:solidFill>
              </a:rPr>
              <a:t>hoa</a:t>
            </a:r>
            <a:r>
              <a:rPr lang="fr-FR" dirty="0" smtClean="0">
                <a:solidFill>
                  <a:srgbClr val="FF0000"/>
                </a:solidFill>
              </a:rPr>
              <a:t> </a:t>
            </a:r>
            <a:r>
              <a:rPr lang="fr-FR" dirty="0" err="1" smtClean="0">
                <a:solidFill>
                  <a:srgbClr val="FF0000"/>
                </a:solidFill>
              </a:rPr>
              <a:t>chữ</a:t>
            </a:r>
            <a:r>
              <a:rPr lang="fr-FR" dirty="0" smtClean="0">
                <a:solidFill>
                  <a:srgbClr val="FF0000"/>
                </a:solidFill>
              </a:rPr>
              <a:t> </a:t>
            </a:r>
            <a:r>
              <a:rPr lang="fr-FR" dirty="0" err="1" smtClean="0">
                <a:solidFill>
                  <a:srgbClr val="FF0000"/>
                </a:solidFill>
              </a:rPr>
              <a:t>thường</a:t>
            </a:r>
            <a:r>
              <a:rPr lang="fr-FR" dirty="0" smtClean="0"/>
              <a:t>, do </a:t>
            </a:r>
            <a:r>
              <a:rPr lang="fr-FR" dirty="0" err="1" smtClean="0"/>
              <a:t>đó</a:t>
            </a:r>
            <a:r>
              <a:rPr lang="fr-FR" dirty="0" smtClean="0"/>
              <a:t> </a:t>
            </a:r>
            <a:r>
              <a:rPr lang="fr-FR" dirty="0" err="1" smtClean="0"/>
              <a:t>các</a:t>
            </a:r>
            <a:r>
              <a:rPr lang="fr-FR" dirty="0" smtClean="0"/>
              <a:t> </a:t>
            </a:r>
            <a:r>
              <a:rPr lang="fr-FR" dirty="0" err="1" smtClean="0"/>
              <a:t>tên</a:t>
            </a:r>
            <a:r>
              <a:rPr lang="fr-FR" dirty="0" smtClean="0"/>
              <a:t> </a:t>
            </a:r>
            <a:r>
              <a:rPr lang="fr-FR" dirty="0" err="1" smtClean="0"/>
              <a:t>sau</a:t>
            </a:r>
            <a:r>
              <a:rPr lang="fr-FR" dirty="0" smtClean="0"/>
              <a:t> </a:t>
            </a:r>
            <a:r>
              <a:rPr lang="fr-FR" dirty="0" err="1" smtClean="0"/>
              <a:t>đây</a:t>
            </a:r>
            <a:r>
              <a:rPr lang="fr-FR" dirty="0" smtClean="0"/>
              <a:t> </a:t>
            </a:r>
            <a:r>
              <a:rPr lang="fr-FR" dirty="0" err="1" smtClean="0"/>
              <a:t>khác</a:t>
            </a:r>
            <a:r>
              <a:rPr lang="fr-FR" dirty="0" smtClean="0"/>
              <a:t> </a:t>
            </a:r>
            <a:r>
              <a:rPr lang="fr-FR" dirty="0" err="1" smtClean="0"/>
              <a:t>nhau</a:t>
            </a:r>
            <a:r>
              <a:rPr lang="fr-FR" dirty="0" smtClean="0"/>
              <a:t>:</a:t>
            </a:r>
          </a:p>
          <a:p>
            <a:pPr lvl="2">
              <a:defRPr/>
            </a:pPr>
            <a:r>
              <a:rPr lang="fr-FR" dirty="0" smtClean="0"/>
              <a:t>A, a</a:t>
            </a:r>
          </a:p>
          <a:p>
            <a:pPr lvl="2">
              <a:defRPr/>
            </a:pPr>
            <a:r>
              <a:rPr lang="fr-FR" dirty="0" err="1" smtClean="0"/>
              <a:t>BaiTap</a:t>
            </a:r>
            <a:r>
              <a:rPr lang="fr-FR" dirty="0" smtClean="0"/>
              <a:t>, </a:t>
            </a:r>
            <a:r>
              <a:rPr lang="fr-FR" dirty="0" err="1" smtClean="0"/>
              <a:t>baitap</a:t>
            </a:r>
            <a:r>
              <a:rPr lang="fr-FR" dirty="0" smtClean="0"/>
              <a:t>, BAITAP, </a:t>
            </a:r>
            <a:r>
              <a:rPr lang="fr-FR" dirty="0" err="1" smtClean="0"/>
              <a:t>bAItaP</a:t>
            </a:r>
            <a:r>
              <a:rPr lang="fr-FR" dirty="0" smtClean="0"/>
              <a:t>, 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2D2C-CD8C-4326-A321-D508F451971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Qui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soạn</a:t>
            </a:r>
            <a:r>
              <a:rPr lang="en-US" dirty="0"/>
              <a:t> </a:t>
            </a:r>
            <a:r>
              <a:rPr lang="en-US" dirty="0" err="1"/>
              <a:t>thảo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</a:t>
            </a:r>
            <a:endParaRPr 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4525963"/>
          </a:xfrm>
        </p:spPr>
        <p:txBody>
          <a:bodyPr>
            <a:normAutofit/>
          </a:bodyPr>
          <a:lstStyle/>
          <a:p>
            <a:pPr marL="800100">
              <a:lnSpc>
                <a:spcPct val="80000"/>
              </a:lnSpc>
              <a:spcBef>
                <a:spcPts val="1200"/>
              </a:spcBef>
              <a:buNone/>
            </a:pPr>
            <a:r>
              <a:rPr lang="en-US" smtClean="0"/>
              <a:t>1. Tên/định danh (Identifier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)</a:t>
            </a:r>
            <a:endParaRPr lang="en-US" dirty="0"/>
          </a:p>
          <a:p>
            <a:pPr marL="977900" lvl="1">
              <a:lnSpc>
                <a:spcPct val="80000"/>
              </a:lnSpc>
              <a:spcBef>
                <a:spcPts val="1200"/>
              </a:spcBef>
            </a:pPr>
            <a:r>
              <a:rPr lang="en-US" sz="3200" smtClean="0"/>
              <a:t>Không sử </a:t>
            </a:r>
            <a:r>
              <a:rPr lang="en-US" sz="3200" dirty="0" err="1"/>
              <a:t>dụng</a:t>
            </a:r>
            <a:r>
              <a:rPr lang="en-US" sz="3200" dirty="0"/>
              <a:t>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từ</a:t>
            </a:r>
            <a:r>
              <a:rPr lang="en-US" sz="3200" dirty="0"/>
              <a:t> </a:t>
            </a:r>
            <a:r>
              <a:rPr lang="en-US" sz="3200" dirty="0" err="1"/>
              <a:t>khóa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tên</a:t>
            </a:r>
            <a:r>
              <a:rPr lang="en-US" sz="3200" dirty="0"/>
              <a:t> </a:t>
            </a:r>
            <a:r>
              <a:rPr lang="en-US" sz="3200" dirty="0" err="1" smtClean="0"/>
              <a:t>kiểu</a:t>
            </a:r>
            <a:r>
              <a:rPr lang="en-US" sz="3200" dirty="0" smtClean="0"/>
              <a:t> </a:t>
            </a:r>
            <a:r>
              <a:rPr lang="en-US" sz="3200" dirty="0" err="1" smtClean="0"/>
              <a:t>cơ</a:t>
            </a:r>
            <a:r>
              <a:rPr lang="en-US" sz="3200" dirty="0" smtClean="0"/>
              <a:t> </a:t>
            </a:r>
            <a:r>
              <a:rPr lang="en-US" sz="3200" dirty="0" err="1"/>
              <a:t>sở</a:t>
            </a:r>
            <a:endParaRPr lang="en-US" sz="3200" dirty="0"/>
          </a:p>
          <a:p>
            <a:pPr marL="977900" lvl="1">
              <a:lnSpc>
                <a:spcPct val="80000"/>
              </a:lnSpc>
              <a:spcBef>
                <a:spcPts val="1200"/>
              </a:spcBef>
            </a:pP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ký</a:t>
            </a:r>
            <a:r>
              <a:rPr lang="en-US" sz="3200" dirty="0"/>
              <a:t> </a:t>
            </a:r>
            <a:r>
              <a:rPr lang="en-US" sz="3200" dirty="0" err="1"/>
              <a:t>tự</a:t>
            </a:r>
            <a:r>
              <a:rPr lang="en-US" sz="3200" dirty="0"/>
              <a:t> </a:t>
            </a:r>
            <a:r>
              <a:rPr lang="en-US" sz="3200" dirty="0" err="1"/>
              <a:t>dùng</a:t>
            </a:r>
            <a:r>
              <a:rPr lang="en-US" sz="3200" dirty="0"/>
              <a:t> </a:t>
            </a:r>
            <a:r>
              <a:rPr lang="en-US" sz="3200" dirty="0" err="1"/>
              <a:t>được</a:t>
            </a:r>
            <a:r>
              <a:rPr lang="en-US" sz="3200" dirty="0"/>
              <a:t>: ‘A’..’Z’, ‘</a:t>
            </a:r>
            <a:r>
              <a:rPr lang="en-US" sz="3200" dirty="0" err="1"/>
              <a:t>a’..’z</a:t>
            </a:r>
            <a:r>
              <a:rPr lang="en-US" sz="3200" dirty="0"/>
              <a:t>’, ‘0’..’9’, ‘_’</a:t>
            </a:r>
          </a:p>
          <a:p>
            <a:pPr marL="977900" lvl="1">
              <a:lnSpc>
                <a:spcPct val="80000"/>
              </a:lnSpc>
              <a:spcBef>
                <a:spcPts val="1200"/>
              </a:spcBef>
            </a:pPr>
            <a:r>
              <a:rPr lang="en-US" sz="3200" dirty="0" err="1"/>
              <a:t>Phân</a:t>
            </a:r>
            <a:r>
              <a:rPr lang="en-US" sz="3200" dirty="0"/>
              <a:t> </a:t>
            </a:r>
            <a:r>
              <a:rPr lang="en-US" sz="3200" dirty="0" err="1"/>
              <a:t>biệt</a:t>
            </a:r>
            <a:r>
              <a:rPr lang="en-US" sz="3200" dirty="0"/>
              <a:t> </a:t>
            </a:r>
            <a:r>
              <a:rPr lang="en-US" sz="3200" dirty="0" err="1"/>
              <a:t>giữa</a:t>
            </a:r>
            <a:r>
              <a:rPr lang="en-US" sz="3200" dirty="0"/>
              <a:t> </a:t>
            </a:r>
            <a:r>
              <a:rPr lang="en-US" sz="3200" dirty="0" err="1"/>
              <a:t>chữ</a:t>
            </a:r>
            <a:r>
              <a:rPr lang="en-US" sz="3200" dirty="0"/>
              <a:t> </a:t>
            </a:r>
            <a:r>
              <a:rPr lang="en-US" sz="3200" dirty="0" err="1"/>
              <a:t>hoa</a:t>
            </a:r>
            <a:r>
              <a:rPr lang="en-US" sz="3200" dirty="0"/>
              <a:t> </a:t>
            </a:r>
            <a:r>
              <a:rPr lang="en-US" sz="3200" dirty="0" err="1"/>
              <a:t>và</a:t>
            </a:r>
            <a:r>
              <a:rPr lang="en-US" sz="3200" dirty="0"/>
              <a:t> </a:t>
            </a:r>
            <a:r>
              <a:rPr lang="en-US" sz="3200" dirty="0" err="1"/>
              <a:t>chữ</a:t>
            </a:r>
            <a:r>
              <a:rPr lang="en-US" sz="3200" dirty="0"/>
              <a:t> </a:t>
            </a:r>
            <a:r>
              <a:rPr lang="en-US" sz="3200" dirty="0" err="1"/>
              <a:t>thường</a:t>
            </a:r>
            <a:r>
              <a:rPr lang="en-US" sz="3200" dirty="0"/>
              <a:t>: n </a:t>
            </a:r>
            <a:r>
              <a:rPr lang="en-US" sz="3200" dirty="0" err="1"/>
              <a:t>khác</a:t>
            </a:r>
            <a:r>
              <a:rPr lang="en-US" sz="3200" dirty="0"/>
              <a:t> N</a:t>
            </a:r>
          </a:p>
          <a:p>
            <a:pPr marL="977900" lvl="1">
              <a:lnSpc>
                <a:spcPct val="80000"/>
              </a:lnSpc>
              <a:spcBef>
                <a:spcPts val="1200"/>
              </a:spcBef>
            </a:pPr>
            <a:r>
              <a:rPr lang="en-US" sz="3200" dirty="0" err="1" smtClean="0"/>
              <a:t>Ngắn</a:t>
            </a:r>
            <a:r>
              <a:rPr lang="en-US" sz="3200" dirty="0" smtClean="0"/>
              <a:t> </a:t>
            </a:r>
            <a:r>
              <a:rPr lang="en-US" sz="3200" dirty="0" err="1" smtClean="0"/>
              <a:t>nhưng</a:t>
            </a:r>
            <a:r>
              <a:rPr lang="en-US" sz="3200" dirty="0" smtClean="0"/>
              <a:t> </a:t>
            </a:r>
            <a:r>
              <a:rPr lang="en-US" sz="3200" dirty="0" err="1"/>
              <a:t>đủ</a:t>
            </a:r>
            <a:r>
              <a:rPr lang="en-US" sz="3200" dirty="0"/>
              <a:t> </a:t>
            </a:r>
            <a:r>
              <a:rPr lang="en-US" sz="3200" dirty="0" err="1"/>
              <a:t>khả</a:t>
            </a:r>
            <a:r>
              <a:rPr lang="en-US" sz="3200" dirty="0"/>
              <a:t> </a:t>
            </a:r>
            <a:r>
              <a:rPr lang="en-US" sz="3200" dirty="0" err="1"/>
              <a:t>năng</a:t>
            </a:r>
            <a:r>
              <a:rPr lang="en-US" sz="3200" dirty="0"/>
              <a:t> </a:t>
            </a:r>
            <a:r>
              <a:rPr lang="en-US" sz="3200" dirty="0" err="1"/>
              <a:t>phân</a:t>
            </a:r>
            <a:r>
              <a:rPr lang="en-US" sz="3200" dirty="0"/>
              <a:t> </a:t>
            </a:r>
            <a:r>
              <a:rPr lang="en-US" sz="3200" dirty="0" err="1"/>
              <a:t>biệt</a:t>
            </a:r>
            <a:r>
              <a:rPr lang="en-US" sz="3200" dirty="0"/>
              <a:t>, </a:t>
            </a:r>
            <a:r>
              <a:rPr lang="en-US" sz="3200" dirty="0" err="1"/>
              <a:t>gợi</a:t>
            </a:r>
            <a:r>
              <a:rPr lang="en-US" sz="3200" dirty="0"/>
              <a:t> </a:t>
            </a:r>
            <a:r>
              <a:rPr lang="en-US" sz="3200" dirty="0" err="1"/>
              <a:t>nhớ</a:t>
            </a:r>
            <a:r>
              <a:rPr lang="en-US" sz="3200" dirty="0"/>
              <a:t> </a:t>
            </a:r>
            <a:r>
              <a:rPr lang="en-US" sz="3200" dirty="0" err="1"/>
              <a:t>để</a:t>
            </a:r>
            <a:r>
              <a:rPr lang="en-US" sz="3200" dirty="0"/>
              <a:t> </a:t>
            </a:r>
            <a:r>
              <a:rPr lang="en-US" sz="3200" dirty="0" err="1"/>
              <a:t>nhận</a:t>
            </a:r>
            <a:r>
              <a:rPr lang="en-US" sz="3200" dirty="0"/>
              <a:t> </a:t>
            </a:r>
            <a:r>
              <a:rPr lang="en-US" sz="3200" dirty="0" err="1"/>
              <a:t>biết</a:t>
            </a:r>
            <a:endParaRPr lang="en-US" sz="3200" dirty="0"/>
          </a:p>
          <a:p>
            <a:pPr marL="977900" lvl="1">
              <a:lnSpc>
                <a:spcPct val="80000"/>
              </a:lnSpc>
              <a:spcBef>
                <a:spcPts val="1200"/>
              </a:spcBef>
            </a:pPr>
            <a:r>
              <a:rPr lang="en-US" sz="3200" dirty="0" err="1"/>
              <a:t>Sử</a:t>
            </a:r>
            <a:r>
              <a:rPr lang="en-US" sz="3200" dirty="0"/>
              <a:t> </a:t>
            </a:r>
            <a:r>
              <a:rPr lang="en-US" sz="3200" dirty="0" err="1"/>
              <a:t>dụng</a:t>
            </a:r>
            <a:r>
              <a:rPr lang="en-US" sz="3200" dirty="0"/>
              <a:t> </a:t>
            </a:r>
            <a:r>
              <a:rPr lang="en-US" sz="3200" dirty="0" err="1"/>
              <a:t>tiếng</a:t>
            </a:r>
            <a:r>
              <a:rPr lang="en-US" sz="3200" dirty="0"/>
              <a:t> </a:t>
            </a:r>
            <a:r>
              <a:rPr lang="en-US" sz="3200" dirty="0" err="1"/>
              <a:t>Anh</a:t>
            </a:r>
            <a:r>
              <a:rPr lang="en-US" sz="3200" dirty="0"/>
              <a:t> </a:t>
            </a:r>
            <a:r>
              <a:rPr lang="en-US" sz="3200" dirty="0" err="1"/>
              <a:t>hoặc</a:t>
            </a:r>
            <a:r>
              <a:rPr lang="en-US" sz="3200" dirty="0"/>
              <a:t> </a:t>
            </a:r>
            <a:r>
              <a:rPr lang="en-US" sz="3200" dirty="0" err="1"/>
              <a:t>tiếng</a:t>
            </a:r>
            <a:r>
              <a:rPr lang="en-US" sz="3200" dirty="0"/>
              <a:t> </a:t>
            </a:r>
            <a:r>
              <a:rPr lang="en-US" sz="3200" dirty="0" err="1"/>
              <a:t>Việt</a:t>
            </a:r>
            <a:r>
              <a:rPr lang="en-US" sz="3200" dirty="0"/>
              <a:t> </a:t>
            </a:r>
            <a:r>
              <a:rPr lang="en-US" sz="3200" dirty="0" err="1"/>
              <a:t>không</a:t>
            </a:r>
            <a:r>
              <a:rPr lang="en-US" sz="3200" dirty="0"/>
              <a:t> </a:t>
            </a:r>
            <a:r>
              <a:rPr lang="en-US" sz="3200" dirty="0" err="1"/>
              <a:t>dấu</a:t>
            </a:r>
            <a:r>
              <a:rPr lang="en-US" sz="3200" dirty="0"/>
              <a:t> (</a:t>
            </a:r>
            <a:r>
              <a:rPr lang="en-US" sz="3200" dirty="0" err="1"/>
              <a:t>kể</a:t>
            </a:r>
            <a:r>
              <a:rPr lang="en-US" sz="3200" dirty="0"/>
              <a:t> </a:t>
            </a:r>
            <a:r>
              <a:rPr lang="en-US" sz="3200" dirty="0" err="1"/>
              <a:t>cả</a:t>
            </a:r>
            <a:r>
              <a:rPr lang="en-US" sz="3200" dirty="0"/>
              <a:t> </a:t>
            </a:r>
            <a:r>
              <a:rPr lang="en-US" sz="3200" dirty="0" err="1"/>
              <a:t>dòng</a:t>
            </a:r>
            <a:r>
              <a:rPr lang="en-US" sz="3200" dirty="0"/>
              <a:t> </a:t>
            </a:r>
            <a:r>
              <a:rPr lang="en-US" sz="3200" dirty="0" err="1"/>
              <a:t>chú</a:t>
            </a:r>
            <a:r>
              <a:rPr lang="en-US" sz="3200" dirty="0"/>
              <a:t> </a:t>
            </a:r>
            <a:r>
              <a:rPr lang="en-US" sz="3200" dirty="0" err="1"/>
              <a:t>thích</a:t>
            </a:r>
            <a:r>
              <a:rPr lang="en-US" sz="3200" dirty="0" smtClean="0"/>
              <a:t>)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10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Qui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soạn</a:t>
            </a:r>
            <a:r>
              <a:rPr lang="en-US" dirty="0"/>
              <a:t> </a:t>
            </a:r>
            <a:r>
              <a:rPr lang="en-US" dirty="0" err="1"/>
              <a:t>thảo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</a:t>
            </a:r>
            <a:endParaRPr 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spcBef>
                <a:spcPts val="1800"/>
              </a:spcBef>
              <a:buNone/>
            </a:pPr>
            <a:r>
              <a:rPr lang="en-US" dirty="0" smtClean="0"/>
              <a:t>2</a:t>
            </a:r>
            <a:r>
              <a:rPr lang="en-US" dirty="0"/>
              <a:t>.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mỗi</a:t>
            </a:r>
            <a:r>
              <a:rPr lang="en-US" dirty="0" smtClean="0"/>
              <a:t> </a:t>
            </a:r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 smtClean="0"/>
              <a:t>chấm</a:t>
            </a:r>
            <a:r>
              <a:rPr lang="en-US" dirty="0" smtClean="0"/>
              <a:t> </a:t>
            </a:r>
            <a:r>
              <a:rPr lang="en-US" dirty="0" err="1" smtClean="0"/>
              <a:t>phảy</a:t>
            </a:r>
            <a:r>
              <a:rPr lang="en-US" dirty="0"/>
              <a:t>;</a:t>
            </a:r>
          </a:p>
          <a:p>
            <a:pPr>
              <a:lnSpc>
                <a:spcPct val="80000"/>
              </a:lnSpc>
              <a:spcBef>
                <a:spcPts val="1800"/>
              </a:spcBef>
              <a:buNone/>
            </a:pPr>
            <a:r>
              <a:rPr lang="en-US" dirty="0"/>
              <a:t>3</a:t>
            </a:r>
            <a:r>
              <a:rPr lang="en-US" dirty="0" smtClean="0"/>
              <a:t>. </a:t>
            </a:r>
            <a:r>
              <a:rPr lang="en-US" dirty="0" err="1"/>
              <a:t>Đoạn</a:t>
            </a:r>
            <a:r>
              <a:rPr lang="en-US" dirty="0"/>
              <a:t> { …}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coi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lệnh</a:t>
            </a:r>
            <a:endParaRPr lang="en-US" dirty="0"/>
          </a:p>
          <a:p>
            <a:pPr>
              <a:lnSpc>
                <a:spcPct val="80000"/>
              </a:lnSpc>
              <a:spcBef>
                <a:spcPts val="1800"/>
              </a:spcBef>
              <a:buNone/>
            </a:pPr>
            <a:r>
              <a:rPr lang="en-US" dirty="0"/>
              <a:t>4.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cấp</a:t>
            </a:r>
            <a:endParaRPr lang="en-US" dirty="0"/>
          </a:p>
          <a:p>
            <a:pPr>
              <a:lnSpc>
                <a:spcPct val="80000"/>
              </a:lnSpc>
              <a:spcBef>
                <a:spcPts val="1800"/>
              </a:spcBef>
              <a:buNone/>
            </a:pPr>
            <a:r>
              <a:rPr lang="en-US" dirty="0"/>
              <a:t>5.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chú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,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US" dirty="0"/>
          </a:p>
          <a:p>
            <a:pPr>
              <a:lnSpc>
                <a:spcPct val="80000"/>
              </a:lnSpc>
              <a:spcBef>
                <a:spcPts val="1800"/>
              </a:spcBef>
              <a:buNone/>
            </a:pPr>
            <a:r>
              <a:rPr lang="en-US" dirty="0"/>
              <a:t>6. </a:t>
            </a:r>
            <a:r>
              <a:rPr lang="en-US" dirty="0" err="1"/>
              <a:t>Chia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(</a:t>
            </a:r>
            <a:r>
              <a:rPr lang="en-US" dirty="0" err="1"/>
              <a:t>hàm</a:t>
            </a:r>
            <a:r>
              <a:rPr lang="en-US" dirty="0"/>
              <a:t>) </a:t>
            </a:r>
            <a:r>
              <a:rPr lang="en-US" dirty="0" err="1"/>
              <a:t>nhỏ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Qui </a:t>
            </a:r>
            <a:r>
              <a:rPr lang="en-US" dirty="0" err="1" smtClean="0"/>
              <a:t>tắc</a:t>
            </a:r>
            <a:r>
              <a:rPr lang="en-US" dirty="0" smtClean="0"/>
              <a:t> </a:t>
            </a:r>
            <a:r>
              <a:rPr lang="en-US" dirty="0" err="1" smtClean="0"/>
              <a:t>soạn</a:t>
            </a:r>
            <a:r>
              <a:rPr lang="en-US" dirty="0" smtClean="0"/>
              <a:t> </a:t>
            </a:r>
            <a:r>
              <a:rPr lang="en-US" dirty="0" err="1" smtClean="0"/>
              <a:t>thảo</a:t>
            </a:r>
            <a:r>
              <a:rPr lang="en-US" dirty="0" smtClean="0"/>
              <a:t> </a:t>
            </a:r>
            <a:r>
              <a:rPr lang="en-US" dirty="0" err="1" smtClean="0"/>
              <a:t>mã</a:t>
            </a:r>
            <a:r>
              <a:rPr lang="en-US" dirty="0" smtClean="0"/>
              <a:t> </a:t>
            </a:r>
            <a:r>
              <a:rPr lang="en-US" dirty="0" err="1" smtClean="0"/>
              <a:t>nguồn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Dấu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chấm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phẩy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;</a:t>
            </a:r>
          </a:p>
          <a:p>
            <a:pPr lvl="1">
              <a:defRPr/>
            </a:pP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vi-VN" dirty="0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.</a:t>
            </a:r>
          </a:p>
          <a:p>
            <a:pPr lvl="1">
              <a:defRPr/>
            </a:pPr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: </a:t>
            </a:r>
            <a:r>
              <a:rPr lang="en-US" dirty="0" err="1" smtClean="0"/>
              <a:t>printf</a:t>
            </a:r>
            <a:r>
              <a:rPr lang="en-US" dirty="0" smtClean="0"/>
              <a:t>(“Hello World!”)</a:t>
            </a:r>
            <a:r>
              <a:rPr lang="en-US" dirty="0" smtClean="0">
                <a:solidFill>
                  <a:srgbClr val="FF0000"/>
                </a:solidFill>
              </a:rPr>
              <a:t>;</a:t>
            </a:r>
            <a:r>
              <a:rPr lang="en-US" dirty="0" smtClean="0"/>
              <a:t> </a:t>
            </a:r>
            <a:r>
              <a:rPr lang="en-US" dirty="0" err="1" smtClean="0"/>
              <a:t>printf</a:t>
            </a:r>
            <a:r>
              <a:rPr lang="en-US" dirty="0" smtClean="0"/>
              <a:t>(“\n”)</a:t>
            </a:r>
            <a:r>
              <a:rPr lang="en-US" dirty="0" smtClean="0">
                <a:solidFill>
                  <a:srgbClr val="FF0000"/>
                </a:solidFill>
              </a:rPr>
              <a:t>;</a:t>
            </a:r>
          </a:p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Câu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chú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thích</a:t>
            </a:r>
            <a:endParaRPr lang="en-US" dirty="0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lvl="1">
              <a:defRPr/>
            </a:pPr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cặp</a:t>
            </a:r>
            <a:r>
              <a:rPr lang="en-US" dirty="0" smtClean="0"/>
              <a:t> </a:t>
            </a:r>
            <a:r>
              <a:rPr lang="en-US" dirty="0" err="1" smtClean="0"/>
              <a:t>dấu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/*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*/</a:t>
            </a:r>
            <a:r>
              <a:rPr lang="en-US" dirty="0" smtClean="0"/>
              <a:t>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// </a:t>
            </a:r>
            <a:r>
              <a:rPr lang="en-US" dirty="0" smtClean="0"/>
              <a:t>(C++)</a:t>
            </a:r>
          </a:p>
          <a:p>
            <a:pPr lvl="1">
              <a:defRPr/>
            </a:pPr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FF0000"/>
                </a:solidFill>
              </a:rPr>
              <a:t>/*</a:t>
            </a:r>
            <a:r>
              <a:rPr lang="en-US" dirty="0" smtClean="0"/>
              <a:t>Ho &amp; Ten: NVA</a:t>
            </a:r>
            <a:r>
              <a:rPr lang="en-US" dirty="0" smtClean="0">
                <a:solidFill>
                  <a:srgbClr val="FF0000"/>
                </a:solidFill>
              </a:rPr>
              <a:t>*/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//</a:t>
            </a:r>
            <a:r>
              <a:rPr lang="en-US" dirty="0" smtClean="0"/>
              <a:t> MSSV</a:t>
            </a:r>
            <a:r>
              <a:rPr lang="en-US" smtClean="0"/>
              <a:t>: 1512078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42D2C-CD8C-4326-A321-D508F4519716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Các kiểu dữ liệu c</a:t>
            </a:r>
            <a:r>
              <a:rPr lang="vi-VN" smtClean="0"/>
              <a:t>ơ</a:t>
            </a:r>
            <a:r>
              <a:rPr lang="en-US" smtClean="0"/>
              <a:t> sở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fr-FR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Turbo C có 4 kiểu cơ sở sau:</a:t>
            </a:r>
            <a:endParaRPr lang="en-US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lvl="1">
              <a:defRPr/>
            </a:pPr>
            <a:r>
              <a:rPr lang="fr-FR" smtClean="0">
                <a:solidFill>
                  <a:srgbClr val="FF0000"/>
                </a:solidFill>
              </a:rPr>
              <a:t>Kiểu số nguyên</a:t>
            </a:r>
            <a:r>
              <a:rPr lang="fr-FR" smtClean="0"/>
              <a:t>: </a:t>
            </a:r>
            <a:r>
              <a:rPr lang="en-US" smtClean="0"/>
              <a:t>giá trị của nó là các số nguyên nh</a:t>
            </a:r>
            <a:r>
              <a:rPr lang="vi-VN" smtClean="0"/>
              <a:t>ư</a:t>
            </a:r>
            <a:r>
              <a:rPr lang="en-US" smtClean="0"/>
              <a:t> 2912, -1706, …</a:t>
            </a:r>
          </a:p>
          <a:p>
            <a:pPr lvl="1">
              <a:defRPr/>
            </a:pPr>
            <a:r>
              <a:rPr lang="fr-FR" smtClean="0">
                <a:solidFill>
                  <a:srgbClr val="FF0000"/>
                </a:solidFill>
              </a:rPr>
              <a:t>Kiểu số thực</a:t>
            </a:r>
            <a:r>
              <a:rPr lang="fr-FR" smtClean="0"/>
              <a:t>: giá trị của nó là các số thực nh</a:t>
            </a:r>
            <a:r>
              <a:rPr lang="vi-VN" smtClean="0"/>
              <a:t>ư</a:t>
            </a:r>
            <a:r>
              <a:rPr lang="en-US" smtClean="0"/>
              <a:t> 3.1415, 29.12, -17.06, …</a:t>
            </a:r>
          </a:p>
          <a:p>
            <a:pPr lvl="1">
              <a:defRPr/>
            </a:pPr>
            <a:r>
              <a:rPr lang="fr-FR" smtClean="0">
                <a:solidFill>
                  <a:srgbClr val="FF0000"/>
                </a:solidFill>
              </a:rPr>
              <a:t>Kiểu luận lý</a:t>
            </a:r>
            <a:r>
              <a:rPr lang="fr-FR" smtClean="0"/>
              <a:t>: giá trị </a:t>
            </a:r>
            <a:r>
              <a:rPr lang="vi-VN" smtClean="0"/>
              <a:t>đú</a:t>
            </a:r>
            <a:r>
              <a:rPr lang="en-US" smtClean="0"/>
              <a:t>ng hoặc sai.</a:t>
            </a:r>
          </a:p>
          <a:p>
            <a:pPr lvl="1">
              <a:defRPr/>
            </a:pPr>
            <a:r>
              <a:rPr lang="fr-FR" smtClean="0">
                <a:solidFill>
                  <a:srgbClr val="FF0000"/>
                </a:solidFill>
              </a:rPr>
              <a:t>Kiểu ký tự</a:t>
            </a:r>
            <a:r>
              <a:rPr lang="fr-FR" smtClean="0"/>
              <a:t>: 256 ký tự trong bảng mã ASCII.</a:t>
            </a:r>
            <a:endParaRPr lang="en-US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Kiểu số nguyên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Các kiểu số nguyên (có dấu)</a:t>
            </a:r>
          </a:p>
          <a:p>
            <a:pPr lvl="1">
              <a:defRPr/>
            </a:pPr>
            <a:r>
              <a:rPr lang="en-US" smtClean="0"/>
              <a:t>n bit có dấu: –2</a:t>
            </a:r>
            <a:r>
              <a:rPr lang="en-US" baseline="30000" smtClean="0"/>
              <a:t>n – 1</a:t>
            </a:r>
            <a:r>
              <a:rPr lang="en-US" smtClean="0"/>
              <a:t> … +2</a:t>
            </a:r>
            <a:r>
              <a:rPr lang="en-US" baseline="30000" smtClean="0"/>
              <a:t>n – 1</a:t>
            </a:r>
            <a:r>
              <a:rPr lang="en-US" smtClean="0"/>
              <a:t> –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90600" y="3276600"/>
          <a:ext cx="6597015" cy="212344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87768"/>
                <a:gridCol w="1089342"/>
                <a:gridCol w="431990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mtClean="0"/>
                        <a:t>Kiểu</a:t>
                      </a:r>
                    </a:p>
                    <a:p>
                      <a:r>
                        <a:rPr lang="en-US" smtClean="0"/>
                        <a:t>(Type)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Độ lớn</a:t>
                      </a:r>
                    </a:p>
                    <a:p>
                      <a:pPr algn="ctr"/>
                      <a:r>
                        <a:rPr lang="en-US" smtClean="0"/>
                        <a:t>(Byte)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mtClean="0"/>
                        <a:t>Miền giá trị</a:t>
                      </a:r>
                    </a:p>
                    <a:p>
                      <a:pPr algn="r"/>
                      <a:r>
                        <a:rPr lang="en-US" smtClean="0"/>
                        <a:t>(Range)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rgbClr val="FF0000"/>
                          </a:solidFill>
                        </a:rPr>
                        <a:t>char</a:t>
                      </a: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mtClean="0"/>
                        <a:t>–128 … +127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rgbClr val="FF0000"/>
                          </a:solidFill>
                        </a:rPr>
                        <a:t>int</a:t>
                      </a: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mtClean="0"/>
                        <a:t>–32.768 … +32.767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rgbClr val="FF0000"/>
                          </a:solidFill>
                        </a:rPr>
                        <a:t>short</a:t>
                      </a: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mtClean="0"/>
                        <a:t>–32.768 … +32.767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rgbClr val="FF0000"/>
                          </a:solidFill>
                        </a:rPr>
                        <a:t>long</a:t>
                      </a: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mtClean="0"/>
                        <a:t>–2.147.483.648 … +2.147.483.647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Kiểu số nguyên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Các kiểu số nguyên (không dấu)</a:t>
            </a:r>
          </a:p>
          <a:p>
            <a:pPr lvl="1">
              <a:defRPr/>
            </a:pPr>
            <a:r>
              <a:rPr lang="en-US" smtClean="0"/>
              <a:t>n bit không dấu: 0 … 2</a:t>
            </a:r>
            <a:r>
              <a:rPr lang="en-US" baseline="30000" smtClean="0"/>
              <a:t>n</a:t>
            </a:r>
            <a:r>
              <a:rPr lang="en-US" smtClean="0"/>
              <a:t> – 1</a:t>
            </a:r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47800" y="3276600"/>
          <a:ext cx="5528628" cy="212344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971993"/>
                <a:gridCol w="1089342"/>
                <a:gridCol w="246729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mtClean="0"/>
                        <a:t>Kiểu</a:t>
                      </a:r>
                    </a:p>
                    <a:p>
                      <a:r>
                        <a:rPr lang="en-US" smtClean="0"/>
                        <a:t>(Type)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Độ lớn</a:t>
                      </a:r>
                    </a:p>
                    <a:p>
                      <a:pPr algn="ctr"/>
                      <a:r>
                        <a:rPr lang="en-US" smtClean="0"/>
                        <a:t>(Byte)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mtClean="0"/>
                        <a:t>Miền giá trị</a:t>
                      </a:r>
                    </a:p>
                    <a:p>
                      <a:pPr algn="r"/>
                      <a:r>
                        <a:rPr lang="en-US" smtClean="0"/>
                        <a:t>(Range)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rgbClr val="FF0000"/>
                          </a:solidFill>
                        </a:rPr>
                        <a:t>unsigned char</a:t>
                      </a: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mtClean="0"/>
                        <a:t>0 … 255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rgbClr val="FF0000"/>
                          </a:solidFill>
                        </a:rPr>
                        <a:t>unsigned int</a:t>
                      </a: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mtClean="0"/>
                        <a:t>0 … 65.535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rgbClr val="FF0000"/>
                          </a:solidFill>
                        </a:rPr>
                        <a:t>unsigned short</a:t>
                      </a: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mtClean="0"/>
                        <a:t>0 … 65.535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rgbClr val="FF0000"/>
                          </a:solidFill>
                        </a:rPr>
                        <a:t>unsigned long</a:t>
                      </a: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mtClean="0"/>
                        <a:t>0 … 4.294.967.295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Kiểu số nguyên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mtClean="0"/>
              <a:t>#</a:t>
            </a:r>
            <a:r>
              <a:rPr lang="en-US"/>
              <a:t>include &lt;iostream&gt;</a:t>
            </a:r>
          </a:p>
          <a:p>
            <a:pPr marL="0" indent="0">
              <a:buNone/>
            </a:pPr>
            <a:r>
              <a:rPr lang="en-US"/>
              <a:t>#include &lt;limits&gt;</a:t>
            </a:r>
          </a:p>
          <a:p>
            <a:pPr marL="0" indent="0">
              <a:buNone/>
            </a:pPr>
            <a:r>
              <a:rPr lang="en-US" smtClean="0"/>
              <a:t>using </a:t>
            </a:r>
            <a:r>
              <a:rPr lang="en-US"/>
              <a:t>namespace std;</a:t>
            </a:r>
          </a:p>
          <a:p>
            <a:pPr marL="0" indent="0">
              <a:buNone/>
            </a:pPr>
            <a:r>
              <a:rPr lang="en-US"/>
              <a:t>void main()</a:t>
            </a:r>
          </a:p>
          <a:p>
            <a:pPr marL="0" indent="0">
              <a:buNone/>
            </a:pPr>
            <a:r>
              <a:rPr lang="en-US"/>
              <a:t>{  </a:t>
            </a:r>
          </a:p>
          <a:p>
            <a:pPr marL="0" indent="0">
              <a:buNone/>
            </a:pPr>
            <a:r>
              <a:rPr lang="en-US" smtClean="0"/>
              <a:t>    </a:t>
            </a:r>
            <a:r>
              <a:rPr lang="en-US"/>
              <a:t>cout &lt;&lt; "\nInt Types" &lt;&lt; endl;</a:t>
            </a:r>
          </a:p>
          <a:p>
            <a:pPr marL="0" indent="0">
              <a:buNone/>
            </a:pPr>
            <a:r>
              <a:rPr lang="en-US"/>
              <a:t>    cout &lt;&lt; "Size of int type is " &lt;&lt; sizeof(int) &lt;&lt; " bytes." &lt;&lt; endl;</a:t>
            </a:r>
          </a:p>
          <a:p>
            <a:pPr marL="0" indent="0">
              <a:buNone/>
            </a:pPr>
            <a:r>
              <a:rPr lang="en-US"/>
              <a:t>    cout &lt;&lt; "Signed int min: " &lt;&lt; INT_MIN &lt;&lt; endl;</a:t>
            </a:r>
          </a:p>
          <a:p>
            <a:pPr marL="0" indent="0">
              <a:buNone/>
            </a:pPr>
            <a:r>
              <a:rPr lang="en-US"/>
              <a:t>    cout &lt;&lt; "Signed int max: " &lt;&lt; INT_MAX &lt;&lt; endl;</a:t>
            </a:r>
          </a:p>
          <a:p>
            <a:pPr marL="0" indent="0">
              <a:buNone/>
            </a:pPr>
            <a:r>
              <a:rPr lang="en-US"/>
              <a:t>    cout &lt;&lt; "Unsigned int min: 0" &lt;&lt; endl;</a:t>
            </a:r>
          </a:p>
          <a:p>
            <a:pPr marL="0" indent="0">
              <a:buNone/>
            </a:pPr>
            <a:r>
              <a:rPr lang="en-US"/>
              <a:t>    cout &lt;&lt; "Unsigned int max: " &lt;&lt; UINT_MAX &lt;&lt; endl;</a:t>
            </a:r>
          </a:p>
          <a:p>
            <a:pPr marL="0" indent="0">
              <a:buNone/>
            </a:pPr>
            <a:r>
              <a:rPr lang="en-US" smtClean="0"/>
              <a:t>}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27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Kiểu số thực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Các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kiểu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số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thực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(floating-point)</a:t>
            </a:r>
          </a:p>
          <a:p>
            <a:pPr lvl="1">
              <a:defRPr/>
            </a:pPr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endParaRPr lang="en-US" dirty="0" smtClean="0"/>
          </a:p>
          <a:p>
            <a:pPr lvl="2">
              <a:defRPr/>
            </a:pPr>
            <a:r>
              <a:rPr lang="en-US" dirty="0" smtClean="0"/>
              <a:t>17.06 = 1.706*10 = 1.706*</a:t>
            </a:r>
            <a:r>
              <a:rPr lang="en-US" dirty="0" smtClean="0">
                <a:solidFill>
                  <a:srgbClr val="FF0000"/>
                </a:solidFill>
              </a:rPr>
              <a:t>10</a:t>
            </a:r>
            <a:r>
              <a:rPr lang="en-US" baseline="30000" dirty="0" smtClean="0"/>
              <a:t>1</a:t>
            </a:r>
          </a:p>
          <a:p>
            <a:pPr lvl="2">
              <a:defRPr/>
            </a:pPr>
            <a:endParaRPr lang="en-US" baseline="30000" dirty="0" smtClean="0"/>
          </a:p>
          <a:p>
            <a:pPr lvl="2">
              <a:defRPr/>
            </a:pPr>
            <a:endParaRPr lang="en-US" baseline="30000" dirty="0" smtClean="0"/>
          </a:p>
          <a:p>
            <a:pPr lvl="2">
              <a:defRPr/>
            </a:pPr>
            <a:endParaRPr lang="en-US" baseline="30000" dirty="0" smtClean="0"/>
          </a:p>
          <a:p>
            <a:pPr lvl="2">
              <a:defRPr/>
            </a:pPr>
            <a:endParaRPr lang="en-US" baseline="30000" dirty="0" smtClean="0"/>
          </a:p>
          <a:p>
            <a:pPr lvl="2">
              <a:defRPr/>
            </a:pPr>
            <a:endParaRPr lang="en-US" baseline="30000" dirty="0" smtClean="0"/>
          </a:p>
          <a:p>
            <a:pPr lvl="2">
              <a:defRPr/>
            </a:pPr>
            <a:endParaRPr lang="en-US" baseline="30000" dirty="0" smtClean="0"/>
          </a:p>
          <a:p>
            <a:pPr lvl="2">
              <a:defRPr/>
            </a:pPr>
            <a:r>
              <a:rPr lang="en-US" dirty="0" smtClean="0"/>
              <a:t>(*)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vi-VN" dirty="0" smtClean="0"/>
              <a:t>đơ</a:t>
            </a:r>
            <a:r>
              <a:rPr lang="en-US" dirty="0" smtClean="0"/>
              <a:t>n (Single-precision)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vi-VN" dirty="0" smtClean="0"/>
              <a:t>đế</a:t>
            </a:r>
            <a:r>
              <a:rPr lang="en-US" dirty="0" smtClean="0"/>
              <a:t>n 7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lẻ</a:t>
            </a:r>
            <a:r>
              <a:rPr lang="en-US" dirty="0" smtClean="0"/>
              <a:t>.</a:t>
            </a:r>
          </a:p>
          <a:p>
            <a:pPr lvl="2">
              <a:defRPr/>
            </a:pPr>
            <a:r>
              <a:rPr lang="en-US" dirty="0" smtClean="0"/>
              <a:t>(**)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kép</a:t>
            </a:r>
            <a:r>
              <a:rPr lang="en-US" dirty="0" smtClean="0"/>
              <a:t> (Double-precision)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vi-VN" dirty="0" smtClean="0"/>
              <a:t>đế</a:t>
            </a:r>
            <a:r>
              <a:rPr lang="en-US" dirty="0" smtClean="0"/>
              <a:t>n 19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lẻ</a:t>
            </a:r>
            <a:r>
              <a:rPr lang="en-US" dirty="0" smtClean="0"/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95400" y="3048000"/>
          <a:ext cx="5590539" cy="138176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611630"/>
                <a:gridCol w="1089342"/>
                <a:gridCol w="288956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Kiểu</a:t>
                      </a:r>
                      <a:endParaRPr lang="en-US" dirty="0" smtClean="0"/>
                    </a:p>
                    <a:p>
                      <a:r>
                        <a:rPr lang="en-US" dirty="0" smtClean="0"/>
                        <a:t>(Type)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Độ lớn</a:t>
                      </a:r>
                    </a:p>
                    <a:p>
                      <a:pPr algn="ctr"/>
                      <a:r>
                        <a:rPr lang="en-US" smtClean="0"/>
                        <a:t>(Byte)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err="1" smtClean="0"/>
                        <a:t>Miền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giá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trị</a:t>
                      </a:r>
                      <a:endParaRPr lang="en-US" dirty="0" smtClean="0"/>
                    </a:p>
                    <a:p>
                      <a:pPr algn="r"/>
                      <a:r>
                        <a:rPr lang="en-US" dirty="0" smtClean="0"/>
                        <a:t>(Range)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rgbClr val="FF0000"/>
                          </a:solidFill>
                        </a:rPr>
                        <a:t>float (*)</a:t>
                      </a: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mtClean="0"/>
                        <a:t>3.4*10</a:t>
                      </a:r>
                      <a:r>
                        <a:rPr lang="en-US" baseline="30000" smtClean="0"/>
                        <a:t>–38</a:t>
                      </a:r>
                      <a:r>
                        <a:rPr lang="en-US" smtClean="0"/>
                        <a:t> … 3.4*10</a:t>
                      </a:r>
                      <a:r>
                        <a:rPr lang="en-US" baseline="30000" smtClean="0"/>
                        <a:t>38</a:t>
                      </a:r>
                      <a:endParaRPr lang="en-US" baseline="300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rgbClr val="FF0000"/>
                          </a:solidFill>
                        </a:rPr>
                        <a:t>double (**)</a:t>
                      </a:r>
                      <a:endParaRPr 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1.7*10</a:t>
                      </a:r>
                      <a:r>
                        <a:rPr lang="en-US" baseline="30000" dirty="0" smtClean="0"/>
                        <a:t>–308</a:t>
                      </a:r>
                      <a:r>
                        <a:rPr lang="en-US" dirty="0" smtClean="0"/>
                        <a:t> … 1.7*10</a:t>
                      </a:r>
                      <a:r>
                        <a:rPr lang="en-US" baseline="30000" dirty="0" smtClean="0"/>
                        <a:t>308</a:t>
                      </a:r>
                      <a:endParaRPr lang="en-US" baseline="30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Kiểu luận lý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Đặc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vi-VN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đ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iểm</a:t>
            </a:r>
            <a:endParaRPr lang="en-US" dirty="0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lvl="1">
              <a:defRPr/>
            </a:pPr>
            <a:r>
              <a:rPr lang="en-US" smtClean="0"/>
              <a:t>C ngầm </a:t>
            </a:r>
            <a:r>
              <a:rPr lang="vi-VN" smtClean="0"/>
              <a:t>đị</a:t>
            </a:r>
            <a:r>
              <a:rPr lang="en-US" smtClean="0"/>
              <a:t>nh một cách không t</a:t>
            </a:r>
            <a:r>
              <a:rPr lang="vi-VN" smtClean="0"/>
              <a:t>ườ</a:t>
            </a:r>
            <a:r>
              <a:rPr lang="en-US" smtClean="0"/>
              <a:t>ng minh:</a:t>
            </a:r>
          </a:p>
          <a:p>
            <a:pPr lvl="2">
              <a:defRPr/>
            </a:pPr>
            <a:r>
              <a:rPr lang="en-US" smtClean="0">
                <a:solidFill>
                  <a:srgbClr val="FF0000"/>
                </a:solidFill>
              </a:rPr>
              <a:t>false</a:t>
            </a:r>
            <a:r>
              <a:rPr lang="en-US" smtClean="0"/>
              <a:t> (sai): giá trị 0.</a:t>
            </a:r>
          </a:p>
          <a:p>
            <a:pPr lvl="2">
              <a:defRPr/>
            </a:pPr>
            <a:r>
              <a:rPr lang="en-US" smtClean="0">
                <a:solidFill>
                  <a:srgbClr val="FF0000"/>
                </a:solidFill>
              </a:rPr>
              <a:t>true</a:t>
            </a:r>
            <a:r>
              <a:rPr lang="en-US" smtClean="0"/>
              <a:t> (</a:t>
            </a:r>
            <a:r>
              <a:rPr lang="vi-VN" smtClean="0"/>
              <a:t>đú</a:t>
            </a:r>
            <a:r>
              <a:rPr lang="en-US" smtClean="0"/>
              <a:t>ng): giá trị khác 0, th</a:t>
            </a:r>
            <a:r>
              <a:rPr lang="vi-VN" smtClean="0"/>
              <a:t>ườ</a:t>
            </a:r>
            <a:r>
              <a:rPr lang="en-US" smtClean="0"/>
              <a:t>ng là 1.</a:t>
            </a:r>
          </a:p>
          <a:p>
            <a:pPr lvl="1">
              <a:defRPr/>
            </a:pPr>
            <a:r>
              <a:rPr lang="en-US" smtClean="0"/>
              <a:t>C++: </a:t>
            </a:r>
            <a:r>
              <a:rPr lang="en-US" smtClean="0">
                <a:solidFill>
                  <a:srgbClr val="FF0000"/>
                </a:solidFill>
              </a:rPr>
              <a:t>bool</a:t>
            </a:r>
          </a:p>
          <a:p>
            <a:pPr>
              <a:defRPr/>
            </a:pPr>
            <a:r>
              <a:rPr lang="en-US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dụ</a:t>
            </a:r>
          </a:p>
          <a:p>
            <a:pPr lvl="1">
              <a:defRPr/>
            </a:pPr>
            <a:r>
              <a:rPr lang="en-US" smtClean="0"/>
              <a:t>0 (false), 1 (true), 2 (true), 2.5 (true)</a:t>
            </a:r>
          </a:p>
          <a:p>
            <a:pPr lvl="1">
              <a:defRPr/>
            </a:pPr>
            <a:r>
              <a:rPr lang="en-US" smtClean="0"/>
              <a:t>1 &gt; 2 (0, false), 1 &lt; 2 (1, true)</a:t>
            </a:r>
            <a:endParaRPr lang="en-US" dirty="0" err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Kiểu ký tự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Đặc 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đ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iểm</a:t>
            </a:r>
          </a:p>
          <a:p>
            <a:pPr lvl="1">
              <a:defRPr/>
            </a:pPr>
            <a:r>
              <a:rPr lang="en-US" smtClean="0"/>
              <a:t>Tên kiểu: </a:t>
            </a:r>
            <a:r>
              <a:rPr lang="en-US" smtClean="0">
                <a:solidFill>
                  <a:srgbClr val="FF0000"/>
                </a:solidFill>
              </a:rPr>
              <a:t>char</a:t>
            </a:r>
          </a:p>
          <a:p>
            <a:pPr lvl="1">
              <a:defRPr/>
            </a:pPr>
            <a:r>
              <a:rPr lang="en-US" smtClean="0"/>
              <a:t>Miền giá trị: 256 ký tự trong bảng mã ASCII.</a:t>
            </a:r>
          </a:p>
          <a:p>
            <a:pPr lvl="1">
              <a:defRPr/>
            </a:pPr>
            <a:r>
              <a:rPr lang="en-US" smtClean="0"/>
              <a:t>Chính là kiểu số nguyên do:</a:t>
            </a:r>
          </a:p>
          <a:p>
            <a:pPr lvl="2">
              <a:defRPr/>
            </a:pPr>
            <a:r>
              <a:rPr lang="en-US" smtClean="0"/>
              <a:t>L</a:t>
            </a:r>
            <a:r>
              <a:rPr lang="vi-VN" smtClean="0"/>
              <a:t>ư</a:t>
            </a:r>
            <a:r>
              <a:rPr lang="en-US" smtClean="0"/>
              <a:t>u tất cả dữ liệu ở dạng số.</a:t>
            </a:r>
          </a:p>
          <a:p>
            <a:pPr lvl="2">
              <a:defRPr/>
            </a:pPr>
            <a:r>
              <a:rPr lang="en-US" smtClean="0"/>
              <a:t>Không l</a:t>
            </a:r>
            <a:r>
              <a:rPr lang="vi-VN" smtClean="0"/>
              <a:t>ư</a:t>
            </a:r>
            <a:r>
              <a:rPr lang="en-US" smtClean="0"/>
              <a:t>u trực tiếp ký tự mà chỉ l</a:t>
            </a:r>
            <a:r>
              <a:rPr lang="vi-VN" smtClean="0"/>
              <a:t>ư</a:t>
            </a:r>
            <a:r>
              <a:rPr lang="en-US" smtClean="0"/>
              <a:t>u mã ASCII của ký tự </a:t>
            </a:r>
            <a:r>
              <a:rPr lang="vi-VN" smtClean="0"/>
              <a:t>đó</a:t>
            </a:r>
            <a:r>
              <a:rPr lang="en-US" smtClean="0"/>
              <a:t>.</a:t>
            </a:r>
          </a:p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 lvl="1">
              <a:defRPr/>
            </a:pPr>
            <a:r>
              <a:rPr lang="en-US" smtClean="0"/>
              <a:t>L</a:t>
            </a:r>
            <a:r>
              <a:rPr lang="vi-VN" smtClean="0"/>
              <a:t>ư</a:t>
            </a:r>
            <a:r>
              <a:rPr lang="en-US" smtClean="0"/>
              <a:t>u số 65 t</a:t>
            </a:r>
            <a:r>
              <a:rPr lang="vi-VN" smtClean="0"/>
              <a:t>ươ</a:t>
            </a:r>
            <a:r>
              <a:rPr lang="en-US" smtClean="0"/>
              <a:t>ng </a:t>
            </a:r>
            <a:r>
              <a:rPr lang="vi-VN" smtClean="0"/>
              <a:t>đươ</a:t>
            </a:r>
            <a:r>
              <a:rPr lang="en-US" smtClean="0"/>
              <a:t>ng với ký tự ‘A’…</a:t>
            </a:r>
          </a:p>
          <a:p>
            <a:pPr lvl="1">
              <a:defRPr/>
            </a:pPr>
            <a:r>
              <a:rPr lang="en-US" smtClean="0"/>
              <a:t>L</a:t>
            </a:r>
            <a:r>
              <a:rPr lang="vi-VN" smtClean="0"/>
              <a:t>ư</a:t>
            </a:r>
            <a:r>
              <a:rPr lang="en-US" smtClean="0"/>
              <a:t>u số 97 t</a:t>
            </a:r>
            <a:r>
              <a:rPr lang="vi-VN" smtClean="0"/>
              <a:t>ươ</a:t>
            </a:r>
            <a:r>
              <a:rPr lang="en-US" smtClean="0"/>
              <a:t>ng </a:t>
            </a:r>
            <a:r>
              <a:rPr lang="vi-VN" smtClean="0"/>
              <a:t>đươ</a:t>
            </a:r>
            <a:r>
              <a:rPr lang="en-US" smtClean="0"/>
              <a:t>ng với ký tự ‘a’.</a:t>
            </a:r>
          </a:p>
          <a:p>
            <a:pPr lvl="2">
              <a:defRPr/>
            </a:pPr>
            <a:endParaRPr lang="en-US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Biến (variable)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/>
              <a:t>Biến là gì ? </a:t>
            </a:r>
          </a:p>
          <a:p>
            <a:pPr lvl="1">
              <a:lnSpc>
                <a:spcPct val="90000"/>
              </a:lnSpc>
            </a:pPr>
            <a:r>
              <a:rPr lang="en-US"/>
              <a:t>Biến dùng để nhận giá trị do người dùng nhập vào khi chạy chương trình hoặc dùng để chứa giá trị của một biểu thức</a:t>
            </a:r>
          </a:p>
          <a:p>
            <a:pPr>
              <a:lnSpc>
                <a:spcPct val="90000"/>
              </a:lnSpc>
            </a:pPr>
            <a:r>
              <a:rPr lang="en-US"/>
              <a:t>Cú pháp khai báo biến:</a:t>
            </a:r>
          </a:p>
          <a:p>
            <a:pPr lvl="1">
              <a:lnSpc>
                <a:spcPct val="90000"/>
              </a:lnSpc>
            </a:pPr>
            <a:r>
              <a:rPr lang="en-US"/>
              <a:t>Kiểu_dữ_liệu   tên_biến </a:t>
            </a:r>
            <a:r>
              <a:rPr lang="en-US">
                <a:solidFill>
                  <a:schemeClr val="hlink"/>
                </a:solidFill>
              </a:rPr>
              <a:t>[= giá trị khởi tạo]</a:t>
            </a:r>
            <a:r>
              <a:rPr lang="en-US"/>
              <a:t> ;</a:t>
            </a:r>
          </a:p>
          <a:p>
            <a:pPr>
              <a:lnSpc>
                <a:spcPct val="90000"/>
              </a:lnSpc>
            </a:pPr>
            <a:r>
              <a:rPr lang="en-US"/>
              <a:t>Ví dụ 1: </a:t>
            </a:r>
          </a:p>
          <a:p>
            <a:pPr lvl="1">
              <a:lnSpc>
                <a:spcPct val="90000"/>
              </a:lnSpc>
            </a:pPr>
            <a:r>
              <a:rPr lang="en-US"/>
              <a:t>int x;</a:t>
            </a:r>
          </a:p>
          <a:p>
            <a:pPr lvl="1">
              <a:lnSpc>
                <a:spcPct val="90000"/>
              </a:lnSpc>
            </a:pPr>
            <a:r>
              <a:rPr lang="en-US"/>
              <a:t>int y=7;</a:t>
            </a:r>
          </a:p>
          <a:p>
            <a:pPr lvl="1">
              <a:lnSpc>
                <a:spcPct val="90000"/>
              </a:lnSpc>
            </a:pPr>
            <a:r>
              <a:rPr lang="en-US"/>
              <a:t>int x=y;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Biến (variable)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/>
              <a:t>Ví dụ 2: Viết chương trình nhập vào 3 số a,b và c. Cho biết a, b ,c có tạo thành 3 cạnh của tam giác không ?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>
                <a:sym typeface="Wingdings" pitchFamily="2" charset="2"/>
              </a:rPr>
              <a:t> </a:t>
            </a:r>
            <a:r>
              <a:rPr lang="en-US"/>
              <a:t>Cần khai báo 3 biến a, b, c. Chẳng hạn</a:t>
            </a:r>
          </a:p>
          <a:p>
            <a:pPr lvl="1">
              <a:lnSpc>
                <a:spcPct val="90000"/>
              </a:lnSpc>
            </a:pPr>
            <a:r>
              <a:rPr lang="en-US"/>
              <a:t>int a;</a:t>
            </a:r>
          </a:p>
          <a:p>
            <a:pPr lvl="1">
              <a:lnSpc>
                <a:spcPct val="90000"/>
              </a:lnSpc>
            </a:pPr>
            <a:r>
              <a:rPr lang="en-US"/>
              <a:t>int b;</a:t>
            </a:r>
          </a:p>
          <a:p>
            <a:pPr lvl="1">
              <a:lnSpc>
                <a:spcPct val="90000"/>
              </a:lnSpc>
            </a:pPr>
            <a:r>
              <a:rPr lang="en-US"/>
              <a:t>int c;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/>
              <a:t>Hoặc có thể khai báo chung:</a:t>
            </a:r>
          </a:p>
          <a:p>
            <a:pPr lvl="1">
              <a:lnSpc>
                <a:spcPct val="90000"/>
              </a:lnSpc>
            </a:pPr>
            <a:r>
              <a:rPr lang="en-US"/>
              <a:t>int a,b,c;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Địa chỉ của biến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sz="2400"/>
              <a:t>Khi gặp một lệnh khai báo biến, chương trình sẽ cấp phát cho biến một ô nhớ tương ứng có kích thước bằng với kích thước của kiểu dữ liệu biến</a:t>
            </a:r>
          </a:p>
          <a:p>
            <a:pPr>
              <a:lnSpc>
                <a:spcPct val="80000"/>
              </a:lnSpc>
            </a:pPr>
            <a:r>
              <a:rPr lang="en-US" sz="2400"/>
              <a:t>Ví dụ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int n;  </a:t>
            </a:r>
          </a:p>
          <a:p>
            <a:pPr lvl="1">
              <a:lnSpc>
                <a:spcPct val="80000"/>
              </a:lnSpc>
            </a:pPr>
            <a:endParaRPr lang="en-US" sz="2400"/>
          </a:p>
          <a:p>
            <a:pPr lvl="1">
              <a:lnSpc>
                <a:spcPct val="80000"/>
              </a:lnSpc>
            </a:pPr>
            <a:r>
              <a:rPr lang="en-US" sz="2400"/>
              <a:t>float x;</a:t>
            </a:r>
          </a:p>
          <a:p>
            <a:pPr lvl="1">
              <a:lnSpc>
                <a:spcPct val="80000"/>
              </a:lnSpc>
            </a:pPr>
            <a:endParaRPr lang="en-US" sz="2400"/>
          </a:p>
          <a:p>
            <a:pPr lvl="1">
              <a:lnSpc>
                <a:spcPct val="80000"/>
              </a:lnSpc>
            </a:pPr>
            <a:endParaRPr lang="en-US" sz="2400"/>
          </a:p>
          <a:p>
            <a:pPr lvl="1">
              <a:lnSpc>
                <a:spcPct val="80000"/>
              </a:lnSpc>
            </a:pPr>
            <a:endParaRPr lang="en-US" sz="2400"/>
          </a:p>
          <a:p>
            <a:pPr>
              <a:lnSpc>
                <a:spcPct val="80000"/>
              </a:lnSpc>
            </a:pPr>
            <a:r>
              <a:rPr lang="en-US" sz="2400"/>
              <a:t>Để lấy địa chỉ của ô nhớ đã cấp cho biến ta dùng cú pháp:  </a:t>
            </a:r>
            <a:r>
              <a:rPr lang="en-US" sz="2400">
                <a:solidFill>
                  <a:schemeClr val="accent2"/>
                </a:solidFill>
              </a:rPr>
              <a:t>&amp;</a:t>
            </a:r>
            <a:r>
              <a:rPr lang="en-US" sz="2400"/>
              <a:t>tên_biến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VD: </a:t>
            </a:r>
            <a:r>
              <a:rPr lang="en-US" sz="2400" smtClean="0"/>
              <a:t>	&amp;</a:t>
            </a:r>
            <a:r>
              <a:rPr lang="en-US" sz="2400"/>
              <a:t>n  </a:t>
            </a:r>
            <a:r>
              <a:rPr lang="en-US" sz="2400">
                <a:sym typeface="Wingdings" pitchFamily="2" charset="2"/>
              </a:rPr>
              <a:t> ffe7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US" sz="2400"/>
              <a:t>       </a:t>
            </a:r>
            <a:r>
              <a:rPr lang="en-US" sz="2400" smtClean="0"/>
              <a:t>	&amp;</a:t>
            </a:r>
            <a:r>
              <a:rPr lang="en-US" sz="2400"/>
              <a:t>x  </a:t>
            </a:r>
            <a:r>
              <a:rPr lang="en-US" sz="2400">
                <a:sym typeface="Wingdings" pitchFamily="2" charset="2"/>
              </a:rPr>
              <a:t> ffee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5013325" y="2133600"/>
            <a:ext cx="3238500" cy="990600"/>
            <a:chOff x="3158" y="1968"/>
            <a:chExt cx="2040" cy="624"/>
          </a:xfrm>
        </p:grpSpPr>
        <p:sp>
          <p:nvSpPr>
            <p:cNvPr id="18436" name="Rectangle 4"/>
            <p:cNvSpPr>
              <a:spLocks noChangeArrowheads="1"/>
            </p:cNvSpPr>
            <p:nvPr/>
          </p:nvSpPr>
          <p:spPr bwMode="auto">
            <a:xfrm>
              <a:off x="3408" y="2208"/>
              <a:ext cx="768" cy="384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8438" name="Text Box 6"/>
            <p:cNvSpPr txBox="1">
              <a:spLocks noChangeArrowheads="1"/>
            </p:cNvSpPr>
            <p:nvPr/>
          </p:nvSpPr>
          <p:spPr bwMode="auto">
            <a:xfrm>
              <a:off x="3360" y="1968"/>
              <a:ext cx="3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ffe7</a:t>
              </a:r>
            </a:p>
          </p:txBody>
        </p:sp>
        <p:sp>
          <p:nvSpPr>
            <p:cNvPr id="18439" name="Text Box 7"/>
            <p:cNvSpPr txBox="1">
              <a:spLocks noChangeArrowheads="1"/>
            </p:cNvSpPr>
            <p:nvPr/>
          </p:nvSpPr>
          <p:spPr bwMode="auto">
            <a:xfrm>
              <a:off x="3158" y="2231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n</a:t>
              </a:r>
            </a:p>
          </p:txBody>
        </p:sp>
        <p:sp>
          <p:nvSpPr>
            <p:cNvPr id="18440" name="Text Box 8"/>
            <p:cNvSpPr txBox="1">
              <a:spLocks noChangeArrowheads="1"/>
            </p:cNvSpPr>
            <p:nvPr/>
          </p:nvSpPr>
          <p:spPr bwMode="auto">
            <a:xfrm>
              <a:off x="4214" y="2279"/>
              <a:ext cx="9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Size = 16 bits</a:t>
              </a: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4953000" y="3276600"/>
            <a:ext cx="3238500" cy="990600"/>
            <a:chOff x="3158" y="1968"/>
            <a:chExt cx="2040" cy="624"/>
          </a:xfrm>
        </p:grpSpPr>
        <p:sp>
          <p:nvSpPr>
            <p:cNvPr id="18443" name="Rectangle 11"/>
            <p:cNvSpPr>
              <a:spLocks noChangeArrowheads="1"/>
            </p:cNvSpPr>
            <p:nvPr/>
          </p:nvSpPr>
          <p:spPr bwMode="auto">
            <a:xfrm>
              <a:off x="3408" y="2208"/>
              <a:ext cx="768" cy="384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8444" name="Text Box 12"/>
            <p:cNvSpPr txBox="1">
              <a:spLocks noChangeArrowheads="1"/>
            </p:cNvSpPr>
            <p:nvPr/>
          </p:nvSpPr>
          <p:spPr bwMode="auto">
            <a:xfrm>
              <a:off x="3360" y="1968"/>
              <a:ext cx="3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ffee</a:t>
              </a:r>
            </a:p>
          </p:txBody>
        </p:sp>
        <p:sp>
          <p:nvSpPr>
            <p:cNvPr id="18445" name="Text Box 13"/>
            <p:cNvSpPr txBox="1">
              <a:spLocks noChangeArrowheads="1"/>
            </p:cNvSpPr>
            <p:nvPr/>
          </p:nvSpPr>
          <p:spPr bwMode="auto">
            <a:xfrm>
              <a:off x="3158" y="2231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x</a:t>
              </a:r>
            </a:p>
          </p:txBody>
        </p:sp>
        <p:sp>
          <p:nvSpPr>
            <p:cNvPr id="18446" name="Text Box 14"/>
            <p:cNvSpPr txBox="1">
              <a:spLocks noChangeArrowheads="1"/>
            </p:cNvSpPr>
            <p:nvPr/>
          </p:nvSpPr>
          <p:spPr bwMode="auto">
            <a:xfrm>
              <a:off x="4214" y="2279"/>
              <a:ext cx="9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Size = 32 bits</a:t>
              </a:r>
            </a:p>
          </p:txBody>
        </p:sp>
      </p:grp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sz="2400"/>
              <a:t>Giá trị của biến là giá trị được lưu trữ trong ô nhớ dành cho biến đó</a:t>
            </a:r>
          </a:p>
          <a:p>
            <a:pPr>
              <a:lnSpc>
                <a:spcPct val="80000"/>
              </a:lnSpc>
            </a:pPr>
            <a:r>
              <a:rPr lang="en-US" sz="2400"/>
              <a:t>VD: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int x;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int y=7;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int z=y;</a:t>
            </a:r>
          </a:p>
          <a:p>
            <a:pPr lvl="1">
              <a:lnSpc>
                <a:spcPct val="80000"/>
              </a:lnSpc>
            </a:pPr>
            <a:endParaRPr lang="en-US" sz="2400"/>
          </a:p>
          <a:p>
            <a:pPr>
              <a:lnSpc>
                <a:spcPct val="80000"/>
              </a:lnSpc>
            </a:pPr>
            <a:r>
              <a:rPr lang="en-US" sz="2400"/>
              <a:t>Để lấy giá trị của biến ta dùng cú pháp: tên_biến</a:t>
            </a:r>
          </a:p>
          <a:p>
            <a:pPr>
              <a:lnSpc>
                <a:spcPct val="80000"/>
              </a:lnSpc>
            </a:pPr>
            <a:r>
              <a:rPr lang="en-US" sz="2400"/>
              <a:t>Để gán cho biến một giá trị mới ta dùng cú pháp: tên_biến=giá_trị ;</a:t>
            </a:r>
          </a:p>
          <a:p>
            <a:pPr>
              <a:lnSpc>
                <a:spcPct val="80000"/>
              </a:lnSpc>
            </a:pPr>
            <a:r>
              <a:rPr lang="en-US" sz="2400"/>
              <a:t>VD: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 </a:t>
            </a:r>
            <a:r>
              <a:rPr lang="en-US" sz="2400" smtClean="0"/>
              <a:t>Lấy giá trị của biến y thì viết: y (giá trị của y bằng </a:t>
            </a:r>
            <a:r>
              <a:rPr lang="en-US" sz="2400" smtClean="0">
                <a:sym typeface="Wingdings" pitchFamily="2" charset="2"/>
              </a:rPr>
              <a:t>7)</a:t>
            </a:r>
            <a:endParaRPr lang="en-US" sz="2400">
              <a:sym typeface="Wingdings" pitchFamily="2" charset="2"/>
            </a:endParaRPr>
          </a:p>
          <a:p>
            <a:pPr lvl="1">
              <a:lnSpc>
                <a:spcPct val="80000"/>
              </a:lnSpc>
            </a:pPr>
            <a:r>
              <a:rPr lang="en-US" sz="2400">
                <a:sym typeface="Wingdings" pitchFamily="2" charset="2"/>
              </a:rPr>
              <a:t>z</a:t>
            </a:r>
            <a:r>
              <a:rPr lang="en-US" sz="2400" smtClean="0">
                <a:sym typeface="Wingdings" pitchFamily="2" charset="2"/>
              </a:rPr>
              <a:t>=2+7+y</a:t>
            </a:r>
            <a:r>
              <a:rPr lang="en-US" sz="2400">
                <a:sym typeface="Wingdings" pitchFamily="2" charset="2"/>
              </a:rPr>
              <a:t>;</a:t>
            </a:r>
          </a:p>
          <a:p>
            <a:pPr lvl="1">
              <a:lnSpc>
                <a:spcPct val="80000"/>
              </a:lnSpc>
            </a:pPr>
            <a:endParaRPr lang="en-US" sz="2400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Giá trị của biến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5165725" y="1905000"/>
            <a:ext cx="1387475" cy="1524000"/>
            <a:chOff x="3254" y="1728"/>
            <a:chExt cx="874" cy="960"/>
          </a:xfrm>
        </p:grpSpPr>
        <p:sp>
          <p:nvSpPr>
            <p:cNvPr id="19460" name="Rectangle 4"/>
            <p:cNvSpPr>
              <a:spLocks noChangeArrowheads="1"/>
            </p:cNvSpPr>
            <p:nvPr/>
          </p:nvSpPr>
          <p:spPr bwMode="auto">
            <a:xfrm>
              <a:off x="3504" y="1728"/>
              <a:ext cx="624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?</a:t>
              </a:r>
            </a:p>
          </p:txBody>
        </p:sp>
        <p:sp>
          <p:nvSpPr>
            <p:cNvPr id="19461" name="Rectangle 5"/>
            <p:cNvSpPr>
              <a:spLocks noChangeArrowheads="1"/>
            </p:cNvSpPr>
            <p:nvPr/>
          </p:nvSpPr>
          <p:spPr bwMode="auto">
            <a:xfrm>
              <a:off x="3504" y="2064"/>
              <a:ext cx="624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19462" name="Rectangle 6"/>
            <p:cNvSpPr>
              <a:spLocks noChangeArrowheads="1"/>
            </p:cNvSpPr>
            <p:nvPr/>
          </p:nvSpPr>
          <p:spPr bwMode="auto">
            <a:xfrm>
              <a:off x="3504" y="2400"/>
              <a:ext cx="624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19463" name="Text Box 7"/>
            <p:cNvSpPr txBox="1">
              <a:spLocks noChangeArrowheads="1"/>
            </p:cNvSpPr>
            <p:nvPr/>
          </p:nvSpPr>
          <p:spPr bwMode="auto">
            <a:xfrm>
              <a:off x="3254" y="1759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x</a:t>
              </a:r>
            </a:p>
          </p:txBody>
        </p:sp>
        <p:sp>
          <p:nvSpPr>
            <p:cNvPr id="19464" name="Text Box 8"/>
            <p:cNvSpPr txBox="1">
              <a:spLocks noChangeArrowheads="1"/>
            </p:cNvSpPr>
            <p:nvPr/>
          </p:nvSpPr>
          <p:spPr bwMode="auto">
            <a:xfrm>
              <a:off x="3264" y="2064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y</a:t>
              </a:r>
            </a:p>
          </p:txBody>
        </p:sp>
        <p:sp>
          <p:nvSpPr>
            <p:cNvPr id="19465" name="Text Box 9"/>
            <p:cNvSpPr txBox="1">
              <a:spLocks noChangeArrowheads="1"/>
            </p:cNvSpPr>
            <p:nvPr/>
          </p:nvSpPr>
          <p:spPr bwMode="auto">
            <a:xfrm>
              <a:off x="3264" y="2400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z</a:t>
              </a:r>
            </a:p>
          </p:txBody>
        </p:sp>
      </p:grp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Hằng số </a:t>
            </a:r>
            <a:r>
              <a:rPr lang="en-US"/>
              <a:t>là gì ? </a:t>
            </a:r>
          </a:p>
          <a:p>
            <a:pPr lvl="1"/>
            <a:r>
              <a:rPr lang="en-US"/>
              <a:t>Giá trị không thay đổi trong các lần chạy chương trình</a:t>
            </a:r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Hằng số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162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Hằng số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17" name="Hexagon 16"/>
          <p:cNvSpPr/>
          <p:nvPr/>
        </p:nvSpPr>
        <p:spPr>
          <a:xfrm>
            <a:off x="838200" y="1413641"/>
            <a:ext cx="2514600" cy="2233449"/>
          </a:xfrm>
          <a:prstGeom prst="hexago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en-US" sz="3000" b="1" smtClean="0">
                <a:ln w="1905"/>
                <a:solidFill>
                  <a:srgbClr val="FF9933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itchFamily="34" charset="0"/>
                <a:cs typeface="Arial" pitchFamily="34" charset="0"/>
              </a:rPr>
              <a:t>Hằng số</a:t>
            </a:r>
            <a:endParaRPr lang="en-US" sz="3000" b="1">
              <a:ln w="1905"/>
              <a:solidFill>
                <a:srgbClr val="FF9933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8" name="Group 15"/>
          <p:cNvGrpSpPr>
            <a:grpSpLocks/>
          </p:cNvGrpSpPr>
          <p:nvPr/>
        </p:nvGrpSpPr>
        <p:grpSpPr bwMode="auto">
          <a:xfrm>
            <a:off x="609600" y="4191000"/>
            <a:ext cx="6324600" cy="2057400"/>
            <a:chOff x="609600" y="4191000"/>
            <a:chExt cx="6324600" cy="2057400"/>
          </a:xfrm>
        </p:grpSpPr>
        <p:sp>
          <p:nvSpPr>
            <p:cNvPr id="19" name="AutoShape 6"/>
            <p:cNvSpPr>
              <a:spLocks noChangeArrowheads="1"/>
            </p:cNvSpPr>
            <p:nvPr/>
          </p:nvSpPr>
          <p:spPr bwMode="gray">
            <a:xfrm>
              <a:off x="609600" y="4191000"/>
              <a:ext cx="6324600" cy="2057400"/>
            </a:xfrm>
            <a:prstGeom prst="roundRect">
              <a:avLst>
                <a:gd name="adj" fmla="val 16667"/>
              </a:avLst>
            </a:prstGeom>
            <a:ln>
              <a:prstDash val="sysDash"/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" name="Text Box 7"/>
            <p:cNvSpPr txBox="1">
              <a:spLocks noChangeArrowheads="1"/>
            </p:cNvSpPr>
            <p:nvPr/>
          </p:nvSpPr>
          <p:spPr bwMode="gray">
            <a:xfrm>
              <a:off x="838200" y="4267200"/>
              <a:ext cx="6019800" cy="19383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>
                  <a:solidFill>
                    <a:schemeClr val="tx1">
                      <a:lumMod val="60000"/>
                      <a:lumOff val="40000"/>
                    </a:schemeClr>
                  </a:solidFill>
                  <a:latin typeface="Arial" pitchFamily="34" charset="0"/>
                  <a:cs typeface="Arial" pitchFamily="34" charset="0"/>
                </a:rPr>
                <a:t>Ví dụ</a:t>
              </a:r>
            </a:p>
            <a:p>
              <a:pPr>
                <a:defRPr/>
              </a:pPr>
              <a:r>
                <a:rPr lang="en-US" sz="2400">
                  <a:latin typeface="Arial" pitchFamily="34" charset="0"/>
                  <a:cs typeface="Arial" pitchFamily="34" charset="0"/>
                </a:rPr>
                <a:t>#define MAX 100		// Không có ;</a:t>
              </a:r>
            </a:p>
            <a:p>
              <a:pPr>
                <a:defRPr/>
              </a:pPr>
              <a:r>
                <a:rPr lang="en-US" sz="2400">
                  <a:latin typeface="Arial" pitchFamily="34" charset="0"/>
                  <a:cs typeface="Arial" pitchFamily="34" charset="0"/>
                </a:rPr>
                <a:t>#define PI 3.14		// Không có ;</a:t>
              </a:r>
            </a:p>
            <a:p>
              <a:pPr>
                <a:defRPr/>
              </a:pPr>
              <a:r>
                <a:rPr lang="en-US" sz="240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const</a:t>
              </a:r>
              <a:r>
                <a:rPr lang="en-US" sz="2400">
                  <a:latin typeface="Arial" pitchFamily="34" charset="0"/>
                  <a:cs typeface="Arial" pitchFamily="34" charset="0"/>
                </a:rPr>
                <a:t> int MAX = 100;</a:t>
              </a:r>
            </a:p>
            <a:p>
              <a:pPr>
                <a:defRPr/>
              </a:pPr>
              <a:r>
                <a:rPr lang="en-US" sz="240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const</a:t>
              </a:r>
              <a:r>
                <a:rPr lang="en-US" sz="2400">
                  <a:latin typeface="Arial" pitchFamily="34" charset="0"/>
                  <a:cs typeface="Arial" pitchFamily="34" charset="0"/>
                </a:rPr>
                <a:t> float PI = 3.14;</a:t>
              </a:r>
            </a:p>
          </p:txBody>
        </p:sp>
      </p:grpSp>
      <p:sp>
        <p:nvSpPr>
          <p:cNvPr id="21" name="Freeform 9"/>
          <p:cNvSpPr>
            <a:spLocks/>
          </p:cNvSpPr>
          <p:nvPr/>
        </p:nvSpPr>
        <p:spPr bwMode="gray">
          <a:xfrm rot="5400000" flipH="1">
            <a:off x="969169" y="3221831"/>
            <a:ext cx="979488" cy="1241425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gradFill rotWithShape="1">
            <a:gsLst>
              <a:gs pos="0">
                <a:schemeClr val="tx1">
                  <a:lumMod val="60000"/>
                  <a:lumOff val="40000"/>
                </a:schemeClr>
              </a:gs>
              <a:gs pos="100000">
                <a:schemeClr val="tx1">
                  <a:lumMod val="20000"/>
                  <a:lumOff val="80000"/>
                </a:schemeClr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grpSp>
        <p:nvGrpSpPr>
          <p:cNvPr id="22" name="Group 12"/>
          <p:cNvGrpSpPr>
            <a:grpSpLocks/>
          </p:cNvGrpSpPr>
          <p:nvPr/>
        </p:nvGrpSpPr>
        <p:grpSpPr bwMode="auto">
          <a:xfrm>
            <a:off x="3810000" y="1371600"/>
            <a:ext cx="4419600" cy="1371600"/>
            <a:chOff x="3810000" y="1371600"/>
            <a:chExt cx="4419600" cy="1371600"/>
          </a:xfrm>
        </p:grpSpPr>
        <p:sp>
          <p:nvSpPr>
            <p:cNvPr id="23" name="AutoShape 6"/>
            <p:cNvSpPr>
              <a:spLocks noChangeArrowheads="1"/>
            </p:cNvSpPr>
            <p:nvPr/>
          </p:nvSpPr>
          <p:spPr bwMode="gray">
            <a:xfrm>
              <a:off x="3810000" y="1371600"/>
              <a:ext cx="4419600" cy="1371600"/>
            </a:xfrm>
            <a:prstGeom prst="roundRect">
              <a:avLst>
                <a:gd name="adj" fmla="val 16667"/>
              </a:avLst>
            </a:prstGeom>
            <a:ln>
              <a:prstDash val="sysDash"/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>
                <a:defRPr/>
              </a:pPr>
              <a:endParaRPr lang="en-US"/>
            </a:p>
          </p:txBody>
        </p:sp>
        <p:sp>
          <p:nvSpPr>
            <p:cNvPr id="24" name="Text Box 7"/>
            <p:cNvSpPr txBox="1">
              <a:spLocks noChangeArrowheads="1"/>
            </p:cNvSpPr>
            <p:nvPr/>
          </p:nvSpPr>
          <p:spPr bwMode="gray">
            <a:xfrm>
              <a:off x="4038600" y="1447800"/>
              <a:ext cx="4191000" cy="1200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>
                  <a:solidFill>
                    <a:schemeClr val="tx1">
                      <a:lumMod val="60000"/>
                      <a:lumOff val="40000"/>
                    </a:schemeClr>
                  </a:solidFill>
                  <a:latin typeface="Arial" pitchFamily="34" charset="0"/>
                  <a:cs typeface="Arial" pitchFamily="34" charset="0"/>
                </a:rPr>
                <a:t>Cú pháp</a:t>
              </a:r>
            </a:p>
            <a:p>
              <a:pPr>
                <a:defRPr/>
              </a:pPr>
              <a:r>
                <a:rPr lang="en-US" sz="2400">
                  <a:latin typeface="Arial" pitchFamily="34" charset="0"/>
                  <a:cs typeface="Arial" pitchFamily="34" charset="0"/>
                </a:rPr>
                <a:t>#define &lt;tênhằng&gt; &lt;giá trị&gt;</a:t>
              </a:r>
            </a:p>
            <a:p>
              <a:pPr>
                <a:defRPr/>
              </a:pPr>
              <a:r>
                <a:rPr lang="en-US" sz="2400">
                  <a:latin typeface="Arial" pitchFamily="34" charset="0"/>
                  <a:cs typeface="Arial" pitchFamily="34" charset="0"/>
                </a:rPr>
                <a:t>hoặc sử dụng từ khóa const.</a:t>
              </a:r>
            </a:p>
          </p:txBody>
        </p:sp>
      </p:grpSp>
      <p:sp>
        <p:nvSpPr>
          <p:cNvPr id="25" name="Freeform 11"/>
          <p:cNvSpPr>
            <a:spLocks/>
          </p:cNvSpPr>
          <p:nvPr/>
        </p:nvSpPr>
        <p:spPr bwMode="gray">
          <a:xfrm flipH="1" flipV="1">
            <a:off x="3124200" y="1295400"/>
            <a:ext cx="903288" cy="1143000"/>
          </a:xfrm>
          <a:custGeom>
            <a:avLst/>
            <a:gdLst>
              <a:gd name="T0" fmla="*/ 903288 w 580"/>
              <a:gd name="T1" fmla="*/ 0 h 798"/>
              <a:gd name="T2" fmla="*/ 900173 w 580"/>
              <a:gd name="T3" fmla="*/ 128910 h 798"/>
              <a:gd name="T4" fmla="*/ 884599 w 580"/>
              <a:gd name="T5" fmla="*/ 249226 h 798"/>
              <a:gd name="T6" fmla="*/ 859681 w 580"/>
              <a:gd name="T7" fmla="*/ 360947 h 798"/>
              <a:gd name="T8" fmla="*/ 819189 w 580"/>
              <a:gd name="T9" fmla="*/ 464075 h 798"/>
              <a:gd name="T10" fmla="*/ 769352 w 580"/>
              <a:gd name="T11" fmla="*/ 558609 h 798"/>
              <a:gd name="T12" fmla="*/ 703942 w 580"/>
              <a:gd name="T13" fmla="*/ 644549 h 798"/>
              <a:gd name="T14" fmla="*/ 626072 w 580"/>
              <a:gd name="T15" fmla="*/ 727624 h 798"/>
              <a:gd name="T16" fmla="*/ 532628 w 580"/>
              <a:gd name="T17" fmla="*/ 802105 h 798"/>
              <a:gd name="T18" fmla="*/ 420496 w 580"/>
              <a:gd name="T19" fmla="*/ 873722 h 798"/>
              <a:gd name="T20" fmla="*/ 292790 w 580"/>
              <a:gd name="T21" fmla="*/ 939609 h 798"/>
              <a:gd name="T22" fmla="*/ 292790 w 580"/>
              <a:gd name="T23" fmla="*/ 1143000 h 798"/>
              <a:gd name="T24" fmla="*/ 0 w 580"/>
              <a:gd name="T25" fmla="*/ 736218 h 798"/>
              <a:gd name="T26" fmla="*/ 292790 w 580"/>
              <a:gd name="T27" fmla="*/ 329436 h 798"/>
              <a:gd name="T28" fmla="*/ 292790 w 580"/>
              <a:gd name="T29" fmla="*/ 532827 h 798"/>
              <a:gd name="T30" fmla="*/ 348856 w 580"/>
              <a:gd name="T31" fmla="*/ 527098 h 798"/>
              <a:gd name="T32" fmla="*/ 411152 w 580"/>
              <a:gd name="T33" fmla="*/ 509910 h 798"/>
              <a:gd name="T34" fmla="*/ 476562 w 580"/>
              <a:gd name="T35" fmla="*/ 481263 h 798"/>
              <a:gd name="T36" fmla="*/ 541973 w 580"/>
              <a:gd name="T37" fmla="*/ 444023 h 798"/>
              <a:gd name="T38" fmla="*/ 610498 w 580"/>
              <a:gd name="T39" fmla="*/ 401053 h 798"/>
              <a:gd name="T40" fmla="*/ 672794 w 580"/>
              <a:gd name="T41" fmla="*/ 352353 h 798"/>
              <a:gd name="T42" fmla="*/ 735090 w 580"/>
              <a:gd name="T43" fmla="*/ 297925 h 798"/>
              <a:gd name="T44" fmla="*/ 788041 w 580"/>
              <a:gd name="T45" fmla="*/ 237767 h 798"/>
              <a:gd name="T46" fmla="*/ 834763 w 580"/>
              <a:gd name="T47" fmla="*/ 177609 h 798"/>
              <a:gd name="T48" fmla="*/ 869025 w 580"/>
              <a:gd name="T49" fmla="*/ 117451 h 798"/>
              <a:gd name="T50" fmla="*/ 893944 w 580"/>
              <a:gd name="T51" fmla="*/ 57293 h 798"/>
              <a:gd name="T52" fmla="*/ 900173 w 580"/>
              <a:gd name="T53" fmla="*/ 0 h 798"/>
              <a:gd name="T54" fmla="*/ 903288 w 580"/>
              <a:gd name="T55" fmla="*/ 0 h 798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580"/>
              <a:gd name="T85" fmla="*/ 0 h 798"/>
              <a:gd name="T86" fmla="*/ 580 w 580"/>
              <a:gd name="T87" fmla="*/ 798 h 798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gradFill rotWithShape="1">
            <a:gsLst>
              <a:gs pos="0">
                <a:srgbClr val="FF66FF"/>
              </a:gs>
              <a:gs pos="100000">
                <a:srgbClr val="FF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64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BIỂU </a:t>
            </a:r>
            <a:r>
              <a:rPr lang="en-US" smtClean="0"/>
              <a:t>THỨC</a:t>
            </a:r>
            <a:endParaRPr 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None/>
            </a:pPr>
            <a:r>
              <a:rPr lang="en-US" sz="3200">
                <a:latin typeface="Arial" charset="0"/>
              </a:rPr>
              <a:t>1. Biểu thức</a:t>
            </a:r>
          </a:p>
          <a:p>
            <a:pPr lvl="1">
              <a:defRPr/>
            </a:pPr>
            <a:r>
              <a:rPr lang="en-US" smtClean="0"/>
              <a:t>Tạo </a:t>
            </a:r>
            <a:r>
              <a:rPr lang="en-US"/>
              <a:t>thành từ các </a:t>
            </a:r>
            <a:r>
              <a:rPr lang="en-US">
                <a:solidFill>
                  <a:srgbClr val="FF0000"/>
                </a:solidFill>
              </a:rPr>
              <a:t>toán tử</a:t>
            </a:r>
            <a:r>
              <a:rPr lang="en-US"/>
              <a:t> (Operator) và các </a:t>
            </a:r>
            <a:r>
              <a:rPr lang="en-US">
                <a:solidFill>
                  <a:srgbClr val="FF0000"/>
                </a:solidFill>
              </a:rPr>
              <a:t>toán hạng</a:t>
            </a:r>
            <a:r>
              <a:rPr lang="en-US"/>
              <a:t> (Operand).</a:t>
            </a:r>
          </a:p>
          <a:p>
            <a:pPr lvl="1">
              <a:defRPr/>
            </a:pPr>
            <a:r>
              <a:rPr lang="en-US"/>
              <a:t>Toán tử tác </a:t>
            </a:r>
            <a:r>
              <a:rPr lang="vi-VN"/>
              <a:t>độ</a:t>
            </a:r>
            <a:r>
              <a:rPr lang="en-US"/>
              <a:t>ng lên các giá trị của toán hạng và cho giá trị có kiểu nhất </a:t>
            </a:r>
            <a:r>
              <a:rPr lang="vi-VN"/>
              <a:t>đị</a:t>
            </a:r>
            <a:r>
              <a:rPr lang="en-US"/>
              <a:t>nh.</a:t>
            </a:r>
          </a:p>
          <a:p>
            <a:pPr lvl="1">
              <a:defRPr/>
            </a:pPr>
            <a:r>
              <a:rPr lang="en-US"/>
              <a:t>Toán tử: </a:t>
            </a:r>
            <a:r>
              <a:rPr lang="en-US">
                <a:solidFill>
                  <a:srgbClr val="FF0000"/>
                </a:solidFill>
              </a:rPr>
              <a:t>+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–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*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/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%</a:t>
            </a:r>
            <a:r>
              <a:rPr lang="en-US"/>
              <a:t>….</a:t>
            </a:r>
          </a:p>
          <a:p>
            <a:pPr lvl="1">
              <a:defRPr/>
            </a:pPr>
            <a:r>
              <a:rPr lang="en-US"/>
              <a:t>Toán hạng: </a:t>
            </a:r>
            <a:r>
              <a:rPr lang="en-US">
                <a:solidFill>
                  <a:srgbClr val="FF0000"/>
                </a:solidFill>
              </a:rPr>
              <a:t>hằng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biến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lời gọi hàm</a:t>
            </a:r>
            <a:r>
              <a:rPr lang="en-US"/>
              <a:t>...</a:t>
            </a:r>
          </a:p>
          <a:p>
            <a:pPr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 lvl="1">
              <a:defRPr/>
            </a:pPr>
            <a:r>
              <a:rPr lang="en-US"/>
              <a:t>2 </a:t>
            </a:r>
            <a:r>
              <a:rPr lang="en-US">
                <a:solidFill>
                  <a:srgbClr val="FF0000"/>
                </a:solidFill>
              </a:rPr>
              <a:t>+</a:t>
            </a:r>
            <a:r>
              <a:rPr lang="en-US"/>
              <a:t> 3, a </a:t>
            </a:r>
            <a:r>
              <a:rPr lang="en-US">
                <a:solidFill>
                  <a:srgbClr val="FF0000"/>
                </a:solidFill>
              </a:rPr>
              <a:t>/</a:t>
            </a:r>
            <a:r>
              <a:rPr lang="en-US"/>
              <a:t> 5, (a </a:t>
            </a:r>
            <a:r>
              <a:rPr lang="en-US">
                <a:solidFill>
                  <a:srgbClr val="FF0000"/>
                </a:solidFill>
              </a:rPr>
              <a:t>+</a:t>
            </a:r>
            <a:r>
              <a:rPr lang="en-US"/>
              <a:t> b) </a:t>
            </a:r>
            <a:r>
              <a:rPr lang="en-US">
                <a:solidFill>
                  <a:srgbClr val="FF0000"/>
                </a:solidFill>
              </a:rPr>
              <a:t>*</a:t>
            </a:r>
            <a:r>
              <a:rPr lang="en-US"/>
              <a:t> 5, </a:t>
            </a:r>
            <a:r>
              <a:rPr lang="en-US" smtClean="0"/>
              <a:t>…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Toán tử gán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Khái niệm</a:t>
            </a:r>
          </a:p>
          <a:p>
            <a:pPr lvl="1" eaLnBrk="1" hangingPunct="1">
              <a:defRPr/>
            </a:pPr>
            <a:r>
              <a:rPr lang="en-US" smtClean="0"/>
              <a:t>Gán giá trị cho biến.</a:t>
            </a:r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Cú pháp</a:t>
            </a:r>
          </a:p>
          <a:p>
            <a:pPr lvl="1" eaLnBrk="1" hangingPunct="1">
              <a:defRPr/>
            </a:pPr>
            <a:r>
              <a:rPr lang="en-US" smtClean="0"/>
              <a:t>&lt;biến&gt; = &lt;giá trị&gt;;</a:t>
            </a:r>
          </a:p>
          <a:p>
            <a:pPr lvl="1" eaLnBrk="1" hangingPunct="1">
              <a:defRPr/>
            </a:pPr>
            <a:r>
              <a:rPr lang="en-US" smtClean="0"/>
              <a:t>&lt;biến&gt; = &lt;biến&gt;;</a:t>
            </a:r>
          </a:p>
          <a:p>
            <a:pPr lvl="1" eaLnBrk="1" hangingPunct="1">
              <a:defRPr/>
            </a:pPr>
            <a:r>
              <a:rPr lang="en-US" smtClean="0"/>
              <a:t>&lt;biến&gt; = &lt;biểu thức&gt;;</a:t>
            </a:r>
          </a:p>
          <a:p>
            <a:pPr lvl="1" eaLnBrk="1" hangingPunct="1">
              <a:defRPr/>
            </a:pPr>
            <a:r>
              <a:rPr lang="en-US" smtClean="0"/>
              <a:t>Có thể thực hiện liên tiếp phép gán.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803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Toán tử gán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33600"/>
            <a:ext cx="152400" cy="4038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133600"/>
            <a:ext cx="70104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a, b, c, d, e, thuong;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a = 10;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b = a;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thuong = a / b;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a = b = c = d = e = 156;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e = 156;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d = e;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c = d;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b = c;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a = b;	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0" y="3124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6"/>
          <p:cNvSpPr>
            <a:spLocks/>
          </p:cNvSpPr>
          <p:nvPr/>
        </p:nvSpPr>
        <p:spPr bwMode="auto">
          <a:xfrm>
            <a:off x="0" y="3429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6"/>
          <p:cNvSpPr>
            <a:spLocks/>
          </p:cNvSpPr>
          <p:nvPr/>
        </p:nvSpPr>
        <p:spPr bwMode="auto">
          <a:xfrm>
            <a:off x="0" y="3733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6"/>
          <p:cNvSpPr>
            <a:spLocks/>
          </p:cNvSpPr>
          <p:nvPr/>
        </p:nvSpPr>
        <p:spPr bwMode="auto">
          <a:xfrm>
            <a:off x="0" y="4038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6"/>
          <p:cNvSpPr>
            <a:spLocks/>
          </p:cNvSpPr>
          <p:nvPr/>
        </p:nvSpPr>
        <p:spPr bwMode="auto">
          <a:xfrm>
            <a:off x="0" y="4343400"/>
            <a:ext cx="9128125" cy="1524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870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Các toán tử toán học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Toán tử 1 ngôi</a:t>
            </a:r>
          </a:p>
          <a:p>
            <a:pPr lvl="1" eaLnBrk="1" hangingPunct="1">
              <a:defRPr/>
            </a:pPr>
            <a:r>
              <a:rPr lang="en-US" smtClean="0"/>
              <a:t>Chỉ có một toán hạng trong biểu thức.</a:t>
            </a:r>
          </a:p>
          <a:p>
            <a:pPr lvl="1" eaLnBrk="1" hangingPunct="1">
              <a:defRPr/>
            </a:pPr>
            <a:r>
              <a:rPr lang="en-US" smtClean="0">
                <a:solidFill>
                  <a:srgbClr val="FF0000"/>
                </a:solidFill>
              </a:rPr>
              <a:t>++</a:t>
            </a:r>
            <a:r>
              <a:rPr lang="en-US" smtClean="0"/>
              <a:t> (t</a:t>
            </a:r>
            <a:r>
              <a:rPr lang="vi-VN" smtClean="0"/>
              <a:t>ă</a:t>
            </a:r>
            <a:r>
              <a:rPr lang="en-US" smtClean="0"/>
              <a:t>ng 1 </a:t>
            </a:r>
            <a:r>
              <a:rPr lang="vi-VN" smtClean="0"/>
              <a:t>đơ</a:t>
            </a:r>
            <a:r>
              <a:rPr lang="en-US" smtClean="0"/>
              <a:t>n vị), </a:t>
            </a:r>
            <a:r>
              <a:rPr lang="en-US" smtClean="0">
                <a:solidFill>
                  <a:srgbClr val="FF0000"/>
                </a:solidFill>
              </a:rPr>
              <a:t>--</a:t>
            </a:r>
            <a:r>
              <a:rPr lang="en-US" smtClean="0"/>
              <a:t> (giảm 1 </a:t>
            </a:r>
            <a:r>
              <a:rPr lang="vi-VN" smtClean="0"/>
              <a:t>đơ</a:t>
            </a:r>
            <a:r>
              <a:rPr lang="en-US" smtClean="0"/>
              <a:t>n vị)</a:t>
            </a:r>
          </a:p>
          <a:p>
            <a:pPr lvl="1" eaLnBrk="1" hangingPunct="1">
              <a:defRPr/>
            </a:pPr>
            <a:r>
              <a:rPr lang="en-US" smtClean="0"/>
              <a:t>Đặt tr</a:t>
            </a:r>
            <a:r>
              <a:rPr lang="vi-VN" smtClean="0"/>
              <a:t>ướ</a:t>
            </a:r>
            <a:r>
              <a:rPr lang="en-US" smtClean="0"/>
              <a:t>c toán hạng</a:t>
            </a:r>
          </a:p>
          <a:p>
            <a:pPr lvl="2" eaLnBrk="1" hangingPunct="1">
              <a:defRPr/>
            </a:pPr>
            <a:r>
              <a:rPr lang="en-US" smtClean="0"/>
              <a:t>Ví dụ </a:t>
            </a:r>
            <a:r>
              <a:rPr lang="en-US" smtClean="0">
                <a:solidFill>
                  <a:srgbClr val="FF0000"/>
                </a:solidFill>
              </a:rPr>
              <a:t>++</a:t>
            </a:r>
            <a:r>
              <a:rPr lang="en-US" smtClean="0"/>
              <a:t>x hay </a:t>
            </a:r>
            <a:r>
              <a:rPr lang="en-US" smtClean="0">
                <a:solidFill>
                  <a:srgbClr val="FF0000"/>
                </a:solidFill>
              </a:rPr>
              <a:t>--</a:t>
            </a:r>
            <a:r>
              <a:rPr lang="en-US" smtClean="0"/>
              <a:t>x: thực hiện t</a:t>
            </a:r>
            <a:r>
              <a:rPr lang="vi-VN" smtClean="0"/>
              <a:t>ă</a:t>
            </a:r>
            <a:r>
              <a:rPr lang="en-US" smtClean="0"/>
              <a:t>ng/giảm </a:t>
            </a:r>
            <a:r>
              <a:rPr lang="en-US" smtClean="0">
                <a:solidFill>
                  <a:srgbClr val="FF0000"/>
                </a:solidFill>
              </a:rPr>
              <a:t>tr</a:t>
            </a:r>
            <a:r>
              <a:rPr lang="vi-VN" smtClean="0">
                <a:solidFill>
                  <a:srgbClr val="FF0000"/>
                </a:solidFill>
              </a:rPr>
              <a:t>ướ</a:t>
            </a:r>
            <a:r>
              <a:rPr lang="en-US" smtClean="0">
                <a:solidFill>
                  <a:srgbClr val="FF0000"/>
                </a:solidFill>
              </a:rPr>
              <a:t>c.</a:t>
            </a:r>
          </a:p>
          <a:p>
            <a:pPr lvl="1" eaLnBrk="1" hangingPunct="1">
              <a:defRPr/>
            </a:pPr>
            <a:r>
              <a:rPr lang="en-US" smtClean="0"/>
              <a:t>Đặt sau toán hạng</a:t>
            </a:r>
          </a:p>
          <a:p>
            <a:pPr lvl="2" eaLnBrk="1" hangingPunct="1">
              <a:defRPr/>
            </a:pPr>
            <a:r>
              <a:rPr lang="en-US" smtClean="0"/>
              <a:t>Ví dụ x</a:t>
            </a:r>
            <a:r>
              <a:rPr lang="en-US" smtClean="0">
                <a:solidFill>
                  <a:srgbClr val="FF0000"/>
                </a:solidFill>
              </a:rPr>
              <a:t>++</a:t>
            </a:r>
            <a:r>
              <a:rPr lang="en-US" smtClean="0"/>
              <a:t> hay x</a:t>
            </a:r>
            <a:r>
              <a:rPr lang="en-US" smtClean="0">
                <a:solidFill>
                  <a:srgbClr val="FF0000"/>
                </a:solidFill>
              </a:rPr>
              <a:t>--</a:t>
            </a:r>
            <a:r>
              <a:rPr lang="en-US" smtClean="0"/>
              <a:t>: thực hiện t</a:t>
            </a:r>
            <a:r>
              <a:rPr lang="vi-VN" smtClean="0"/>
              <a:t>ă</a:t>
            </a:r>
            <a:r>
              <a:rPr lang="en-US" smtClean="0"/>
              <a:t>ng/giảm </a:t>
            </a:r>
            <a:r>
              <a:rPr lang="en-US" smtClean="0">
                <a:solidFill>
                  <a:srgbClr val="FF0000"/>
                </a:solidFill>
              </a:rPr>
              <a:t>sau.</a:t>
            </a:r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 lvl="1" eaLnBrk="1" hangingPunct="1">
              <a:defRPr/>
            </a:pPr>
            <a:r>
              <a:rPr lang="en-US" smtClean="0"/>
              <a:t>x = 10; y = x++;	// y = 10 và x = 11</a:t>
            </a:r>
          </a:p>
          <a:p>
            <a:pPr lvl="1" eaLnBrk="1" hangingPunct="1">
              <a:defRPr/>
            </a:pPr>
            <a:r>
              <a:rPr lang="en-US" smtClean="0"/>
              <a:t>x = 10; y = ++x;	// x = 11 và y = 11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6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Các toán tử toán học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Toán tử 2 ngôi</a:t>
            </a:r>
          </a:p>
          <a:p>
            <a:pPr lvl="1" eaLnBrk="1" hangingPunct="1">
              <a:defRPr/>
            </a:pPr>
            <a:r>
              <a:rPr lang="en-US" smtClean="0"/>
              <a:t>Có hai toán hạng trong biểu thức.</a:t>
            </a:r>
          </a:p>
          <a:p>
            <a:pPr lvl="1" eaLnBrk="1" hangingPunct="1">
              <a:defRPr/>
            </a:pPr>
            <a:r>
              <a:rPr lang="en-US" smtClean="0">
                <a:solidFill>
                  <a:srgbClr val="FF0000"/>
                </a:solidFill>
              </a:rPr>
              <a:t>+</a:t>
            </a:r>
            <a:r>
              <a:rPr lang="en-US" smtClean="0"/>
              <a:t>, </a:t>
            </a:r>
            <a:r>
              <a:rPr lang="en-US" smtClean="0">
                <a:solidFill>
                  <a:srgbClr val="FF0000"/>
                </a:solidFill>
              </a:rPr>
              <a:t>–</a:t>
            </a:r>
            <a:r>
              <a:rPr lang="en-US" smtClean="0"/>
              <a:t>, </a:t>
            </a:r>
            <a:r>
              <a:rPr lang="en-US" smtClean="0">
                <a:solidFill>
                  <a:srgbClr val="FF0000"/>
                </a:solidFill>
              </a:rPr>
              <a:t>*</a:t>
            </a:r>
            <a:r>
              <a:rPr lang="en-US" smtClean="0"/>
              <a:t>, </a:t>
            </a:r>
            <a:r>
              <a:rPr lang="en-US" smtClean="0">
                <a:solidFill>
                  <a:srgbClr val="FF0000"/>
                </a:solidFill>
              </a:rPr>
              <a:t>/</a:t>
            </a:r>
            <a:r>
              <a:rPr lang="en-US" smtClean="0"/>
              <a:t>, </a:t>
            </a:r>
            <a:r>
              <a:rPr lang="en-US" smtClean="0">
                <a:solidFill>
                  <a:srgbClr val="FF0000"/>
                </a:solidFill>
              </a:rPr>
              <a:t>% </a:t>
            </a:r>
            <a:r>
              <a:rPr lang="en-US" smtClean="0"/>
              <a:t>(chia lấy phần d</a:t>
            </a:r>
            <a:r>
              <a:rPr lang="vi-VN" smtClean="0"/>
              <a:t>ư</a:t>
            </a:r>
            <a:r>
              <a:rPr lang="en-US" smtClean="0"/>
              <a:t>)</a:t>
            </a:r>
          </a:p>
          <a:p>
            <a:pPr lvl="1" eaLnBrk="1" hangingPunct="1">
              <a:defRPr/>
            </a:pPr>
            <a:r>
              <a:rPr lang="en-US" smtClean="0">
                <a:solidFill>
                  <a:srgbClr val="FF0000"/>
                </a:solidFill>
              </a:rPr>
              <a:t>x</a:t>
            </a:r>
            <a:r>
              <a:rPr lang="en-US" smtClean="0"/>
              <a:t> = </a:t>
            </a:r>
            <a:r>
              <a:rPr lang="en-US" smtClean="0">
                <a:solidFill>
                  <a:srgbClr val="FF0000"/>
                </a:solidFill>
              </a:rPr>
              <a:t>x</a:t>
            </a:r>
            <a:r>
              <a:rPr lang="en-US" smtClean="0"/>
              <a:t> + y </a:t>
            </a:r>
            <a:r>
              <a:rPr lang="en-US" smtClean="0">
                <a:sym typeface="Wingdings" pitchFamily="2" charset="2"/>
              </a:rPr>
              <a:t> x </a:t>
            </a:r>
            <a:r>
              <a:rPr lang="en-US" smtClean="0">
                <a:solidFill>
                  <a:srgbClr val="FF0000"/>
                </a:solidFill>
                <a:sym typeface="Wingdings" pitchFamily="2" charset="2"/>
              </a:rPr>
              <a:t>+=</a:t>
            </a:r>
            <a:r>
              <a:rPr lang="en-US" smtClean="0">
                <a:sym typeface="Wingdings" pitchFamily="2" charset="2"/>
              </a:rPr>
              <a:t> y;</a:t>
            </a:r>
            <a:endParaRPr lang="en-US" smtClean="0"/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 lvl="1" eaLnBrk="1" hangingPunct="1">
              <a:defRPr/>
            </a:pPr>
            <a:r>
              <a:rPr lang="en-US" smtClean="0"/>
              <a:t>a = 1 </a:t>
            </a:r>
            <a:r>
              <a:rPr lang="en-US" smtClean="0">
                <a:solidFill>
                  <a:srgbClr val="FF0000"/>
                </a:solidFill>
              </a:rPr>
              <a:t>+</a:t>
            </a:r>
            <a:r>
              <a:rPr lang="en-US" smtClean="0"/>
              <a:t> 2; b = 1 </a:t>
            </a:r>
            <a:r>
              <a:rPr lang="en-US" smtClean="0">
                <a:solidFill>
                  <a:srgbClr val="FF0000"/>
                </a:solidFill>
              </a:rPr>
              <a:t>–</a:t>
            </a:r>
            <a:r>
              <a:rPr lang="en-US" smtClean="0"/>
              <a:t> 2; c = 1 </a:t>
            </a:r>
            <a:r>
              <a:rPr lang="en-US" smtClean="0">
                <a:solidFill>
                  <a:srgbClr val="FF0000"/>
                </a:solidFill>
              </a:rPr>
              <a:t>*</a:t>
            </a:r>
            <a:r>
              <a:rPr lang="en-US" smtClean="0"/>
              <a:t> 2; d = 1 </a:t>
            </a:r>
            <a:r>
              <a:rPr lang="en-US" smtClean="0">
                <a:solidFill>
                  <a:srgbClr val="FF0000"/>
                </a:solidFill>
              </a:rPr>
              <a:t>/ </a:t>
            </a:r>
            <a:r>
              <a:rPr lang="en-US" smtClean="0"/>
              <a:t>2;</a:t>
            </a:r>
          </a:p>
          <a:p>
            <a:pPr lvl="1" eaLnBrk="1" hangingPunct="1">
              <a:defRPr/>
            </a:pPr>
            <a:r>
              <a:rPr lang="en-US" smtClean="0"/>
              <a:t>e = 1*1.0 </a:t>
            </a:r>
            <a:r>
              <a:rPr lang="en-US" smtClean="0">
                <a:solidFill>
                  <a:srgbClr val="FF0000"/>
                </a:solidFill>
              </a:rPr>
              <a:t>/</a:t>
            </a:r>
            <a:r>
              <a:rPr lang="en-US" smtClean="0"/>
              <a:t> 2; f = </a:t>
            </a:r>
            <a:r>
              <a:rPr lang="en-US" smtClean="0">
                <a:solidFill>
                  <a:srgbClr val="FF0000"/>
                </a:solidFill>
              </a:rPr>
              <a:t>float</a:t>
            </a:r>
            <a:r>
              <a:rPr lang="en-US" smtClean="0"/>
              <a:t>(1) </a:t>
            </a:r>
            <a:r>
              <a:rPr lang="en-US" smtClean="0">
                <a:solidFill>
                  <a:srgbClr val="FF0000"/>
                </a:solidFill>
              </a:rPr>
              <a:t>/ </a:t>
            </a:r>
            <a:r>
              <a:rPr lang="en-US" smtClean="0"/>
              <a:t>2; g = </a:t>
            </a:r>
            <a:r>
              <a:rPr lang="en-US" smtClean="0">
                <a:solidFill>
                  <a:srgbClr val="FF0000"/>
                </a:solidFill>
              </a:rPr>
              <a:t>float</a:t>
            </a:r>
            <a:r>
              <a:rPr lang="en-US" smtClean="0"/>
              <a:t>(1 </a:t>
            </a:r>
            <a:r>
              <a:rPr lang="en-US" smtClean="0">
                <a:solidFill>
                  <a:srgbClr val="FF0000"/>
                </a:solidFill>
              </a:rPr>
              <a:t>/ </a:t>
            </a:r>
            <a:r>
              <a:rPr lang="en-US" smtClean="0"/>
              <a:t>2);</a:t>
            </a:r>
          </a:p>
          <a:p>
            <a:pPr lvl="1" eaLnBrk="1" hangingPunct="1">
              <a:defRPr/>
            </a:pPr>
            <a:r>
              <a:rPr lang="en-US" smtClean="0"/>
              <a:t>h = 1 </a:t>
            </a:r>
            <a:r>
              <a:rPr lang="en-US" smtClean="0">
                <a:solidFill>
                  <a:srgbClr val="FF0000"/>
                </a:solidFill>
              </a:rPr>
              <a:t>%</a:t>
            </a:r>
            <a:r>
              <a:rPr lang="en-US" smtClean="0"/>
              <a:t> 2;</a:t>
            </a:r>
          </a:p>
          <a:p>
            <a:pPr lvl="1" eaLnBrk="1" hangingPunct="1">
              <a:defRPr/>
            </a:pPr>
            <a:r>
              <a:rPr lang="en-US" smtClean="0">
                <a:solidFill>
                  <a:srgbClr val="FF0000"/>
                </a:solidFill>
              </a:rPr>
              <a:t>x</a:t>
            </a:r>
            <a:r>
              <a:rPr lang="en-US" smtClean="0"/>
              <a:t> = </a:t>
            </a:r>
            <a:r>
              <a:rPr lang="en-US" smtClean="0">
                <a:solidFill>
                  <a:srgbClr val="FF0000"/>
                </a:solidFill>
              </a:rPr>
              <a:t>x</a:t>
            </a:r>
            <a:r>
              <a:rPr lang="en-US" smtClean="0"/>
              <a:t> </a:t>
            </a:r>
            <a:r>
              <a:rPr lang="en-US" smtClean="0">
                <a:solidFill>
                  <a:srgbClr val="FF0000"/>
                </a:solidFill>
              </a:rPr>
              <a:t>*</a:t>
            </a:r>
            <a:r>
              <a:rPr lang="en-US" smtClean="0"/>
              <a:t> (2 + 3*5); </a:t>
            </a:r>
            <a:r>
              <a:rPr lang="en-US" smtClean="0">
                <a:sym typeface="Wingdings" pitchFamily="2" charset="2"/>
              </a:rPr>
              <a:t> x </a:t>
            </a:r>
            <a:r>
              <a:rPr lang="en-US" smtClean="0">
                <a:solidFill>
                  <a:srgbClr val="FF0000"/>
                </a:solidFill>
                <a:sym typeface="Wingdings" pitchFamily="2" charset="2"/>
              </a:rPr>
              <a:t>*=</a:t>
            </a:r>
            <a:r>
              <a:rPr lang="en-US" smtClean="0">
                <a:sym typeface="Wingdings" pitchFamily="2" charset="2"/>
              </a:rPr>
              <a:t> 2 + 3*5;</a:t>
            </a:r>
            <a:endParaRPr lang="en-US" smtClean="0"/>
          </a:p>
          <a:p>
            <a:pPr lvl="1" eaLnBrk="1" hangingPunct="1">
              <a:defRPr/>
            </a:pP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Các toán tử trên bit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Các toán tử trên bit</a:t>
            </a:r>
          </a:p>
          <a:p>
            <a:pPr lvl="1" eaLnBrk="1" hangingPunct="1">
              <a:defRPr/>
            </a:pPr>
            <a:r>
              <a:rPr lang="en-US" smtClean="0"/>
              <a:t>Tác </a:t>
            </a:r>
            <a:r>
              <a:rPr lang="vi-VN" smtClean="0"/>
              <a:t>độ</a:t>
            </a:r>
            <a:r>
              <a:rPr lang="en-US" smtClean="0"/>
              <a:t>ng lên các bit của toán hạng (nguyên).</a:t>
            </a:r>
          </a:p>
          <a:p>
            <a:pPr lvl="1" eaLnBrk="1" hangingPunct="1">
              <a:defRPr/>
            </a:pPr>
            <a:r>
              <a:rPr lang="en-US" smtClean="0">
                <a:solidFill>
                  <a:srgbClr val="FF0000"/>
                </a:solidFill>
              </a:rPr>
              <a:t>&amp;</a:t>
            </a:r>
            <a:r>
              <a:rPr lang="en-US" smtClean="0"/>
              <a:t> (and), </a:t>
            </a:r>
            <a:r>
              <a:rPr lang="en-US" smtClean="0">
                <a:solidFill>
                  <a:srgbClr val="FF0000"/>
                </a:solidFill>
              </a:rPr>
              <a:t>|</a:t>
            </a:r>
            <a:r>
              <a:rPr lang="en-US" smtClean="0"/>
              <a:t> (or), </a:t>
            </a:r>
            <a:r>
              <a:rPr lang="en-US" smtClean="0">
                <a:solidFill>
                  <a:srgbClr val="FF0000"/>
                </a:solidFill>
              </a:rPr>
              <a:t>^</a:t>
            </a:r>
            <a:r>
              <a:rPr lang="en-US" smtClean="0"/>
              <a:t> (xor), </a:t>
            </a:r>
            <a:r>
              <a:rPr lang="en-US" smtClean="0">
                <a:solidFill>
                  <a:srgbClr val="FF0000"/>
                </a:solidFill>
              </a:rPr>
              <a:t>~</a:t>
            </a:r>
            <a:r>
              <a:rPr lang="en-US" smtClean="0"/>
              <a:t> (not hay lấy số bù 1)</a:t>
            </a:r>
          </a:p>
          <a:p>
            <a:pPr lvl="1" eaLnBrk="1" hangingPunct="1">
              <a:defRPr/>
            </a:pPr>
            <a:r>
              <a:rPr lang="en-US" smtClean="0">
                <a:solidFill>
                  <a:srgbClr val="FF0000"/>
                </a:solidFill>
              </a:rPr>
              <a:t>&gt;&gt;</a:t>
            </a:r>
            <a:r>
              <a:rPr lang="en-US" smtClean="0"/>
              <a:t> (shift right), </a:t>
            </a:r>
            <a:r>
              <a:rPr lang="en-US" smtClean="0">
                <a:solidFill>
                  <a:srgbClr val="FF0000"/>
                </a:solidFill>
              </a:rPr>
              <a:t>&lt;&lt;</a:t>
            </a:r>
            <a:r>
              <a:rPr lang="en-US" smtClean="0"/>
              <a:t> (shift left)</a:t>
            </a:r>
          </a:p>
          <a:p>
            <a:pPr lvl="1" eaLnBrk="1" hangingPunct="1">
              <a:defRPr/>
            </a:pPr>
            <a:r>
              <a:rPr lang="en-US" smtClean="0"/>
              <a:t>Toán tử gộp: </a:t>
            </a:r>
            <a:r>
              <a:rPr lang="en-US" smtClean="0">
                <a:solidFill>
                  <a:srgbClr val="FF0000"/>
                </a:solidFill>
              </a:rPr>
              <a:t>&amp;=</a:t>
            </a:r>
            <a:r>
              <a:rPr lang="en-US" smtClean="0"/>
              <a:t>, </a:t>
            </a:r>
            <a:r>
              <a:rPr lang="en-US" smtClean="0">
                <a:solidFill>
                  <a:srgbClr val="FF0000"/>
                </a:solidFill>
              </a:rPr>
              <a:t>|=</a:t>
            </a:r>
            <a:r>
              <a:rPr lang="en-US" smtClean="0"/>
              <a:t>, </a:t>
            </a:r>
            <a:r>
              <a:rPr lang="en-US" smtClean="0">
                <a:solidFill>
                  <a:srgbClr val="FF0000"/>
                </a:solidFill>
              </a:rPr>
              <a:t>^=</a:t>
            </a:r>
            <a:r>
              <a:rPr lang="en-US" smtClean="0"/>
              <a:t>, </a:t>
            </a:r>
            <a:r>
              <a:rPr lang="en-US" smtClean="0">
                <a:solidFill>
                  <a:srgbClr val="FF0000"/>
                </a:solidFill>
              </a:rPr>
              <a:t>~=</a:t>
            </a:r>
            <a:r>
              <a:rPr lang="en-US" smtClean="0"/>
              <a:t>, </a:t>
            </a:r>
            <a:r>
              <a:rPr lang="en-US" smtClean="0">
                <a:solidFill>
                  <a:srgbClr val="FF0000"/>
                </a:solidFill>
              </a:rPr>
              <a:t>&gt;&gt;=</a:t>
            </a:r>
            <a:r>
              <a:rPr lang="en-US" smtClean="0"/>
              <a:t>, </a:t>
            </a:r>
            <a:r>
              <a:rPr lang="en-US" smtClean="0">
                <a:solidFill>
                  <a:srgbClr val="FF0000"/>
                </a:solidFill>
              </a:rPr>
              <a:t>&lt;&lt;=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4191000"/>
          <a:ext cx="3040062" cy="1112838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51462"/>
                <a:gridCol w="1051462"/>
                <a:gridCol w="937138"/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&amp;</a:t>
                      </a:r>
                      <a:endParaRPr lang="en-US" sz="1800"/>
                    </a:p>
                  </a:txBody>
                  <a:tcPr marL="91459" marR="91459" marT="45733" marB="45733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sz="1800" b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sz="1800" b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b="0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sz="1800" b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80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80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b="0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sz="1800" b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80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u="none" smtClean="0"/>
                        <a:t>1</a:t>
                      </a:r>
                      <a:endParaRPr lang="en-US" sz="1800" b="1" u="none"/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00600" y="4191000"/>
          <a:ext cx="3040062" cy="1112838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51462"/>
                <a:gridCol w="1051462"/>
                <a:gridCol w="937138"/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|</a:t>
                      </a:r>
                      <a:endParaRPr lang="en-US" sz="1800"/>
                    </a:p>
                  </a:txBody>
                  <a:tcPr marL="91459" marR="91459" marT="45733" marB="45733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sz="1800" b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sz="1800" b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b="0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sz="1800" b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80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u="none" smtClean="0"/>
                        <a:t>1</a:t>
                      </a:r>
                      <a:endParaRPr lang="en-US" sz="1800" b="1" u="none"/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b="0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sz="1800" b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smtClean="0"/>
                        <a:t>1</a:t>
                      </a:r>
                      <a:endParaRPr lang="en-US" sz="1800" b="1" u="none"/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u="none" smtClean="0"/>
                        <a:t>1</a:t>
                      </a:r>
                      <a:endParaRPr lang="en-US" sz="1800" b="1" u="none"/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5486400"/>
          <a:ext cx="3040062" cy="1112838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51462"/>
                <a:gridCol w="1051462"/>
                <a:gridCol w="937138"/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^</a:t>
                      </a:r>
                      <a:endParaRPr lang="en-US" sz="1800"/>
                    </a:p>
                  </a:txBody>
                  <a:tcPr marL="91459" marR="91459" marT="45733" marB="45733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sz="1800" b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sz="1800" b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b="0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sz="1800" b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80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u="none" smtClean="0"/>
                        <a:t>1</a:t>
                      </a:r>
                      <a:endParaRPr lang="en-US" sz="1800" b="1" u="none"/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b="0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sz="1800" b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smtClean="0"/>
                        <a:t>1</a:t>
                      </a:r>
                      <a:endParaRPr lang="en-US" sz="1800" b="1" u="none"/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800" u="sng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800600" y="5486400"/>
          <a:ext cx="3040062" cy="741364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51462"/>
                <a:gridCol w="1051462"/>
                <a:gridCol w="937138"/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~</a:t>
                      </a:r>
                      <a:endParaRPr lang="en-US" sz="1800"/>
                    </a:p>
                  </a:txBody>
                  <a:tcPr marL="91459" marR="91459" marT="45700" marB="4570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sz="1800" b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59" marR="91459" marT="45700" marB="457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sz="1800" b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59" marR="91459" marT="45700" marB="45700">
                    <a:solidFill>
                      <a:schemeClr val="bg1"/>
                    </a:solidFill>
                  </a:tcPr>
                </a:tc>
              </a:tr>
              <a:tr h="370682">
                <a:tc>
                  <a:txBody>
                    <a:bodyPr/>
                    <a:lstStyle/>
                    <a:p>
                      <a:pPr algn="ctr"/>
                      <a:endParaRPr lang="en-US" sz="1800" b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59" marR="91459" marT="45700" marB="457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u="none" smtClean="0"/>
                        <a:t>1</a:t>
                      </a:r>
                      <a:endParaRPr lang="en-US" sz="1800" b="1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00" marB="457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800" u="none"/>
                    </a:p>
                  </a:txBody>
                  <a:tcPr marL="91459" marR="91459" marT="45700" marB="4570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41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Các toán tử trên bit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  <a:endParaRPr lang="en-US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2133600"/>
            <a:ext cx="152400" cy="4038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2133600"/>
            <a:ext cx="70104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a = 5;	// 0000 0000 0000 0101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b = 6;	// 0000 0000 0000 0110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z1, z2, z3, z4, z5, z6;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z1 = a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b;	// 0000 0000 0000 0100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z2 = a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|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b;	// 0000 0000 0000 0111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z3 = a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^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b;	// 0000 0000 0000 0011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z4 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~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a;	// 1111 1111 1111 1010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z5 = a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&gt;&gt;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2;// 0000 0000 0000 0001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z6 = a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2;// 0000 0000 0001 0100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36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Các toán tử quan hệ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Các toán tử quan hệ</a:t>
            </a:r>
          </a:p>
          <a:p>
            <a:pPr lvl="1" eaLnBrk="1" hangingPunct="1">
              <a:defRPr/>
            </a:pPr>
            <a:r>
              <a:rPr lang="en-US" smtClean="0"/>
              <a:t>So sánh 2 biểu thức với nhau</a:t>
            </a:r>
          </a:p>
          <a:p>
            <a:pPr lvl="1" eaLnBrk="1" hangingPunct="1">
              <a:defRPr/>
            </a:pPr>
            <a:r>
              <a:rPr lang="en-US" smtClean="0"/>
              <a:t>Cho ra kết quả 0 (hay false nếu sai) hoặc 1 (hay true nếu </a:t>
            </a:r>
            <a:r>
              <a:rPr lang="vi-VN" smtClean="0"/>
              <a:t>đú</a:t>
            </a:r>
            <a:r>
              <a:rPr lang="en-US" smtClean="0"/>
              <a:t>ng)</a:t>
            </a:r>
          </a:p>
          <a:p>
            <a:pPr lvl="1" eaLnBrk="1" hangingPunct="1">
              <a:defRPr/>
            </a:pPr>
            <a:r>
              <a:rPr lang="en-US" smtClean="0">
                <a:solidFill>
                  <a:srgbClr val="FF0000"/>
                </a:solidFill>
              </a:rPr>
              <a:t>==</a:t>
            </a:r>
            <a:r>
              <a:rPr lang="en-US" smtClean="0"/>
              <a:t>, </a:t>
            </a:r>
            <a:r>
              <a:rPr lang="en-US" smtClean="0">
                <a:solidFill>
                  <a:srgbClr val="FF0000"/>
                </a:solidFill>
              </a:rPr>
              <a:t>&gt;</a:t>
            </a:r>
            <a:r>
              <a:rPr lang="en-US" smtClean="0"/>
              <a:t>, </a:t>
            </a:r>
            <a:r>
              <a:rPr lang="en-US" smtClean="0">
                <a:solidFill>
                  <a:srgbClr val="FF0000"/>
                </a:solidFill>
              </a:rPr>
              <a:t>&lt;</a:t>
            </a:r>
            <a:r>
              <a:rPr lang="en-US" smtClean="0"/>
              <a:t>, </a:t>
            </a:r>
            <a:r>
              <a:rPr lang="en-US" smtClean="0">
                <a:solidFill>
                  <a:srgbClr val="FF0000"/>
                </a:solidFill>
              </a:rPr>
              <a:t>&gt;=</a:t>
            </a:r>
            <a:r>
              <a:rPr lang="en-US" smtClean="0"/>
              <a:t>, </a:t>
            </a:r>
            <a:r>
              <a:rPr lang="en-US" smtClean="0">
                <a:solidFill>
                  <a:srgbClr val="FF0000"/>
                </a:solidFill>
              </a:rPr>
              <a:t>&lt;</a:t>
            </a:r>
            <a:r>
              <a:rPr lang="en-US" smtClean="0"/>
              <a:t>, </a:t>
            </a:r>
            <a:r>
              <a:rPr lang="en-US" smtClean="0">
                <a:solidFill>
                  <a:srgbClr val="FF0000"/>
                </a:solidFill>
              </a:rPr>
              <a:t>&lt;=</a:t>
            </a:r>
            <a:r>
              <a:rPr lang="en-US" smtClean="0"/>
              <a:t>, </a:t>
            </a:r>
            <a:r>
              <a:rPr lang="en-US" smtClean="0">
                <a:solidFill>
                  <a:srgbClr val="FF0000"/>
                </a:solidFill>
              </a:rPr>
              <a:t>!=</a:t>
            </a:r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 lvl="1" eaLnBrk="1" hangingPunct="1">
              <a:defRPr/>
            </a:pPr>
            <a:r>
              <a:rPr lang="en-US" smtClean="0"/>
              <a:t>s1 = (1 </a:t>
            </a:r>
            <a:r>
              <a:rPr lang="en-US" smtClean="0">
                <a:solidFill>
                  <a:srgbClr val="FF0000"/>
                </a:solidFill>
              </a:rPr>
              <a:t>==</a:t>
            </a:r>
            <a:r>
              <a:rPr lang="en-US" smtClean="0"/>
              <a:t> 2);	s2 = (1 </a:t>
            </a:r>
            <a:r>
              <a:rPr lang="en-US" smtClean="0">
                <a:solidFill>
                  <a:srgbClr val="FF0000"/>
                </a:solidFill>
              </a:rPr>
              <a:t>!=</a:t>
            </a:r>
            <a:r>
              <a:rPr lang="en-US" smtClean="0"/>
              <a:t> 2);</a:t>
            </a:r>
          </a:p>
          <a:p>
            <a:pPr lvl="1" eaLnBrk="1" hangingPunct="1">
              <a:defRPr/>
            </a:pPr>
            <a:r>
              <a:rPr lang="en-US" smtClean="0"/>
              <a:t>s3 = (1 </a:t>
            </a:r>
            <a:r>
              <a:rPr lang="en-US" smtClean="0">
                <a:solidFill>
                  <a:srgbClr val="FF0000"/>
                </a:solidFill>
              </a:rPr>
              <a:t>&gt;</a:t>
            </a:r>
            <a:r>
              <a:rPr lang="en-US" smtClean="0"/>
              <a:t> 2);		s4 = (1 </a:t>
            </a:r>
            <a:r>
              <a:rPr lang="en-US" smtClean="0">
                <a:solidFill>
                  <a:srgbClr val="FF0000"/>
                </a:solidFill>
              </a:rPr>
              <a:t>&gt;=</a:t>
            </a:r>
            <a:r>
              <a:rPr lang="en-US" smtClean="0"/>
              <a:t> 2);</a:t>
            </a:r>
          </a:p>
          <a:p>
            <a:pPr lvl="1" eaLnBrk="1" hangingPunct="1">
              <a:defRPr/>
            </a:pPr>
            <a:r>
              <a:rPr lang="en-US" smtClean="0"/>
              <a:t>s5 = (1 </a:t>
            </a:r>
            <a:r>
              <a:rPr lang="en-US" smtClean="0">
                <a:solidFill>
                  <a:srgbClr val="FF0000"/>
                </a:solidFill>
              </a:rPr>
              <a:t>&lt;</a:t>
            </a:r>
            <a:r>
              <a:rPr lang="en-US" smtClean="0"/>
              <a:t> 2);		s6 = (1 </a:t>
            </a:r>
            <a:r>
              <a:rPr lang="en-US" smtClean="0">
                <a:solidFill>
                  <a:srgbClr val="FF0000"/>
                </a:solidFill>
              </a:rPr>
              <a:t>&lt;=</a:t>
            </a:r>
            <a:r>
              <a:rPr lang="en-US" smtClean="0"/>
              <a:t> 2);</a:t>
            </a:r>
          </a:p>
          <a:p>
            <a:pPr lvl="1" eaLnBrk="1" hangingPunct="1">
              <a:defRPr/>
            </a:pPr>
            <a:endParaRPr lang="en-US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198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Các toán tử luận lý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Các toán tử luận lý</a:t>
            </a:r>
          </a:p>
          <a:p>
            <a:pPr lvl="1" eaLnBrk="1" hangingPunct="1">
              <a:defRPr/>
            </a:pPr>
            <a:r>
              <a:rPr lang="en-US" smtClean="0"/>
              <a:t>Tổ hợp nhiều biểu thức quan hệ với nhau.</a:t>
            </a:r>
          </a:p>
          <a:p>
            <a:pPr lvl="1" eaLnBrk="1" hangingPunct="1">
              <a:defRPr/>
            </a:pPr>
            <a:r>
              <a:rPr lang="en-US" smtClean="0">
                <a:solidFill>
                  <a:srgbClr val="FF0000"/>
                </a:solidFill>
              </a:rPr>
              <a:t>&amp;&amp;</a:t>
            </a:r>
            <a:r>
              <a:rPr lang="en-US" smtClean="0"/>
              <a:t> (and), </a:t>
            </a:r>
            <a:r>
              <a:rPr lang="en-US" smtClean="0">
                <a:solidFill>
                  <a:srgbClr val="FF0000"/>
                </a:solidFill>
              </a:rPr>
              <a:t>||</a:t>
            </a:r>
            <a:r>
              <a:rPr lang="en-US" smtClean="0"/>
              <a:t> (or), </a:t>
            </a:r>
            <a:r>
              <a:rPr lang="en-US" smtClean="0">
                <a:solidFill>
                  <a:srgbClr val="FF0000"/>
                </a:solidFill>
              </a:rPr>
              <a:t>!</a:t>
            </a:r>
            <a:r>
              <a:rPr lang="en-US" smtClean="0"/>
              <a:t> (not)</a:t>
            </a:r>
          </a:p>
          <a:p>
            <a:pPr lvl="1" eaLnBrk="1" hangingPunct="1">
              <a:defRPr/>
            </a:pPr>
            <a:endParaRPr lang="en-US" smtClean="0"/>
          </a:p>
          <a:p>
            <a:pPr lvl="1" eaLnBrk="1" hangingPunct="1">
              <a:defRPr/>
            </a:pPr>
            <a:endParaRPr lang="en-US" smtClean="0"/>
          </a:p>
          <a:p>
            <a:pPr lvl="1" eaLnBrk="1" hangingPunct="1">
              <a:defRPr/>
            </a:pPr>
            <a:endParaRPr lang="en-US" smtClean="0"/>
          </a:p>
          <a:p>
            <a:pPr lvl="1" eaLnBrk="1" hangingPunct="1">
              <a:defRPr/>
            </a:pPr>
            <a:r>
              <a:rPr lang="en-US" smtClean="0"/>
              <a:t>Ví dụ</a:t>
            </a:r>
          </a:p>
          <a:p>
            <a:pPr lvl="2" eaLnBrk="1" hangingPunct="1">
              <a:defRPr/>
            </a:pPr>
            <a:r>
              <a:rPr lang="en-US" smtClean="0"/>
              <a:t>s1 = (1 &gt; 2) </a:t>
            </a:r>
            <a:r>
              <a:rPr lang="en-US" smtClean="0">
                <a:solidFill>
                  <a:srgbClr val="FF0000"/>
                </a:solidFill>
              </a:rPr>
              <a:t>&amp;&amp;</a:t>
            </a:r>
            <a:r>
              <a:rPr lang="en-US" smtClean="0"/>
              <a:t> (3 &gt; 4);</a:t>
            </a:r>
          </a:p>
          <a:p>
            <a:pPr lvl="2" eaLnBrk="1" hangingPunct="1">
              <a:defRPr/>
            </a:pPr>
            <a:r>
              <a:rPr lang="en-US" smtClean="0"/>
              <a:t>s2 = (1 &gt; 2) </a:t>
            </a:r>
            <a:r>
              <a:rPr lang="en-US" smtClean="0">
                <a:solidFill>
                  <a:srgbClr val="FF0000"/>
                </a:solidFill>
              </a:rPr>
              <a:t>||</a:t>
            </a:r>
            <a:r>
              <a:rPr lang="en-US" smtClean="0"/>
              <a:t> (3 &gt; 4);</a:t>
            </a:r>
          </a:p>
          <a:p>
            <a:pPr lvl="2" eaLnBrk="1" hangingPunct="1">
              <a:defRPr/>
            </a:pPr>
            <a:r>
              <a:rPr lang="en-US" smtClean="0"/>
              <a:t>s3 = </a:t>
            </a:r>
            <a:r>
              <a:rPr lang="en-US" smtClean="0">
                <a:solidFill>
                  <a:srgbClr val="FF0000"/>
                </a:solidFill>
              </a:rPr>
              <a:t>!</a:t>
            </a:r>
            <a:r>
              <a:rPr lang="en-US" smtClean="0"/>
              <a:t>(1 &gt; 2);</a:t>
            </a:r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809780"/>
              </p:ext>
            </p:extLst>
          </p:nvPr>
        </p:nvGraphicFramePr>
        <p:xfrm>
          <a:off x="838200" y="3124200"/>
          <a:ext cx="3040062" cy="1112838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51462"/>
                <a:gridCol w="1051462"/>
                <a:gridCol w="937138"/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&amp;&amp;</a:t>
                      </a:r>
                      <a:endParaRPr lang="en-US" sz="1800"/>
                    </a:p>
                  </a:txBody>
                  <a:tcPr marL="91459" marR="91459" marT="45733" marB="45733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sz="1800" b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sz="1800" b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b="0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sz="1800" b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80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80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b="0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sz="1800" b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80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u="none" smtClean="0"/>
                        <a:t>1</a:t>
                      </a:r>
                      <a:endParaRPr lang="en-US" sz="1800" b="1" u="none"/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517704"/>
              </p:ext>
            </p:extLst>
          </p:nvPr>
        </p:nvGraphicFramePr>
        <p:xfrm>
          <a:off x="4724400" y="3124200"/>
          <a:ext cx="3040062" cy="1112838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051462"/>
                <a:gridCol w="1051462"/>
                <a:gridCol w="937138"/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/>
                        <a:t>||</a:t>
                      </a:r>
                      <a:endParaRPr lang="en-US" sz="1800"/>
                    </a:p>
                  </a:txBody>
                  <a:tcPr marL="91459" marR="91459" marT="45733" marB="45733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sz="1800" b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sz="1800" b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b="0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en-US" sz="1800" b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800">
                        <a:solidFill>
                          <a:srgbClr val="FF0000"/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u="none" smtClean="0"/>
                        <a:t>1</a:t>
                      </a:r>
                      <a:endParaRPr lang="en-US" sz="1800" b="1" u="none"/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b="0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  <a:endParaRPr lang="en-US" sz="1800" b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smtClean="0"/>
                        <a:t>1</a:t>
                      </a:r>
                      <a:endParaRPr lang="en-US" sz="1800" b="1" u="none"/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u="none" smtClean="0"/>
                        <a:t>1</a:t>
                      </a:r>
                      <a:endParaRPr lang="en-US" sz="1800" b="1" u="none"/>
                    </a:p>
                  </a:txBody>
                  <a:tcPr marL="91459" marR="91459" marT="45733" marB="45733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61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Toán tử </a:t>
            </a:r>
            <a:r>
              <a:rPr lang="vi-VN" smtClean="0"/>
              <a:t>đ</a:t>
            </a:r>
            <a:r>
              <a:rPr lang="en-US" smtClean="0"/>
              <a:t>iều kiện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Toán tử 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đ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iều kiện</a:t>
            </a:r>
          </a:p>
          <a:p>
            <a:pPr lvl="1" eaLnBrk="1" hangingPunct="1">
              <a:defRPr/>
            </a:pPr>
            <a:r>
              <a:rPr lang="en-US" smtClean="0"/>
              <a:t>Đây là toán tử 3 ngôi (gồm có 3 toán hạng)</a:t>
            </a:r>
          </a:p>
          <a:p>
            <a:pPr lvl="1" eaLnBrk="1" hangingPunct="1">
              <a:defRPr/>
            </a:pPr>
            <a:r>
              <a:rPr lang="en-US" smtClean="0"/>
              <a:t>&lt;biểu thức 1&gt; </a:t>
            </a:r>
            <a:r>
              <a:rPr lang="en-US" smtClean="0">
                <a:solidFill>
                  <a:srgbClr val="FF0000"/>
                </a:solidFill>
              </a:rPr>
              <a:t>?</a:t>
            </a:r>
            <a:r>
              <a:rPr lang="en-US" smtClean="0"/>
              <a:t> &lt;biểu thức 2&gt; </a:t>
            </a:r>
            <a:r>
              <a:rPr lang="en-US" smtClean="0">
                <a:solidFill>
                  <a:srgbClr val="FF0000"/>
                </a:solidFill>
              </a:rPr>
              <a:t>:</a:t>
            </a:r>
            <a:r>
              <a:rPr lang="en-US" smtClean="0"/>
              <a:t> &lt;biểu thức 3&gt;</a:t>
            </a:r>
          </a:p>
          <a:p>
            <a:pPr lvl="2" eaLnBrk="1" hangingPunct="1">
              <a:defRPr/>
            </a:pPr>
            <a:r>
              <a:rPr lang="en-US" smtClean="0"/>
              <a:t>&lt;biểu thức 1&gt; </a:t>
            </a:r>
            <a:r>
              <a:rPr lang="vi-VN" smtClean="0"/>
              <a:t>đú</a:t>
            </a:r>
            <a:r>
              <a:rPr lang="en-US" smtClean="0"/>
              <a:t>ng thì giá trị là &lt;biểu thức 2&gt;.</a:t>
            </a:r>
          </a:p>
          <a:p>
            <a:pPr lvl="2" eaLnBrk="1" hangingPunct="1">
              <a:defRPr/>
            </a:pPr>
            <a:r>
              <a:rPr lang="en-US" smtClean="0"/>
              <a:t>&lt;biểu thức 1&gt; sai thì giá trị là &lt;biểu thức 3&gt;.</a:t>
            </a:r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 lvl="1" eaLnBrk="1" hangingPunct="1">
              <a:defRPr/>
            </a:pPr>
            <a:r>
              <a:rPr lang="en-US" smtClean="0"/>
              <a:t>s1 = (1 &gt; 2) </a:t>
            </a:r>
            <a:r>
              <a:rPr lang="en-US" smtClean="0">
                <a:solidFill>
                  <a:srgbClr val="FF0000"/>
                </a:solidFill>
              </a:rPr>
              <a:t>?</a:t>
            </a:r>
            <a:r>
              <a:rPr lang="en-US" smtClean="0"/>
              <a:t> 2912 </a:t>
            </a:r>
            <a:r>
              <a:rPr lang="en-US" smtClean="0">
                <a:solidFill>
                  <a:srgbClr val="FF0000"/>
                </a:solidFill>
              </a:rPr>
              <a:t>:</a:t>
            </a:r>
            <a:r>
              <a:rPr lang="en-US" smtClean="0"/>
              <a:t> 1706;</a:t>
            </a:r>
          </a:p>
          <a:p>
            <a:pPr lvl="1" eaLnBrk="1" hangingPunct="1">
              <a:defRPr/>
            </a:pPr>
            <a:r>
              <a:rPr lang="en-US" smtClean="0"/>
              <a:t>int s2 = 0;</a:t>
            </a:r>
          </a:p>
          <a:p>
            <a:pPr lvl="1" eaLnBrk="1" hangingPunct="1">
              <a:defRPr/>
            </a:pPr>
            <a:r>
              <a:rPr lang="en-US" smtClean="0"/>
              <a:t>1 &lt; 2 </a:t>
            </a:r>
            <a:r>
              <a:rPr lang="en-US" smtClean="0">
                <a:solidFill>
                  <a:srgbClr val="FF0000"/>
                </a:solidFill>
              </a:rPr>
              <a:t>?</a:t>
            </a:r>
            <a:r>
              <a:rPr lang="en-US" smtClean="0"/>
              <a:t> s2 = 2912 </a:t>
            </a:r>
            <a:r>
              <a:rPr lang="en-US" smtClean="0">
                <a:solidFill>
                  <a:srgbClr val="FF0000"/>
                </a:solidFill>
              </a:rPr>
              <a:t>:</a:t>
            </a:r>
            <a:r>
              <a:rPr lang="en-US" smtClean="0"/>
              <a:t> s2 = 1706;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292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Toán tử phẩy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Toán tử phẩy</a:t>
            </a:r>
          </a:p>
          <a:p>
            <a:pPr lvl="1" eaLnBrk="1" hangingPunct="1">
              <a:defRPr/>
            </a:pPr>
            <a:r>
              <a:rPr lang="en-US" smtClean="0"/>
              <a:t>Các biểu thức </a:t>
            </a:r>
            <a:r>
              <a:rPr lang="vi-VN" smtClean="0"/>
              <a:t>đặ</a:t>
            </a:r>
            <a:r>
              <a:rPr lang="en-US" smtClean="0"/>
              <a:t>t cách nhau bằng dấu </a:t>
            </a:r>
            <a:r>
              <a:rPr lang="en-US" smtClean="0">
                <a:solidFill>
                  <a:srgbClr val="FF0000"/>
                </a:solidFill>
              </a:rPr>
              <a:t>,</a:t>
            </a:r>
          </a:p>
          <a:p>
            <a:pPr lvl="1" eaLnBrk="1" hangingPunct="1">
              <a:defRPr/>
            </a:pPr>
            <a:r>
              <a:rPr lang="en-US" smtClean="0"/>
              <a:t>Các biểu thức con </a:t>
            </a:r>
            <a:r>
              <a:rPr lang="en-US" smtClean="0">
                <a:solidFill>
                  <a:srgbClr val="FF0000"/>
                </a:solidFill>
              </a:rPr>
              <a:t>lần l</a:t>
            </a:r>
            <a:r>
              <a:rPr lang="vi-VN" smtClean="0">
                <a:solidFill>
                  <a:srgbClr val="FF0000"/>
                </a:solidFill>
              </a:rPr>
              <a:t>ượ</a:t>
            </a:r>
            <a:r>
              <a:rPr lang="en-US" smtClean="0">
                <a:solidFill>
                  <a:srgbClr val="FF0000"/>
                </a:solidFill>
              </a:rPr>
              <a:t>t </a:t>
            </a:r>
            <a:r>
              <a:rPr lang="vi-VN" smtClean="0">
                <a:solidFill>
                  <a:srgbClr val="FF0000"/>
                </a:solidFill>
              </a:rPr>
              <a:t>đượ</a:t>
            </a:r>
            <a:r>
              <a:rPr lang="en-US" smtClean="0">
                <a:solidFill>
                  <a:srgbClr val="FF0000"/>
                </a:solidFill>
              </a:rPr>
              <a:t>c tính từ trái sang phải</a:t>
            </a:r>
            <a:r>
              <a:rPr lang="en-US" smtClean="0"/>
              <a:t>.</a:t>
            </a:r>
          </a:p>
          <a:p>
            <a:pPr lvl="1" eaLnBrk="1" hangingPunct="1">
              <a:defRPr/>
            </a:pPr>
            <a:r>
              <a:rPr lang="en-US" smtClean="0"/>
              <a:t>Biểu thức mới nhận </a:t>
            </a:r>
            <a:r>
              <a:rPr lang="vi-VN" smtClean="0"/>
              <a:t>đượ</a:t>
            </a:r>
            <a:r>
              <a:rPr lang="en-US" smtClean="0"/>
              <a:t>c là </a:t>
            </a:r>
            <a:r>
              <a:rPr lang="en-US" smtClean="0">
                <a:solidFill>
                  <a:srgbClr val="FF0000"/>
                </a:solidFill>
              </a:rPr>
              <a:t>giá trị của biểu thức bên phải cùng</a:t>
            </a:r>
            <a:r>
              <a:rPr lang="en-US" smtClean="0"/>
              <a:t>.</a:t>
            </a:r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 lvl="1" eaLnBrk="1" hangingPunct="1">
              <a:defRPr/>
            </a:pPr>
            <a:r>
              <a:rPr lang="en-US" smtClean="0"/>
              <a:t>x = (a++</a:t>
            </a:r>
            <a:r>
              <a:rPr lang="en-US" smtClean="0">
                <a:solidFill>
                  <a:srgbClr val="FF0000"/>
                </a:solidFill>
              </a:rPr>
              <a:t>,</a:t>
            </a:r>
            <a:r>
              <a:rPr lang="en-US" smtClean="0"/>
              <a:t> b = b + 2);</a:t>
            </a:r>
          </a:p>
          <a:p>
            <a:pPr lvl="1" eaLnBrk="1" hangingPunct="1">
              <a:defRPr/>
            </a:pPr>
            <a:r>
              <a:rPr lang="en-US" smtClean="0">
                <a:sym typeface="Wingdings" pitchFamily="2" charset="2"/>
              </a:rPr>
              <a:t> a++; b = b + 2; x = b;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065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Độ </a:t>
            </a:r>
            <a:r>
              <a:rPr lang="vi-VN" smtClean="0"/>
              <a:t>ư</a:t>
            </a:r>
            <a:r>
              <a:rPr lang="en-US" smtClean="0"/>
              <a:t>u tiên của các toán tử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Quy tắc thực hiện</a:t>
            </a:r>
          </a:p>
          <a:p>
            <a:pPr lvl="1" eaLnBrk="1" hangingPunct="1">
              <a:defRPr/>
            </a:pPr>
            <a:r>
              <a:rPr lang="en-US" smtClean="0"/>
              <a:t>Thực hiện biểu thức trong ( ) sâu nhất tr</a:t>
            </a:r>
            <a:r>
              <a:rPr lang="vi-VN" smtClean="0"/>
              <a:t>ướ</a:t>
            </a:r>
            <a:r>
              <a:rPr lang="en-US" smtClean="0"/>
              <a:t>c.</a:t>
            </a:r>
          </a:p>
          <a:p>
            <a:pPr lvl="1" eaLnBrk="1" hangingPunct="1">
              <a:defRPr/>
            </a:pPr>
            <a:r>
              <a:rPr lang="en-US" smtClean="0"/>
              <a:t>Thực hiện theo thứ tự </a:t>
            </a:r>
            <a:r>
              <a:rPr lang="vi-VN" smtClean="0"/>
              <a:t>ư</a:t>
            </a:r>
            <a:r>
              <a:rPr lang="en-US" smtClean="0"/>
              <a:t>u tiên các toán tử.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mtClean="0"/>
              <a:t>	=&gt; Tự chủ </a:t>
            </a:r>
            <a:r>
              <a:rPr lang="vi-VN" smtClean="0"/>
              <a:t>độ</a:t>
            </a:r>
            <a:r>
              <a:rPr lang="en-US" smtClean="0"/>
              <a:t>ng thêm ( )</a:t>
            </a:r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 lvl="1" eaLnBrk="1" hangingPunct="1">
              <a:defRPr/>
            </a:pPr>
            <a:r>
              <a:rPr lang="en-US" smtClean="0"/>
              <a:t>n = 2 + 3 * 5;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smtClean="0"/>
              <a:t>	=&gt; n = 2 + (3 * 5);</a:t>
            </a:r>
          </a:p>
          <a:p>
            <a:pPr lvl="1" eaLnBrk="1" hangingPunct="1">
              <a:defRPr/>
            </a:pPr>
            <a:r>
              <a:rPr lang="en-US" smtClean="0"/>
              <a:t>a &gt; 1 &amp;&amp; b &lt; 2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smtClean="0"/>
              <a:t>	=&gt; (a &gt; 1) &amp;&amp; (b &lt; 2)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02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Độ </a:t>
            </a:r>
            <a:r>
              <a:rPr lang="vi-VN" smtClean="0"/>
              <a:t>ư</a:t>
            </a:r>
            <a:r>
              <a:rPr lang="en-US" smtClean="0"/>
              <a:t>u tiên của các toán tử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295400" y="1600200"/>
          <a:ext cx="5686425" cy="457701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162578"/>
                <a:gridCol w="1523847"/>
              </a:tblGrid>
              <a:tr h="370791">
                <a:tc>
                  <a:txBody>
                    <a:bodyPr/>
                    <a:lstStyle/>
                    <a:p>
                      <a:r>
                        <a:rPr lang="en-US" sz="1800" smtClean="0"/>
                        <a:t>Toán tử</a:t>
                      </a:r>
                      <a:endParaRPr lang="en-US" sz="1800"/>
                    </a:p>
                  </a:txBody>
                  <a:tcPr marL="91431" marR="91431" marT="45714" marB="45714"/>
                </a:tc>
                <a:tc>
                  <a:txBody>
                    <a:bodyPr/>
                    <a:lstStyle/>
                    <a:p>
                      <a:r>
                        <a:rPr lang="en-US" sz="1800" smtClean="0"/>
                        <a:t>Độ </a:t>
                      </a:r>
                      <a:r>
                        <a:rPr lang="vi-VN" sz="1800" smtClean="0"/>
                        <a:t>ư</a:t>
                      </a:r>
                      <a:r>
                        <a:rPr lang="en-US" sz="1800" smtClean="0"/>
                        <a:t>u tiên</a:t>
                      </a:r>
                      <a:endParaRPr lang="en-US" sz="1800"/>
                    </a:p>
                  </a:txBody>
                  <a:tcPr marL="91431" marR="91431" marT="45714" marB="45714"/>
                </a:tc>
              </a:tr>
              <a:tr h="4205972">
                <a:tc>
                  <a:txBody>
                    <a:bodyPr/>
                    <a:lstStyle/>
                    <a:p>
                      <a:r>
                        <a:rPr lang="en-US" sz="1800" smtClean="0"/>
                        <a:t>()</a:t>
                      </a:r>
                      <a:r>
                        <a:rPr lang="en-US" sz="1800" baseline="0" smtClean="0"/>
                        <a:t>  </a:t>
                      </a:r>
                      <a:r>
                        <a:rPr lang="en-US" sz="1800" smtClean="0"/>
                        <a:t>[]  -&gt;  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mtClean="0"/>
                        <a:t>!  ++  --  -  +  *  (cast)  &amp;  sizeof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mtClean="0"/>
                        <a:t>*  /  %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mtClean="0"/>
                        <a:t>+  -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mtClean="0"/>
                        <a:t>&lt;&lt;  &gt;&gt;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mtClean="0"/>
                        <a:t>&lt;  &lt;=  &gt;  &gt;=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mtClean="0"/>
                        <a:t>==  !=</a:t>
                      </a:r>
                    </a:p>
                    <a:p>
                      <a:r>
                        <a:rPr lang="en-US" sz="1800" smtClean="0"/>
                        <a:t>&amp;</a:t>
                      </a:r>
                    </a:p>
                    <a:p>
                      <a:r>
                        <a:rPr lang="en-US" sz="1800" smtClean="0"/>
                        <a:t>|</a:t>
                      </a:r>
                    </a:p>
                    <a:p>
                      <a:r>
                        <a:rPr lang="en-US" sz="1800" smtClean="0"/>
                        <a:t>^</a:t>
                      </a:r>
                    </a:p>
                    <a:p>
                      <a:r>
                        <a:rPr lang="en-US" sz="1800" smtClean="0"/>
                        <a:t>&amp;&amp;</a:t>
                      </a:r>
                    </a:p>
                    <a:p>
                      <a:r>
                        <a:rPr lang="en-US" sz="1800" smtClean="0"/>
                        <a:t>||</a:t>
                      </a:r>
                    </a:p>
                    <a:p>
                      <a:r>
                        <a:rPr lang="en-US" sz="1800" smtClean="0"/>
                        <a:t>?: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mtClean="0"/>
                        <a:t>=</a:t>
                      </a:r>
                      <a:r>
                        <a:rPr lang="en-US" sz="1800" baseline="0" smtClean="0"/>
                        <a:t>  +=  -=  *=  /=  %=  &amp;= …</a:t>
                      </a:r>
                      <a:endParaRPr lang="en-US" sz="1800" smtClean="0"/>
                    </a:p>
                    <a:p>
                      <a:r>
                        <a:rPr lang="en-US" sz="1800" smtClean="0"/>
                        <a:t>,</a:t>
                      </a:r>
                      <a:endParaRPr lang="en-US" sz="1800"/>
                    </a:p>
                  </a:txBody>
                  <a:tcPr marL="91431" marR="91431" marT="45714" marB="457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sym typeface="Wingdings" pitchFamily="2" charset="2"/>
                        </a:rPr>
                        <a:t></a:t>
                      </a:r>
                    </a:p>
                    <a:p>
                      <a:pPr algn="ctr"/>
                      <a:r>
                        <a:rPr lang="en-US" sz="1800" smtClean="0">
                          <a:sym typeface="Wingdings" pitchFamily="2" charset="2"/>
                        </a:rPr>
                        <a:t></a:t>
                      </a:r>
                    </a:p>
                    <a:p>
                      <a:pPr algn="ctr"/>
                      <a:r>
                        <a:rPr lang="en-US" sz="1800" smtClean="0">
                          <a:sym typeface="Wingdings" pitchFamily="2" charset="2"/>
                        </a:rPr>
                        <a:t></a:t>
                      </a:r>
                    </a:p>
                    <a:p>
                      <a:pPr algn="ctr"/>
                      <a:r>
                        <a:rPr lang="en-US" sz="1800" smtClean="0">
                          <a:sym typeface="Wingdings" pitchFamily="2" charset="2"/>
                        </a:rPr>
                        <a:t></a:t>
                      </a:r>
                    </a:p>
                    <a:p>
                      <a:pPr algn="ctr"/>
                      <a:r>
                        <a:rPr lang="en-US" sz="1800" smtClean="0">
                          <a:sym typeface="Wingdings" pitchFamily="2" charset="2"/>
                        </a:rPr>
                        <a:t></a:t>
                      </a:r>
                    </a:p>
                    <a:p>
                      <a:pPr algn="ctr"/>
                      <a:r>
                        <a:rPr lang="en-US" sz="1800" smtClean="0">
                          <a:sym typeface="Wingdings" pitchFamily="2" charset="2"/>
                        </a:rPr>
                        <a:t></a:t>
                      </a:r>
                    </a:p>
                    <a:p>
                      <a:pPr algn="ctr"/>
                      <a:r>
                        <a:rPr lang="en-US" sz="1800" smtClean="0">
                          <a:sym typeface="Wingdings" pitchFamily="2" charset="2"/>
                        </a:rPr>
                        <a:t></a:t>
                      </a:r>
                    </a:p>
                    <a:p>
                      <a:pPr algn="ctr"/>
                      <a:r>
                        <a:rPr lang="en-US" sz="1800" smtClean="0">
                          <a:sym typeface="Wingdings" pitchFamily="2" charset="2"/>
                        </a:rPr>
                        <a:t></a:t>
                      </a:r>
                    </a:p>
                    <a:p>
                      <a:pPr algn="ctr"/>
                      <a:r>
                        <a:rPr lang="en-US" sz="1800" smtClean="0">
                          <a:sym typeface="Wingdings" pitchFamily="2" charset="2"/>
                        </a:rPr>
                        <a:t></a:t>
                      </a:r>
                    </a:p>
                    <a:p>
                      <a:pPr algn="ctr"/>
                      <a:r>
                        <a:rPr lang="en-US" sz="1800" smtClean="0">
                          <a:sym typeface="Wingdings" pitchFamily="2" charset="2"/>
                        </a:rPr>
                        <a:t></a:t>
                      </a:r>
                    </a:p>
                    <a:p>
                      <a:pPr algn="ctr"/>
                      <a:r>
                        <a:rPr lang="en-US" sz="1800" smtClean="0">
                          <a:sym typeface="Wingdings" pitchFamily="2" charset="2"/>
                        </a:rPr>
                        <a:t></a:t>
                      </a:r>
                    </a:p>
                    <a:p>
                      <a:pPr algn="ctr"/>
                      <a:r>
                        <a:rPr lang="en-US" sz="1800" smtClean="0">
                          <a:sym typeface="Wingdings" pitchFamily="2" charset="2"/>
                        </a:rPr>
                        <a:t></a:t>
                      </a:r>
                    </a:p>
                    <a:p>
                      <a:pPr algn="ctr"/>
                      <a:r>
                        <a:rPr lang="en-US" sz="1800" smtClean="0">
                          <a:sym typeface="Wingdings" pitchFamily="2" charset="2"/>
                        </a:rPr>
                        <a:t>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mtClean="0">
                          <a:sym typeface="Wingdings" pitchFamily="2" charset="2"/>
                        </a:rPr>
                        <a:t></a:t>
                      </a:r>
                      <a:endParaRPr lang="en-US" sz="180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mtClean="0">
                          <a:sym typeface="Wingdings" pitchFamily="2" charset="2"/>
                        </a:rPr>
                        <a:t></a:t>
                      </a:r>
                      <a:endParaRPr lang="en-US" sz="1800"/>
                    </a:p>
                  </a:txBody>
                  <a:tcPr marL="91431" marR="91431" marT="45714" marB="45714"/>
                </a:tc>
              </a:tr>
            </a:tbl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111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Viết biểu thức cho các mệnh </a:t>
            </a:r>
            <a:r>
              <a:rPr lang="vi-VN" smtClean="0"/>
              <a:t>đề</a:t>
            </a:r>
            <a:endParaRPr 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ts val="600"/>
              </a:spcBef>
              <a:defRPr/>
            </a:pPr>
            <a:r>
              <a:rPr lang="en-US" smtClean="0">
                <a:solidFill>
                  <a:srgbClr val="FF0000"/>
                </a:solidFill>
              </a:rPr>
              <a:t>x lớn h</a:t>
            </a:r>
            <a:r>
              <a:rPr lang="vi-VN" smtClean="0">
                <a:solidFill>
                  <a:srgbClr val="FF0000"/>
                </a:solidFill>
              </a:rPr>
              <a:t>ơ</a:t>
            </a:r>
            <a:r>
              <a:rPr lang="en-US" smtClean="0">
                <a:solidFill>
                  <a:srgbClr val="FF0000"/>
                </a:solidFill>
              </a:rPr>
              <a:t>n hay bằng 3</a:t>
            </a:r>
          </a:p>
          <a:p>
            <a:pPr lvl="1" eaLnBrk="1" hangingPunct="1"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	x &gt;= 3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en-US" smtClean="0">
                <a:solidFill>
                  <a:srgbClr val="FF0000"/>
                </a:solidFill>
              </a:rPr>
              <a:t>a và b cùng dấu</a:t>
            </a:r>
          </a:p>
          <a:p>
            <a:pPr lvl="1" eaLnBrk="1" hangingPunct="1"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	</a:t>
            </a:r>
            <a:r>
              <a:rPr lang="en-US" smtClean="0">
                <a:solidFill>
                  <a:srgbClr val="FF0000"/>
                </a:solidFill>
              </a:rPr>
              <a:t>(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(a&gt;0) &amp;&amp; (b&gt;0)</a:t>
            </a:r>
            <a:r>
              <a:rPr lang="en-US" smtClean="0">
                <a:solidFill>
                  <a:srgbClr val="FF0000"/>
                </a:solidFill>
              </a:rPr>
              <a:t>)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|| </a:t>
            </a:r>
            <a:r>
              <a:rPr lang="en-US" smtClean="0">
                <a:solidFill>
                  <a:srgbClr val="FF0000"/>
                </a:solidFill>
              </a:rPr>
              <a:t>(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(a&lt;0) &amp;&amp; (b&lt;0)</a:t>
            </a:r>
            <a:r>
              <a:rPr lang="en-US" smtClean="0">
                <a:solidFill>
                  <a:srgbClr val="FF0000"/>
                </a:solidFill>
              </a:rPr>
              <a:t>)</a:t>
            </a:r>
          </a:p>
          <a:p>
            <a:pPr lvl="1" eaLnBrk="1" hangingPunct="1"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	</a:t>
            </a:r>
            <a:r>
              <a:rPr lang="en-US" smtClean="0">
                <a:solidFill>
                  <a:srgbClr val="FF0000"/>
                </a:solidFill>
              </a:rPr>
              <a:t>(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a&gt;0 &amp;&amp; b&gt;0</a:t>
            </a:r>
            <a:r>
              <a:rPr lang="en-US" smtClean="0">
                <a:solidFill>
                  <a:srgbClr val="FF0000"/>
                </a:solidFill>
              </a:rPr>
              <a:t>)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|| </a:t>
            </a:r>
            <a:r>
              <a:rPr lang="en-US" smtClean="0">
                <a:solidFill>
                  <a:srgbClr val="FF0000"/>
                </a:solidFill>
              </a:rPr>
              <a:t>(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a&lt;0 &amp;&amp; b&lt;0</a:t>
            </a:r>
            <a:r>
              <a:rPr lang="en-US" smtClean="0">
                <a:solidFill>
                  <a:srgbClr val="FF0000"/>
                </a:solidFill>
              </a:rPr>
              <a:t>)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en-US" smtClean="0">
                <a:solidFill>
                  <a:srgbClr val="FF0000"/>
                </a:solidFill>
              </a:rPr>
              <a:t>p bằng q bằng r</a:t>
            </a:r>
          </a:p>
          <a:p>
            <a:pPr lvl="1" eaLnBrk="1" hangingPunct="1"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	</a:t>
            </a:r>
            <a:r>
              <a:rPr lang="en-US" smtClean="0">
                <a:solidFill>
                  <a:srgbClr val="FF0000"/>
                </a:solidFill>
              </a:rPr>
              <a:t>(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p == q</a:t>
            </a:r>
            <a:r>
              <a:rPr lang="en-US" smtClean="0">
                <a:solidFill>
                  <a:srgbClr val="FF0000"/>
                </a:solidFill>
              </a:rPr>
              <a:t>)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&amp;&amp; </a:t>
            </a:r>
            <a:r>
              <a:rPr lang="en-US" smtClean="0">
                <a:solidFill>
                  <a:srgbClr val="FF0000"/>
                </a:solidFill>
              </a:rPr>
              <a:t>(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q == r</a:t>
            </a:r>
            <a:r>
              <a:rPr lang="en-US" smtClean="0">
                <a:solidFill>
                  <a:srgbClr val="FF0000"/>
                </a:solidFill>
              </a:rPr>
              <a:t>) 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hoặc </a:t>
            </a:r>
            <a:r>
              <a:rPr lang="en-US" smtClean="0">
                <a:solidFill>
                  <a:srgbClr val="FF0000"/>
                </a:solidFill>
              </a:rPr>
              <a:t>(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p == q &amp;&amp; q == r</a:t>
            </a:r>
            <a:r>
              <a:rPr lang="en-US" smtClean="0">
                <a:solidFill>
                  <a:srgbClr val="FF0000"/>
                </a:solidFill>
              </a:rPr>
              <a:t>)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en-US" smtClean="0">
                <a:solidFill>
                  <a:srgbClr val="FF0000"/>
                </a:solidFill>
              </a:rPr>
              <a:t>–5 &lt; x &lt; 5</a:t>
            </a:r>
          </a:p>
          <a:p>
            <a:pPr lvl="1" eaLnBrk="1" hangingPunct="1">
              <a:spcBef>
                <a:spcPts val="600"/>
              </a:spcBef>
              <a:buFont typeface="Wingdings" pitchFamily="2" charset="2"/>
              <a:buNone/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	</a:t>
            </a:r>
            <a:r>
              <a:rPr lang="en-US" smtClean="0">
                <a:solidFill>
                  <a:srgbClr val="FF0000"/>
                </a:solidFill>
              </a:rPr>
              <a:t>(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x &gt; –5</a:t>
            </a:r>
            <a:r>
              <a:rPr lang="en-US" smtClean="0">
                <a:solidFill>
                  <a:srgbClr val="FF0000"/>
                </a:solidFill>
              </a:rPr>
              <a:t>)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&amp;&amp; </a:t>
            </a:r>
            <a:r>
              <a:rPr lang="en-US" smtClean="0">
                <a:solidFill>
                  <a:srgbClr val="FF0000"/>
                </a:solidFill>
              </a:rPr>
              <a:t>(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x &lt; 5</a:t>
            </a:r>
            <a:r>
              <a:rPr lang="en-US" smtClean="0">
                <a:solidFill>
                  <a:srgbClr val="FF0000"/>
                </a:solidFill>
              </a:rPr>
              <a:t>)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hoặc </a:t>
            </a:r>
            <a:r>
              <a:rPr lang="en-US" smtClean="0">
                <a:solidFill>
                  <a:srgbClr val="FF0000"/>
                </a:solidFill>
              </a:rPr>
              <a:t>(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x &gt; –5 &amp;&amp; x &lt; 5</a:t>
            </a:r>
            <a:r>
              <a:rPr lang="en-US" smtClean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87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Khái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niệm</a:t>
            </a:r>
            <a:endParaRPr lang="en-US" dirty="0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lvl="1" eaLnBrk="1" hangingPunct="1">
              <a:defRPr/>
            </a:pP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trực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, </a:t>
            </a:r>
            <a:r>
              <a:rPr lang="en-US" dirty="0" err="1" smtClean="0"/>
              <a:t>hoàn</a:t>
            </a:r>
            <a:r>
              <a:rPr lang="en-US" dirty="0" smtClean="0"/>
              <a:t> </a:t>
            </a:r>
            <a:r>
              <a:rPr lang="en-US" dirty="0" err="1" smtClean="0"/>
              <a:t>chỉnh</a:t>
            </a:r>
            <a:r>
              <a:rPr lang="en-US" dirty="0" smtClean="0"/>
              <a:t> </a:t>
            </a:r>
            <a:r>
              <a:rPr lang="en-US" dirty="0" err="1" smtClean="0"/>
              <a:t>nhằm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máy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tác</a:t>
            </a:r>
            <a:r>
              <a:rPr lang="en-US" dirty="0" smtClean="0"/>
              <a:t> </a:t>
            </a:r>
            <a:r>
              <a:rPr lang="en-US" dirty="0" err="1" smtClean="0"/>
              <a:t>vụ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vi-VN" dirty="0" smtClean="0"/>
              <a:t>đị</a:t>
            </a:r>
            <a:r>
              <a:rPr lang="en-US" dirty="0" err="1" smtClean="0"/>
              <a:t>nh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r>
              <a:rPr lang="en-US" dirty="0" smtClean="0"/>
              <a:t> </a:t>
            </a:r>
            <a:r>
              <a:rPr lang="vi-VN" dirty="0" smtClean="0"/>
              <a:t>đó</a:t>
            </a:r>
            <a:r>
              <a:rPr lang="en-US" dirty="0" smtClean="0"/>
              <a:t>.</a:t>
            </a:r>
          </a:p>
          <a:p>
            <a:pPr lvl="1" eaLnBrk="1" hangingPunct="1">
              <a:defRPr/>
            </a:pP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biên</a:t>
            </a:r>
            <a:r>
              <a:rPr lang="en-US" dirty="0" smtClean="0"/>
              <a:t> </a:t>
            </a:r>
            <a:r>
              <a:rPr lang="en-US" dirty="0" err="1" smtClean="0"/>
              <a:t>dịch</a:t>
            </a:r>
            <a:r>
              <a:rPr lang="en-US" dirty="0" smtClean="0"/>
              <a:t> </a:t>
            </a:r>
            <a:r>
              <a:rPr lang="en-US" dirty="0" err="1" smtClean="0"/>
              <a:t>bỏ</a:t>
            </a:r>
            <a:r>
              <a:rPr lang="en-US" dirty="0" smtClean="0"/>
              <a:t> qua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khoảng</a:t>
            </a:r>
            <a:r>
              <a:rPr lang="en-US" dirty="0" smtClean="0"/>
              <a:t> </a:t>
            </a:r>
            <a:r>
              <a:rPr lang="en-US" dirty="0" err="1" smtClean="0"/>
              <a:t>trắng</a:t>
            </a:r>
            <a:r>
              <a:rPr lang="en-US" dirty="0" smtClean="0"/>
              <a:t> (hay tab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xuống</a:t>
            </a:r>
            <a:r>
              <a:rPr lang="en-US" dirty="0" smtClean="0"/>
              <a:t> </a:t>
            </a:r>
            <a:r>
              <a:rPr lang="en-US" dirty="0" err="1" smtClean="0"/>
              <a:t>dòng</a:t>
            </a:r>
            <a:r>
              <a:rPr lang="en-US" dirty="0" smtClean="0"/>
              <a:t>) </a:t>
            </a:r>
            <a:r>
              <a:rPr lang="en-US" dirty="0" err="1" smtClean="0"/>
              <a:t>chen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.</a:t>
            </a:r>
          </a:p>
          <a:p>
            <a:pPr eaLnBrk="1" hangingPunct="1"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dụ</a:t>
            </a:r>
            <a:endParaRPr lang="en-US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4572000"/>
            <a:ext cx="152400" cy="1524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4572000"/>
            <a:ext cx="70104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a=2912;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a = 2912;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a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=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2912;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0" y="4572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4876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5181600"/>
            <a:ext cx="9128125" cy="9144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293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Phân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loại</a:t>
            </a:r>
            <a:endParaRPr lang="en-US" dirty="0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lvl="1" eaLnBrk="1" hangingPunct="1">
              <a:defRPr/>
            </a:pPr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vi-VN" dirty="0" smtClean="0"/>
              <a:t>đơ</a:t>
            </a:r>
            <a:r>
              <a:rPr lang="en-US" dirty="0" smtClean="0"/>
              <a:t>n: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gồm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.</a:t>
            </a:r>
          </a:p>
          <a:p>
            <a:pPr lvl="1" eaLnBrk="1" hangingPunct="1">
              <a:defRPr/>
            </a:pPr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phức</a:t>
            </a:r>
            <a:r>
              <a:rPr lang="en-US" dirty="0" smtClean="0"/>
              <a:t> (</a:t>
            </a:r>
            <a:r>
              <a:rPr lang="en-US" dirty="0" err="1" smtClean="0"/>
              <a:t>khối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): </a:t>
            </a:r>
            <a:r>
              <a:rPr lang="en-US" dirty="0" err="1" smtClean="0"/>
              <a:t>gồm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vi-VN" dirty="0" smtClean="0"/>
              <a:t>đơ</a:t>
            </a:r>
            <a:r>
              <a:rPr lang="en-US" dirty="0" smtClean="0"/>
              <a:t>n </a:t>
            </a:r>
            <a:r>
              <a:rPr lang="vi-VN" dirty="0" smtClean="0"/>
              <a:t>đượ</a:t>
            </a:r>
            <a:r>
              <a:rPr lang="en-US" dirty="0" smtClean="0"/>
              <a:t>c </a:t>
            </a:r>
            <a:r>
              <a:rPr lang="en-US" dirty="0" err="1" smtClean="0"/>
              <a:t>bao</a:t>
            </a:r>
            <a:r>
              <a:rPr lang="en-US" dirty="0" smtClean="0"/>
              <a:t> </a:t>
            </a:r>
            <a:r>
              <a:rPr lang="en-US" err="1" smtClean="0"/>
              <a:t>bởi</a:t>
            </a:r>
            <a:r>
              <a:rPr lang="en-US" smtClean="0"/>
              <a:t> { </a:t>
            </a:r>
            <a:r>
              <a:rPr lang="en-US" err="1" smtClean="0"/>
              <a:t>và</a:t>
            </a:r>
            <a:r>
              <a:rPr lang="en-US" smtClean="0"/>
              <a:t> }</a:t>
            </a:r>
            <a:endParaRPr lang="en-US" dirty="0" smtClean="0"/>
          </a:p>
          <a:p>
            <a:pPr eaLnBrk="1" hangingPunct="1"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dụ</a:t>
            </a:r>
            <a:endParaRPr lang="en-US" dirty="0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4083050"/>
            <a:ext cx="152400" cy="18605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4083050"/>
            <a:ext cx="7010400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a = 2912;		// Câu lệnh 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đơ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n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			// Câu lệnh phức/khối lệnh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a = 2912;	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b = 1706;	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			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15875" y="4114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4724400"/>
            <a:ext cx="9128125" cy="12192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64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7" grpId="1" animBg="1"/>
      <p:bldP spid="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 xuất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Có 2 cách:</a:t>
            </a:r>
          </a:p>
          <a:p>
            <a:pPr marL="0" indent="0" eaLnBrk="1" hangingPunct="1">
              <a:buNone/>
              <a:defRPr/>
            </a:pPr>
            <a:r>
              <a:rPr lang="en-US" smtClean="0"/>
              <a:t>	- Sử dụng lệnh xuất trong C++: cout</a:t>
            </a:r>
          </a:p>
          <a:p>
            <a:pPr marL="0" indent="0" eaLnBrk="1" hangingPunct="1">
              <a:buNone/>
              <a:defRPr/>
            </a:pPr>
            <a:r>
              <a:rPr lang="en-US"/>
              <a:t>	</a:t>
            </a:r>
            <a:r>
              <a:rPr lang="en-US" smtClean="0"/>
              <a:t>- Sử dụng lệnh xuất trong C: printf</a:t>
            </a:r>
          </a:p>
          <a:p>
            <a:pPr eaLnBrk="1" hangingPunct="1">
              <a:defRPr/>
            </a:pPr>
            <a:r>
              <a:rPr lang="en-US" smtClean="0"/>
              <a:t>Lựa chọn tùy thuộc vào lập trình viên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645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 xuất cout (C++)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Th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viện</a:t>
            </a:r>
          </a:p>
          <a:p>
            <a:pPr marL="0" indent="0">
              <a:buNone/>
            </a:pPr>
            <a:r>
              <a:rPr lang="en-US" smtClean="0"/>
              <a:t>	</a:t>
            </a:r>
            <a:r>
              <a:rPr lang="en-US" sz="2400" smtClean="0"/>
              <a:t>#</a:t>
            </a:r>
            <a:r>
              <a:rPr lang="en-US" sz="2400"/>
              <a:t>include &lt;iostream&gt;</a:t>
            </a:r>
          </a:p>
          <a:p>
            <a:pPr marL="0" indent="0">
              <a:buNone/>
            </a:pPr>
            <a:r>
              <a:rPr lang="en-US" sz="2400" smtClean="0"/>
              <a:t>	using </a:t>
            </a:r>
            <a:r>
              <a:rPr lang="en-US" sz="2400"/>
              <a:t>namespace std;</a:t>
            </a:r>
            <a:endParaRPr lang="en-US" sz="2400" smtClean="0"/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Cú pháp</a:t>
            </a:r>
          </a:p>
          <a:p>
            <a:pPr marL="0" indent="0">
              <a:buNone/>
              <a:defRPr/>
            </a:pPr>
            <a:r>
              <a:rPr lang="en-US" smtClean="0"/>
              <a:t>	</a:t>
            </a:r>
            <a:r>
              <a:rPr lang="en-US" sz="2400" smtClean="0"/>
              <a:t>cout </a:t>
            </a:r>
            <a:r>
              <a:rPr lang="en-US" sz="2400"/>
              <a:t>&lt;&lt; Tham_số_1 &lt;&lt; Tham_số_2 &lt;&lt; ... &lt;&lt; Tham_số_k </a:t>
            </a:r>
            <a:r>
              <a:rPr lang="en-US" sz="2400" smtClean="0"/>
              <a:t>;</a:t>
            </a:r>
          </a:p>
          <a:p>
            <a:pPr marL="457200" indent="0">
              <a:buNone/>
              <a:defRPr/>
            </a:pPr>
            <a:r>
              <a:rPr lang="en-US" sz="240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Tham số có thể: </a:t>
            </a:r>
          </a:p>
          <a:p>
            <a:pPr marL="693738" indent="0">
              <a:buFontTx/>
              <a:buChar char="-"/>
              <a:defRPr/>
            </a:pPr>
            <a:r>
              <a:rPr lang="en-US" sz="240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</a:t>
            </a:r>
            <a:r>
              <a:rPr lang="vi-VN" sz="2400">
                <a:solidFill>
                  <a:schemeClr val="tx1">
                    <a:lumMod val="60000"/>
                    <a:lumOff val="40000"/>
                  </a:schemeClr>
                </a:solidFill>
              </a:rPr>
              <a:t>ă</a:t>
            </a:r>
            <a:r>
              <a:rPr lang="en-US" sz="2400">
                <a:solidFill>
                  <a:schemeClr val="tx1">
                    <a:lumMod val="60000"/>
                    <a:lumOff val="40000"/>
                  </a:schemeClr>
                </a:solidFill>
              </a:rPr>
              <a:t>n bản th</a:t>
            </a:r>
            <a:r>
              <a:rPr lang="vi-VN" sz="2400">
                <a:solidFill>
                  <a:schemeClr val="tx1">
                    <a:lumMod val="60000"/>
                    <a:lumOff val="40000"/>
                  </a:schemeClr>
                </a:solidFill>
              </a:rPr>
              <a:t>ườ</a:t>
            </a:r>
            <a:r>
              <a:rPr lang="en-US" sz="2400">
                <a:solidFill>
                  <a:schemeClr val="tx1">
                    <a:lumMod val="60000"/>
                    <a:lumOff val="40000"/>
                  </a:schemeClr>
                </a:solidFill>
              </a:rPr>
              <a:t>ng (literal text</a:t>
            </a:r>
            <a:r>
              <a:rPr lang="en-US" sz="240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693738" indent="0">
              <a:buFontTx/>
              <a:buChar char="-"/>
              <a:defRPr/>
            </a:pPr>
            <a:r>
              <a:rPr lang="en-US" sz="2400">
                <a:solidFill>
                  <a:schemeClr val="tx1">
                    <a:lumMod val="60000"/>
                    <a:lumOff val="40000"/>
                  </a:schemeClr>
                </a:solidFill>
              </a:rPr>
              <a:t>Ký tự </a:t>
            </a:r>
            <a:r>
              <a:rPr lang="vi-VN" sz="2400">
                <a:solidFill>
                  <a:schemeClr val="tx1">
                    <a:lumMod val="60000"/>
                    <a:lumOff val="40000"/>
                  </a:schemeClr>
                </a:solidFill>
              </a:rPr>
              <a:t>đ</a:t>
            </a:r>
            <a:r>
              <a:rPr lang="en-US" sz="2400">
                <a:solidFill>
                  <a:schemeClr val="tx1">
                    <a:lumMod val="60000"/>
                    <a:lumOff val="40000"/>
                  </a:schemeClr>
                </a:solidFill>
              </a:rPr>
              <a:t>iều khiển (escape sequence</a:t>
            </a:r>
            <a:r>
              <a:rPr lang="en-US" sz="240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693738" indent="0">
              <a:buFontTx/>
              <a:buChar char="-"/>
              <a:defRPr/>
            </a:pPr>
            <a:r>
              <a:rPr lang="en-US" sz="240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Biến, hằng số, biểu thức, hàm</a:t>
            </a:r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 marL="0" indent="0">
              <a:buNone/>
            </a:pPr>
            <a:r>
              <a:rPr lang="en-US" smtClean="0"/>
              <a:t>	</a:t>
            </a:r>
            <a:r>
              <a:rPr lang="en-US" sz="2400" smtClean="0"/>
              <a:t>int </a:t>
            </a:r>
            <a:r>
              <a:rPr lang="en-US" sz="2400"/>
              <a:t>i=10;</a:t>
            </a:r>
          </a:p>
          <a:p>
            <a:pPr marL="0" indent="0">
              <a:buNone/>
            </a:pPr>
            <a:r>
              <a:rPr lang="en-US" sz="2400" smtClean="0"/>
              <a:t>	cout&lt;&lt;</a:t>
            </a:r>
            <a:r>
              <a:rPr lang="en-US" sz="2400"/>
              <a:t>"</a:t>
            </a:r>
            <a:r>
              <a:rPr lang="en-US" sz="2400" smtClean="0"/>
              <a:t>gia </a:t>
            </a:r>
            <a:r>
              <a:rPr lang="en-US" sz="2400"/>
              <a:t>trị </a:t>
            </a:r>
            <a:r>
              <a:rPr lang="en-US" sz="2400" smtClean="0"/>
              <a:t>là </a:t>
            </a:r>
            <a:r>
              <a:rPr lang="en-US" sz="2400"/>
              <a:t>"</a:t>
            </a:r>
            <a:r>
              <a:rPr lang="en-US" sz="2400" smtClean="0"/>
              <a:t>&lt;&lt;</a:t>
            </a:r>
            <a:r>
              <a:rPr lang="en-US" sz="2400"/>
              <a:t>i;</a:t>
            </a:r>
            <a:endParaRPr lang="en-US" sz="2400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lvl="1">
              <a:defRPr/>
            </a:pP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730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V</a:t>
            </a:r>
            <a:r>
              <a:rPr lang="vi-VN">
                <a:solidFill>
                  <a:schemeClr val="tx1">
                    <a:lumMod val="60000"/>
                    <a:lumOff val="40000"/>
                  </a:schemeClr>
                </a:solidFill>
              </a:rPr>
              <a:t>ă</a:t>
            </a: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n bản th</a:t>
            </a:r>
            <a:r>
              <a:rPr lang="vi-VN">
                <a:solidFill>
                  <a:schemeClr val="tx1">
                    <a:lumMod val="60000"/>
                    <a:lumOff val="40000"/>
                  </a:schemeClr>
                </a:solidFill>
              </a:rPr>
              <a:t>ườ</a:t>
            </a: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ng (literal text)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 lvl="1" eaLnBrk="1" hangingPunct="1">
              <a:defRPr/>
            </a:pPr>
            <a:r>
              <a:rPr lang="en-US" smtClean="0"/>
              <a:t>Xuất chuỗi </a:t>
            </a:r>
            <a:r>
              <a:rPr lang="en-US" smtClean="0">
                <a:solidFill>
                  <a:srgbClr val="FF0000"/>
                </a:solidFill>
              </a:rPr>
              <a:t>Hello World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smtClean="0">
                <a:sym typeface="Wingdings" pitchFamily="2" charset="2"/>
              </a:rPr>
              <a:t>	 </a:t>
            </a:r>
            <a:r>
              <a:rPr lang="en-US" smtClean="0"/>
              <a:t>printf(“</a:t>
            </a:r>
            <a:r>
              <a:rPr lang="en-US" smtClean="0">
                <a:solidFill>
                  <a:srgbClr val="FF0000"/>
                </a:solidFill>
              </a:rPr>
              <a:t>Hello </a:t>
            </a:r>
            <a:r>
              <a:rPr lang="en-US" smtClean="0"/>
              <a:t>”); printf(“</a:t>
            </a:r>
            <a:r>
              <a:rPr lang="en-US" smtClean="0">
                <a:solidFill>
                  <a:srgbClr val="FF0000"/>
                </a:solidFill>
              </a:rPr>
              <a:t>World</a:t>
            </a:r>
            <a:r>
              <a:rPr lang="en-US" smtClean="0"/>
              <a:t>”);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smtClean="0">
                <a:sym typeface="Wingdings" pitchFamily="2" charset="2"/>
              </a:rPr>
              <a:t>	 </a:t>
            </a:r>
            <a:r>
              <a:rPr lang="en-US" smtClean="0"/>
              <a:t>printf(“</a:t>
            </a:r>
            <a:r>
              <a:rPr lang="en-US" smtClean="0">
                <a:solidFill>
                  <a:srgbClr val="FF0000"/>
                </a:solidFill>
              </a:rPr>
              <a:t>Hello World</a:t>
            </a:r>
            <a:r>
              <a:rPr lang="en-US" smtClean="0"/>
              <a:t>”);</a:t>
            </a:r>
          </a:p>
          <a:p>
            <a:pPr lvl="1" eaLnBrk="1" hangingPunct="1">
              <a:defRPr/>
            </a:pPr>
            <a:r>
              <a:rPr lang="en-US" smtClean="0"/>
              <a:t>Xuất chuỗi </a:t>
            </a:r>
            <a:r>
              <a:rPr lang="en-US" smtClean="0">
                <a:solidFill>
                  <a:srgbClr val="FF0000"/>
                </a:solidFill>
              </a:rPr>
              <a:t>a + b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smtClean="0">
                <a:sym typeface="Wingdings" pitchFamily="2" charset="2"/>
              </a:rPr>
              <a:t>	 printf(“</a:t>
            </a:r>
            <a:r>
              <a:rPr lang="en-US" smtClean="0">
                <a:solidFill>
                  <a:srgbClr val="FF0000"/>
                </a:solidFill>
                <a:sym typeface="Wingdings" pitchFamily="2" charset="2"/>
              </a:rPr>
              <a:t>a + b</a:t>
            </a:r>
            <a:r>
              <a:rPr lang="en-US" smtClean="0">
                <a:sym typeface="Wingdings" pitchFamily="2" charset="2"/>
              </a:rPr>
              <a:t>”);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11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Ký tự </a:t>
            </a:r>
            <a:r>
              <a:rPr lang="vi-VN">
                <a:solidFill>
                  <a:schemeClr val="tx1">
                    <a:lumMod val="60000"/>
                    <a:lumOff val="40000"/>
                  </a:schemeClr>
                </a:solidFill>
              </a:rPr>
              <a:t>đ</a:t>
            </a: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iều khiển (escape sequence)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lvl="1" indent="0" eaLnBrk="1" hangingPunct="1">
              <a:buNone/>
              <a:defRPr/>
            </a:pPr>
            <a:r>
              <a:rPr lang="en-US" smtClean="0"/>
              <a:t>Gồm dấu \ và một ký tự nh</a:t>
            </a:r>
            <a:r>
              <a:rPr lang="vi-VN" smtClean="0"/>
              <a:t>ư</a:t>
            </a:r>
            <a:r>
              <a:rPr lang="en-US" smtClean="0"/>
              <a:t> trong bảng sau:</a:t>
            </a:r>
          </a:p>
          <a:p>
            <a:pPr lvl="1" eaLnBrk="1" hangingPunct="1">
              <a:defRPr/>
            </a:pPr>
            <a:endParaRPr lang="en-US" smtClean="0"/>
          </a:p>
          <a:p>
            <a:pPr lvl="1" eaLnBrk="1" hangingPunct="1">
              <a:defRPr/>
            </a:pPr>
            <a:endParaRPr lang="en-US" smtClean="0"/>
          </a:p>
          <a:p>
            <a:pPr lvl="1" eaLnBrk="1" hangingPunct="1">
              <a:defRPr/>
            </a:pPr>
            <a:endParaRPr lang="en-US" smtClean="0"/>
          </a:p>
          <a:p>
            <a:pPr lvl="1" eaLnBrk="1" hangingPunct="1">
              <a:defRPr/>
            </a:pPr>
            <a:endParaRPr lang="en-US" smtClean="0"/>
          </a:p>
          <a:p>
            <a:pPr lvl="1"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 lvl="1" eaLnBrk="1" hangingPunct="1">
              <a:defRPr/>
            </a:pPr>
            <a:r>
              <a:rPr lang="en-US" smtClean="0"/>
              <a:t>printf(“</a:t>
            </a:r>
            <a:r>
              <a:rPr lang="en-US" smtClean="0">
                <a:solidFill>
                  <a:srgbClr val="FF0000"/>
                </a:solidFill>
              </a:rPr>
              <a:t>\t</a:t>
            </a:r>
            <a:r>
              <a:rPr lang="en-US" smtClean="0"/>
              <a:t>”); printf(“</a:t>
            </a:r>
            <a:r>
              <a:rPr lang="en-US" smtClean="0">
                <a:solidFill>
                  <a:srgbClr val="FF0000"/>
                </a:solidFill>
              </a:rPr>
              <a:t>\n</a:t>
            </a:r>
            <a:r>
              <a:rPr lang="en-US" smtClean="0"/>
              <a:t>”);</a:t>
            </a:r>
          </a:p>
          <a:p>
            <a:pPr lvl="1" eaLnBrk="1" hangingPunct="1">
              <a:defRPr/>
            </a:pPr>
            <a:r>
              <a:rPr lang="en-US" smtClean="0"/>
              <a:t>printf(“</a:t>
            </a:r>
            <a:r>
              <a:rPr lang="en-US" smtClean="0">
                <a:solidFill>
                  <a:srgbClr val="FF0000"/>
                </a:solidFill>
              </a:rPr>
              <a:t>\t\n</a:t>
            </a:r>
            <a:r>
              <a:rPr lang="en-US" smtClean="0"/>
              <a:t>”);</a:t>
            </a:r>
          </a:p>
          <a:p>
            <a:pPr lvl="1" eaLnBrk="1" hangingPunct="1">
              <a:defRPr/>
            </a:pPr>
            <a:endParaRPr lang="en-US"/>
          </a:p>
        </p:txBody>
      </p:sp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4790952"/>
              </p:ext>
            </p:extLst>
          </p:nvPr>
        </p:nvGraphicFramePr>
        <p:xfrm>
          <a:off x="1905000" y="2057400"/>
          <a:ext cx="4465638" cy="2382838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359008"/>
                <a:gridCol w="2106630"/>
              </a:tblGrid>
              <a:tr h="370889">
                <a:tc>
                  <a:txBody>
                    <a:bodyPr/>
                    <a:lstStyle/>
                    <a:p>
                      <a:r>
                        <a:rPr lang="en-US" sz="1800" smtClean="0"/>
                        <a:t>Ký tự </a:t>
                      </a:r>
                      <a:r>
                        <a:rPr lang="vi-VN" sz="1800" smtClean="0"/>
                        <a:t>đ</a:t>
                      </a:r>
                      <a:r>
                        <a:rPr lang="en-US" sz="1800" smtClean="0"/>
                        <a:t>iều khiển</a:t>
                      </a:r>
                      <a:endParaRPr lang="en-US" sz="1800"/>
                    </a:p>
                  </a:txBody>
                  <a:tcPr marL="91427" marR="91427" marT="45726" marB="45726"/>
                </a:tc>
                <a:tc>
                  <a:txBody>
                    <a:bodyPr/>
                    <a:lstStyle/>
                    <a:p>
                      <a:r>
                        <a:rPr lang="en-US" sz="1800" smtClean="0"/>
                        <a:t>Ý nghĩa</a:t>
                      </a:r>
                      <a:endParaRPr lang="en-US" sz="1800"/>
                    </a:p>
                  </a:txBody>
                  <a:tcPr marL="91427" marR="91427" marT="45726" marB="45726"/>
                </a:tc>
              </a:tr>
              <a:tr h="2011949">
                <a:tc>
                  <a:txBody>
                    <a:bodyPr/>
                    <a:lstStyle/>
                    <a:p>
                      <a:r>
                        <a:rPr lang="en-US" sz="1800" smtClean="0"/>
                        <a:t>\</a:t>
                      </a:r>
                      <a:r>
                        <a:rPr lang="en-US" sz="1800" smtClean="0">
                          <a:solidFill>
                            <a:srgbClr val="FF0000"/>
                          </a:solidFill>
                        </a:rPr>
                        <a:t>a</a:t>
                      </a:r>
                    </a:p>
                    <a:p>
                      <a:r>
                        <a:rPr lang="en-US" sz="1800" smtClean="0"/>
                        <a:t>\</a:t>
                      </a:r>
                      <a:r>
                        <a:rPr lang="en-US" sz="1800" smtClean="0">
                          <a:solidFill>
                            <a:srgbClr val="FF0000"/>
                          </a:solidFill>
                        </a:rPr>
                        <a:t>b</a:t>
                      </a:r>
                    </a:p>
                    <a:p>
                      <a:r>
                        <a:rPr lang="en-US" sz="1800" smtClean="0"/>
                        <a:t>\</a:t>
                      </a:r>
                      <a:r>
                        <a:rPr lang="en-US" sz="1800" smtClean="0">
                          <a:solidFill>
                            <a:srgbClr val="FF0000"/>
                          </a:solidFill>
                        </a:rPr>
                        <a:t>n</a:t>
                      </a:r>
                    </a:p>
                    <a:p>
                      <a:r>
                        <a:rPr lang="en-US" sz="1800" smtClean="0"/>
                        <a:t>\</a:t>
                      </a:r>
                      <a:r>
                        <a:rPr lang="en-US" sz="1800" smtClean="0">
                          <a:solidFill>
                            <a:srgbClr val="FF0000"/>
                          </a:solidFill>
                        </a:rPr>
                        <a:t>t</a:t>
                      </a:r>
                    </a:p>
                    <a:p>
                      <a:r>
                        <a:rPr lang="en-US" sz="1800" smtClean="0"/>
                        <a:t>\</a:t>
                      </a:r>
                      <a:r>
                        <a:rPr lang="en-US" sz="1800" smtClean="0">
                          <a:solidFill>
                            <a:srgbClr val="FF0000"/>
                          </a:solidFill>
                        </a:rPr>
                        <a:t>\</a:t>
                      </a:r>
                    </a:p>
                    <a:p>
                      <a:r>
                        <a:rPr lang="en-US" sz="1800" smtClean="0"/>
                        <a:t>\</a:t>
                      </a:r>
                      <a:r>
                        <a:rPr lang="en-US" sz="1800" smtClean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  <a:p>
                      <a:r>
                        <a:rPr lang="en-US" sz="1800" smtClean="0"/>
                        <a:t>\</a:t>
                      </a:r>
                      <a:r>
                        <a:rPr lang="en-US" sz="1800" smtClean="0">
                          <a:solidFill>
                            <a:srgbClr val="FF0000"/>
                          </a:solidFill>
                        </a:rPr>
                        <a:t>”</a:t>
                      </a:r>
                      <a:endParaRPr lang="en-US" sz="1800">
                        <a:solidFill>
                          <a:srgbClr val="FF0000"/>
                        </a:solidFill>
                      </a:endParaRPr>
                    </a:p>
                  </a:txBody>
                  <a:tcPr marL="91427" marR="91427" marT="45726" marB="4572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smtClean="0"/>
                        <a:t>Tiếng chuông</a:t>
                      </a:r>
                    </a:p>
                    <a:p>
                      <a:pPr algn="l"/>
                      <a:r>
                        <a:rPr lang="en-US" sz="1800" smtClean="0"/>
                        <a:t>Lùi lại một b</a:t>
                      </a:r>
                      <a:r>
                        <a:rPr lang="vi-VN" sz="1800" smtClean="0"/>
                        <a:t>ướ</a:t>
                      </a:r>
                      <a:r>
                        <a:rPr lang="en-US" sz="1800" smtClean="0"/>
                        <a:t>c</a:t>
                      </a:r>
                    </a:p>
                    <a:p>
                      <a:pPr algn="l"/>
                      <a:r>
                        <a:rPr lang="en-US" sz="1800" smtClean="0"/>
                        <a:t>Xuống</a:t>
                      </a:r>
                      <a:r>
                        <a:rPr lang="en-US" sz="1800" baseline="0" smtClean="0"/>
                        <a:t> dòng</a:t>
                      </a:r>
                    </a:p>
                    <a:p>
                      <a:pPr algn="l"/>
                      <a:r>
                        <a:rPr lang="en-US" sz="1800" baseline="0" smtClean="0"/>
                        <a:t>Dấu tab</a:t>
                      </a:r>
                    </a:p>
                    <a:p>
                      <a:pPr algn="l"/>
                      <a:r>
                        <a:rPr lang="en-US" sz="1800" baseline="0" smtClean="0"/>
                        <a:t>In dấu \</a:t>
                      </a:r>
                    </a:p>
                    <a:p>
                      <a:pPr algn="l"/>
                      <a:r>
                        <a:rPr lang="en-US" sz="1800" baseline="0" smtClean="0"/>
                        <a:t>In dấu ?</a:t>
                      </a:r>
                    </a:p>
                    <a:p>
                      <a:pPr algn="l"/>
                      <a:r>
                        <a:rPr lang="en-US" sz="1800" baseline="0" smtClean="0"/>
                        <a:t>In dấu “</a:t>
                      </a:r>
                      <a:endParaRPr lang="en-US" sz="1800"/>
                    </a:p>
                  </a:txBody>
                  <a:tcPr marL="91427" marR="91427" marT="45726" marB="45726"/>
                </a:tc>
              </a:tr>
            </a:tbl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46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Thiết lập độ rộng khi xuất (dùng cout)</a:t>
            </a:r>
          </a:p>
        </p:txBody>
      </p:sp>
      <p:sp>
        <p:nvSpPr>
          <p:cNvPr id="94" name="Content Placeholder 93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Cú pháp: </a:t>
            </a:r>
            <a:r>
              <a:rPr lang="en-US" b="1" smtClean="0"/>
              <a:t>cout.width(n)</a:t>
            </a:r>
          </a:p>
          <a:p>
            <a:pPr lvl="1" eaLnBrk="1" hangingPunct="1">
              <a:defRPr/>
            </a:pPr>
            <a:r>
              <a:rPr lang="en-US" smtClean="0"/>
              <a:t>n là độ rộng mới</a:t>
            </a:r>
          </a:p>
          <a:p>
            <a:pPr marL="0" lvl="1" indent="0" eaLnBrk="1" hangingPunct="1">
              <a:buNone/>
              <a:defRPr/>
            </a:pPr>
            <a:r>
              <a:rPr lang="en-US" smtClean="0"/>
              <a:t>Chú ý: </a:t>
            </a:r>
            <a:r>
              <a:rPr lang="en-US"/>
              <a:t>đ</a:t>
            </a:r>
            <a:r>
              <a:rPr lang="en-US" smtClean="0"/>
              <a:t>ộ </a:t>
            </a:r>
            <a:r>
              <a:rPr lang="en-US"/>
              <a:t>rộng quy định n chỉ có tác dụng cho một giá trị xuất. Sau đó C++ lại áp dụng độ rộng quy định bằng 0.</a:t>
            </a:r>
            <a:endParaRPr lang="en-US" smtClean="0"/>
          </a:p>
        </p:txBody>
      </p:sp>
      <p:sp>
        <p:nvSpPr>
          <p:cNvPr id="5" name="Rounded Rectangle 4"/>
          <p:cNvSpPr/>
          <p:nvPr/>
        </p:nvSpPr>
        <p:spPr>
          <a:xfrm>
            <a:off x="685800" y="3629561"/>
            <a:ext cx="152400" cy="11747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3553361"/>
            <a:ext cx="70104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a = 1706</a:t>
            </a:r>
            <a:r>
              <a:rPr lang="en-US" sz="2000" b="1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sz="2000" b="1" smtClean="0">
                <a:latin typeface="Courier New" pitchFamily="49" charset="0"/>
                <a:cs typeface="Courier New" pitchFamily="49" charset="0"/>
              </a:rPr>
              <a:t>cout&lt;&lt;a&lt;&lt;</a:t>
            </a:r>
            <a:r>
              <a:rPr lang="en-US" sz="2000" smtClean="0"/>
              <a:t>“\n“;</a:t>
            </a:r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 smtClean="0">
                <a:latin typeface="Courier New" pitchFamily="49" charset="0"/>
                <a:cs typeface="Courier New" pitchFamily="49" charset="0"/>
              </a:rPr>
              <a:t>cout.width(10);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cout&lt;&lt;</a:t>
            </a:r>
            <a:r>
              <a:rPr lang="en-US" sz="2000" b="1" smtClean="0">
                <a:latin typeface="Courier New" pitchFamily="49" charset="0"/>
                <a:cs typeface="Courier New" pitchFamily="49" charset="0"/>
              </a:rPr>
              <a:t>a</a:t>
            </a:r>
            <a:r>
              <a:rPr lang="en-US" sz="2000" smtClean="0"/>
              <a:t>;</a:t>
            </a:r>
            <a:endParaRPr lang="en-US" sz="2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gray">
          <a:xfrm>
            <a:off x="6858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17" name="AutoShape 6"/>
          <p:cNvSpPr>
            <a:spLocks noChangeArrowheads="1"/>
          </p:cNvSpPr>
          <p:nvPr/>
        </p:nvSpPr>
        <p:spPr bwMode="gray">
          <a:xfrm>
            <a:off x="11430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gray">
          <a:xfrm>
            <a:off x="16002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gray">
          <a:xfrm>
            <a:off x="20574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gray">
          <a:xfrm>
            <a:off x="25146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29718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2" name="AutoShape 6"/>
          <p:cNvSpPr>
            <a:spLocks noChangeArrowheads="1"/>
          </p:cNvSpPr>
          <p:nvPr/>
        </p:nvSpPr>
        <p:spPr bwMode="gray">
          <a:xfrm>
            <a:off x="34290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3" name="AutoShape 6"/>
          <p:cNvSpPr>
            <a:spLocks noChangeArrowheads="1"/>
          </p:cNvSpPr>
          <p:nvPr/>
        </p:nvSpPr>
        <p:spPr bwMode="gray">
          <a:xfrm>
            <a:off x="38862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4" name="AutoShape 6"/>
          <p:cNvSpPr>
            <a:spLocks noChangeArrowheads="1"/>
          </p:cNvSpPr>
          <p:nvPr/>
        </p:nvSpPr>
        <p:spPr bwMode="gray">
          <a:xfrm>
            <a:off x="43434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5" name="AutoShape 6"/>
          <p:cNvSpPr>
            <a:spLocks noChangeArrowheads="1"/>
          </p:cNvSpPr>
          <p:nvPr/>
        </p:nvSpPr>
        <p:spPr bwMode="gray">
          <a:xfrm>
            <a:off x="48006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6" name="AutoShape 6"/>
          <p:cNvSpPr>
            <a:spLocks noChangeArrowheads="1"/>
          </p:cNvSpPr>
          <p:nvPr/>
        </p:nvSpPr>
        <p:spPr bwMode="gray">
          <a:xfrm>
            <a:off x="52578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gray">
          <a:xfrm>
            <a:off x="57150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8" name="AutoShape 6"/>
          <p:cNvSpPr>
            <a:spLocks noChangeArrowheads="1"/>
          </p:cNvSpPr>
          <p:nvPr/>
        </p:nvSpPr>
        <p:spPr bwMode="gray">
          <a:xfrm>
            <a:off x="61722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9" name="AutoShape 6"/>
          <p:cNvSpPr>
            <a:spLocks noChangeArrowheads="1"/>
          </p:cNvSpPr>
          <p:nvPr/>
        </p:nvSpPr>
        <p:spPr bwMode="gray">
          <a:xfrm>
            <a:off x="66294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0" name="AutoShape 6"/>
          <p:cNvSpPr>
            <a:spLocks noChangeArrowheads="1"/>
          </p:cNvSpPr>
          <p:nvPr/>
        </p:nvSpPr>
        <p:spPr bwMode="gray">
          <a:xfrm>
            <a:off x="70866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1" name="AutoShape 6"/>
          <p:cNvSpPr>
            <a:spLocks noChangeArrowheads="1"/>
          </p:cNvSpPr>
          <p:nvPr/>
        </p:nvSpPr>
        <p:spPr bwMode="gray">
          <a:xfrm>
            <a:off x="75438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2" name="AutoShape 6"/>
          <p:cNvSpPr>
            <a:spLocks noChangeArrowheads="1"/>
          </p:cNvSpPr>
          <p:nvPr/>
        </p:nvSpPr>
        <p:spPr bwMode="gray">
          <a:xfrm>
            <a:off x="6858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3" name="AutoShape 6"/>
          <p:cNvSpPr>
            <a:spLocks noChangeArrowheads="1"/>
          </p:cNvSpPr>
          <p:nvPr/>
        </p:nvSpPr>
        <p:spPr bwMode="gray">
          <a:xfrm>
            <a:off x="11430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4" name="AutoShape 6"/>
          <p:cNvSpPr>
            <a:spLocks noChangeArrowheads="1"/>
          </p:cNvSpPr>
          <p:nvPr/>
        </p:nvSpPr>
        <p:spPr bwMode="gray">
          <a:xfrm>
            <a:off x="16002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5" name="AutoShape 6"/>
          <p:cNvSpPr>
            <a:spLocks noChangeArrowheads="1"/>
          </p:cNvSpPr>
          <p:nvPr/>
        </p:nvSpPr>
        <p:spPr bwMode="gray">
          <a:xfrm>
            <a:off x="20574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6" name="AutoShape 6"/>
          <p:cNvSpPr>
            <a:spLocks noChangeArrowheads="1"/>
          </p:cNvSpPr>
          <p:nvPr/>
        </p:nvSpPr>
        <p:spPr bwMode="gray">
          <a:xfrm>
            <a:off x="25146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7" name="AutoShape 6"/>
          <p:cNvSpPr>
            <a:spLocks noChangeArrowheads="1"/>
          </p:cNvSpPr>
          <p:nvPr/>
        </p:nvSpPr>
        <p:spPr bwMode="gray">
          <a:xfrm>
            <a:off x="29718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8" name="AutoShape 6"/>
          <p:cNvSpPr>
            <a:spLocks noChangeArrowheads="1"/>
          </p:cNvSpPr>
          <p:nvPr/>
        </p:nvSpPr>
        <p:spPr bwMode="gray">
          <a:xfrm>
            <a:off x="34290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9" name="AutoShape 6"/>
          <p:cNvSpPr>
            <a:spLocks noChangeArrowheads="1"/>
          </p:cNvSpPr>
          <p:nvPr/>
        </p:nvSpPr>
        <p:spPr bwMode="gray">
          <a:xfrm>
            <a:off x="38862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40" name="AutoShape 6"/>
          <p:cNvSpPr>
            <a:spLocks noChangeArrowheads="1"/>
          </p:cNvSpPr>
          <p:nvPr/>
        </p:nvSpPr>
        <p:spPr bwMode="gray">
          <a:xfrm>
            <a:off x="43434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41" name="AutoShape 6"/>
          <p:cNvSpPr>
            <a:spLocks noChangeArrowheads="1"/>
          </p:cNvSpPr>
          <p:nvPr/>
        </p:nvSpPr>
        <p:spPr bwMode="gray">
          <a:xfrm>
            <a:off x="48006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42" name="AutoShape 6"/>
          <p:cNvSpPr>
            <a:spLocks noChangeArrowheads="1"/>
          </p:cNvSpPr>
          <p:nvPr/>
        </p:nvSpPr>
        <p:spPr bwMode="gray">
          <a:xfrm>
            <a:off x="52578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43" name="AutoShape 6"/>
          <p:cNvSpPr>
            <a:spLocks noChangeArrowheads="1"/>
          </p:cNvSpPr>
          <p:nvPr/>
        </p:nvSpPr>
        <p:spPr bwMode="gray">
          <a:xfrm>
            <a:off x="57150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44" name="AutoShape 6"/>
          <p:cNvSpPr>
            <a:spLocks noChangeArrowheads="1"/>
          </p:cNvSpPr>
          <p:nvPr/>
        </p:nvSpPr>
        <p:spPr bwMode="gray">
          <a:xfrm>
            <a:off x="61722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45" name="AutoShape 6"/>
          <p:cNvSpPr>
            <a:spLocks noChangeArrowheads="1"/>
          </p:cNvSpPr>
          <p:nvPr/>
        </p:nvSpPr>
        <p:spPr bwMode="gray">
          <a:xfrm>
            <a:off x="66294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46" name="AutoShape 6"/>
          <p:cNvSpPr>
            <a:spLocks noChangeArrowheads="1"/>
          </p:cNvSpPr>
          <p:nvPr/>
        </p:nvSpPr>
        <p:spPr bwMode="gray">
          <a:xfrm>
            <a:off x="70866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47" name="AutoShape 6"/>
          <p:cNvSpPr>
            <a:spLocks noChangeArrowheads="1"/>
          </p:cNvSpPr>
          <p:nvPr/>
        </p:nvSpPr>
        <p:spPr bwMode="gray">
          <a:xfrm>
            <a:off x="75438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64" name="AutoShape 6"/>
          <p:cNvSpPr>
            <a:spLocks noChangeArrowheads="1"/>
          </p:cNvSpPr>
          <p:nvPr/>
        </p:nvSpPr>
        <p:spPr bwMode="gray">
          <a:xfrm>
            <a:off x="685800" y="49530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 smtClean="0"/>
              <a:t>1</a:t>
            </a:r>
            <a:endParaRPr lang="en-US"/>
          </a:p>
        </p:txBody>
      </p:sp>
      <p:sp>
        <p:nvSpPr>
          <p:cNvPr id="65" name="AutoShape 6"/>
          <p:cNvSpPr>
            <a:spLocks noChangeArrowheads="1"/>
          </p:cNvSpPr>
          <p:nvPr/>
        </p:nvSpPr>
        <p:spPr bwMode="gray">
          <a:xfrm>
            <a:off x="1143000" y="49530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 smtClean="0"/>
              <a:t>7</a:t>
            </a:r>
            <a:endParaRPr lang="en-US"/>
          </a:p>
        </p:txBody>
      </p:sp>
      <p:sp>
        <p:nvSpPr>
          <p:cNvPr id="66" name="AutoShape 6"/>
          <p:cNvSpPr>
            <a:spLocks noChangeArrowheads="1"/>
          </p:cNvSpPr>
          <p:nvPr/>
        </p:nvSpPr>
        <p:spPr bwMode="gray">
          <a:xfrm>
            <a:off x="1600200" y="49530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 smtClean="0"/>
              <a:t>0</a:t>
            </a:r>
            <a:endParaRPr lang="en-US"/>
          </a:p>
        </p:txBody>
      </p:sp>
      <p:sp>
        <p:nvSpPr>
          <p:cNvPr id="67" name="AutoShape 6"/>
          <p:cNvSpPr>
            <a:spLocks noChangeArrowheads="1"/>
          </p:cNvSpPr>
          <p:nvPr/>
        </p:nvSpPr>
        <p:spPr bwMode="gray">
          <a:xfrm>
            <a:off x="2057400" y="49530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 smtClean="0"/>
              <a:t>6</a:t>
            </a:r>
            <a:endParaRPr lang="en-US"/>
          </a:p>
        </p:txBody>
      </p:sp>
      <p:sp>
        <p:nvSpPr>
          <p:cNvPr id="74" name="AutoShape 6"/>
          <p:cNvSpPr>
            <a:spLocks noChangeArrowheads="1"/>
          </p:cNvSpPr>
          <p:nvPr/>
        </p:nvSpPr>
        <p:spPr bwMode="gray">
          <a:xfrm>
            <a:off x="2971800" y="54102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75" name="AutoShape 6"/>
          <p:cNvSpPr>
            <a:spLocks noChangeArrowheads="1"/>
          </p:cNvSpPr>
          <p:nvPr/>
        </p:nvSpPr>
        <p:spPr bwMode="gray">
          <a:xfrm>
            <a:off x="3429000" y="54102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 smtClean="0"/>
              <a:t>1</a:t>
            </a:r>
            <a:endParaRPr lang="en-US"/>
          </a:p>
        </p:txBody>
      </p:sp>
      <p:sp>
        <p:nvSpPr>
          <p:cNvPr id="76" name="AutoShape 6"/>
          <p:cNvSpPr>
            <a:spLocks noChangeArrowheads="1"/>
          </p:cNvSpPr>
          <p:nvPr/>
        </p:nvSpPr>
        <p:spPr bwMode="gray">
          <a:xfrm>
            <a:off x="3886200" y="54102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 smtClean="0"/>
              <a:t>7</a:t>
            </a:r>
            <a:endParaRPr lang="en-US"/>
          </a:p>
        </p:txBody>
      </p:sp>
      <p:sp>
        <p:nvSpPr>
          <p:cNvPr id="77" name="AutoShape 6"/>
          <p:cNvSpPr>
            <a:spLocks noChangeArrowheads="1"/>
          </p:cNvSpPr>
          <p:nvPr/>
        </p:nvSpPr>
        <p:spPr bwMode="gray">
          <a:xfrm>
            <a:off x="4343400" y="54102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 smtClean="0"/>
              <a:t>0</a:t>
            </a:r>
            <a:endParaRPr lang="en-US"/>
          </a:p>
        </p:txBody>
      </p:sp>
      <p:sp>
        <p:nvSpPr>
          <p:cNvPr id="78" name="AutoShape 6"/>
          <p:cNvSpPr>
            <a:spLocks noChangeArrowheads="1"/>
          </p:cNvSpPr>
          <p:nvPr/>
        </p:nvSpPr>
        <p:spPr bwMode="gray">
          <a:xfrm>
            <a:off x="4800600" y="54102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 smtClean="0"/>
              <a:t>6</a:t>
            </a:r>
            <a:endParaRPr lang="en-US"/>
          </a:p>
        </p:txBody>
      </p:sp>
      <p:sp>
        <p:nvSpPr>
          <p:cNvPr id="89" name="AutoShape 6"/>
          <p:cNvSpPr>
            <a:spLocks noChangeArrowheads="1"/>
          </p:cNvSpPr>
          <p:nvPr/>
        </p:nvSpPr>
        <p:spPr bwMode="gray">
          <a:xfrm>
            <a:off x="685800" y="54102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90" name="AutoShape 6"/>
          <p:cNvSpPr>
            <a:spLocks noChangeArrowheads="1"/>
          </p:cNvSpPr>
          <p:nvPr/>
        </p:nvSpPr>
        <p:spPr bwMode="gray">
          <a:xfrm>
            <a:off x="1143000" y="54102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91" name="AutoShape 6"/>
          <p:cNvSpPr>
            <a:spLocks noChangeArrowheads="1"/>
          </p:cNvSpPr>
          <p:nvPr/>
        </p:nvSpPr>
        <p:spPr bwMode="gray">
          <a:xfrm>
            <a:off x="1600200" y="54102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92" name="AutoShape 6"/>
          <p:cNvSpPr>
            <a:spLocks noChangeArrowheads="1"/>
          </p:cNvSpPr>
          <p:nvPr/>
        </p:nvSpPr>
        <p:spPr bwMode="gray">
          <a:xfrm>
            <a:off x="2057400" y="54102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93" name="AutoShape 6"/>
          <p:cNvSpPr>
            <a:spLocks noChangeArrowheads="1"/>
          </p:cNvSpPr>
          <p:nvPr/>
        </p:nvSpPr>
        <p:spPr bwMode="gray">
          <a:xfrm>
            <a:off x="2514600" y="54102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56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64" grpId="0" animBg="1"/>
      <p:bldP spid="65" grpId="0" animBg="1"/>
      <p:bldP spid="66" grpId="0" animBg="1"/>
      <p:bldP spid="67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89" grpId="0" animBg="1"/>
      <p:bldP spid="90" grpId="0" animBg="1"/>
      <p:bldP spid="91" grpId="0" animBg="1"/>
      <p:bldP spid="92" grpId="0" animBg="1"/>
      <p:bldP spid="9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mtClean="0"/>
              <a:t>Độ chính xác khi xuất (dùng cout)</a:t>
            </a:r>
          </a:p>
        </p:txBody>
      </p:sp>
      <p:sp>
        <p:nvSpPr>
          <p:cNvPr id="94" name="Content Placeholder 9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Cú pháp: </a:t>
            </a:r>
            <a:r>
              <a:rPr lang="en-US" b="1" smtClean="0"/>
              <a:t>cout.precision(n)</a:t>
            </a:r>
          </a:p>
          <a:p>
            <a:pPr lvl="1" eaLnBrk="1" hangingPunct="1">
              <a:defRPr/>
            </a:pPr>
            <a:r>
              <a:rPr lang="en-US" smtClean="0"/>
              <a:t>n là độ chính xác áp dụng</a:t>
            </a:r>
            <a:endParaRPr lang="en-US"/>
          </a:p>
          <a:p>
            <a:pPr marL="0" lvl="1" indent="0">
              <a:buNone/>
              <a:defRPr/>
            </a:pPr>
            <a:r>
              <a:rPr lang="en-US" smtClean="0"/>
              <a:t>Chú ý: </a:t>
            </a:r>
            <a:r>
              <a:rPr lang="en-US"/>
              <a:t>đ</a:t>
            </a:r>
            <a:r>
              <a:rPr lang="en-US" smtClean="0"/>
              <a:t>ộ </a:t>
            </a:r>
            <a:r>
              <a:rPr lang="en-US"/>
              <a:t>chính xác được thiết lập sẽ có hiệu lực cho tới khi gặp một câu lệnh thiết lập độ chính xác mới</a:t>
            </a:r>
            <a:endParaRPr lang="en-US" smtClean="0"/>
          </a:p>
        </p:txBody>
      </p:sp>
      <p:sp>
        <p:nvSpPr>
          <p:cNvPr id="5" name="Rounded Rectangle 4"/>
          <p:cNvSpPr/>
          <p:nvPr/>
        </p:nvSpPr>
        <p:spPr>
          <a:xfrm>
            <a:off x="685800" y="3705761"/>
            <a:ext cx="152400" cy="11747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3629561"/>
            <a:ext cx="70104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2000"/>
              <a:t>float x = 176.859;</a:t>
            </a:r>
          </a:p>
          <a:p>
            <a:r>
              <a:rPr lang="en-US" sz="2000"/>
              <a:t>cout&lt;&lt;x&lt;&lt;"\n";</a:t>
            </a:r>
          </a:p>
          <a:p>
            <a:r>
              <a:rPr lang="en-US" sz="2000"/>
              <a:t>cout.precision(5);</a:t>
            </a:r>
          </a:p>
          <a:p>
            <a:r>
              <a:rPr lang="en-US" sz="2000"/>
              <a:t>cout&lt;&lt;x&lt;&lt;"\n";</a:t>
            </a:r>
            <a:endParaRPr lang="en-US" sz="2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gray">
          <a:xfrm>
            <a:off x="6858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17" name="AutoShape 6"/>
          <p:cNvSpPr>
            <a:spLocks noChangeArrowheads="1"/>
          </p:cNvSpPr>
          <p:nvPr/>
        </p:nvSpPr>
        <p:spPr bwMode="gray">
          <a:xfrm>
            <a:off x="11430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gray">
          <a:xfrm>
            <a:off x="16002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gray">
          <a:xfrm>
            <a:off x="20574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gray">
          <a:xfrm>
            <a:off x="25146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29718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2" name="AutoShape 6"/>
          <p:cNvSpPr>
            <a:spLocks noChangeArrowheads="1"/>
          </p:cNvSpPr>
          <p:nvPr/>
        </p:nvSpPr>
        <p:spPr bwMode="gray">
          <a:xfrm>
            <a:off x="34290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3" name="AutoShape 6"/>
          <p:cNvSpPr>
            <a:spLocks noChangeArrowheads="1"/>
          </p:cNvSpPr>
          <p:nvPr/>
        </p:nvSpPr>
        <p:spPr bwMode="gray">
          <a:xfrm>
            <a:off x="38862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4" name="AutoShape 6"/>
          <p:cNvSpPr>
            <a:spLocks noChangeArrowheads="1"/>
          </p:cNvSpPr>
          <p:nvPr/>
        </p:nvSpPr>
        <p:spPr bwMode="gray">
          <a:xfrm>
            <a:off x="43434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5" name="AutoShape 6"/>
          <p:cNvSpPr>
            <a:spLocks noChangeArrowheads="1"/>
          </p:cNvSpPr>
          <p:nvPr/>
        </p:nvSpPr>
        <p:spPr bwMode="gray">
          <a:xfrm>
            <a:off x="48006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6" name="AutoShape 6"/>
          <p:cNvSpPr>
            <a:spLocks noChangeArrowheads="1"/>
          </p:cNvSpPr>
          <p:nvPr/>
        </p:nvSpPr>
        <p:spPr bwMode="gray">
          <a:xfrm>
            <a:off x="52578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gray">
          <a:xfrm>
            <a:off x="57150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8" name="AutoShape 6"/>
          <p:cNvSpPr>
            <a:spLocks noChangeArrowheads="1"/>
          </p:cNvSpPr>
          <p:nvPr/>
        </p:nvSpPr>
        <p:spPr bwMode="gray">
          <a:xfrm>
            <a:off x="61722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9" name="AutoShape 6"/>
          <p:cNvSpPr>
            <a:spLocks noChangeArrowheads="1"/>
          </p:cNvSpPr>
          <p:nvPr/>
        </p:nvSpPr>
        <p:spPr bwMode="gray">
          <a:xfrm>
            <a:off x="66294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0" name="AutoShape 6"/>
          <p:cNvSpPr>
            <a:spLocks noChangeArrowheads="1"/>
          </p:cNvSpPr>
          <p:nvPr/>
        </p:nvSpPr>
        <p:spPr bwMode="gray">
          <a:xfrm>
            <a:off x="70866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1" name="AutoShape 6"/>
          <p:cNvSpPr>
            <a:spLocks noChangeArrowheads="1"/>
          </p:cNvSpPr>
          <p:nvPr/>
        </p:nvSpPr>
        <p:spPr bwMode="gray">
          <a:xfrm>
            <a:off x="75438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2" name="AutoShape 6"/>
          <p:cNvSpPr>
            <a:spLocks noChangeArrowheads="1"/>
          </p:cNvSpPr>
          <p:nvPr/>
        </p:nvSpPr>
        <p:spPr bwMode="gray">
          <a:xfrm>
            <a:off x="6858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3" name="AutoShape 6"/>
          <p:cNvSpPr>
            <a:spLocks noChangeArrowheads="1"/>
          </p:cNvSpPr>
          <p:nvPr/>
        </p:nvSpPr>
        <p:spPr bwMode="gray">
          <a:xfrm>
            <a:off x="11430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4" name="AutoShape 6"/>
          <p:cNvSpPr>
            <a:spLocks noChangeArrowheads="1"/>
          </p:cNvSpPr>
          <p:nvPr/>
        </p:nvSpPr>
        <p:spPr bwMode="gray">
          <a:xfrm>
            <a:off x="16002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5" name="AutoShape 6"/>
          <p:cNvSpPr>
            <a:spLocks noChangeArrowheads="1"/>
          </p:cNvSpPr>
          <p:nvPr/>
        </p:nvSpPr>
        <p:spPr bwMode="gray">
          <a:xfrm>
            <a:off x="20574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6" name="AutoShape 6"/>
          <p:cNvSpPr>
            <a:spLocks noChangeArrowheads="1"/>
          </p:cNvSpPr>
          <p:nvPr/>
        </p:nvSpPr>
        <p:spPr bwMode="gray">
          <a:xfrm>
            <a:off x="25146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7" name="AutoShape 6"/>
          <p:cNvSpPr>
            <a:spLocks noChangeArrowheads="1"/>
          </p:cNvSpPr>
          <p:nvPr/>
        </p:nvSpPr>
        <p:spPr bwMode="gray">
          <a:xfrm>
            <a:off x="29718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8" name="AutoShape 6"/>
          <p:cNvSpPr>
            <a:spLocks noChangeArrowheads="1"/>
          </p:cNvSpPr>
          <p:nvPr/>
        </p:nvSpPr>
        <p:spPr bwMode="gray">
          <a:xfrm>
            <a:off x="34290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9" name="AutoShape 6"/>
          <p:cNvSpPr>
            <a:spLocks noChangeArrowheads="1"/>
          </p:cNvSpPr>
          <p:nvPr/>
        </p:nvSpPr>
        <p:spPr bwMode="gray">
          <a:xfrm>
            <a:off x="38862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40" name="AutoShape 6"/>
          <p:cNvSpPr>
            <a:spLocks noChangeArrowheads="1"/>
          </p:cNvSpPr>
          <p:nvPr/>
        </p:nvSpPr>
        <p:spPr bwMode="gray">
          <a:xfrm>
            <a:off x="43434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41" name="AutoShape 6"/>
          <p:cNvSpPr>
            <a:spLocks noChangeArrowheads="1"/>
          </p:cNvSpPr>
          <p:nvPr/>
        </p:nvSpPr>
        <p:spPr bwMode="gray">
          <a:xfrm>
            <a:off x="48006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42" name="AutoShape 6"/>
          <p:cNvSpPr>
            <a:spLocks noChangeArrowheads="1"/>
          </p:cNvSpPr>
          <p:nvPr/>
        </p:nvSpPr>
        <p:spPr bwMode="gray">
          <a:xfrm>
            <a:off x="52578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43" name="AutoShape 6"/>
          <p:cNvSpPr>
            <a:spLocks noChangeArrowheads="1"/>
          </p:cNvSpPr>
          <p:nvPr/>
        </p:nvSpPr>
        <p:spPr bwMode="gray">
          <a:xfrm>
            <a:off x="57150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44" name="AutoShape 6"/>
          <p:cNvSpPr>
            <a:spLocks noChangeArrowheads="1"/>
          </p:cNvSpPr>
          <p:nvPr/>
        </p:nvSpPr>
        <p:spPr bwMode="gray">
          <a:xfrm>
            <a:off x="61722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45" name="AutoShape 6"/>
          <p:cNvSpPr>
            <a:spLocks noChangeArrowheads="1"/>
          </p:cNvSpPr>
          <p:nvPr/>
        </p:nvSpPr>
        <p:spPr bwMode="gray">
          <a:xfrm>
            <a:off x="66294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46" name="AutoShape 6"/>
          <p:cNvSpPr>
            <a:spLocks noChangeArrowheads="1"/>
          </p:cNvSpPr>
          <p:nvPr/>
        </p:nvSpPr>
        <p:spPr bwMode="gray">
          <a:xfrm>
            <a:off x="70866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47" name="AutoShape 6"/>
          <p:cNvSpPr>
            <a:spLocks noChangeArrowheads="1"/>
          </p:cNvSpPr>
          <p:nvPr/>
        </p:nvSpPr>
        <p:spPr bwMode="gray">
          <a:xfrm>
            <a:off x="75438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64" name="AutoShape 6"/>
          <p:cNvSpPr>
            <a:spLocks noChangeArrowheads="1"/>
          </p:cNvSpPr>
          <p:nvPr/>
        </p:nvSpPr>
        <p:spPr bwMode="gray">
          <a:xfrm>
            <a:off x="685800" y="49530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 smtClean="0"/>
              <a:t>1</a:t>
            </a:r>
            <a:endParaRPr lang="en-US"/>
          </a:p>
        </p:txBody>
      </p:sp>
      <p:sp>
        <p:nvSpPr>
          <p:cNvPr id="65" name="AutoShape 6"/>
          <p:cNvSpPr>
            <a:spLocks noChangeArrowheads="1"/>
          </p:cNvSpPr>
          <p:nvPr/>
        </p:nvSpPr>
        <p:spPr bwMode="gray">
          <a:xfrm>
            <a:off x="1143000" y="49530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 smtClean="0"/>
              <a:t>7</a:t>
            </a:r>
            <a:endParaRPr lang="en-US"/>
          </a:p>
        </p:txBody>
      </p:sp>
      <p:sp>
        <p:nvSpPr>
          <p:cNvPr id="66" name="AutoShape 6"/>
          <p:cNvSpPr>
            <a:spLocks noChangeArrowheads="1"/>
          </p:cNvSpPr>
          <p:nvPr/>
        </p:nvSpPr>
        <p:spPr bwMode="gray">
          <a:xfrm>
            <a:off x="1600200" y="49530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/>
              <a:t>6</a:t>
            </a:r>
          </a:p>
        </p:txBody>
      </p:sp>
      <p:sp>
        <p:nvSpPr>
          <p:cNvPr id="67" name="AutoShape 6"/>
          <p:cNvSpPr>
            <a:spLocks noChangeArrowheads="1"/>
          </p:cNvSpPr>
          <p:nvPr/>
        </p:nvSpPr>
        <p:spPr bwMode="gray">
          <a:xfrm>
            <a:off x="2057400" y="49530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/>
              <a:t>.</a:t>
            </a:r>
          </a:p>
        </p:txBody>
      </p:sp>
      <p:sp>
        <p:nvSpPr>
          <p:cNvPr id="74" name="AutoShape 6"/>
          <p:cNvSpPr>
            <a:spLocks noChangeArrowheads="1"/>
          </p:cNvSpPr>
          <p:nvPr/>
        </p:nvSpPr>
        <p:spPr bwMode="gray">
          <a:xfrm>
            <a:off x="2971800" y="54102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 smtClean="0"/>
              <a:t>6</a:t>
            </a:r>
            <a:endParaRPr lang="en-US"/>
          </a:p>
        </p:txBody>
      </p:sp>
      <p:sp>
        <p:nvSpPr>
          <p:cNvPr id="89" name="AutoShape 6"/>
          <p:cNvSpPr>
            <a:spLocks noChangeArrowheads="1"/>
          </p:cNvSpPr>
          <p:nvPr/>
        </p:nvSpPr>
        <p:spPr bwMode="gray">
          <a:xfrm>
            <a:off x="685800" y="54102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 smtClean="0"/>
              <a:t>1</a:t>
            </a:r>
            <a:endParaRPr lang="en-US"/>
          </a:p>
        </p:txBody>
      </p:sp>
      <p:sp>
        <p:nvSpPr>
          <p:cNvPr id="90" name="AutoShape 6"/>
          <p:cNvSpPr>
            <a:spLocks noChangeArrowheads="1"/>
          </p:cNvSpPr>
          <p:nvPr/>
        </p:nvSpPr>
        <p:spPr bwMode="gray">
          <a:xfrm>
            <a:off x="1143000" y="54102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 smtClean="0"/>
              <a:t>7</a:t>
            </a:r>
            <a:endParaRPr lang="en-US"/>
          </a:p>
        </p:txBody>
      </p:sp>
      <p:sp>
        <p:nvSpPr>
          <p:cNvPr id="91" name="AutoShape 6"/>
          <p:cNvSpPr>
            <a:spLocks noChangeArrowheads="1"/>
          </p:cNvSpPr>
          <p:nvPr/>
        </p:nvSpPr>
        <p:spPr bwMode="gray">
          <a:xfrm>
            <a:off x="1600200" y="54102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 smtClean="0"/>
              <a:t>6</a:t>
            </a:r>
            <a:endParaRPr lang="en-US"/>
          </a:p>
        </p:txBody>
      </p:sp>
      <p:sp>
        <p:nvSpPr>
          <p:cNvPr id="92" name="AutoShape 6"/>
          <p:cNvSpPr>
            <a:spLocks noChangeArrowheads="1"/>
          </p:cNvSpPr>
          <p:nvPr/>
        </p:nvSpPr>
        <p:spPr bwMode="gray">
          <a:xfrm>
            <a:off x="2057400" y="54102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 smtClean="0"/>
              <a:t>.</a:t>
            </a:r>
            <a:endParaRPr lang="en-US"/>
          </a:p>
        </p:txBody>
      </p:sp>
      <p:sp>
        <p:nvSpPr>
          <p:cNvPr id="93" name="AutoShape 6"/>
          <p:cNvSpPr>
            <a:spLocks noChangeArrowheads="1"/>
          </p:cNvSpPr>
          <p:nvPr/>
        </p:nvSpPr>
        <p:spPr bwMode="gray">
          <a:xfrm>
            <a:off x="2514600" y="54102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 smtClean="0"/>
              <a:t>8</a:t>
            </a:r>
            <a:endParaRPr lang="en-US"/>
          </a:p>
        </p:txBody>
      </p:sp>
      <p:sp>
        <p:nvSpPr>
          <p:cNvPr id="53" name="AutoShape 6"/>
          <p:cNvSpPr>
            <a:spLocks noChangeArrowheads="1"/>
          </p:cNvSpPr>
          <p:nvPr/>
        </p:nvSpPr>
        <p:spPr bwMode="gray">
          <a:xfrm>
            <a:off x="2514600" y="49530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 smtClean="0"/>
              <a:t>8</a:t>
            </a:r>
            <a:endParaRPr lang="en-US"/>
          </a:p>
        </p:txBody>
      </p:sp>
      <p:sp>
        <p:nvSpPr>
          <p:cNvPr id="54" name="AutoShape 6"/>
          <p:cNvSpPr>
            <a:spLocks noChangeArrowheads="1"/>
          </p:cNvSpPr>
          <p:nvPr/>
        </p:nvSpPr>
        <p:spPr bwMode="gray">
          <a:xfrm>
            <a:off x="2971800" y="49530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 smtClean="0"/>
              <a:t>5</a:t>
            </a:r>
            <a:endParaRPr lang="en-US"/>
          </a:p>
        </p:txBody>
      </p:sp>
      <p:sp>
        <p:nvSpPr>
          <p:cNvPr id="55" name="AutoShape 6"/>
          <p:cNvSpPr>
            <a:spLocks noChangeArrowheads="1"/>
          </p:cNvSpPr>
          <p:nvPr/>
        </p:nvSpPr>
        <p:spPr bwMode="gray">
          <a:xfrm>
            <a:off x="3429000" y="49530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 smtClean="0"/>
              <a:t>9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600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64" grpId="0" animBg="1"/>
      <p:bldP spid="65" grpId="0" animBg="1"/>
      <p:bldP spid="66" grpId="0" animBg="1"/>
      <p:bldP spid="67" grpId="0" animBg="1"/>
      <p:bldP spid="74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53" grpId="0" animBg="1"/>
      <p:bldP spid="54" grpId="0" animBg="1"/>
      <p:bldP spid="5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 xuất printf (C)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Th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viện</a:t>
            </a:r>
          </a:p>
          <a:p>
            <a:pPr lvl="1" eaLnBrk="1" hangingPunct="1">
              <a:defRPr/>
            </a:pPr>
            <a:r>
              <a:rPr lang="en-US" smtClean="0"/>
              <a:t>#include &lt;stdio.h&gt; (</a:t>
            </a:r>
            <a:r>
              <a:rPr lang="en-US" smtClean="0">
                <a:solidFill>
                  <a:srgbClr val="FF0000"/>
                </a:solidFill>
              </a:rPr>
              <a:t>st</a:t>
            </a:r>
            <a:r>
              <a:rPr lang="en-US" smtClean="0"/>
              <a:t>andar</a:t>
            </a:r>
            <a:r>
              <a:rPr lang="en-US" smtClean="0">
                <a:solidFill>
                  <a:srgbClr val="FF0000"/>
                </a:solidFill>
              </a:rPr>
              <a:t>d</a:t>
            </a:r>
            <a:r>
              <a:rPr lang="en-US" smtClean="0"/>
              <a:t> </a:t>
            </a:r>
            <a:r>
              <a:rPr lang="en-US" smtClean="0">
                <a:solidFill>
                  <a:srgbClr val="FF0000"/>
                </a:solidFill>
              </a:rPr>
              <a:t>i</a:t>
            </a:r>
            <a:r>
              <a:rPr lang="en-US" smtClean="0"/>
              <a:t>nput/</a:t>
            </a:r>
            <a:r>
              <a:rPr lang="en-US" smtClean="0">
                <a:solidFill>
                  <a:srgbClr val="FF0000"/>
                </a:solidFill>
              </a:rPr>
              <a:t>o</a:t>
            </a:r>
            <a:r>
              <a:rPr lang="en-US" smtClean="0"/>
              <a:t>utput)</a:t>
            </a:r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Cú pháp</a:t>
            </a:r>
          </a:p>
          <a:p>
            <a:pPr lvl="1" eaLnBrk="1" hangingPunct="1">
              <a:defRPr/>
            </a:pPr>
            <a:r>
              <a:rPr lang="en-US" smtClean="0">
                <a:solidFill>
                  <a:srgbClr val="FF0000"/>
                </a:solidFill>
              </a:rPr>
              <a:t>printf(&lt;chuỗi </a:t>
            </a:r>
            <a:r>
              <a:rPr lang="vi-VN" smtClean="0">
                <a:solidFill>
                  <a:srgbClr val="FF0000"/>
                </a:solidFill>
              </a:rPr>
              <a:t>đị</a:t>
            </a:r>
            <a:r>
              <a:rPr lang="en-US" smtClean="0">
                <a:solidFill>
                  <a:srgbClr val="FF0000"/>
                </a:solidFill>
              </a:rPr>
              <a:t>nh dạng&gt;[, &lt;</a:t>
            </a:r>
            <a:r>
              <a:rPr lang="vi-VN" smtClean="0">
                <a:solidFill>
                  <a:srgbClr val="FF0000"/>
                </a:solidFill>
              </a:rPr>
              <a:t>đ</a:t>
            </a:r>
            <a:r>
              <a:rPr lang="en-US" smtClean="0">
                <a:solidFill>
                  <a:srgbClr val="FF0000"/>
                </a:solidFill>
              </a:rPr>
              <a:t>s1&gt;, &lt;</a:t>
            </a:r>
            <a:r>
              <a:rPr lang="vi-VN" smtClean="0">
                <a:solidFill>
                  <a:srgbClr val="FF0000"/>
                </a:solidFill>
              </a:rPr>
              <a:t>đ</a:t>
            </a:r>
            <a:r>
              <a:rPr lang="en-US" smtClean="0">
                <a:solidFill>
                  <a:srgbClr val="FF0000"/>
                </a:solidFill>
              </a:rPr>
              <a:t>s2&gt;, …]);</a:t>
            </a:r>
          </a:p>
          <a:p>
            <a:pPr lvl="1" eaLnBrk="1" hangingPunct="1">
              <a:defRPr/>
            </a:pPr>
            <a:r>
              <a:rPr lang="en-US" smtClean="0"/>
              <a:t>&lt;chuỗi </a:t>
            </a:r>
            <a:r>
              <a:rPr lang="vi-VN" smtClean="0"/>
              <a:t>đị</a:t>
            </a:r>
            <a:r>
              <a:rPr lang="en-US" smtClean="0"/>
              <a:t>nh dạng&gt; là cách trình bày thông tin xuất và </a:t>
            </a:r>
            <a:r>
              <a:rPr lang="vi-VN" smtClean="0"/>
              <a:t>đượ</a:t>
            </a:r>
            <a:r>
              <a:rPr lang="en-US" smtClean="0"/>
              <a:t>c </a:t>
            </a:r>
            <a:r>
              <a:rPr lang="vi-VN" smtClean="0"/>
              <a:t>đặ</a:t>
            </a:r>
            <a:r>
              <a:rPr lang="en-US" smtClean="0"/>
              <a:t>t trong cặp nháy kép </a:t>
            </a:r>
            <a:r>
              <a:rPr lang="en-US" smtClean="0">
                <a:solidFill>
                  <a:srgbClr val="FF0000"/>
                </a:solidFill>
              </a:rPr>
              <a:t>“</a:t>
            </a:r>
            <a:r>
              <a:rPr lang="en-US" smtClean="0"/>
              <a:t> </a:t>
            </a:r>
            <a:r>
              <a:rPr lang="en-US" smtClean="0">
                <a:solidFill>
                  <a:srgbClr val="FF0000"/>
                </a:solidFill>
              </a:rPr>
              <a:t>”</a:t>
            </a:r>
            <a:r>
              <a:rPr lang="en-US" smtClean="0"/>
              <a:t>.</a:t>
            </a:r>
          </a:p>
          <a:p>
            <a:pPr lvl="2" eaLnBrk="1" hangingPunct="1">
              <a:defRPr/>
            </a:pPr>
            <a:r>
              <a:rPr lang="en-US" smtClean="0"/>
              <a:t>V</a:t>
            </a:r>
            <a:r>
              <a:rPr lang="vi-VN" smtClean="0"/>
              <a:t>ă</a:t>
            </a:r>
            <a:r>
              <a:rPr lang="en-US" smtClean="0"/>
              <a:t>n bản th</a:t>
            </a:r>
            <a:r>
              <a:rPr lang="vi-VN" smtClean="0"/>
              <a:t>ườ</a:t>
            </a:r>
            <a:r>
              <a:rPr lang="en-US" smtClean="0"/>
              <a:t>ng (literal text)</a:t>
            </a:r>
          </a:p>
          <a:p>
            <a:pPr lvl="2" eaLnBrk="1" hangingPunct="1">
              <a:defRPr/>
            </a:pPr>
            <a:r>
              <a:rPr lang="en-US" smtClean="0"/>
              <a:t>Ký tự </a:t>
            </a:r>
            <a:r>
              <a:rPr lang="vi-VN" smtClean="0"/>
              <a:t>đ</a:t>
            </a:r>
            <a:r>
              <a:rPr lang="en-US" smtClean="0"/>
              <a:t>iều khiển (escape sequence)</a:t>
            </a:r>
          </a:p>
          <a:p>
            <a:pPr lvl="2" eaLnBrk="1" hangingPunct="1">
              <a:defRPr/>
            </a:pPr>
            <a:r>
              <a:rPr lang="en-US" smtClean="0"/>
              <a:t>Đặc tả (conversion specifier)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753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Đặc tả (conversion specifier)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en-US" smtClean="0"/>
              <a:t>Gồm dấu % và một ký tự.</a:t>
            </a:r>
          </a:p>
          <a:p>
            <a:pPr lvl="1" eaLnBrk="1" hangingPunct="1">
              <a:defRPr/>
            </a:pPr>
            <a:r>
              <a:rPr lang="en-US" smtClean="0"/>
              <a:t>Xác </a:t>
            </a:r>
            <a:r>
              <a:rPr lang="vi-VN" smtClean="0"/>
              <a:t>đị</a:t>
            </a:r>
            <a:r>
              <a:rPr lang="en-US" smtClean="0"/>
              <a:t>nh kiểu của biến/giá trị muốn xuất.</a:t>
            </a:r>
          </a:p>
          <a:p>
            <a:pPr lvl="1" eaLnBrk="1" hangingPunct="1">
              <a:defRPr/>
            </a:pPr>
            <a:r>
              <a:rPr lang="en-US" smtClean="0"/>
              <a:t>Các </a:t>
            </a:r>
            <a:r>
              <a:rPr lang="vi-VN" smtClean="0"/>
              <a:t>đố</a:t>
            </a:r>
            <a:r>
              <a:rPr lang="en-US" smtClean="0"/>
              <a:t>i số chính là các biến/giá trị muốn xuất, </a:t>
            </a:r>
            <a:r>
              <a:rPr lang="vi-VN" smtClean="0"/>
              <a:t>đượ</a:t>
            </a:r>
            <a:r>
              <a:rPr lang="en-US" smtClean="0"/>
              <a:t>c liệt kê theo thứ tự cách nhau dấu phẩy.</a:t>
            </a:r>
            <a:endParaRPr lang="en-US"/>
          </a:p>
        </p:txBody>
      </p:sp>
      <p:graphicFrame>
        <p:nvGraphicFramePr>
          <p:cNvPr id="5" name="Content Placeholder 4"/>
          <p:cNvGraphicFramePr>
            <a:graphicFrameLocks/>
          </p:cNvGraphicFramePr>
          <p:nvPr/>
        </p:nvGraphicFramePr>
        <p:xfrm>
          <a:off x="838200" y="4191000"/>
          <a:ext cx="7034214" cy="18337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68845"/>
                <a:gridCol w="2777106"/>
                <a:gridCol w="2988263"/>
              </a:tblGrid>
              <a:tr h="370728">
                <a:tc>
                  <a:txBody>
                    <a:bodyPr/>
                    <a:lstStyle/>
                    <a:p>
                      <a:r>
                        <a:rPr lang="en-US" sz="1800" smtClean="0"/>
                        <a:t>Đặc tả</a:t>
                      </a:r>
                      <a:endParaRPr lang="en-US" sz="1800"/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r>
                        <a:rPr lang="en-US" sz="1800" smtClean="0"/>
                        <a:t>Ý nghĩa</a:t>
                      </a:r>
                      <a:endParaRPr lang="en-US" sz="1800"/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48" marR="91448" marT="45706" marB="45706"/>
                </a:tc>
              </a:tr>
              <a:tr h="1462835">
                <a:tc>
                  <a:txBody>
                    <a:bodyPr/>
                    <a:lstStyle/>
                    <a:p>
                      <a:r>
                        <a:rPr lang="en-US" sz="1800" smtClean="0"/>
                        <a:t>%</a:t>
                      </a:r>
                      <a:r>
                        <a:rPr lang="en-US" sz="1800" smtClean="0">
                          <a:solidFill>
                            <a:srgbClr val="FF0000"/>
                          </a:solidFill>
                        </a:rPr>
                        <a:t>c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mtClean="0"/>
                        <a:t>%</a:t>
                      </a:r>
                      <a:r>
                        <a:rPr lang="en-US" sz="1800" smtClean="0">
                          <a:solidFill>
                            <a:srgbClr val="FF0000"/>
                          </a:solidFill>
                        </a:rPr>
                        <a:t>d</a:t>
                      </a:r>
                      <a:r>
                        <a:rPr lang="en-US" sz="1800" smtClean="0"/>
                        <a:t>, %</a:t>
                      </a:r>
                      <a:r>
                        <a:rPr lang="en-US" sz="1800" smtClean="0">
                          <a:solidFill>
                            <a:srgbClr val="FF0000"/>
                          </a:solidFill>
                        </a:rPr>
                        <a:t>ld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mtClean="0"/>
                        <a:t>%</a:t>
                      </a:r>
                      <a:r>
                        <a:rPr lang="en-US" sz="1800" smtClean="0">
                          <a:solidFill>
                            <a:srgbClr val="FF0000"/>
                          </a:solidFill>
                        </a:rPr>
                        <a:t>f</a:t>
                      </a:r>
                      <a:r>
                        <a:rPr lang="en-US" sz="1800" smtClean="0"/>
                        <a:t>, %</a:t>
                      </a:r>
                      <a:r>
                        <a:rPr lang="en-US" sz="1800" smtClean="0">
                          <a:solidFill>
                            <a:srgbClr val="FF0000"/>
                          </a:solidFill>
                        </a:rPr>
                        <a:t>lf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mtClean="0"/>
                        <a:t>%</a:t>
                      </a:r>
                      <a:r>
                        <a:rPr lang="en-US" sz="1800" smtClean="0">
                          <a:solidFill>
                            <a:srgbClr val="FF0000"/>
                          </a:solidFill>
                        </a:rPr>
                        <a:t>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mtClean="0"/>
                        <a:t>%</a:t>
                      </a:r>
                      <a:r>
                        <a:rPr lang="en-US" sz="1800" smtClean="0">
                          <a:solidFill>
                            <a:srgbClr val="FF0000"/>
                          </a:solidFill>
                        </a:rPr>
                        <a:t>u</a:t>
                      </a:r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smtClean="0"/>
                        <a:t>Ký tự</a:t>
                      </a:r>
                    </a:p>
                    <a:p>
                      <a:pPr algn="l"/>
                      <a:r>
                        <a:rPr lang="en-US" sz="1800" smtClean="0"/>
                        <a:t>Số nguyên có dấu</a:t>
                      </a:r>
                    </a:p>
                    <a:p>
                      <a:pPr algn="l"/>
                      <a:r>
                        <a:rPr lang="en-US" sz="1800" smtClean="0"/>
                        <a:t>Số thực</a:t>
                      </a:r>
                    </a:p>
                    <a:p>
                      <a:pPr algn="l"/>
                      <a:r>
                        <a:rPr lang="en-US" sz="1800" smtClean="0"/>
                        <a:t>Chuỗi ký tự</a:t>
                      </a:r>
                    </a:p>
                    <a:p>
                      <a:pPr algn="l"/>
                      <a:r>
                        <a:rPr lang="en-US" sz="1800" smtClean="0"/>
                        <a:t>Số nguyên không dấu</a:t>
                      </a:r>
                      <a:endParaRPr lang="en-US" sz="1800"/>
                    </a:p>
                  </a:txBody>
                  <a:tcPr marL="91448" marR="91448" marT="45706" marB="45706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smtClean="0"/>
                        <a:t>char</a:t>
                      </a:r>
                    </a:p>
                    <a:p>
                      <a:pPr algn="l"/>
                      <a:r>
                        <a:rPr lang="en-US" sz="1800" smtClean="0"/>
                        <a:t>int, short, long</a:t>
                      </a:r>
                    </a:p>
                    <a:p>
                      <a:pPr algn="l"/>
                      <a:r>
                        <a:rPr lang="en-US" sz="1800" smtClean="0"/>
                        <a:t>float, double</a:t>
                      </a:r>
                    </a:p>
                    <a:p>
                      <a:pPr algn="l"/>
                      <a:r>
                        <a:rPr lang="en-US" sz="1800" smtClean="0"/>
                        <a:t>char[], char*</a:t>
                      </a:r>
                    </a:p>
                    <a:p>
                      <a:pPr algn="l"/>
                      <a:r>
                        <a:rPr lang="en-US" sz="1800" smtClean="0"/>
                        <a:t>unsigned int/short/long</a:t>
                      </a:r>
                      <a:endParaRPr lang="en-US" sz="1800"/>
                    </a:p>
                  </a:txBody>
                  <a:tcPr marL="91448" marR="91448" marT="45706" marB="45706"/>
                </a:tc>
              </a:tr>
            </a:tbl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31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Đặc tả (conversion specifier)</a:t>
            </a:r>
            <a:endParaRPr 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 lvl="1" eaLnBrk="1" hangingPunct="1">
              <a:defRPr/>
            </a:pPr>
            <a:r>
              <a:rPr lang="en-US" smtClean="0"/>
              <a:t>int a = 10, b = 20;</a:t>
            </a:r>
          </a:p>
          <a:p>
            <a:pPr lvl="1" eaLnBrk="1" hangingPunct="1">
              <a:defRPr/>
            </a:pPr>
            <a:r>
              <a:rPr lang="en-US" smtClean="0"/>
              <a:t>printf(“%d”, a);		</a:t>
            </a:r>
            <a:r>
              <a:rPr lang="en-US" smtClean="0">
                <a:sym typeface="Wingdings" pitchFamily="2" charset="2"/>
              </a:rPr>
              <a:t> Xuất ra 10</a:t>
            </a:r>
            <a:endParaRPr lang="en-US" smtClean="0"/>
          </a:p>
          <a:p>
            <a:pPr lvl="1" eaLnBrk="1" hangingPunct="1">
              <a:defRPr/>
            </a:pPr>
            <a:r>
              <a:rPr lang="en-US" smtClean="0"/>
              <a:t>printf(“%d”, b);		</a:t>
            </a:r>
            <a:r>
              <a:rPr lang="en-US" smtClean="0">
                <a:sym typeface="Wingdings" pitchFamily="2" charset="2"/>
              </a:rPr>
              <a:t> Xuất ra 20</a:t>
            </a:r>
            <a:endParaRPr lang="en-US" smtClean="0"/>
          </a:p>
          <a:p>
            <a:pPr lvl="1" eaLnBrk="1" hangingPunct="1">
              <a:defRPr/>
            </a:pPr>
            <a:r>
              <a:rPr lang="en-US" smtClean="0"/>
              <a:t>printf(“%d %d”, a, b);	</a:t>
            </a:r>
            <a:r>
              <a:rPr lang="en-US" smtClean="0">
                <a:sym typeface="Wingdings" pitchFamily="2" charset="2"/>
              </a:rPr>
              <a:t> Xuất ra 10 20</a:t>
            </a:r>
            <a:endParaRPr lang="en-US" smtClean="0"/>
          </a:p>
          <a:p>
            <a:pPr lvl="1" eaLnBrk="1" hangingPunct="1">
              <a:defRPr/>
            </a:pPr>
            <a:endParaRPr lang="en-US" smtClean="0"/>
          </a:p>
          <a:p>
            <a:pPr lvl="1" eaLnBrk="1" hangingPunct="1">
              <a:defRPr/>
            </a:pPr>
            <a:r>
              <a:rPr lang="en-US" smtClean="0"/>
              <a:t>float x = 15.06;</a:t>
            </a:r>
          </a:p>
          <a:p>
            <a:pPr lvl="1" eaLnBrk="1" hangingPunct="1">
              <a:defRPr/>
            </a:pPr>
            <a:r>
              <a:rPr lang="en-US" smtClean="0"/>
              <a:t>printf(“%f”, x);	</a:t>
            </a:r>
            <a:r>
              <a:rPr lang="en-US" smtClean="0">
                <a:sym typeface="Wingdings" pitchFamily="2" charset="2"/>
              </a:rPr>
              <a:t> Xuất ra 15.060000</a:t>
            </a:r>
          </a:p>
          <a:p>
            <a:pPr lvl="1" eaLnBrk="1" hangingPunct="1">
              <a:defRPr/>
            </a:pPr>
            <a:r>
              <a:rPr lang="en-US" smtClean="0"/>
              <a:t>printf(“%f”, 1.0/3);	</a:t>
            </a:r>
            <a:r>
              <a:rPr lang="en-US" smtClean="0">
                <a:sym typeface="Wingdings" pitchFamily="2" charset="2"/>
              </a:rPr>
              <a:t> Xuất ra 0.333333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06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Định dạng xuất (printf)</a:t>
            </a:r>
          </a:p>
        </p:txBody>
      </p:sp>
      <p:sp>
        <p:nvSpPr>
          <p:cNvPr id="94" name="Content Placeholder 9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Cú pháp</a:t>
            </a:r>
          </a:p>
          <a:p>
            <a:pPr lvl="1" eaLnBrk="1" hangingPunct="1">
              <a:defRPr/>
            </a:pPr>
            <a:r>
              <a:rPr lang="en-US" smtClean="0"/>
              <a:t>Định dạng xuất số nguyên: %</a:t>
            </a:r>
            <a:r>
              <a:rPr lang="en-US" smtClean="0">
                <a:solidFill>
                  <a:srgbClr val="FF0000"/>
                </a:solidFill>
              </a:rPr>
              <a:t>n</a:t>
            </a:r>
            <a:r>
              <a:rPr lang="en-US" smtClean="0"/>
              <a:t>d</a:t>
            </a:r>
          </a:p>
          <a:p>
            <a:pPr lvl="1" eaLnBrk="1" hangingPunct="1">
              <a:defRPr/>
            </a:pPr>
            <a:r>
              <a:rPr lang="en-US" smtClean="0"/>
              <a:t>Định dạng xuất số thực: %</a:t>
            </a:r>
            <a:r>
              <a:rPr lang="en-US" smtClean="0">
                <a:solidFill>
                  <a:srgbClr val="FF0000"/>
                </a:solidFill>
              </a:rPr>
              <a:t>n.k</a:t>
            </a:r>
            <a:r>
              <a:rPr lang="en-US" smtClean="0"/>
              <a:t>d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685800" y="3092450"/>
            <a:ext cx="152400" cy="1600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38200" y="3092450"/>
            <a:ext cx="70104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a = 1706;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float x = 176.85;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printf(“%10d”, a);printf(“\n”);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printf(“%10.2f”, x);printf(“\n”);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printf(“%.2f”, x);printf(“\n”);</a:t>
            </a:r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gray">
          <a:xfrm>
            <a:off x="6858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17" name="AutoShape 6"/>
          <p:cNvSpPr>
            <a:spLocks noChangeArrowheads="1"/>
          </p:cNvSpPr>
          <p:nvPr/>
        </p:nvSpPr>
        <p:spPr bwMode="gray">
          <a:xfrm>
            <a:off x="11430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gray">
          <a:xfrm>
            <a:off x="16002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gray">
          <a:xfrm>
            <a:off x="20574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gray">
          <a:xfrm>
            <a:off x="25146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gray">
          <a:xfrm>
            <a:off x="29718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2" name="AutoShape 6"/>
          <p:cNvSpPr>
            <a:spLocks noChangeArrowheads="1"/>
          </p:cNvSpPr>
          <p:nvPr/>
        </p:nvSpPr>
        <p:spPr bwMode="gray">
          <a:xfrm>
            <a:off x="34290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3" name="AutoShape 6"/>
          <p:cNvSpPr>
            <a:spLocks noChangeArrowheads="1"/>
          </p:cNvSpPr>
          <p:nvPr/>
        </p:nvSpPr>
        <p:spPr bwMode="gray">
          <a:xfrm>
            <a:off x="38862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4" name="AutoShape 6"/>
          <p:cNvSpPr>
            <a:spLocks noChangeArrowheads="1"/>
          </p:cNvSpPr>
          <p:nvPr/>
        </p:nvSpPr>
        <p:spPr bwMode="gray">
          <a:xfrm>
            <a:off x="43434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5" name="AutoShape 6"/>
          <p:cNvSpPr>
            <a:spLocks noChangeArrowheads="1"/>
          </p:cNvSpPr>
          <p:nvPr/>
        </p:nvSpPr>
        <p:spPr bwMode="gray">
          <a:xfrm>
            <a:off x="48006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6" name="AutoShape 6"/>
          <p:cNvSpPr>
            <a:spLocks noChangeArrowheads="1"/>
          </p:cNvSpPr>
          <p:nvPr/>
        </p:nvSpPr>
        <p:spPr bwMode="gray">
          <a:xfrm>
            <a:off x="52578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7" name="AutoShape 6"/>
          <p:cNvSpPr>
            <a:spLocks noChangeArrowheads="1"/>
          </p:cNvSpPr>
          <p:nvPr/>
        </p:nvSpPr>
        <p:spPr bwMode="gray">
          <a:xfrm>
            <a:off x="57150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8" name="AutoShape 6"/>
          <p:cNvSpPr>
            <a:spLocks noChangeArrowheads="1"/>
          </p:cNvSpPr>
          <p:nvPr/>
        </p:nvSpPr>
        <p:spPr bwMode="gray">
          <a:xfrm>
            <a:off x="61722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29" name="AutoShape 6"/>
          <p:cNvSpPr>
            <a:spLocks noChangeArrowheads="1"/>
          </p:cNvSpPr>
          <p:nvPr/>
        </p:nvSpPr>
        <p:spPr bwMode="gray">
          <a:xfrm>
            <a:off x="66294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0" name="AutoShape 6"/>
          <p:cNvSpPr>
            <a:spLocks noChangeArrowheads="1"/>
          </p:cNvSpPr>
          <p:nvPr/>
        </p:nvSpPr>
        <p:spPr bwMode="gray">
          <a:xfrm>
            <a:off x="70866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1" name="AutoShape 6"/>
          <p:cNvSpPr>
            <a:spLocks noChangeArrowheads="1"/>
          </p:cNvSpPr>
          <p:nvPr/>
        </p:nvSpPr>
        <p:spPr bwMode="gray">
          <a:xfrm>
            <a:off x="7543800" y="49530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2" name="AutoShape 6"/>
          <p:cNvSpPr>
            <a:spLocks noChangeArrowheads="1"/>
          </p:cNvSpPr>
          <p:nvPr/>
        </p:nvSpPr>
        <p:spPr bwMode="gray">
          <a:xfrm>
            <a:off x="6858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3" name="AutoShape 6"/>
          <p:cNvSpPr>
            <a:spLocks noChangeArrowheads="1"/>
          </p:cNvSpPr>
          <p:nvPr/>
        </p:nvSpPr>
        <p:spPr bwMode="gray">
          <a:xfrm>
            <a:off x="11430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4" name="AutoShape 6"/>
          <p:cNvSpPr>
            <a:spLocks noChangeArrowheads="1"/>
          </p:cNvSpPr>
          <p:nvPr/>
        </p:nvSpPr>
        <p:spPr bwMode="gray">
          <a:xfrm>
            <a:off x="16002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5" name="AutoShape 6"/>
          <p:cNvSpPr>
            <a:spLocks noChangeArrowheads="1"/>
          </p:cNvSpPr>
          <p:nvPr/>
        </p:nvSpPr>
        <p:spPr bwMode="gray">
          <a:xfrm>
            <a:off x="20574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6" name="AutoShape 6"/>
          <p:cNvSpPr>
            <a:spLocks noChangeArrowheads="1"/>
          </p:cNvSpPr>
          <p:nvPr/>
        </p:nvSpPr>
        <p:spPr bwMode="gray">
          <a:xfrm>
            <a:off x="25146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7" name="AutoShape 6"/>
          <p:cNvSpPr>
            <a:spLocks noChangeArrowheads="1"/>
          </p:cNvSpPr>
          <p:nvPr/>
        </p:nvSpPr>
        <p:spPr bwMode="gray">
          <a:xfrm>
            <a:off x="29718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8" name="AutoShape 6"/>
          <p:cNvSpPr>
            <a:spLocks noChangeArrowheads="1"/>
          </p:cNvSpPr>
          <p:nvPr/>
        </p:nvSpPr>
        <p:spPr bwMode="gray">
          <a:xfrm>
            <a:off x="34290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39" name="AutoShape 6"/>
          <p:cNvSpPr>
            <a:spLocks noChangeArrowheads="1"/>
          </p:cNvSpPr>
          <p:nvPr/>
        </p:nvSpPr>
        <p:spPr bwMode="gray">
          <a:xfrm>
            <a:off x="38862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40" name="AutoShape 6"/>
          <p:cNvSpPr>
            <a:spLocks noChangeArrowheads="1"/>
          </p:cNvSpPr>
          <p:nvPr/>
        </p:nvSpPr>
        <p:spPr bwMode="gray">
          <a:xfrm>
            <a:off x="43434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41" name="AutoShape 6"/>
          <p:cNvSpPr>
            <a:spLocks noChangeArrowheads="1"/>
          </p:cNvSpPr>
          <p:nvPr/>
        </p:nvSpPr>
        <p:spPr bwMode="gray">
          <a:xfrm>
            <a:off x="48006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42" name="AutoShape 6"/>
          <p:cNvSpPr>
            <a:spLocks noChangeArrowheads="1"/>
          </p:cNvSpPr>
          <p:nvPr/>
        </p:nvSpPr>
        <p:spPr bwMode="gray">
          <a:xfrm>
            <a:off x="52578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43" name="AutoShape 6"/>
          <p:cNvSpPr>
            <a:spLocks noChangeArrowheads="1"/>
          </p:cNvSpPr>
          <p:nvPr/>
        </p:nvSpPr>
        <p:spPr bwMode="gray">
          <a:xfrm>
            <a:off x="57150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44" name="AutoShape 6"/>
          <p:cNvSpPr>
            <a:spLocks noChangeArrowheads="1"/>
          </p:cNvSpPr>
          <p:nvPr/>
        </p:nvSpPr>
        <p:spPr bwMode="gray">
          <a:xfrm>
            <a:off x="61722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45" name="AutoShape 6"/>
          <p:cNvSpPr>
            <a:spLocks noChangeArrowheads="1"/>
          </p:cNvSpPr>
          <p:nvPr/>
        </p:nvSpPr>
        <p:spPr bwMode="gray">
          <a:xfrm>
            <a:off x="66294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46" name="AutoShape 6"/>
          <p:cNvSpPr>
            <a:spLocks noChangeArrowheads="1"/>
          </p:cNvSpPr>
          <p:nvPr/>
        </p:nvSpPr>
        <p:spPr bwMode="gray">
          <a:xfrm>
            <a:off x="70866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47" name="AutoShape 6"/>
          <p:cNvSpPr>
            <a:spLocks noChangeArrowheads="1"/>
          </p:cNvSpPr>
          <p:nvPr/>
        </p:nvSpPr>
        <p:spPr bwMode="gray">
          <a:xfrm>
            <a:off x="7543800" y="54102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48" name="AutoShape 6"/>
          <p:cNvSpPr>
            <a:spLocks noChangeArrowheads="1"/>
          </p:cNvSpPr>
          <p:nvPr/>
        </p:nvSpPr>
        <p:spPr bwMode="gray">
          <a:xfrm>
            <a:off x="685800" y="58674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49" name="AutoShape 6"/>
          <p:cNvSpPr>
            <a:spLocks noChangeArrowheads="1"/>
          </p:cNvSpPr>
          <p:nvPr/>
        </p:nvSpPr>
        <p:spPr bwMode="gray">
          <a:xfrm>
            <a:off x="1143000" y="58674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50" name="AutoShape 6"/>
          <p:cNvSpPr>
            <a:spLocks noChangeArrowheads="1"/>
          </p:cNvSpPr>
          <p:nvPr/>
        </p:nvSpPr>
        <p:spPr bwMode="gray">
          <a:xfrm>
            <a:off x="1600200" y="58674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51" name="AutoShape 6"/>
          <p:cNvSpPr>
            <a:spLocks noChangeArrowheads="1"/>
          </p:cNvSpPr>
          <p:nvPr/>
        </p:nvSpPr>
        <p:spPr bwMode="gray">
          <a:xfrm>
            <a:off x="2057400" y="58674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52" name="AutoShape 6"/>
          <p:cNvSpPr>
            <a:spLocks noChangeArrowheads="1"/>
          </p:cNvSpPr>
          <p:nvPr/>
        </p:nvSpPr>
        <p:spPr bwMode="gray">
          <a:xfrm>
            <a:off x="2514600" y="58674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53" name="AutoShape 6"/>
          <p:cNvSpPr>
            <a:spLocks noChangeArrowheads="1"/>
          </p:cNvSpPr>
          <p:nvPr/>
        </p:nvSpPr>
        <p:spPr bwMode="gray">
          <a:xfrm>
            <a:off x="2971800" y="58674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54" name="AutoShape 6"/>
          <p:cNvSpPr>
            <a:spLocks noChangeArrowheads="1"/>
          </p:cNvSpPr>
          <p:nvPr/>
        </p:nvSpPr>
        <p:spPr bwMode="gray">
          <a:xfrm>
            <a:off x="3429000" y="58674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55" name="AutoShape 6"/>
          <p:cNvSpPr>
            <a:spLocks noChangeArrowheads="1"/>
          </p:cNvSpPr>
          <p:nvPr/>
        </p:nvSpPr>
        <p:spPr bwMode="gray">
          <a:xfrm>
            <a:off x="3886200" y="58674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56" name="AutoShape 6"/>
          <p:cNvSpPr>
            <a:spLocks noChangeArrowheads="1"/>
          </p:cNvSpPr>
          <p:nvPr/>
        </p:nvSpPr>
        <p:spPr bwMode="gray">
          <a:xfrm>
            <a:off x="4343400" y="58674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57" name="AutoShape 6"/>
          <p:cNvSpPr>
            <a:spLocks noChangeArrowheads="1"/>
          </p:cNvSpPr>
          <p:nvPr/>
        </p:nvSpPr>
        <p:spPr bwMode="gray">
          <a:xfrm>
            <a:off x="4800600" y="58674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58" name="AutoShape 6"/>
          <p:cNvSpPr>
            <a:spLocks noChangeArrowheads="1"/>
          </p:cNvSpPr>
          <p:nvPr/>
        </p:nvSpPr>
        <p:spPr bwMode="gray">
          <a:xfrm>
            <a:off x="5257800" y="58674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59" name="AutoShape 6"/>
          <p:cNvSpPr>
            <a:spLocks noChangeArrowheads="1"/>
          </p:cNvSpPr>
          <p:nvPr/>
        </p:nvSpPr>
        <p:spPr bwMode="gray">
          <a:xfrm>
            <a:off x="5715000" y="58674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60" name="AutoShape 6"/>
          <p:cNvSpPr>
            <a:spLocks noChangeArrowheads="1"/>
          </p:cNvSpPr>
          <p:nvPr/>
        </p:nvSpPr>
        <p:spPr bwMode="gray">
          <a:xfrm>
            <a:off x="6172200" y="58674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61" name="AutoShape 6"/>
          <p:cNvSpPr>
            <a:spLocks noChangeArrowheads="1"/>
          </p:cNvSpPr>
          <p:nvPr/>
        </p:nvSpPr>
        <p:spPr bwMode="gray">
          <a:xfrm>
            <a:off x="6629400" y="58674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62" name="AutoShape 6"/>
          <p:cNvSpPr>
            <a:spLocks noChangeArrowheads="1"/>
          </p:cNvSpPr>
          <p:nvPr/>
        </p:nvSpPr>
        <p:spPr bwMode="gray">
          <a:xfrm>
            <a:off x="7086600" y="58674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63" name="AutoShape 6"/>
          <p:cNvSpPr>
            <a:spLocks noChangeArrowheads="1"/>
          </p:cNvSpPr>
          <p:nvPr/>
        </p:nvSpPr>
        <p:spPr bwMode="gray">
          <a:xfrm>
            <a:off x="7543800" y="5867400"/>
            <a:ext cx="381000" cy="381000"/>
          </a:xfrm>
          <a:prstGeom prst="roundRect">
            <a:avLst>
              <a:gd name="adj" fmla="val 16667"/>
            </a:avLst>
          </a:prstGeom>
          <a:ln>
            <a:prstDash val="sys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64" name="AutoShape 6"/>
          <p:cNvSpPr>
            <a:spLocks noChangeArrowheads="1"/>
          </p:cNvSpPr>
          <p:nvPr/>
        </p:nvSpPr>
        <p:spPr bwMode="gray">
          <a:xfrm>
            <a:off x="685800" y="49530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65" name="AutoShape 6"/>
          <p:cNvSpPr>
            <a:spLocks noChangeArrowheads="1"/>
          </p:cNvSpPr>
          <p:nvPr/>
        </p:nvSpPr>
        <p:spPr bwMode="gray">
          <a:xfrm>
            <a:off x="1143000" y="49530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66" name="AutoShape 6"/>
          <p:cNvSpPr>
            <a:spLocks noChangeArrowheads="1"/>
          </p:cNvSpPr>
          <p:nvPr/>
        </p:nvSpPr>
        <p:spPr bwMode="gray">
          <a:xfrm>
            <a:off x="1600200" y="49530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67" name="AutoShape 6"/>
          <p:cNvSpPr>
            <a:spLocks noChangeArrowheads="1"/>
          </p:cNvSpPr>
          <p:nvPr/>
        </p:nvSpPr>
        <p:spPr bwMode="gray">
          <a:xfrm>
            <a:off x="2057400" y="49530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68" name="AutoShape 6"/>
          <p:cNvSpPr>
            <a:spLocks noChangeArrowheads="1"/>
          </p:cNvSpPr>
          <p:nvPr/>
        </p:nvSpPr>
        <p:spPr bwMode="gray">
          <a:xfrm>
            <a:off x="2514600" y="49530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69" name="AutoShape 6"/>
          <p:cNvSpPr>
            <a:spLocks noChangeArrowheads="1"/>
          </p:cNvSpPr>
          <p:nvPr/>
        </p:nvSpPr>
        <p:spPr bwMode="gray">
          <a:xfrm>
            <a:off x="2971800" y="49530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70" name="AutoShape 6"/>
          <p:cNvSpPr>
            <a:spLocks noChangeArrowheads="1"/>
          </p:cNvSpPr>
          <p:nvPr/>
        </p:nvSpPr>
        <p:spPr bwMode="gray">
          <a:xfrm>
            <a:off x="3429000" y="49530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/>
              <a:t>1</a:t>
            </a:r>
          </a:p>
        </p:txBody>
      </p:sp>
      <p:sp>
        <p:nvSpPr>
          <p:cNvPr id="71" name="AutoShape 6"/>
          <p:cNvSpPr>
            <a:spLocks noChangeArrowheads="1"/>
          </p:cNvSpPr>
          <p:nvPr/>
        </p:nvSpPr>
        <p:spPr bwMode="gray">
          <a:xfrm>
            <a:off x="3886200" y="49530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/>
              <a:t>7</a:t>
            </a:r>
          </a:p>
        </p:txBody>
      </p:sp>
      <p:sp>
        <p:nvSpPr>
          <p:cNvPr id="72" name="AutoShape 6"/>
          <p:cNvSpPr>
            <a:spLocks noChangeArrowheads="1"/>
          </p:cNvSpPr>
          <p:nvPr/>
        </p:nvSpPr>
        <p:spPr bwMode="gray">
          <a:xfrm>
            <a:off x="4343400" y="49530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/>
              <a:t>0</a:t>
            </a:r>
          </a:p>
        </p:txBody>
      </p:sp>
      <p:sp>
        <p:nvSpPr>
          <p:cNvPr id="73" name="AutoShape 6"/>
          <p:cNvSpPr>
            <a:spLocks noChangeArrowheads="1"/>
          </p:cNvSpPr>
          <p:nvPr/>
        </p:nvSpPr>
        <p:spPr bwMode="gray">
          <a:xfrm>
            <a:off x="4800600" y="49530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/>
              <a:t>6</a:t>
            </a:r>
          </a:p>
        </p:txBody>
      </p:sp>
      <p:sp>
        <p:nvSpPr>
          <p:cNvPr id="74" name="AutoShape 6"/>
          <p:cNvSpPr>
            <a:spLocks noChangeArrowheads="1"/>
          </p:cNvSpPr>
          <p:nvPr/>
        </p:nvSpPr>
        <p:spPr bwMode="gray">
          <a:xfrm>
            <a:off x="2971800" y="54102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/>
              <a:t>7</a:t>
            </a:r>
          </a:p>
        </p:txBody>
      </p:sp>
      <p:sp>
        <p:nvSpPr>
          <p:cNvPr id="75" name="AutoShape 6"/>
          <p:cNvSpPr>
            <a:spLocks noChangeArrowheads="1"/>
          </p:cNvSpPr>
          <p:nvPr/>
        </p:nvSpPr>
        <p:spPr bwMode="gray">
          <a:xfrm>
            <a:off x="3429000" y="54102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/>
              <a:t>6</a:t>
            </a:r>
          </a:p>
        </p:txBody>
      </p:sp>
      <p:sp>
        <p:nvSpPr>
          <p:cNvPr id="76" name="AutoShape 6"/>
          <p:cNvSpPr>
            <a:spLocks noChangeArrowheads="1"/>
          </p:cNvSpPr>
          <p:nvPr/>
        </p:nvSpPr>
        <p:spPr bwMode="gray">
          <a:xfrm>
            <a:off x="3886200" y="54102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/>
              <a:t>.</a:t>
            </a:r>
          </a:p>
        </p:txBody>
      </p:sp>
      <p:sp>
        <p:nvSpPr>
          <p:cNvPr id="77" name="AutoShape 6"/>
          <p:cNvSpPr>
            <a:spLocks noChangeArrowheads="1"/>
          </p:cNvSpPr>
          <p:nvPr/>
        </p:nvSpPr>
        <p:spPr bwMode="gray">
          <a:xfrm>
            <a:off x="4343400" y="54102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/>
              <a:t>8</a:t>
            </a:r>
          </a:p>
        </p:txBody>
      </p:sp>
      <p:sp>
        <p:nvSpPr>
          <p:cNvPr id="78" name="AutoShape 6"/>
          <p:cNvSpPr>
            <a:spLocks noChangeArrowheads="1"/>
          </p:cNvSpPr>
          <p:nvPr/>
        </p:nvSpPr>
        <p:spPr bwMode="gray">
          <a:xfrm>
            <a:off x="4800600" y="54102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/>
              <a:t>5</a:t>
            </a:r>
          </a:p>
        </p:txBody>
      </p:sp>
      <p:sp>
        <p:nvSpPr>
          <p:cNvPr id="79" name="AutoShape 6"/>
          <p:cNvSpPr>
            <a:spLocks noChangeArrowheads="1"/>
          </p:cNvSpPr>
          <p:nvPr/>
        </p:nvSpPr>
        <p:spPr bwMode="gray">
          <a:xfrm>
            <a:off x="685800" y="58674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/>
              <a:t>1</a:t>
            </a:r>
          </a:p>
        </p:txBody>
      </p:sp>
      <p:sp>
        <p:nvSpPr>
          <p:cNvPr id="80" name="AutoShape 6"/>
          <p:cNvSpPr>
            <a:spLocks noChangeArrowheads="1"/>
          </p:cNvSpPr>
          <p:nvPr/>
        </p:nvSpPr>
        <p:spPr bwMode="gray">
          <a:xfrm>
            <a:off x="1143000" y="58674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/>
              <a:t>7</a:t>
            </a:r>
          </a:p>
        </p:txBody>
      </p:sp>
      <p:sp>
        <p:nvSpPr>
          <p:cNvPr id="81" name="AutoShape 6"/>
          <p:cNvSpPr>
            <a:spLocks noChangeArrowheads="1"/>
          </p:cNvSpPr>
          <p:nvPr/>
        </p:nvSpPr>
        <p:spPr bwMode="gray">
          <a:xfrm>
            <a:off x="1600200" y="58674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/>
              <a:t>6</a:t>
            </a:r>
          </a:p>
        </p:txBody>
      </p:sp>
      <p:sp>
        <p:nvSpPr>
          <p:cNvPr id="82" name="AutoShape 6"/>
          <p:cNvSpPr>
            <a:spLocks noChangeArrowheads="1"/>
          </p:cNvSpPr>
          <p:nvPr/>
        </p:nvSpPr>
        <p:spPr bwMode="gray">
          <a:xfrm>
            <a:off x="2057400" y="58674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/>
              <a:t>.</a:t>
            </a:r>
          </a:p>
        </p:txBody>
      </p:sp>
      <p:sp>
        <p:nvSpPr>
          <p:cNvPr id="83" name="AutoShape 6"/>
          <p:cNvSpPr>
            <a:spLocks noChangeArrowheads="1"/>
          </p:cNvSpPr>
          <p:nvPr/>
        </p:nvSpPr>
        <p:spPr bwMode="gray">
          <a:xfrm>
            <a:off x="2514600" y="58674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/>
              <a:t>8</a:t>
            </a:r>
          </a:p>
        </p:txBody>
      </p:sp>
      <p:sp>
        <p:nvSpPr>
          <p:cNvPr id="84" name="AutoShape 6"/>
          <p:cNvSpPr>
            <a:spLocks noChangeArrowheads="1"/>
          </p:cNvSpPr>
          <p:nvPr/>
        </p:nvSpPr>
        <p:spPr bwMode="gray">
          <a:xfrm>
            <a:off x="2971800" y="58674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/>
              <a:t>5</a:t>
            </a:r>
          </a:p>
        </p:txBody>
      </p:sp>
      <p:sp>
        <p:nvSpPr>
          <p:cNvPr id="85" name="AutoShape 6"/>
          <p:cNvSpPr>
            <a:spLocks noChangeArrowheads="1"/>
          </p:cNvSpPr>
          <p:nvPr/>
        </p:nvSpPr>
        <p:spPr bwMode="gray">
          <a:xfrm>
            <a:off x="3429000" y="58674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86" name="AutoShape 6"/>
          <p:cNvSpPr>
            <a:spLocks noChangeArrowheads="1"/>
          </p:cNvSpPr>
          <p:nvPr/>
        </p:nvSpPr>
        <p:spPr bwMode="gray">
          <a:xfrm>
            <a:off x="3886200" y="58674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87" name="AutoShape 6"/>
          <p:cNvSpPr>
            <a:spLocks noChangeArrowheads="1"/>
          </p:cNvSpPr>
          <p:nvPr/>
        </p:nvSpPr>
        <p:spPr bwMode="gray">
          <a:xfrm>
            <a:off x="4343400" y="58674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88" name="AutoShape 6"/>
          <p:cNvSpPr>
            <a:spLocks noChangeArrowheads="1"/>
          </p:cNvSpPr>
          <p:nvPr/>
        </p:nvSpPr>
        <p:spPr bwMode="gray">
          <a:xfrm>
            <a:off x="4800600" y="58674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89" name="AutoShape 6"/>
          <p:cNvSpPr>
            <a:spLocks noChangeArrowheads="1"/>
          </p:cNvSpPr>
          <p:nvPr/>
        </p:nvSpPr>
        <p:spPr bwMode="gray">
          <a:xfrm>
            <a:off x="685800" y="54102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90" name="AutoShape 6"/>
          <p:cNvSpPr>
            <a:spLocks noChangeArrowheads="1"/>
          </p:cNvSpPr>
          <p:nvPr/>
        </p:nvSpPr>
        <p:spPr bwMode="gray">
          <a:xfrm>
            <a:off x="1143000" y="54102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91" name="AutoShape 6"/>
          <p:cNvSpPr>
            <a:spLocks noChangeArrowheads="1"/>
          </p:cNvSpPr>
          <p:nvPr/>
        </p:nvSpPr>
        <p:spPr bwMode="gray">
          <a:xfrm>
            <a:off x="1600200" y="54102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92" name="AutoShape 6"/>
          <p:cNvSpPr>
            <a:spLocks noChangeArrowheads="1"/>
          </p:cNvSpPr>
          <p:nvPr/>
        </p:nvSpPr>
        <p:spPr bwMode="gray">
          <a:xfrm>
            <a:off x="2057400" y="54102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endParaRPr lang="en-US"/>
          </a:p>
        </p:txBody>
      </p:sp>
      <p:sp>
        <p:nvSpPr>
          <p:cNvPr id="93" name="AutoShape 6"/>
          <p:cNvSpPr>
            <a:spLocks noChangeArrowheads="1"/>
          </p:cNvSpPr>
          <p:nvPr/>
        </p:nvSpPr>
        <p:spPr bwMode="gray">
          <a:xfrm>
            <a:off x="2514600" y="5410200"/>
            <a:ext cx="381000" cy="38100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0" hangingPunct="0">
              <a:defRPr/>
            </a:pPr>
            <a:r>
              <a:rPr lang="en-US"/>
              <a:t>1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015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Định dạng xuất (printf)</a:t>
            </a:r>
            <a:endParaRPr 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Phối hợp các thành phần</a:t>
            </a:r>
          </a:p>
          <a:p>
            <a:pPr lvl="1" eaLnBrk="1" hangingPunct="1">
              <a:defRPr/>
            </a:pPr>
            <a:r>
              <a:rPr lang="en-US" smtClean="0"/>
              <a:t>int a = 1, b = 2;</a:t>
            </a:r>
          </a:p>
          <a:p>
            <a:pPr lvl="1" eaLnBrk="1" hangingPunct="1">
              <a:defRPr/>
            </a:pPr>
            <a:r>
              <a:rPr lang="en-US" smtClean="0"/>
              <a:t>Xuất </a:t>
            </a:r>
            <a:r>
              <a:rPr lang="en-US" smtClean="0">
                <a:solidFill>
                  <a:srgbClr val="FF0000"/>
                </a:solidFill>
              </a:rPr>
              <a:t>1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cong </a:t>
            </a:r>
            <a:r>
              <a:rPr lang="en-US" smtClean="0">
                <a:solidFill>
                  <a:srgbClr val="FF0000"/>
                </a:solidFill>
              </a:rPr>
              <a:t>2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bang </a:t>
            </a:r>
            <a:r>
              <a:rPr lang="en-US" smtClean="0">
                <a:solidFill>
                  <a:srgbClr val="FF0000"/>
                </a:solidFill>
              </a:rPr>
              <a:t>3</a:t>
            </a:r>
            <a:r>
              <a:rPr lang="en-US" smtClean="0"/>
              <a:t> và </a:t>
            </a:r>
            <a:r>
              <a:rPr lang="en-US" smtClean="0">
                <a:solidFill>
                  <a:schemeClr val="accent2"/>
                </a:solidFill>
              </a:rPr>
              <a:t>xuống dòng</a:t>
            </a:r>
            <a:r>
              <a:rPr lang="en-US" smtClean="0"/>
              <a:t>.</a:t>
            </a:r>
          </a:p>
          <a:p>
            <a:pPr lvl="2" eaLnBrk="1" hangingPunct="1">
              <a:defRPr/>
            </a:pPr>
            <a:r>
              <a:rPr lang="en-US" smtClean="0"/>
              <a:t>printf(“</a:t>
            </a:r>
            <a:r>
              <a:rPr lang="en-US" smtClean="0">
                <a:solidFill>
                  <a:srgbClr val="FF0000"/>
                </a:solidFill>
              </a:rPr>
              <a:t>%d</a:t>
            </a:r>
            <a:r>
              <a:rPr lang="en-US" smtClean="0"/>
              <a:t>”, a);	// Xuất giá trị của biến a</a:t>
            </a:r>
          </a:p>
          <a:p>
            <a:pPr lvl="2" eaLnBrk="1" hangingPunct="1">
              <a:defRPr/>
            </a:pPr>
            <a:r>
              <a:rPr lang="en-US" smtClean="0"/>
              <a:t>printf(“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cong </a:t>
            </a:r>
            <a:r>
              <a:rPr lang="en-US" smtClean="0"/>
              <a:t>”);	// Xuất chuỗi “ cong ”</a:t>
            </a:r>
          </a:p>
          <a:p>
            <a:pPr lvl="2" eaLnBrk="1" hangingPunct="1">
              <a:defRPr/>
            </a:pPr>
            <a:r>
              <a:rPr lang="en-US" smtClean="0"/>
              <a:t>printf(“</a:t>
            </a:r>
            <a:r>
              <a:rPr lang="en-US" smtClean="0">
                <a:solidFill>
                  <a:srgbClr val="FF0000"/>
                </a:solidFill>
              </a:rPr>
              <a:t>%d</a:t>
            </a:r>
            <a:r>
              <a:rPr lang="en-US" smtClean="0"/>
              <a:t>”, b);	// Xuất giá trị của biến b</a:t>
            </a:r>
          </a:p>
          <a:p>
            <a:pPr lvl="2" eaLnBrk="1" hangingPunct="1">
              <a:defRPr/>
            </a:pPr>
            <a:r>
              <a:rPr lang="en-US" smtClean="0"/>
              <a:t>printf(“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bang </a:t>
            </a:r>
            <a:r>
              <a:rPr lang="en-US" smtClean="0"/>
              <a:t>”);	// Xuất chuỗi “ bang ”</a:t>
            </a:r>
          </a:p>
          <a:p>
            <a:pPr lvl="2" eaLnBrk="1" hangingPunct="1">
              <a:defRPr/>
            </a:pPr>
            <a:r>
              <a:rPr lang="en-US" smtClean="0"/>
              <a:t>printf(“</a:t>
            </a:r>
            <a:r>
              <a:rPr lang="en-US" smtClean="0">
                <a:solidFill>
                  <a:srgbClr val="FF0000"/>
                </a:solidFill>
              </a:rPr>
              <a:t>%d</a:t>
            </a:r>
            <a:r>
              <a:rPr lang="en-US" smtClean="0"/>
              <a:t>”, a + b);	// Xuất giá trị của a + b</a:t>
            </a:r>
          </a:p>
          <a:p>
            <a:pPr lvl="2" eaLnBrk="1" hangingPunct="1">
              <a:defRPr/>
            </a:pPr>
            <a:r>
              <a:rPr lang="en-US" smtClean="0"/>
              <a:t>printf(“</a:t>
            </a:r>
            <a:r>
              <a:rPr lang="en-US" smtClean="0">
                <a:solidFill>
                  <a:schemeClr val="accent2"/>
                </a:solidFill>
              </a:rPr>
              <a:t>\n</a:t>
            </a:r>
            <a:r>
              <a:rPr lang="en-US" smtClean="0"/>
              <a:t>”);		// Xuất </a:t>
            </a:r>
            <a:r>
              <a:rPr lang="vi-VN" smtClean="0"/>
              <a:t>đ</a:t>
            </a:r>
            <a:r>
              <a:rPr lang="en-US" smtClean="0"/>
              <a:t>iều khiển xuống dòng \n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smtClean="0">
                <a:sym typeface="Wingdings" pitchFamily="2" charset="2"/>
              </a:rPr>
              <a:t>	 printf(“</a:t>
            </a:r>
            <a:r>
              <a:rPr lang="en-US" smtClean="0">
                <a:solidFill>
                  <a:srgbClr val="FF0000"/>
                </a:solidFill>
                <a:sym typeface="Wingdings" pitchFamily="2" charset="2"/>
              </a:rPr>
              <a:t>%d</a:t>
            </a:r>
            <a:r>
              <a:rPr lang="en-US" smtClean="0">
                <a:sym typeface="Wingdings" pitchFamily="2" charset="2"/>
              </a:rPr>
              <a:t> 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  <a:sym typeface="Wingdings" pitchFamily="2" charset="2"/>
              </a:rPr>
              <a:t>cong</a:t>
            </a:r>
            <a:r>
              <a:rPr lang="en-US" smtClean="0">
                <a:sym typeface="Wingdings" pitchFamily="2" charset="2"/>
              </a:rPr>
              <a:t> </a:t>
            </a:r>
            <a:r>
              <a:rPr lang="en-US" smtClean="0">
                <a:solidFill>
                  <a:srgbClr val="FF0000"/>
                </a:solidFill>
                <a:sym typeface="Wingdings" pitchFamily="2" charset="2"/>
              </a:rPr>
              <a:t>%d</a:t>
            </a:r>
            <a:r>
              <a:rPr lang="en-US" smtClean="0">
                <a:sym typeface="Wingdings" pitchFamily="2" charset="2"/>
              </a:rPr>
              <a:t> 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  <a:sym typeface="Wingdings" pitchFamily="2" charset="2"/>
              </a:rPr>
              <a:t>bang</a:t>
            </a:r>
            <a:r>
              <a:rPr lang="en-US" smtClean="0">
                <a:sym typeface="Wingdings" pitchFamily="2" charset="2"/>
              </a:rPr>
              <a:t> </a:t>
            </a:r>
            <a:r>
              <a:rPr lang="en-US" smtClean="0">
                <a:solidFill>
                  <a:srgbClr val="FF0000"/>
                </a:solidFill>
                <a:sym typeface="Wingdings" pitchFamily="2" charset="2"/>
              </a:rPr>
              <a:t>%d</a:t>
            </a:r>
            <a:r>
              <a:rPr lang="en-US" smtClean="0">
                <a:solidFill>
                  <a:schemeClr val="accent2"/>
                </a:solidFill>
                <a:sym typeface="Wingdings" pitchFamily="2" charset="2"/>
              </a:rPr>
              <a:t>\n</a:t>
            </a:r>
            <a:r>
              <a:rPr lang="en-US" smtClean="0">
                <a:sym typeface="Wingdings" pitchFamily="2" charset="2"/>
              </a:rPr>
              <a:t>”, a, b, a+b);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795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 nhập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Có 2 cách:</a:t>
            </a:r>
          </a:p>
          <a:p>
            <a:pPr marL="0" indent="0" eaLnBrk="1" hangingPunct="1">
              <a:buNone/>
              <a:defRPr/>
            </a:pPr>
            <a:r>
              <a:rPr lang="en-US" smtClean="0"/>
              <a:t>	- Sử dụng lệnh nhập trong C++: cin</a:t>
            </a:r>
          </a:p>
          <a:p>
            <a:pPr marL="0" indent="0" eaLnBrk="1" hangingPunct="1">
              <a:buNone/>
              <a:defRPr/>
            </a:pPr>
            <a:r>
              <a:rPr lang="en-US"/>
              <a:t>	</a:t>
            </a:r>
            <a:r>
              <a:rPr lang="en-US" smtClean="0"/>
              <a:t>- Sử dụng lệnh nhập trong C: scanf</a:t>
            </a:r>
          </a:p>
          <a:p>
            <a:pPr eaLnBrk="1" hangingPunct="1">
              <a:defRPr/>
            </a:pPr>
            <a:r>
              <a:rPr lang="en-US" smtClean="0"/>
              <a:t>Lựa chọn tùy thuộc vào lập trình viên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40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 nhập cin (C++)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Th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viện</a:t>
            </a:r>
          </a:p>
          <a:p>
            <a:pPr marL="0" indent="0">
              <a:buNone/>
            </a:pPr>
            <a:r>
              <a:rPr lang="en-US" smtClean="0"/>
              <a:t>	</a:t>
            </a:r>
            <a:r>
              <a:rPr lang="en-US" sz="2400" smtClean="0"/>
              <a:t>#</a:t>
            </a:r>
            <a:r>
              <a:rPr lang="en-US" sz="2400"/>
              <a:t>include &lt;iostream&gt;</a:t>
            </a:r>
          </a:p>
          <a:p>
            <a:pPr marL="0" indent="0">
              <a:buNone/>
            </a:pPr>
            <a:r>
              <a:rPr lang="en-US" sz="2400" smtClean="0"/>
              <a:t>	using </a:t>
            </a:r>
            <a:r>
              <a:rPr lang="en-US" sz="2400"/>
              <a:t>namespace std;</a:t>
            </a:r>
            <a:endParaRPr lang="en-US" sz="2400" smtClean="0"/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Cú pháp</a:t>
            </a:r>
          </a:p>
          <a:p>
            <a:pPr marL="0" indent="0">
              <a:buNone/>
              <a:defRPr/>
            </a:pPr>
            <a:r>
              <a:rPr lang="en-US" smtClean="0"/>
              <a:t>	</a:t>
            </a:r>
            <a:r>
              <a:rPr lang="en-US" sz="2000"/>
              <a:t>cin &gt;&gt; Tham_số_1 &gt;&gt; Tham_số_2 &gt;&gt; ... &gt;&gt; Tham_số_k</a:t>
            </a:r>
            <a:r>
              <a:rPr lang="en-US" sz="2000" smtClean="0"/>
              <a:t>;</a:t>
            </a:r>
          </a:p>
          <a:p>
            <a:pPr marL="339725" indent="0">
              <a:buNone/>
              <a:defRPr/>
            </a:pPr>
            <a:r>
              <a:rPr lang="en-US" sz="240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Lưu ý: tham số không có dạng chuỗi</a:t>
            </a:r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 marL="0" indent="0">
              <a:buNone/>
            </a:pPr>
            <a:r>
              <a:rPr lang="en-US" smtClean="0"/>
              <a:t>	</a:t>
            </a:r>
            <a:r>
              <a:rPr lang="en-US" sz="2400" smtClean="0"/>
              <a:t>int i;</a:t>
            </a:r>
            <a:endParaRPr lang="en-US" sz="2400"/>
          </a:p>
          <a:p>
            <a:pPr marL="0" indent="0">
              <a:buNone/>
            </a:pPr>
            <a:r>
              <a:rPr lang="en-US" sz="2400" smtClean="0"/>
              <a:t>	cin&gt;&gt;i;</a:t>
            </a:r>
          </a:p>
          <a:p>
            <a:pPr marL="0" indent="0">
              <a:buNone/>
            </a:pPr>
            <a:r>
              <a:rPr lang="en-US" sz="2400">
                <a:solidFill>
                  <a:schemeClr val="tx1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240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int a,b;</a:t>
            </a:r>
          </a:p>
          <a:p>
            <a:pPr marL="0" indent="0">
              <a:buNone/>
            </a:pPr>
            <a:r>
              <a:rPr lang="en-US" sz="2400">
                <a:solidFill>
                  <a:schemeClr val="tx1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240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cin&gt;&gt;a&gt;&gt;b;</a:t>
            </a:r>
          </a:p>
          <a:p>
            <a:pPr lvl="1">
              <a:defRPr/>
            </a:pP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6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 nhập scanf (C)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Th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viện</a:t>
            </a:r>
          </a:p>
          <a:p>
            <a:pPr lvl="1" eaLnBrk="1" hangingPunct="1">
              <a:defRPr/>
            </a:pPr>
            <a:r>
              <a:rPr lang="en-US" smtClean="0"/>
              <a:t>#include &lt;stdio.h&gt; (</a:t>
            </a:r>
            <a:r>
              <a:rPr lang="en-US" smtClean="0">
                <a:solidFill>
                  <a:srgbClr val="FF0000"/>
                </a:solidFill>
              </a:rPr>
              <a:t>st</a:t>
            </a:r>
            <a:r>
              <a:rPr lang="en-US" smtClean="0"/>
              <a:t>andar</a:t>
            </a:r>
            <a:r>
              <a:rPr lang="en-US" smtClean="0">
                <a:solidFill>
                  <a:srgbClr val="FF0000"/>
                </a:solidFill>
              </a:rPr>
              <a:t>d</a:t>
            </a:r>
            <a:r>
              <a:rPr lang="en-US" smtClean="0"/>
              <a:t> </a:t>
            </a:r>
            <a:r>
              <a:rPr lang="en-US" smtClean="0">
                <a:solidFill>
                  <a:srgbClr val="FF0000"/>
                </a:solidFill>
              </a:rPr>
              <a:t>i</a:t>
            </a:r>
            <a:r>
              <a:rPr lang="en-US" smtClean="0"/>
              <a:t>nput/</a:t>
            </a:r>
            <a:r>
              <a:rPr lang="en-US" smtClean="0">
                <a:solidFill>
                  <a:srgbClr val="FF0000"/>
                </a:solidFill>
              </a:rPr>
              <a:t>o</a:t>
            </a:r>
            <a:r>
              <a:rPr lang="en-US" smtClean="0"/>
              <a:t>utput)</a:t>
            </a:r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Cú pháp</a:t>
            </a:r>
          </a:p>
          <a:p>
            <a:pPr lvl="1" eaLnBrk="1" hangingPunct="1">
              <a:defRPr/>
            </a:pPr>
            <a:r>
              <a:rPr lang="en-US" smtClean="0">
                <a:solidFill>
                  <a:srgbClr val="FF0000"/>
                </a:solidFill>
              </a:rPr>
              <a:t>scanf(&lt;chuỗi </a:t>
            </a:r>
            <a:r>
              <a:rPr lang="vi-VN" smtClean="0">
                <a:solidFill>
                  <a:srgbClr val="FF0000"/>
                </a:solidFill>
              </a:rPr>
              <a:t>đị</a:t>
            </a:r>
            <a:r>
              <a:rPr lang="en-US" smtClean="0">
                <a:solidFill>
                  <a:srgbClr val="FF0000"/>
                </a:solidFill>
              </a:rPr>
              <a:t>nh dạng&gt;[, &lt;</a:t>
            </a:r>
            <a:r>
              <a:rPr lang="vi-VN" smtClean="0">
                <a:solidFill>
                  <a:srgbClr val="FF0000"/>
                </a:solidFill>
              </a:rPr>
              <a:t>đ</a:t>
            </a:r>
            <a:r>
              <a:rPr lang="en-US" smtClean="0">
                <a:solidFill>
                  <a:srgbClr val="FF0000"/>
                </a:solidFill>
              </a:rPr>
              <a:t>s1&gt;, &lt;</a:t>
            </a:r>
            <a:r>
              <a:rPr lang="vi-VN" smtClean="0">
                <a:solidFill>
                  <a:srgbClr val="FF0000"/>
                </a:solidFill>
              </a:rPr>
              <a:t>đ</a:t>
            </a:r>
            <a:r>
              <a:rPr lang="en-US" smtClean="0">
                <a:solidFill>
                  <a:srgbClr val="FF0000"/>
                </a:solidFill>
              </a:rPr>
              <a:t>s1&gt;, …]);</a:t>
            </a:r>
          </a:p>
          <a:p>
            <a:pPr lvl="1" eaLnBrk="1" hangingPunct="1">
              <a:defRPr/>
            </a:pPr>
            <a:r>
              <a:rPr lang="en-US" smtClean="0"/>
              <a:t>&lt;chuỗi </a:t>
            </a:r>
            <a:r>
              <a:rPr lang="vi-VN" smtClean="0"/>
              <a:t>đị</a:t>
            </a:r>
            <a:r>
              <a:rPr lang="en-US" smtClean="0"/>
              <a:t>nh dạng&gt; giống </a:t>
            </a:r>
            <a:r>
              <a:rPr lang="vi-VN" smtClean="0"/>
              <a:t>đị</a:t>
            </a:r>
            <a:r>
              <a:rPr lang="en-US" smtClean="0"/>
              <a:t>nh dạng xuất nh</a:t>
            </a:r>
            <a:r>
              <a:rPr lang="vi-VN" smtClean="0"/>
              <a:t>ư</a:t>
            </a:r>
            <a:r>
              <a:rPr lang="en-US" smtClean="0"/>
              <a:t>ng chỉ có các </a:t>
            </a:r>
            <a:r>
              <a:rPr lang="vi-VN" smtClean="0"/>
              <a:t>đặ</a:t>
            </a:r>
            <a:r>
              <a:rPr lang="en-US" smtClean="0"/>
              <a:t>c tả.</a:t>
            </a:r>
          </a:p>
          <a:p>
            <a:pPr lvl="1" eaLnBrk="1" hangingPunct="1">
              <a:defRPr/>
            </a:pPr>
            <a:r>
              <a:rPr lang="en-US" smtClean="0"/>
              <a:t>Các </a:t>
            </a:r>
            <a:r>
              <a:rPr lang="vi-VN" smtClean="0"/>
              <a:t>đố</a:t>
            </a:r>
            <a:r>
              <a:rPr lang="en-US" smtClean="0"/>
              <a:t>i số là tên các biến sẽ chứa giá trị nhập và </a:t>
            </a:r>
            <a:r>
              <a:rPr lang="vi-VN" smtClean="0"/>
              <a:t>đượ</a:t>
            </a:r>
            <a:r>
              <a:rPr lang="en-US" smtClean="0"/>
              <a:t>c </a:t>
            </a:r>
            <a:r>
              <a:rPr lang="vi-VN" smtClean="0"/>
              <a:t>đặ</a:t>
            </a:r>
            <a:r>
              <a:rPr lang="en-US" smtClean="0"/>
              <a:t>t tr</a:t>
            </a:r>
            <a:r>
              <a:rPr lang="vi-VN" smtClean="0"/>
              <a:t>ướ</a:t>
            </a:r>
            <a:r>
              <a:rPr lang="en-US" smtClean="0"/>
              <a:t>c dấu </a:t>
            </a:r>
            <a:r>
              <a:rPr lang="en-US" smtClean="0">
                <a:solidFill>
                  <a:srgbClr val="FF0000"/>
                </a:solidFill>
              </a:rPr>
              <a:t>&amp;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02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 nhập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dụ, cho a và b kiểu số nguyên</a:t>
            </a:r>
          </a:p>
          <a:p>
            <a:pPr lvl="1" eaLnBrk="1" hangingPunct="1">
              <a:defRPr/>
            </a:pPr>
            <a:r>
              <a:rPr lang="en-US" smtClean="0"/>
              <a:t>scanf(“%d”, </a:t>
            </a:r>
            <a:r>
              <a:rPr lang="en-US" smtClean="0">
                <a:solidFill>
                  <a:srgbClr val="FF0000"/>
                </a:solidFill>
              </a:rPr>
              <a:t>&amp;</a:t>
            </a:r>
            <a:r>
              <a:rPr lang="en-US" smtClean="0"/>
              <a:t>a);	//</a:t>
            </a:r>
            <a:r>
              <a:rPr lang="en-US" smtClean="0">
                <a:sym typeface="Wingdings" pitchFamily="2" charset="2"/>
              </a:rPr>
              <a:t> Nhập giá trị cho biến a</a:t>
            </a:r>
            <a:endParaRPr lang="en-US" smtClean="0"/>
          </a:p>
          <a:p>
            <a:pPr lvl="1" eaLnBrk="1" hangingPunct="1">
              <a:defRPr/>
            </a:pPr>
            <a:r>
              <a:rPr lang="en-US" smtClean="0"/>
              <a:t>scanf(“%d”, </a:t>
            </a:r>
            <a:r>
              <a:rPr lang="en-US" smtClean="0">
                <a:solidFill>
                  <a:srgbClr val="FF0000"/>
                </a:solidFill>
              </a:rPr>
              <a:t>&amp;</a:t>
            </a:r>
            <a:r>
              <a:rPr lang="en-US" smtClean="0"/>
              <a:t>b);	//</a:t>
            </a:r>
            <a:r>
              <a:rPr lang="en-US" smtClean="0">
                <a:sym typeface="Wingdings" pitchFamily="2" charset="2"/>
              </a:rPr>
              <a:t> Nhập giá trị cho biến b</a:t>
            </a:r>
          </a:p>
          <a:p>
            <a:pPr lvl="1" eaLnBrk="1" hangingPunct="1">
              <a:defRPr/>
            </a:pPr>
            <a:r>
              <a:rPr lang="en-US" smtClean="0">
                <a:sym typeface="Wingdings" pitchFamily="2" charset="2"/>
              </a:rPr>
              <a:t> scanf(“%d%d”, </a:t>
            </a:r>
            <a:r>
              <a:rPr lang="en-US" smtClean="0">
                <a:solidFill>
                  <a:srgbClr val="FF0000"/>
                </a:solidFill>
                <a:sym typeface="Wingdings" pitchFamily="2" charset="2"/>
              </a:rPr>
              <a:t>&amp;</a:t>
            </a:r>
            <a:r>
              <a:rPr lang="en-US" smtClean="0">
                <a:sym typeface="Wingdings" pitchFamily="2" charset="2"/>
              </a:rPr>
              <a:t>a, </a:t>
            </a:r>
            <a:r>
              <a:rPr lang="en-US" smtClean="0">
                <a:solidFill>
                  <a:srgbClr val="FF0000"/>
                </a:solidFill>
                <a:sym typeface="Wingdings" pitchFamily="2" charset="2"/>
              </a:rPr>
              <a:t>&amp;</a:t>
            </a:r>
            <a:r>
              <a:rPr lang="en-US" smtClean="0">
                <a:sym typeface="Wingdings" pitchFamily="2" charset="2"/>
              </a:rPr>
              <a:t>b);</a:t>
            </a:r>
          </a:p>
          <a:p>
            <a:pPr lvl="1" eaLnBrk="1" hangingPunct="1">
              <a:defRPr/>
            </a:pPr>
            <a:r>
              <a:rPr lang="en-US" smtClean="0">
                <a:sym typeface="Wingdings" pitchFamily="2" charset="2"/>
              </a:rPr>
              <a:t>Các câu lệnh sau </a:t>
            </a:r>
            <a:r>
              <a:rPr lang="vi-VN" smtClean="0">
                <a:sym typeface="Wingdings" pitchFamily="2" charset="2"/>
              </a:rPr>
              <a:t>đâ</a:t>
            </a:r>
            <a:r>
              <a:rPr lang="en-US" smtClean="0">
                <a:sym typeface="Wingdings" pitchFamily="2" charset="2"/>
              </a:rPr>
              <a:t>y sai</a:t>
            </a:r>
          </a:p>
          <a:p>
            <a:pPr lvl="2" eaLnBrk="1" hangingPunct="1">
              <a:defRPr/>
            </a:pPr>
            <a:r>
              <a:rPr lang="en-US" smtClean="0">
                <a:sym typeface="Wingdings" pitchFamily="2" charset="2"/>
              </a:rPr>
              <a:t>scanf(“%d”, a);	// Thiếu dấu </a:t>
            </a:r>
            <a:r>
              <a:rPr lang="en-US" smtClean="0">
                <a:solidFill>
                  <a:srgbClr val="FF0000"/>
                </a:solidFill>
                <a:sym typeface="Wingdings" pitchFamily="2" charset="2"/>
              </a:rPr>
              <a:t>&amp;</a:t>
            </a:r>
          </a:p>
          <a:p>
            <a:pPr lvl="2" eaLnBrk="1" hangingPunct="1">
              <a:defRPr/>
            </a:pPr>
            <a:r>
              <a:rPr lang="en-US" smtClean="0">
                <a:sym typeface="Wingdings" pitchFamily="2" charset="2"/>
              </a:rPr>
              <a:t>scanf(“%d”, &amp;a, &amp;b);// Thiếu %d cho biến b</a:t>
            </a:r>
            <a:endParaRPr lang="en-US" smtClean="0">
              <a:solidFill>
                <a:srgbClr val="FF0000"/>
              </a:solidFill>
              <a:sym typeface="Wingdings" pitchFamily="2" charset="2"/>
            </a:endParaRPr>
          </a:p>
          <a:p>
            <a:pPr lvl="2" eaLnBrk="1" hangingPunct="1">
              <a:defRPr/>
            </a:pPr>
            <a:r>
              <a:rPr lang="en-US" smtClean="0">
                <a:sym typeface="Wingdings" pitchFamily="2" charset="2"/>
              </a:rPr>
              <a:t>scanf(“%</a:t>
            </a:r>
            <a:r>
              <a:rPr lang="en-US" smtClean="0">
                <a:solidFill>
                  <a:srgbClr val="FF0000"/>
                </a:solidFill>
                <a:sym typeface="Wingdings" pitchFamily="2" charset="2"/>
              </a:rPr>
              <a:t>f</a:t>
            </a:r>
            <a:r>
              <a:rPr lang="en-US" smtClean="0">
                <a:sym typeface="Wingdings" pitchFamily="2" charset="2"/>
              </a:rPr>
              <a:t>”, &amp;a);	// a là biến kiểu số nguyên</a:t>
            </a:r>
          </a:p>
          <a:p>
            <a:pPr lvl="2" eaLnBrk="1" hangingPunct="1">
              <a:defRPr/>
            </a:pPr>
            <a:r>
              <a:rPr lang="en-US" smtClean="0">
                <a:sym typeface="Wingdings" pitchFamily="2" charset="2"/>
              </a:rPr>
              <a:t>scanf(“%</a:t>
            </a:r>
            <a:r>
              <a:rPr lang="en-US" smtClean="0">
                <a:solidFill>
                  <a:srgbClr val="FF0000"/>
                </a:solidFill>
                <a:sym typeface="Wingdings" pitchFamily="2" charset="2"/>
              </a:rPr>
              <a:t>9</a:t>
            </a:r>
            <a:r>
              <a:rPr lang="en-US" smtClean="0">
                <a:sym typeface="Wingdings" pitchFamily="2" charset="2"/>
              </a:rPr>
              <a:t>d”, &amp;a);	// không </a:t>
            </a:r>
            <a:r>
              <a:rPr lang="vi-VN" smtClean="0">
                <a:sym typeface="Wingdings" pitchFamily="2" charset="2"/>
              </a:rPr>
              <a:t>đượ</a:t>
            </a:r>
            <a:r>
              <a:rPr lang="en-US" smtClean="0">
                <a:sym typeface="Wingdings" pitchFamily="2" charset="2"/>
              </a:rPr>
              <a:t>c </a:t>
            </a:r>
            <a:r>
              <a:rPr lang="vi-VN" smtClean="0">
                <a:sym typeface="Wingdings" pitchFamily="2" charset="2"/>
              </a:rPr>
              <a:t>đị</a:t>
            </a:r>
            <a:r>
              <a:rPr lang="en-US" smtClean="0">
                <a:sym typeface="Wingdings" pitchFamily="2" charset="2"/>
              </a:rPr>
              <a:t>nh dạng</a:t>
            </a:r>
          </a:p>
          <a:p>
            <a:pPr lvl="2" eaLnBrk="1" hangingPunct="1">
              <a:defRPr/>
            </a:pPr>
            <a:r>
              <a:rPr lang="en-US" smtClean="0">
                <a:sym typeface="Wingdings" pitchFamily="2" charset="2"/>
              </a:rPr>
              <a:t>scanf(“</a:t>
            </a:r>
            <a:r>
              <a:rPr lang="en-US" smtClean="0">
                <a:solidFill>
                  <a:srgbClr val="FF0000"/>
                </a:solidFill>
                <a:sym typeface="Wingdings" pitchFamily="2" charset="2"/>
              </a:rPr>
              <a:t>a = </a:t>
            </a:r>
            <a:r>
              <a:rPr lang="en-US" smtClean="0">
                <a:sym typeface="Wingdings" pitchFamily="2" charset="2"/>
              </a:rPr>
              <a:t>%d</a:t>
            </a:r>
            <a:r>
              <a:rPr lang="en-US" smtClean="0">
                <a:solidFill>
                  <a:srgbClr val="FF0000"/>
                </a:solidFill>
                <a:sym typeface="Wingdings" pitchFamily="2" charset="2"/>
              </a:rPr>
              <a:t>, b = </a:t>
            </a:r>
            <a:r>
              <a:rPr lang="en-US" smtClean="0">
                <a:sym typeface="Wingdings" pitchFamily="2" charset="2"/>
              </a:rPr>
              <a:t>%d”, &amp;a, &amp;b”);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66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Một số hàm hữu ích khác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Các hàm trong th</a:t>
            </a:r>
            <a:r>
              <a:rPr lang="vi-VN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ư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việc toán học</a:t>
            </a:r>
          </a:p>
          <a:p>
            <a:pPr lvl="1" eaLnBrk="1" hangingPunct="1">
              <a:defRPr/>
            </a:pPr>
            <a:r>
              <a:rPr lang="en-US" smtClean="0"/>
              <a:t>#include &lt;math.h&gt;</a:t>
            </a:r>
          </a:p>
          <a:p>
            <a:pPr lvl="1" eaLnBrk="1" hangingPunct="1">
              <a:defRPr/>
            </a:pPr>
            <a:r>
              <a:rPr lang="en-US" smtClean="0"/>
              <a:t>1 </a:t>
            </a:r>
            <a:r>
              <a:rPr lang="vi-VN" smtClean="0"/>
              <a:t>đ</a:t>
            </a:r>
            <a:r>
              <a:rPr lang="en-US" smtClean="0"/>
              <a:t>ầu vào: </a:t>
            </a:r>
            <a:r>
              <a:rPr lang="en-US" smtClean="0">
                <a:solidFill>
                  <a:srgbClr val="FF0000"/>
                </a:solidFill>
              </a:rPr>
              <a:t>double</a:t>
            </a:r>
            <a:r>
              <a:rPr lang="en-US" smtClean="0"/>
              <a:t>, Trả kết quả: </a:t>
            </a:r>
            <a:r>
              <a:rPr lang="en-US" smtClean="0">
                <a:solidFill>
                  <a:srgbClr val="FF0000"/>
                </a:solidFill>
              </a:rPr>
              <a:t>double</a:t>
            </a:r>
          </a:p>
          <a:p>
            <a:pPr lvl="2" eaLnBrk="1" hangingPunct="1">
              <a:defRPr/>
            </a:pPr>
            <a:r>
              <a:rPr lang="en-US" smtClean="0"/>
              <a:t>acos, asin, atan, cos, sin, …</a:t>
            </a:r>
          </a:p>
          <a:p>
            <a:pPr lvl="2" eaLnBrk="1" hangingPunct="1">
              <a:defRPr/>
            </a:pPr>
            <a:r>
              <a:rPr lang="en-US" smtClean="0"/>
              <a:t>exp, log, log10</a:t>
            </a:r>
          </a:p>
          <a:p>
            <a:pPr lvl="2" eaLnBrk="1" hangingPunct="1">
              <a:defRPr/>
            </a:pPr>
            <a:r>
              <a:rPr lang="en-US" smtClean="0"/>
              <a:t>sqrt</a:t>
            </a:r>
          </a:p>
          <a:p>
            <a:pPr lvl="2" eaLnBrk="1" hangingPunct="1">
              <a:defRPr/>
            </a:pPr>
            <a:r>
              <a:rPr lang="en-US" smtClean="0"/>
              <a:t>ceil, floor</a:t>
            </a:r>
          </a:p>
          <a:p>
            <a:pPr lvl="2" eaLnBrk="1" hangingPunct="1">
              <a:defRPr/>
            </a:pPr>
            <a:r>
              <a:rPr lang="en-US" smtClean="0"/>
              <a:t>abs, fabs</a:t>
            </a:r>
          </a:p>
          <a:p>
            <a:pPr lvl="1" eaLnBrk="1" hangingPunct="1">
              <a:defRPr/>
            </a:pPr>
            <a:r>
              <a:rPr lang="en-US" smtClean="0"/>
              <a:t>2 </a:t>
            </a:r>
            <a:r>
              <a:rPr lang="vi-VN" smtClean="0"/>
              <a:t>đ</a:t>
            </a:r>
            <a:r>
              <a:rPr lang="en-US" smtClean="0"/>
              <a:t>ầu vào: </a:t>
            </a:r>
            <a:r>
              <a:rPr lang="en-US" smtClean="0">
                <a:solidFill>
                  <a:srgbClr val="FF0000"/>
                </a:solidFill>
              </a:rPr>
              <a:t>double</a:t>
            </a:r>
            <a:r>
              <a:rPr lang="en-US" smtClean="0"/>
              <a:t>, Trả kết quả: </a:t>
            </a:r>
            <a:r>
              <a:rPr lang="en-US" smtClean="0">
                <a:solidFill>
                  <a:srgbClr val="FF0000"/>
                </a:solidFill>
              </a:rPr>
              <a:t>double</a:t>
            </a:r>
          </a:p>
          <a:p>
            <a:pPr lvl="2" eaLnBrk="1" hangingPunct="1">
              <a:defRPr/>
            </a:pPr>
            <a:r>
              <a:rPr lang="en-US" smtClean="0"/>
              <a:t>double pow(double x, double y)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949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Một số hàm hữu ích khác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 lvl="1" eaLnBrk="1" hangingPunct="1">
              <a:defRPr/>
            </a:pPr>
            <a:r>
              <a:rPr lang="en-US" smtClean="0"/>
              <a:t>int x = 4, y = 3, z = -5;</a:t>
            </a:r>
          </a:p>
          <a:p>
            <a:pPr lvl="1" eaLnBrk="1" hangingPunct="1">
              <a:defRPr/>
            </a:pPr>
            <a:r>
              <a:rPr lang="en-US" smtClean="0"/>
              <a:t>float t = -1.2;</a:t>
            </a:r>
          </a:p>
          <a:p>
            <a:pPr lvl="1" eaLnBrk="1" hangingPunct="1">
              <a:defRPr/>
            </a:pPr>
            <a:r>
              <a:rPr lang="en-US" smtClean="0"/>
              <a:t>float kq1 = </a:t>
            </a:r>
            <a:r>
              <a:rPr lang="en-US" smtClean="0">
                <a:solidFill>
                  <a:srgbClr val="FF0000"/>
                </a:solidFill>
              </a:rPr>
              <a:t>sqrt</a:t>
            </a:r>
            <a:r>
              <a:rPr lang="en-US" smtClean="0"/>
              <a:t>(x1);</a:t>
            </a:r>
          </a:p>
          <a:p>
            <a:pPr lvl="1" eaLnBrk="1" hangingPunct="1">
              <a:defRPr/>
            </a:pPr>
            <a:r>
              <a:rPr lang="en-US" smtClean="0"/>
              <a:t>int kq2 = </a:t>
            </a:r>
            <a:r>
              <a:rPr lang="en-US" smtClean="0">
                <a:solidFill>
                  <a:srgbClr val="FF0000"/>
                </a:solidFill>
              </a:rPr>
              <a:t>pow</a:t>
            </a:r>
            <a:r>
              <a:rPr lang="en-US" smtClean="0"/>
              <a:t>(x, y);</a:t>
            </a:r>
          </a:p>
          <a:p>
            <a:pPr lvl="1" eaLnBrk="1" hangingPunct="1">
              <a:defRPr/>
            </a:pPr>
            <a:r>
              <a:rPr lang="en-US" smtClean="0"/>
              <a:t>float kq3 = </a:t>
            </a:r>
            <a:r>
              <a:rPr lang="en-US" smtClean="0">
                <a:solidFill>
                  <a:srgbClr val="FF0000"/>
                </a:solidFill>
              </a:rPr>
              <a:t>pow</a:t>
            </a:r>
            <a:r>
              <a:rPr lang="en-US" smtClean="0"/>
              <a:t>(x, 1/3);</a:t>
            </a:r>
          </a:p>
          <a:p>
            <a:pPr lvl="1" eaLnBrk="1" hangingPunct="1">
              <a:defRPr/>
            </a:pPr>
            <a:r>
              <a:rPr lang="en-US" smtClean="0"/>
              <a:t>float kq4 = </a:t>
            </a:r>
            <a:r>
              <a:rPr lang="en-US" smtClean="0">
                <a:solidFill>
                  <a:srgbClr val="FF0000"/>
                </a:solidFill>
              </a:rPr>
              <a:t>pow</a:t>
            </a:r>
            <a:r>
              <a:rPr lang="en-US" smtClean="0"/>
              <a:t>(x, 1.0/3);</a:t>
            </a:r>
          </a:p>
          <a:p>
            <a:pPr lvl="1" eaLnBrk="1" hangingPunct="1">
              <a:defRPr/>
            </a:pPr>
            <a:r>
              <a:rPr lang="en-US" smtClean="0"/>
              <a:t>int kq5 = </a:t>
            </a:r>
            <a:r>
              <a:rPr lang="en-US" smtClean="0">
                <a:solidFill>
                  <a:srgbClr val="FF0000"/>
                </a:solidFill>
              </a:rPr>
              <a:t>abs</a:t>
            </a:r>
            <a:r>
              <a:rPr lang="en-US" smtClean="0"/>
              <a:t>(z);</a:t>
            </a:r>
          </a:p>
          <a:p>
            <a:pPr lvl="1" eaLnBrk="1" hangingPunct="1">
              <a:defRPr/>
            </a:pPr>
            <a:r>
              <a:rPr lang="en-US" smtClean="0"/>
              <a:t>float kq6 = </a:t>
            </a:r>
            <a:r>
              <a:rPr lang="en-US" smtClean="0">
                <a:solidFill>
                  <a:srgbClr val="FF0000"/>
                </a:solidFill>
              </a:rPr>
              <a:t>fabs</a:t>
            </a:r>
            <a:r>
              <a:rPr lang="en-US" smtClean="0"/>
              <a:t>(t);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990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</a:t>
            </a:r>
          </a:p>
        </p:txBody>
      </p:sp>
      <p:sp>
        <p:nvSpPr>
          <p:cNvPr id="55299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 eaLnBrk="1" hangingPunct="1">
              <a:buFont typeface="+mj-lt"/>
              <a:buAutoNum type="arabicPeriod"/>
            </a:pPr>
            <a:r>
              <a:rPr lang="en-US" smtClean="0">
                <a:latin typeface="Arial" charset="0"/>
                <a:cs typeface="Arial" charset="0"/>
              </a:rPr>
              <a:t>Nhập n</a:t>
            </a:r>
            <a:r>
              <a:rPr lang="vi-VN" smtClean="0">
                <a:latin typeface="Arial" charset="0"/>
                <a:cs typeface="Arial" charset="0"/>
              </a:rPr>
              <a:t>ă</a:t>
            </a:r>
            <a:r>
              <a:rPr lang="en-US" smtClean="0">
                <a:latin typeface="Arial" charset="0"/>
                <a:cs typeface="Arial" charset="0"/>
              </a:rPr>
              <a:t>m sinh của một ng</a:t>
            </a:r>
            <a:r>
              <a:rPr lang="vi-VN" smtClean="0">
                <a:latin typeface="Arial" charset="0"/>
                <a:cs typeface="Arial" charset="0"/>
              </a:rPr>
              <a:t>ườ</a:t>
            </a:r>
            <a:r>
              <a:rPr lang="en-US" smtClean="0">
                <a:latin typeface="Arial" charset="0"/>
                <a:cs typeface="Arial" charset="0"/>
              </a:rPr>
              <a:t>i và tính tuổi của  ng</a:t>
            </a:r>
            <a:r>
              <a:rPr lang="vi-VN" smtClean="0">
                <a:latin typeface="Arial" charset="0"/>
                <a:cs typeface="Arial" charset="0"/>
              </a:rPr>
              <a:t>ườ</a:t>
            </a:r>
            <a:r>
              <a:rPr lang="en-US" smtClean="0">
                <a:latin typeface="Arial" charset="0"/>
                <a:cs typeface="Arial" charset="0"/>
              </a:rPr>
              <a:t>i </a:t>
            </a:r>
            <a:r>
              <a:rPr lang="vi-VN" smtClean="0">
                <a:latin typeface="Arial" charset="0"/>
                <a:cs typeface="Arial" charset="0"/>
              </a:rPr>
              <a:t>đó</a:t>
            </a:r>
            <a:r>
              <a:rPr lang="en-US" smtClean="0">
                <a:latin typeface="Arial" charset="0"/>
                <a:cs typeface="Arial" charset="0"/>
              </a:rPr>
              <a:t>.</a:t>
            </a:r>
          </a:p>
          <a:p>
            <a:pPr marL="514350" indent="-514350" eaLnBrk="1" hangingPunct="1">
              <a:buFont typeface="Verdana" pitchFamily="34" charset="0"/>
              <a:buAutoNum type="arabicPeriod"/>
            </a:pPr>
            <a:r>
              <a:rPr lang="en-US" smtClean="0">
                <a:latin typeface="Arial" charset="0"/>
                <a:cs typeface="Arial" charset="0"/>
              </a:rPr>
              <a:t>Nhập 2 số a và b. Tính tổng, hiệu, tính và th</a:t>
            </a:r>
            <a:r>
              <a:rPr lang="vi-VN" smtClean="0">
                <a:latin typeface="Arial" charset="0"/>
                <a:cs typeface="Arial" charset="0"/>
              </a:rPr>
              <a:t>ươ</a:t>
            </a:r>
            <a:r>
              <a:rPr lang="en-US" smtClean="0">
                <a:latin typeface="Arial" charset="0"/>
                <a:cs typeface="Arial" charset="0"/>
              </a:rPr>
              <a:t>ng của hai số </a:t>
            </a:r>
            <a:r>
              <a:rPr lang="vi-VN" smtClean="0">
                <a:latin typeface="Arial" charset="0"/>
                <a:cs typeface="Arial" charset="0"/>
              </a:rPr>
              <a:t>đó</a:t>
            </a:r>
            <a:r>
              <a:rPr lang="en-US" smtClean="0">
                <a:latin typeface="Arial" charset="0"/>
                <a:cs typeface="Arial" charset="0"/>
              </a:rPr>
              <a:t>.</a:t>
            </a:r>
          </a:p>
          <a:p>
            <a:pPr marL="514350" indent="-514350" eaLnBrk="1" hangingPunct="1">
              <a:buFont typeface="Verdana" pitchFamily="34" charset="0"/>
              <a:buAutoNum type="arabicPeriod"/>
            </a:pPr>
            <a:r>
              <a:rPr lang="en-US" smtClean="0">
                <a:latin typeface="Arial" charset="0"/>
                <a:cs typeface="Arial" charset="0"/>
              </a:rPr>
              <a:t>Nhập tên sản phẩm, số l</a:t>
            </a:r>
            <a:r>
              <a:rPr lang="vi-VN" smtClean="0">
                <a:latin typeface="Arial" charset="0"/>
                <a:cs typeface="Arial" charset="0"/>
              </a:rPr>
              <a:t>ượ</a:t>
            </a:r>
            <a:r>
              <a:rPr lang="en-US" smtClean="0">
                <a:latin typeface="Arial" charset="0"/>
                <a:cs typeface="Arial" charset="0"/>
              </a:rPr>
              <a:t>ng và </a:t>
            </a:r>
            <a:r>
              <a:rPr lang="vi-VN" smtClean="0">
                <a:latin typeface="Arial" charset="0"/>
                <a:cs typeface="Arial" charset="0"/>
              </a:rPr>
              <a:t>đơ</a:t>
            </a:r>
            <a:r>
              <a:rPr lang="en-US" smtClean="0">
                <a:latin typeface="Arial" charset="0"/>
                <a:cs typeface="Arial" charset="0"/>
              </a:rPr>
              <a:t>n giá. Tính tiền và thuế giá trị gia t</a:t>
            </a:r>
            <a:r>
              <a:rPr lang="vi-VN" smtClean="0">
                <a:latin typeface="Arial" charset="0"/>
                <a:cs typeface="Arial" charset="0"/>
              </a:rPr>
              <a:t>ă</a:t>
            </a:r>
            <a:r>
              <a:rPr lang="en-US" smtClean="0">
                <a:latin typeface="Arial" charset="0"/>
                <a:cs typeface="Arial" charset="0"/>
              </a:rPr>
              <a:t>ng phải trả, biết:</a:t>
            </a:r>
          </a:p>
          <a:p>
            <a:pPr marL="914400" lvl="1" indent="-514350" eaLnBrk="1" hangingPunct="1">
              <a:buFont typeface="Verdana" pitchFamily="34" charset="0"/>
              <a:buAutoNum type="alphaLcPeriod"/>
            </a:pPr>
            <a:r>
              <a:rPr lang="en-US" smtClean="0">
                <a:latin typeface="Arial" charset="0"/>
                <a:cs typeface="Arial" charset="0"/>
              </a:rPr>
              <a:t>tiền = số l</a:t>
            </a:r>
            <a:r>
              <a:rPr lang="vi-VN" smtClean="0">
                <a:latin typeface="Arial" charset="0"/>
                <a:cs typeface="Arial" charset="0"/>
              </a:rPr>
              <a:t>ượ</a:t>
            </a:r>
            <a:r>
              <a:rPr lang="en-US" smtClean="0">
                <a:latin typeface="Arial" charset="0"/>
                <a:cs typeface="Arial" charset="0"/>
              </a:rPr>
              <a:t>ng * </a:t>
            </a:r>
            <a:r>
              <a:rPr lang="vi-VN" smtClean="0">
                <a:latin typeface="Arial" charset="0"/>
                <a:cs typeface="Arial" charset="0"/>
              </a:rPr>
              <a:t>đơ</a:t>
            </a:r>
            <a:r>
              <a:rPr lang="en-US" smtClean="0">
                <a:latin typeface="Arial" charset="0"/>
                <a:cs typeface="Arial" charset="0"/>
              </a:rPr>
              <a:t>n giá</a:t>
            </a:r>
          </a:p>
          <a:p>
            <a:pPr marL="914400" lvl="1" indent="-514350" eaLnBrk="1" hangingPunct="1">
              <a:buFont typeface="Verdana" pitchFamily="34" charset="0"/>
              <a:buAutoNum type="alphaLcPeriod"/>
            </a:pPr>
            <a:r>
              <a:rPr lang="en-US" smtClean="0">
                <a:latin typeface="Arial" charset="0"/>
                <a:cs typeface="Arial" charset="0"/>
              </a:rPr>
              <a:t>thuế giá trị gia t</a:t>
            </a:r>
            <a:r>
              <a:rPr lang="vi-VN" smtClean="0">
                <a:latin typeface="Arial" charset="0"/>
                <a:cs typeface="Arial" charset="0"/>
              </a:rPr>
              <a:t>ă</a:t>
            </a:r>
            <a:r>
              <a:rPr lang="en-US" smtClean="0">
                <a:latin typeface="Arial" charset="0"/>
                <a:cs typeface="Arial" charset="0"/>
              </a:rPr>
              <a:t>ng = 10% tiền</a:t>
            </a:r>
          </a:p>
        </p:txBody>
      </p:sp>
      <p:pic>
        <p:nvPicPr>
          <p:cNvPr id="55301" name="Picture 4" descr="question_pop_up_from_box_hg_clr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713" y="3962400"/>
            <a:ext cx="166528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2" name="Picture 6" descr="question_pop_up_from_box_rotate_hg_clr">
            <a:hlinkClick r:id="rId4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4384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3" name="Picture 7" descr="question_pop_up_from_box_rotate_hg_clr">
            <a:hlinkClick r:id="rId6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4" name="Picture 8" descr="question_pop_up_from_box_rotate_hg_clr">
            <a:hlinkClick r:id="rId7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3528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577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thực hành</a:t>
            </a:r>
          </a:p>
        </p:txBody>
      </p:sp>
      <p:sp>
        <p:nvSpPr>
          <p:cNvPr id="56323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eaLnBrk="1" hangingPunct="1">
              <a:buFont typeface="+mj-lt"/>
              <a:buAutoNum type="arabicPeriod" startAt="4"/>
            </a:pPr>
            <a:r>
              <a:rPr lang="en-US" smtClean="0">
                <a:latin typeface="Arial" charset="0"/>
                <a:cs typeface="Arial" charset="0"/>
              </a:rPr>
              <a:t>Nhập </a:t>
            </a:r>
            <a:r>
              <a:rPr lang="vi-VN" smtClean="0">
                <a:latin typeface="Arial" charset="0"/>
                <a:cs typeface="Arial" charset="0"/>
              </a:rPr>
              <a:t>đ</a:t>
            </a:r>
            <a:r>
              <a:rPr lang="en-US" smtClean="0">
                <a:latin typeface="Arial" charset="0"/>
                <a:cs typeface="Arial" charset="0"/>
              </a:rPr>
              <a:t>iểm thi và hệ số 3 môn Toán, Lý, Hóa của một sinh viên. Tính </a:t>
            </a:r>
            <a:r>
              <a:rPr lang="vi-VN" smtClean="0">
                <a:latin typeface="Arial" charset="0"/>
                <a:cs typeface="Arial" charset="0"/>
              </a:rPr>
              <a:t>đ</a:t>
            </a:r>
            <a:r>
              <a:rPr lang="en-US" smtClean="0">
                <a:latin typeface="Arial" charset="0"/>
                <a:cs typeface="Arial" charset="0"/>
              </a:rPr>
              <a:t>iểm trung bình của sinh viên </a:t>
            </a:r>
            <a:r>
              <a:rPr lang="vi-VN" smtClean="0">
                <a:latin typeface="Arial" charset="0"/>
                <a:cs typeface="Arial" charset="0"/>
              </a:rPr>
              <a:t>đó</a:t>
            </a:r>
            <a:r>
              <a:rPr lang="en-US" smtClean="0">
                <a:latin typeface="Arial" charset="0"/>
                <a:cs typeface="Arial" charset="0"/>
              </a:rPr>
              <a:t>.</a:t>
            </a:r>
          </a:p>
          <a:p>
            <a:pPr marL="514350" indent="-514350" eaLnBrk="1" hangingPunct="1">
              <a:buFont typeface="Verdana" pitchFamily="34" charset="0"/>
              <a:buAutoNum type="arabicPeriod" startAt="4"/>
            </a:pPr>
            <a:r>
              <a:rPr lang="en-US" smtClean="0">
                <a:latin typeface="Arial" charset="0"/>
                <a:cs typeface="Arial" charset="0"/>
              </a:rPr>
              <a:t>Nhập bán kính của </a:t>
            </a:r>
            <a:r>
              <a:rPr lang="vi-VN" smtClean="0">
                <a:latin typeface="Arial" charset="0"/>
                <a:cs typeface="Arial" charset="0"/>
              </a:rPr>
              <a:t>đườ</a:t>
            </a:r>
            <a:r>
              <a:rPr lang="en-US" smtClean="0">
                <a:latin typeface="Arial" charset="0"/>
                <a:cs typeface="Arial" charset="0"/>
              </a:rPr>
              <a:t>ng tròn. Tính chu vi và diện tích của hình tròn </a:t>
            </a:r>
            <a:r>
              <a:rPr lang="vi-VN" smtClean="0">
                <a:latin typeface="Arial" charset="0"/>
                <a:cs typeface="Arial" charset="0"/>
              </a:rPr>
              <a:t>đó</a:t>
            </a:r>
            <a:r>
              <a:rPr lang="en-US" smtClean="0">
                <a:latin typeface="Arial" charset="0"/>
                <a:cs typeface="Arial" charset="0"/>
              </a:rPr>
              <a:t>.</a:t>
            </a:r>
          </a:p>
          <a:p>
            <a:pPr marL="514350" indent="-514350" eaLnBrk="1" hangingPunct="1">
              <a:buFont typeface="Verdana" pitchFamily="34" charset="0"/>
              <a:buAutoNum type="arabicPeriod" startAt="4"/>
            </a:pPr>
            <a:r>
              <a:rPr lang="en-US" smtClean="0">
                <a:latin typeface="Arial" charset="0"/>
                <a:cs typeface="Arial" charset="0"/>
              </a:rPr>
              <a:t>Nhập vào số xe (gồm 4 chữ số) của bạn. Cho biết số xe của bạn </a:t>
            </a:r>
            <a:r>
              <a:rPr lang="vi-VN" smtClean="0">
                <a:latin typeface="Arial" charset="0"/>
                <a:cs typeface="Arial" charset="0"/>
              </a:rPr>
              <a:t>đượ</a:t>
            </a:r>
            <a:r>
              <a:rPr lang="en-US" smtClean="0">
                <a:latin typeface="Arial" charset="0"/>
                <a:cs typeface="Arial" charset="0"/>
              </a:rPr>
              <a:t>c mấy nút?</a:t>
            </a:r>
          </a:p>
        </p:txBody>
      </p:sp>
      <p:pic>
        <p:nvPicPr>
          <p:cNvPr id="56325" name="Picture 4" descr="question_pop_up_from_box_hg_clr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713" y="3962400"/>
            <a:ext cx="166528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6" name="Picture 6" descr="question_pop_up_from_box_rotate_hg_clr">
            <a:hlinkClick r:id="rId4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8194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7" name="Picture 7" descr="question_pop_up_from_box_rotate_hg_clr">
            <a:hlinkClick r:id="rId6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8" name="Picture 8" descr="question_pop_up_from_box_rotate_hg_clr">
            <a:hlinkClick r:id="rId7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271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24000"/>
            <a:ext cx="152400" cy="3733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7349" name="TextBox 5"/>
          <p:cNvSpPr txBox="1">
            <a:spLocks noChangeArrowheads="1"/>
          </p:cNvSpPr>
          <p:nvPr/>
        </p:nvSpPr>
        <p:spPr bwMode="auto">
          <a:xfrm>
            <a:off x="838200" y="1524000"/>
            <a:ext cx="70104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#include &lt;stdio.h&gt;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#include &lt;conio.h&gt;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NamSinh, Tuoi;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nam sinh: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scanf(“%d”, &amp;NamSinh);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Tuoi = 2007 – NamSinh;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printf(“Tuoi cua ban la %d”, Tuoi);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getch();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8" name="Rectangle 6"/>
          <p:cNvSpPr>
            <a:spLocks/>
          </p:cNvSpPr>
          <p:nvPr/>
        </p:nvSpPr>
        <p:spPr bwMode="auto">
          <a:xfrm>
            <a:off x="0" y="1524000"/>
            <a:ext cx="9128125" cy="685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6"/>
          <p:cNvSpPr>
            <a:spLocks/>
          </p:cNvSpPr>
          <p:nvPr/>
        </p:nvSpPr>
        <p:spPr bwMode="auto">
          <a:xfrm>
            <a:off x="0" y="2514600"/>
            <a:ext cx="9128125" cy="27432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6"/>
          <p:cNvSpPr>
            <a:spLocks/>
          </p:cNvSpPr>
          <p:nvPr/>
        </p:nvSpPr>
        <p:spPr bwMode="auto">
          <a:xfrm>
            <a:off x="0" y="3124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6"/>
          <p:cNvSpPr>
            <a:spLocks/>
          </p:cNvSpPr>
          <p:nvPr/>
        </p:nvSpPr>
        <p:spPr bwMode="auto">
          <a:xfrm>
            <a:off x="0" y="3733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6"/>
          <p:cNvSpPr>
            <a:spLocks/>
          </p:cNvSpPr>
          <p:nvPr/>
        </p:nvSpPr>
        <p:spPr bwMode="auto">
          <a:xfrm>
            <a:off x="0" y="3429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6"/>
          <p:cNvSpPr>
            <a:spLocks/>
          </p:cNvSpPr>
          <p:nvPr/>
        </p:nvSpPr>
        <p:spPr bwMode="auto">
          <a:xfrm>
            <a:off x="0" y="4038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6"/>
          <p:cNvSpPr>
            <a:spLocks/>
          </p:cNvSpPr>
          <p:nvPr/>
        </p:nvSpPr>
        <p:spPr bwMode="auto">
          <a:xfrm>
            <a:off x="0" y="4343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Rectangle 6"/>
          <p:cNvSpPr>
            <a:spLocks/>
          </p:cNvSpPr>
          <p:nvPr/>
        </p:nvSpPr>
        <p:spPr bwMode="auto">
          <a:xfrm>
            <a:off x="0" y="4648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766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24000"/>
            <a:ext cx="152400" cy="4648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8373" name="TextBox 5"/>
          <p:cNvSpPr txBox="1">
            <a:spLocks noChangeArrowheads="1"/>
          </p:cNvSpPr>
          <p:nvPr/>
        </p:nvSpPr>
        <p:spPr bwMode="auto">
          <a:xfrm>
            <a:off x="838200" y="1524000"/>
            <a:ext cx="7315200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#include &lt;stdio.h&gt;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#include &lt;conio.h&gt;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a, b;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hai so nguyen: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scanf(“%d%d”, &amp;a, &amp;b);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Tong = a + b; Hieu = a – b;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Tich = a * b; Thuong = a / b;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printf(“Tong cua a va b: %d”, Tong);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printf(“Hieu cua a va b: %d”, Hieu);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printf(“Tich cua a va b: %d”, Tich);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printf(“Thuong cua a va b: %d”, Thuong);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15875" y="3124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6"/>
          <p:cNvSpPr>
            <a:spLocks/>
          </p:cNvSpPr>
          <p:nvPr/>
        </p:nvSpPr>
        <p:spPr bwMode="auto">
          <a:xfrm>
            <a:off x="15875" y="34290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6"/>
          <p:cNvSpPr>
            <a:spLocks/>
          </p:cNvSpPr>
          <p:nvPr/>
        </p:nvSpPr>
        <p:spPr bwMode="auto">
          <a:xfrm>
            <a:off x="15875" y="40386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6"/>
          <p:cNvSpPr>
            <a:spLocks/>
          </p:cNvSpPr>
          <p:nvPr/>
        </p:nvSpPr>
        <p:spPr bwMode="auto">
          <a:xfrm>
            <a:off x="0" y="4648200"/>
            <a:ext cx="9128125" cy="12192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951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24000"/>
            <a:ext cx="152400" cy="4648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9397" name="TextBox 5"/>
          <p:cNvSpPr txBox="1">
            <a:spLocks noChangeArrowheads="1"/>
          </p:cNvSpPr>
          <p:nvPr/>
        </p:nvSpPr>
        <p:spPr bwMode="auto">
          <a:xfrm>
            <a:off x="838200" y="1524000"/>
            <a:ext cx="7010400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#include &lt;stdio.h&gt;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#include &lt;conio.h&gt;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SoLuong, DonGia, Tien;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float VAT;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so luong va don gia: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scanf(“%d%d”, &amp;SoLuong, &amp;DonGia);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Tien = SoLuong * DonGia;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VAT = Tien * 0.1;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printf(“Tien phai tra: %d”, Tien);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printf(“Thue phai tra: %.2f”, VAT);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0" y="31242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40386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46482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52578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15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24000"/>
            <a:ext cx="152400" cy="4648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0421" name="TextBox 5"/>
          <p:cNvSpPr txBox="1">
            <a:spLocks noChangeArrowheads="1"/>
          </p:cNvSpPr>
          <p:nvPr/>
        </p:nvSpPr>
        <p:spPr bwMode="auto">
          <a:xfrm>
            <a:off x="838200" y="1524000"/>
            <a:ext cx="7010400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#include &lt;stdio.h&gt;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#include &lt;conio.h&gt;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float T, L, H, DTB;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HsT, HsL, HsH;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diem Toan, Ly, Hoa: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scanf(“%f%f%f”, &amp;T, &amp;L, &amp;H);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he so Toan, Ly, Hoa: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scanf(“%d%d%d”, &amp;HsT, &amp;HsL, &amp;HsH);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DTB = (T * HsT + L * HsL + H * HsH) / 			(HsT + HsL + HsH);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printf(“DTB cua ban la: %.2f”, DTB);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0" y="31242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37338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43434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49530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5562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530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24000"/>
            <a:ext cx="152400" cy="434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1445" name="TextBox 5"/>
          <p:cNvSpPr txBox="1">
            <a:spLocks noChangeArrowheads="1"/>
          </p:cNvSpPr>
          <p:nvPr/>
        </p:nvSpPr>
        <p:spPr bwMode="auto">
          <a:xfrm>
            <a:off x="838200" y="1524000"/>
            <a:ext cx="70104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#include &lt;stdio.h&gt;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#include &lt;conio.h&gt;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#define PI 3.14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float R, ChuVi, DienTich;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ban kinh duong tron: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scanf(“%f”, &amp;R);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ChuVi = 2*PI*R;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DienTich = PI*R*R;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printf(“Chu vi: %.2f”, ChuVi);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printf(“Dien tich: %.2f”, DienTich);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0" y="3429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37338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43434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49530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0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1" grpId="0" animBg="1"/>
      <p:bldP spid="11" grpId="1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24000"/>
            <a:ext cx="152400" cy="4953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2469" name="TextBox 5"/>
          <p:cNvSpPr txBox="1">
            <a:spLocks noChangeArrowheads="1"/>
          </p:cNvSpPr>
          <p:nvPr/>
        </p:nvSpPr>
        <p:spPr bwMode="auto">
          <a:xfrm>
            <a:off x="838200" y="1524000"/>
            <a:ext cx="70104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#include &lt;stdio.h&gt;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#include &lt;conio.h&gt;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n;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n1, n2, n3, n4, SoNut;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bien so xe (4 so):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scanf(“%d”, &amp;n);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n4 = n % 10; n = n / 10;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n3 = n % 10; n = n / 10;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n2 = n % 10; n = n / 10;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n1 = n;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SoNut = (n1 + n2 + n3 + n4) % 10;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printf(“So nut la: %d”, SoNut);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0" y="31242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37338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4343400"/>
            <a:ext cx="9128125" cy="12192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5562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5867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125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610</TotalTime>
  <Words>3789</Words>
  <Application>Microsoft Office PowerPoint</Application>
  <PresentationFormat>On-screen Show (4:3)</PresentationFormat>
  <Paragraphs>995</Paragraphs>
  <Slides>67</Slides>
  <Notes>51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68" baseType="lpstr">
      <vt:lpstr>Office Theme</vt:lpstr>
      <vt:lpstr>Nhập môn Lập trình – IT001</vt:lpstr>
      <vt:lpstr>Mục tiêu buổi học – CĐR </vt:lpstr>
      <vt:lpstr>Nội dung</vt:lpstr>
      <vt:lpstr>Cấu trúc chương trình C/C++</vt:lpstr>
      <vt:lpstr>Chương trình đơn giản</vt:lpstr>
      <vt:lpstr>Chương trình đơn giản</vt:lpstr>
      <vt:lpstr>Bộ từ vựng của C</vt:lpstr>
      <vt:lpstr>Bộ từ vựng của C</vt:lpstr>
      <vt:lpstr>Bộ từ vựng của C</vt:lpstr>
      <vt:lpstr>Bộ từ vựng của C</vt:lpstr>
      <vt:lpstr>Qui tắc soạn thảo mã nguồn</vt:lpstr>
      <vt:lpstr>Qui tắc soạn thảo mã nguồn</vt:lpstr>
      <vt:lpstr>Qui tắc soạn thảo mã nguồn</vt:lpstr>
      <vt:lpstr>Các kiểu dữ liệu cơ sở</vt:lpstr>
      <vt:lpstr>Kiểu số nguyên</vt:lpstr>
      <vt:lpstr>Kiểu số nguyên</vt:lpstr>
      <vt:lpstr>Kiểu số nguyên</vt:lpstr>
      <vt:lpstr>Kiểu số thực</vt:lpstr>
      <vt:lpstr>Kiểu luận lý</vt:lpstr>
      <vt:lpstr>Kiểu ký tự</vt:lpstr>
      <vt:lpstr>Biến (variable)</vt:lpstr>
      <vt:lpstr>Biến (variable)</vt:lpstr>
      <vt:lpstr>Địa chỉ của biến</vt:lpstr>
      <vt:lpstr>Giá trị của biến</vt:lpstr>
      <vt:lpstr>Hằng số</vt:lpstr>
      <vt:lpstr>Hằng số</vt:lpstr>
      <vt:lpstr>BIỂU THỨC</vt:lpstr>
      <vt:lpstr>Toán tử gán</vt:lpstr>
      <vt:lpstr>Toán tử gán</vt:lpstr>
      <vt:lpstr>Các toán tử toán học</vt:lpstr>
      <vt:lpstr>Các toán tử toán học</vt:lpstr>
      <vt:lpstr>Các toán tử trên bit</vt:lpstr>
      <vt:lpstr>Các toán tử trên bit</vt:lpstr>
      <vt:lpstr>Các toán tử quan hệ</vt:lpstr>
      <vt:lpstr>Các toán tử luận lý</vt:lpstr>
      <vt:lpstr>Toán tử điều kiện</vt:lpstr>
      <vt:lpstr>Toán tử phẩy</vt:lpstr>
      <vt:lpstr>Độ ưu tiên của các toán tử</vt:lpstr>
      <vt:lpstr>Độ ưu tiên của các toán tử</vt:lpstr>
      <vt:lpstr>Viết biểu thức cho các mệnh đề</vt:lpstr>
      <vt:lpstr>Câu lệnh</vt:lpstr>
      <vt:lpstr>Câu lệnh</vt:lpstr>
      <vt:lpstr>Câu lệnh xuất</vt:lpstr>
      <vt:lpstr>Câu lệnh xuất cout (C++)</vt:lpstr>
      <vt:lpstr>Văn bản thường (literal text)</vt:lpstr>
      <vt:lpstr>Ký tự điều khiển (escape sequence)</vt:lpstr>
      <vt:lpstr>Thiết lập độ rộng khi xuất (dùng cout)</vt:lpstr>
      <vt:lpstr>Độ chính xác khi xuất (dùng cout)</vt:lpstr>
      <vt:lpstr>Câu lệnh xuất printf (C)</vt:lpstr>
      <vt:lpstr>Đặc tả (conversion specifier)</vt:lpstr>
      <vt:lpstr>Đặc tả (conversion specifier)</vt:lpstr>
      <vt:lpstr>Định dạng xuất (printf)</vt:lpstr>
      <vt:lpstr>Định dạng xuất (printf)</vt:lpstr>
      <vt:lpstr>Câu lệnh nhập</vt:lpstr>
      <vt:lpstr>Câu lệnh nhập cin (C++)</vt:lpstr>
      <vt:lpstr>Câu lệnh nhập scanf (C)</vt:lpstr>
      <vt:lpstr>Câu lệnh nhập</vt:lpstr>
      <vt:lpstr>Một số hàm hữu ích khác</vt:lpstr>
      <vt:lpstr>Một số hàm hữu ích khác</vt:lpstr>
      <vt:lpstr>Bài tập</vt:lpstr>
      <vt:lpstr>Bài tập thực hành</vt:lpstr>
      <vt:lpstr>Bài tập 1</vt:lpstr>
      <vt:lpstr>Bài tập 2</vt:lpstr>
      <vt:lpstr>Bài tập 3</vt:lpstr>
      <vt:lpstr>Bài tập 4</vt:lpstr>
      <vt:lpstr>Bài tập 5</vt:lpstr>
      <vt:lpstr>Bài tập 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Nhập môn Lập trình</dc:title>
  <dc:creator>admin</dc:creator>
  <cp:lastModifiedBy>LongHo</cp:lastModifiedBy>
  <cp:revision>72</cp:revision>
  <dcterms:created xsi:type="dcterms:W3CDTF">2015-09-05T09:18:39Z</dcterms:created>
  <dcterms:modified xsi:type="dcterms:W3CDTF">2015-09-21T09:32:32Z</dcterms:modified>
</cp:coreProperties>
</file>