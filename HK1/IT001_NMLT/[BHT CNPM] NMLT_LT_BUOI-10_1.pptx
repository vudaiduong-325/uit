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1" r:id="rId3"/>
    <p:sldId id="262" r:id="rId4"/>
    <p:sldId id="269" r:id="rId5"/>
    <p:sldId id="270" r:id="rId6"/>
    <p:sldId id="278" r:id="rId7"/>
    <p:sldId id="271" r:id="rId8"/>
    <p:sldId id="272" r:id="rId9"/>
    <p:sldId id="279" r:id="rId10"/>
    <p:sldId id="263" r:id="rId11"/>
    <p:sldId id="273" r:id="rId12"/>
    <p:sldId id="275" r:id="rId13"/>
    <p:sldId id="276" r:id="rId14"/>
    <p:sldId id="277" r:id="rId15"/>
    <p:sldId id="274" r:id="rId16"/>
    <p:sldId id="267" r:id="rId17"/>
    <p:sldId id="268" r:id="rId18"/>
    <p:sldId id="280" r:id="rId19"/>
    <p:sldId id="281" r:id="rId20"/>
    <p:sldId id="282"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140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3E332E-4B6C-4FED-89C1-87EA01BB02E8}" type="datetimeFigureOut">
              <a:rPr lang="en-US" smtClean="0"/>
              <a:pPr/>
              <a:t>12/18/2015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503439-6E41-4473-881B-3C521882BBBE}" type="slidenum">
              <a:rPr lang="en-US" smtClean="0"/>
              <a:pPr/>
              <a:t>‹#›</a:t>
            </a:fld>
            <a:endParaRPr lang="en-US"/>
          </a:p>
        </p:txBody>
      </p:sp>
    </p:spTree>
    <p:extLst>
      <p:ext uri="{BB962C8B-B14F-4D97-AF65-F5344CB8AC3E}">
        <p14:creationId xmlns:p14="http://schemas.microsoft.com/office/powerpoint/2010/main" val="814979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D8208E-D4AA-4FA3-8AC5-1AE1F77E9B1C}" type="slidenum">
              <a:rPr lang="en-US"/>
              <a:pPr/>
              <a:t>2</a:t>
            </a:fld>
            <a:endParaRPr lang="en-US"/>
          </a:p>
        </p:txBody>
      </p:sp>
      <p:sp>
        <p:nvSpPr>
          <p:cNvPr id="221186" name="Rectangle 2"/>
          <p:cNvSpPr>
            <a:spLocks noGrp="1" noRot="1" noChangeAspect="1" noChangeArrowheads="1" noTextEdit="1"/>
          </p:cNvSpPr>
          <p:nvPr>
            <p:ph type="sldImg"/>
          </p:nvPr>
        </p:nvSpPr>
        <p:spPr>
          <a:ln/>
        </p:spPr>
      </p:sp>
      <p:sp>
        <p:nvSpPr>
          <p:cNvPr id="221187" name="Rectangle 3"/>
          <p:cNvSpPr>
            <a:spLocks noGrp="1" noChangeArrowheads="1"/>
          </p:cNvSpPr>
          <p:nvPr>
            <p:ph type="body" idx="1"/>
          </p:nvPr>
        </p:nvSpPr>
        <p:spPr>
          <a:xfrm>
            <a:off x="914400" y="4343400"/>
            <a:ext cx="5029200" cy="4114800"/>
          </a:xfr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cxnSp>
        <p:nvCxnSpPr>
          <p:cNvPr id="8" name="Straight Connector 7"/>
          <p:cNvCxnSpPr/>
          <p:nvPr userDrawn="1"/>
        </p:nvCxnSpPr>
        <p:spPr>
          <a:xfrm>
            <a:off x="457200" y="1447800"/>
            <a:ext cx="822960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Straight Connector 9"/>
          <p:cNvCxnSpPr/>
          <p:nvPr userDrawn="1"/>
        </p:nvCxnSpPr>
        <p:spPr>
          <a:xfrm>
            <a:off x="457200" y="6172200"/>
            <a:ext cx="8229600" cy="158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2015</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2015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2015</a:t>
            </a:r>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2015</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2015</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2015</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9" name="Picture 8" descr="Logo.png"/>
          <p:cNvPicPr>
            <a:picLocks noChangeAspect="1"/>
          </p:cNvPicPr>
          <p:nvPr userDrawn="1"/>
        </p:nvPicPr>
        <p:blipFill>
          <a:blip r:embed="rId13"/>
          <a:stretch>
            <a:fillRect/>
          </a:stretch>
        </p:blipFill>
        <p:spPr>
          <a:xfrm>
            <a:off x="2286000" y="1905000"/>
            <a:ext cx="4614677" cy="3818534"/>
          </a:xfrm>
          <a:prstGeom prst="rect">
            <a:avLst/>
          </a:prstGeom>
        </p:spPr>
      </p:pic>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23AA34-D39B-4F23-8F7F-35D03225000B}" type="slidenum">
              <a:rPr lang="en-US" smtClean="0"/>
              <a:pPr/>
              <a:t>‹#›</a:t>
            </a:fld>
            <a:endParaRPr lang="en-US"/>
          </a:p>
        </p:txBody>
      </p:sp>
      <p:pic>
        <p:nvPicPr>
          <p:cNvPr id="7" name="Picture 6" descr="logo186x150.png"/>
          <p:cNvPicPr>
            <a:picLocks noChangeAspect="1"/>
          </p:cNvPicPr>
          <p:nvPr userDrawn="1"/>
        </p:nvPicPr>
        <p:blipFill>
          <a:blip r:embed="rId14" cstate="print"/>
          <a:stretch>
            <a:fillRect/>
          </a:stretch>
        </p:blipFill>
        <p:spPr>
          <a:xfrm>
            <a:off x="8458200" y="1"/>
            <a:ext cx="685800" cy="55306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Nhập</a:t>
            </a:r>
            <a:r>
              <a:rPr lang="en-US" dirty="0" smtClean="0"/>
              <a:t> </a:t>
            </a:r>
            <a:r>
              <a:rPr lang="en-US" dirty="0" err="1" smtClean="0"/>
              <a:t>môn</a:t>
            </a:r>
            <a:r>
              <a:rPr lang="en-US" dirty="0" smtClean="0"/>
              <a:t> </a:t>
            </a:r>
            <a:r>
              <a:rPr lang="en-US" dirty="0" err="1" smtClean="0"/>
              <a:t>Lập</a:t>
            </a:r>
            <a:r>
              <a:rPr lang="en-US" dirty="0" smtClean="0"/>
              <a:t> </a:t>
            </a:r>
            <a:r>
              <a:rPr lang="en-US" dirty="0" err="1" smtClean="0"/>
              <a:t>trình</a:t>
            </a:r>
            <a:r>
              <a:rPr lang="en-US" dirty="0" smtClean="0"/>
              <a:t> – IT001</a:t>
            </a:r>
            <a:endParaRPr lang="en-US" dirty="0"/>
          </a:p>
        </p:txBody>
      </p:sp>
      <p:sp>
        <p:nvSpPr>
          <p:cNvPr id="3" name="Subtitle 2"/>
          <p:cNvSpPr>
            <a:spLocks noGrp="1"/>
          </p:cNvSpPr>
          <p:nvPr>
            <p:ph type="subTitle" idx="1"/>
          </p:nvPr>
        </p:nvSpPr>
        <p:spPr/>
        <p:txBody>
          <a:bodyPr/>
          <a:lstStyle/>
          <a:p>
            <a:r>
              <a:rPr lang="en-US" smtClean="0"/>
              <a:t>Cấp phát và giải phóng bộ nhớ động</a:t>
            </a:r>
            <a:endParaRPr lang="en-US" dirty="0"/>
          </a:p>
        </p:txBody>
      </p:sp>
      <p:sp>
        <p:nvSpPr>
          <p:cNvPr id="4" name="Slide Number Placeholder 3"/>
          <p:cNvSpPr>
            <a:spLocks noGrp="1"/>
          </p:cNvSpPr>
          <p:nvPr>
            <p:ph type="sldNum" sz="quarter" idx="12"/>
          </p:nvPr>
        </p:nvSpPr>
        <p:spPr/>
        <p:txBody>
          <a:bodyPr/>
          <a:lstStyle/>
          <a:p>
            <a:fld id="{7A23AA34-D39B-4F23-8F7F-35D03225000B}" type="slidenum">
              <a:rPr lang="en-US" smtClean="0"/>
              <a:pPr/>
              <a:t>1</a:t>
            </a:fld>
            <a:endParaRPr lang="en-US"/>
          </a:p>
        </p:txBody>
      </p:sp>
      <p:sp>
        <p:nvSpPr>
          <p:cNvPr id="7" name="Date Placeholder 6"/>
          <p:cNvSpPr>
            <a:spLocks noGrp="1"/>
          </p:cNvSpPr>
          <p:nvPr>
            <p:ph type="dt" sz="half" idx="10"/>
          </p:nvPr>
        </p:nvSpPr>
        <p:spPr/>
        <p:txBody>
          <a:bodyPr/>
          <a:lstStyle/>
          <a:p>
            <a:r>
              <a:rPr lang="en-US" smtClean="0"/>
              <a:t>2015</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5"/>
          <p:cNvSpPr>
            <a:spLocks noGrp="1"/>
          </p:cNvSpPr>
          <p:nvPr>
            <p:ph type="dt" sz="half" idx="11"/>
          </p:nvPr>
        </p:nvSpPr>
        <p:spPr/>
        <p:txBody>
          <a:bodyPr/>
          <a:lstStyle/>
          <a:p>
            <a:r>
              <a:rPr lang="en-US"/>
              <a:t>www.uit.edu.vn</a:t>
            </a:r>
          </a:p>
        </p:txBody>
      </p:sp>
      <p:sp>
        <p:nvSpPr>
          <p:cNvPr id="220162" name="Rectangle 2"/>
          <p:cNvSpPr>
            <a:spLocks noGrp="1" noChangeArrowheads="1"/>
          </p:cNvSpPr>
          <p:nvPr>
            <p:ph type="title"/>
          </p:nvPr>
        </p:nvSpPr>
        <p:spPr/>
        <p:txBody>
          <a:bodyPr/>
          <a:lstStyle/>
          <a:p>
            <a:r>
              <a:rPr lang="en-US">
                <a:latin typeface="Times New Roman" pitchFamily="18" charset="0"/>
                <a:cs typeface="Times New Roman" pitchFamily="18" charset="0"/>
              </a:rPr>
              <a:t>NỘI DUNG CHÍNH</a:t>
            </a:r>
          </a:p>
        </p:txBody>
      </p:sp>
      <p:sp>
        <p:nvSpPr>
          <p:cNvPr id="220163" name="Rectangle 3"/>
          <p:cNvSpPr>
            <a:spLocks noGrp="1" noChangeArrowheads="1"/>
          </p:cNvSpPr>
          <p:nvPr>
            <p:ph type="body" sz="half" idx="1"/>
          </p:nvPr>
        </p:nvSpPr>
        <p:spPr>
          <a:xfrm>
            <a:off x="609600" y="1228725"/>
            <a:ext cx="7708900" cy="4921250"/>
          </a:xfrm>
        </p:spPr>
        <p:txBody>
          <a:bodyPr>
            <a:normAutofit/>
          </a:bodyPr>
          <a:lstStyle/>
          <a:p>
            <a:pPr>
              <a:lnSpc>
                <a:spcPct val="90000"/>
              </a:lnSpc>
            </a:pPr>
            <a:r>
              <a:rPr lang="en-US" sz="3200">
                <a:latin typeface="Times New Roman" pitchFamily="18" charset="0"/>
              </a:rPr>
              <a:t>Khái niệm </a:t>
            </a:r>
            <a:r>
              <a:rPr lang="en-US" sz="3200" smtClean="0">
                <a:latin typeface="Times New Roman" pitchFamily="18" charset="0"/>
              </a:rPr>
              <a:t>bộ nhớ động</a:t>
            </a:r>
            <a:endParaRPr lang="en-US" sz="3200">
              <a:latin typeface="Times New Roman" pitchFamily="18" charset="0"/>
            </a:endParaRPr>
          </a:p>
          <a:p>
            <a:pPr>
              <a:lnSpc>
                <a:spcPct val="90000"/>
              </a:lnSpc>
            </a:pPr>
            <a:r>
              <a:rPr lang="en-US" sz="3200">
                <a:latin typeface="Times New Roman" pitchFamily="18" charset="0"/>
              </a:rPr>
              <a:t>Các hàm cấp phát bộ </a:t>
            </a:r>
            <a:r>
              <a:rPr lang="en-US" sz="3200" smtClean="0">
                <a:latin typeface="Times New Roman" pitchFamily="18" charset="0"/>
              </a:rPr>
              <a:t>nhớ</a:t>
            </a:r>
          </a:p>
          <a:p>
            <a:pPr lvl="1">
              <a:lnSpc>
                <a:spcPct val="90000"/>
              </a:lnSpc>
            </a:pPr>
            <a:r>
              <a:rPr lang="en-US" sz="3200" smtClean="0">
                <a:latin typeface="Times New Roman" pitchFamily="18" charset="0"/>
              </a:rPr>
              <a:t>Hàm </a:t>
            </a:r>
            <a:r>
              <a:rPr lang="en-US" sz="3200" smtClean="0">
                <a:solidFill>
                  <a:srgbClr val="3347AD"/>
                </a:solidFill>
                <a:latin typeface="Times New Roman" pitchFamily="18" charset="0"/>
              </a:rPr>
              <a:t>new </a:t>
            </a:r>
            <a:r>
              <a:rPr lang="en-US" sz="3200" smtClean="0">
                <a:latin typeface="Times New Roman" pitchFamily="18" charset="0"/>
              </a:rPr>
              <a:t>(C++)</a:t>
            </a:r>
          </a:p>
          <a:p>
            <a:pPr lvl="1">
              <a:lnSpc>
                <a:spcPct val="90000"/>
              </a:lnSpc>
            </a:pPr>
            <a:r>
              <a:rPr lang="en-US" sz="3200" smtClean="0">
                <a:latin typeface="Times New Roman" pitchFamily="18" charset="0"/>
              </a:rPr>
              <a:t>Hàm</a:t>
            </a:r>
            <a:r>
              <a:rPr lang="en-US" sz="3200" smtClean="0">
                <a:solidFill>
                  <a:srgbClr val="3347AD"/>
                </a:solidFill>
                <a:latin typeface="Times New Roman" pitchFamily="18" charset="0"/>
              </a:rPr>
              <a:t> malloc </a:t>
            </a:r>
            <a:r>
              <a:rPr lang="en-US" sz="3200" smtClean="0">
                <a:latin typeface="Times New Roman" pitchFamily="18" charset="0"/>
              </a:rPr>
              <a:t>(C)</a:t>
            </a:r>
            <a:endParaRPr lang="en-US" sz="3200">
              <a:latin typeface="Times New Roman" pitchFamily="18" charset="0"/>
            </a:endParaRPr>
          </a:p>
          <a:p>
            <a:pPr lvl="1">
              <a:lnSpc>
                <a:spcPct val="90000"/>
              </a:lnSpc>
            </a:pPr>
            <a:r>
              <a:rPr lang="en-US" sz="3200">
                <a:latin typeface="Times New Roman" pitchFamily="18" charset="0"/>
              </a:rPr>
              <a:t>Hàm </a:t>
            </a:r>
            <a:r>
              <a:rPr lang="en-US" sz="3200" smtClean="0">
                <a:solidFill>
                  <a:srgbClr val="3347AD"/>
                </a:solidFill>
                <a:latin typeface="Times New Roman" pitchFamily="18" charset="0"/>
              </a:rPr>
              <a:t>calloc </a:t>
            </a:r>
            <a:r>
              <a:rPr lang="en-US" sz="3200" smtClean="0">
                <a:latin typeface="Times New Roman" pitchFamily="18" charset="0"/>
              </a:rPr>
              <a:t>(C)</a:t>
            </a:r>
            <a:endParaRPr lang="en-US" sz="3200">
              <a:latin typeface="Times New Roman" pitchFamily="18" charset="0"/>
            </a:endParaRPr>
          </a:p>
          <a:p>
            <a:pPr lvl="1">
              <a:lnSpc>
                <a:spcPct val="90000"/>
              </a:lnSpc>
            </a:pPr>
            <a:r>
              <a:rPr lang="en-US" sz="3200">
                <a:latin typeface="Times New Roman" pitchFamily="18" charset="0"/>
              </a:rPr>
              <a:t>Hàm </a:t>
            </a:r>
            <a:r>
              <a:rPr lang="en-US" sz="3200" smtClean="0">
                <a:solidFill>
                  <a:srgbClr val="3347AD"/>
                </a:solidFill>
                <a:latin typeface="Times New Roman" pitchFamily="18" charset="0"/>
              </a:rPr>
              <a:t>realloc </a:t>
            </a:r>
            <a:r>
              <a:rPr lang="en-US" sz="3200" smtClean="0">
                <a:latin typeface="Times New Roman" pitchFamily="18" charset="0"/>
              </a:rPr>
              <a:t>(C)</a:t>
            </a:r>
            <a:endParaRPr lang="en-US" sz="3200">
              <a:latin typeface="Times New Roman" pitchFamily="18" charset="0"/>
            </a:endParaRPr>
          </a:p>
          <a:p>
            <a:pPr>
              <a:lnSpc>
                <a:spcPct val="90000"/>
              </a:lnSpc>
            </a:pPr>
            <a:r>
              <a:rPr lang="en-US" sz="3200">
                <a:latin typeface="Times New Roman" pitchFamily="18" charset="0"/>
              </a:rPr>
              <a:t>Hàm giải phóng bộ nhớ</a:t>
            </a:r>
          </a:p>
          <a:p>
            <a:pPr lvl="1">
              <a:lnSpc>
                <a:spcPct val="90000"/>
              </a:lnSpc>
            </a:pPr>
            <a:r>
              <a:rPr lang="en-US" sz="3200" smtClean="0">
                <a:latin typeface="Times New Roman" pitchFamily="18" charset="0"/>
              </a:rPr>
              <a:t>Hàm </a:t>
            </a:r>
            <a:r>
              <a:rPr lang="en-US" sz="3200" smtClean="0">
                <a:solidFill>
                  <a:srgbClr val="3347AD"/>
                </a:solidFill>
                <a:latin typeface="Times New Roman" pitchFamily="18" charset="0"/>
              </a:rPr>
              <a:t>delete </a:t>
            </a:r>
            <a:r>
              <a:rPr lang="en-US" sz="3200" smtClean="0">
                <a:latin typeface="Times New Roman" pitchFamily="18" charset="0"/>
              </a:rPr>
              <a:t>(C++)</a:t>
            </a:r>
          </a:p>
          <a:p>
            <a:pPr lvl="1">
              <a:lnSpc>
                <a:spcPct val="90000"/>
              </a:lnSpc>
            </a:pPr>
            <a:r>
              <a:rPr lang="en-US" sz="3200" smtClean="0">
                <a:latin typeface="Times New Roman" pitchFamily="18" charset="0"/>
              </a:rPr>
              <a:t>Hàm </a:t>
            </a:r>
            <a:r>
              <a:rPr lang="en-US" sz="3200" smtClean="0">
                <a:solidFill>
                  <a:srgbClr val="3347AD"/>
                </a:solidFill>
                <a:latin typeface="Times New Roman" pitchFamily="18" charset="0"/>
              </a:rPr>
              <a:t>free</a:t>
            </a:r>
            <a:r>
              <a:rPr lang="en-US" sz="3200" smtClean="0">
                <a:latin typeface="Times New Roman" pitchFamily="18" charset="0"/>
              </a:rPr>
              <a:t> (C)</a:t>
            </a:r>
            <a:endParaRPr lang="en-US" sz="3200">
              <a:latin typeface="Times New Roman" pitchFamily="18"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2210" name="Rectangle 2"/>
          <p:cNvSpPr>
            <a:spLocks noGrp="1" noChangeArrowheads="1"/>
          </p:cNvSpPr>
          <p:nvPr>
            <p:ph type="title"/>
          </p:nvPr>
        </p:nvSpPr>
        <p:spPr/>
        <p:txBody>
          <a:bodyPr/>
          <a:lstStyle/>
          <a:p>
            <a:r>
              <a:rPr lang="en-US" smtClean="0"/>
              <a:t>Bộ nhớ động</a:t>
            </a:r>
            <a:endParaRPr lang="en-US"/>
          </a:p>
        </p:txBody>
      </p:sp>
      <p:sp>
        <p:nvSpPr>
          <p:cNvPr id="222211" name="Rectangle 3"/>
          <p:cNvSpPr>
            <a:spLocks noGrp="1" noChangeArrowheads="1"/>
          </p:cNvSpPr>
          <p:nvPr>
            <p:ph type="body" idx="1"/>
          </p:nvPr>
        </p:nvSpPr>
        <p:spPr/>
        <p:txBody>
          <a:bodyPr>
            <a:normAutofit lnSpcReduction="10000"/>
          </a:bodyPr>
          <a:lstStyle/>
          <a:p>
            <a:pPr algn="just"/>
            <a:r>
              <a:rPr lang="en-US" smtClean="0">
                <a:latin typeface="Times New Roman" pitchFamily="18" charset="0"/>
                <a:cs typeface="Times New Roman" pitchFamily="18" charset="0"/>
              </a:rPr>
              <a:t>Bộ nhớ cấp phát cho các biến, mảng đều cố định, không thể thay đổi trong lúc chương trình chạy.</a:t>
            </a:r>
          </a:p>
          <a:p>
            <a:pPr algn="just"/>
            <a:r>
              <a:rPr lang="en-US" smtClean="0">
                <a:latin typeface="Times New Roman" pitchFamily="18" charset="0"/>
                <a:cs typeface="Times New Roman" pitchFamily="18" charset="0"/>
              </a:rPr>
              <a:t>C</a:t>
            </a:r>
            <a:r>
              <a:rPr lang="vi-VN" smtClean="0">
                <a:latin typeface="Times New Roman" pitchFamily="18" charset="0"/>
                <a:cs typeface="Times New Roman" pitchFamily="18" charset="0"/>
              </a:rPr>
              <a:t>ần </a:t>
            </a:r>
            <a:r>
              <a:rPr lang="vi-VN">
                <a:latin typeface="Times New Roman" pitchFamily="18" charset="0"/>
                <a:cs typeface="Times New Roman" pitchFamily="18" charset="0"/>
              </a:rPr>
              <a:t>một lượng bộ nhớ mà kích cỡ của nó chỉ có thể được xác định khi chương trình chạy, ví dụ như trong trường hợp chúng ta nhận thông tin từ người dùng để xác định lượng bộ nhớ cần </a:t>
            </a:r>
            <a:r>
              <a:rPr lang="vi-VN" smtClean="0">
                <a:latin typeface="Times New Roman" pitchFamily="18" charset="0"/>
                <a:cs typeface="Times New Roman" pitchFamily="18" charset="0"/>
              </a:rPr>
              <a:t>thiết</a:t>
            </a:r>
            <a:endParaRPr lang="vi-VN">
              <a:latin typeface="Times New Roman" pitchFamily="18" charset="0"/>
              <a:cs typeface="Times New Roman" pitchFamily="18" charset="0"/>
            </a:endParaRPr>
          </a:p>
          <a:p>
            <a:pPr marL="0" indent="0" algn="just">
              <a:buNone/>
            </a:pPr>
            <a:r>
              <a:rPr lang="en-US" smtClean="0">
                <a:latin typeface="Times New Roman" pitchFamily="18" charset="0"/>
                <a:cs typeface="Times New Roman" pitchFamily="18" charset="0"/>
                <a:sym typeface="Wingdings" pitchFamily="2" charset="2"/>
              </a:rPr>
              <a:t>	</a:t>
            </a:r>
            <a:r>
              <a:rPr lang="vi-VN" smtClean="0">
                <a:latin typeface="Times New Roman" pitchFamily="18" charset="0"/>
                <a:cs typeface="Times New Roman" pitchFamily="18" charset="0"/>
              </a:rPr>
              <a:t>Giải </a:t>
            </a:r>
            <a:r>
              <a:rPr lang="vi-VN">
                <a:latin typeface="Times New Roman" pitchFamily="18" charset="0"/>
                <a:cs typeface="Times New Roman" pitchFamily="18" charset="0"/>
              </a:rPr>
              <a:t>pháp </a:t>
            </a:r>
            <a:r>
              <a:rPr lang="en-US" smtClean="0">
                <a:latin typeface="Times New Roman" pitchFamily="18" charset="0"/>
                <a:cs typeface="Times New Roman" pitchFamily="18" charset="0"/>
              </a:rPr>
              <a:t>là dùng</a:t>
            </a:r>
            <a:r>
              <a:rPr lang="vi-VN">
                <a:latin typeface="Times New Roman" pitchFamily="18" charset="0"/>
                <a:cs typeface="Times New Roman" pitchFamily="18" charset="0"/>
              </a:rPr>
              <a:t> </a:t>
            </a:r>
            <a:r>
              <a:rPr lang="vi-VN" i="1">
                <a:latin typeface="Times New Roman" pitchFamily="18" charset="0"/>
                <a:cs typeface="Times New Roman" pitchFamily="18" charset="0"/>
              </a:rPr>
              <a:t>bộ nhớ </a:t>
            </a:r>
            <a:r>
              <a:rPr lang="vi-VN" i="1" smtClean="0">
                <a:latin typeface="Times New Roman" pitchFamily="18" charset="0"/>
                <a:cs typeface="Times New Roman" pitchFamily="18" charset="0"/>
              </a:rPr>
              <a:t>động</a:t>
            </a:r>
            <a:endParaRPr lang="vi-VN">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2210" name="Rectangle 2"/>
          <p:cNvSpPr>
            <a:spLocks noGrp="1" noChangeArrowheads="1"/>
          </p:cNvSpPr>
          <p:nvPr>
            <p:ph type="title"/>
          </p:nvPr>
        </p:nvSpPr>
        <p:spPr/>
        <p:txBody>
          <a:bodyPr/>
          <a:lstStyle/>
          <a:p>
            <a:r>
              <a:rPr lang="en-US" smtClean="0"/>
              <a:t>Bộ nhớ động</a:t>
            </a:r>
            <a:endParaRPr lang="en-US"/>
          </a:p>
        </p:txBody>
      </p:sp>
      <p:sp>
        <p:nvSpPr>
          <p:cNvPr id="222211" name="Rectangle 3"/>
          <p:cNvSpPr>
            <a:spLocks noGrp="1" noChangeArrowheads="1"/>
          </p:cNvSpPr>
          <p:nvPr>
            <p:ph type="body" idx="1"/>
          </p:nvPr>
        </p:nvSpPr>
        <p:spPr/>
        <p:txBody>
          <a:bodyPr/>
          <a:lstStyle/>
          <a:p>
            <a:r>
              <a:rPr lang="en-US" sz="3200" smtClean="0">
                <a:latin typeface="Times New Roman" pitchFamily="18" charset="0"/>
              </a:rPr>
              <a:t>Các </a:t>
            </a:r>
            <a:r>
              <a:rPr lang="en-US" sz="3200">
                <a:latin typeface="Times New Roman" pitchFamily="18" charset="0"/>
              </a:rPr>
              <a:t>hàm </a:t>
            </a:r>
            <a:r>
              <a:rPr lang="en-US" sz="3200" smtClean="0">
                <a:latin typeface="Times New Roman" pitchFamily="18" charset="0"/>
              </a:rPr>
              <a:t>liên quan tới bộ </a:t>
            </a:r>
            <a:r>
              <a:rPr lang="en-US" sz="3200">
                <a:latin typeface="Times New Roman" pitchFamily="18" charset="0"/>
              </a:rPr>
              <a:t>nhớ </a:t>
            </a:r>
            <a:r>
              <a:rPr lang="en-US" smtClean="0">
                <a:latin typeface="Times New Roman" pitchFamily="18" charset="0"/>
              </a:rPr>
              <a:t>động:</a:t>
            </a:r>
            <a:endParaRPr lang="en-US" sz="3200">
              <a:latin typeface="Times New Roman" pitchFamily="18" charset="0"/>
            </a:endParaRPr>
          </a:p>
          <a:p>
            <a:pPr lvl="1"/>
            <a:r>
              <a:rPr lang="en-US" sz="3200" smtClean="0">
                <a:latin typeface="Times New Roman" pitchFamily="18" charset="0"/>
              </a:rPr>
              <a:t>new (C++)</a:t>
            </a:r>
          </a:p>
          <a:p>
            <a:pPr lvl="1"/>
            <a:r>
              <a:rPr lang="en-US" sz="3200" smtClean="0">
                <a:latin typeface="Times New Roman" pitchFamily="18" charset="0"/>
              </a:rPr>
              <a:t>delete (C++)</a:t>
            </a:r>
          </a:p>
          <a:p>
            <a:pPr lvl="1"/>
            <a:r>
              <a:rPr lang="en-US" sz="3200" smtClean="0">
                <a:latin typeface="Times New Roman" pitchFamily="18" charset="0"/>
              </a:rPr>
              <a:t>malloc (C)</a:t>
            </a:r>
            <a:endParaRPr lang="en-US" sz="3200">
              <a:latin typeface="Times New Roman" pitchFamily="18" charset="0"/>
            </a:endParaRPr>
          </a:p>
          <a:p>
            <a:pPr lvl="1"/>
            <a:r>
              <a:rPr lang="en-US" sz="3200">
                <a:latin typeface="Times New Roman" pitchFamily="18" charset="0"/>
              </a:rPr>
              <a:t>calloc (C)</a:t>
            </a:r>
          </a:p>
          <a:p>
            <a:pPr lvl="1"/>
            <a:r>
              <a:rPr lang="en-US" sz="3200">
                <a:latin typeface="Times New Roman" pitchFamily="18" charset="0"/>
              </a:rPr>
              <a:t>realloc (C</a:t>
            </a:r>
            <a:r>
              <a:rPr lang="en-US" sz="3200" smtClean="0">
                <a:latin typeface="Times New Roman" pitchFamily="18" charset="0"/>
              </a:rPr>
              <a:t>)</a:t>
            </a:r>
          </a:p>
          <a:p>
            <a:pPr lvl="1"/>
            <a:r>
              <a:rPr lang="en-US" sz="3200">
                <a:latin typeface="Times New Roman" pitchFamily="18" charset="0"/>
              </a:rPr>
              <a:t>f</a:t>
            </a:r>
            <a:r>
              <a:rPr lang="en-US" sz="3200" smtClean="0">
                <a:latin typeface="Times New Roman" pitchFamily="18" charset="0"/>
              </a:rPr>
              <a:t>ree (C)</a:t>
            </a:r>
            <a:endParaRPr lang="en-US" sz="3200">
              <a:latin typeface="Times New Roman" pitchFamily="18" charset="0"/>
            </a:endParaRPr>
          </a:p>
          <a:p>
            <a:endParaRPr lang="en-US" sz="3200">
              <a:latin typeface="Times New Roman" pitchFamily="18" charset="0"/>
            </a:endParaRPr>
          </a:p>
        </p:txBody>
      </p:sp>
    </p:spTree>
    <p:extLst>
      <p:ext uri="{BB962C8B-B14F-4D97-AF65-F5344CB8AC3E}">
        <p14:creationId xmlns:p14="http://schemas.microsoft.com/office/powerpoint/2010/main" val="72663359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new (C++)</a:t>
            </a:r>
            <a:endParaRPr lang="en-US"/>
          </a:p>
        </p:txBody>
      </p:sp>
      <p:sp>
        <p:nvSpPr>
          <p:cNvPr id="223235" name="Rectangle 3"/>
          <p:cNvSpPr>
            <a:spLocks noGrp="1" noChangeArrowheads="1"/>
          </p:cNvSpPr>
          <p:nvPr>
            <p:ph type="body" idx="1"/>
          </p:nvPr>
        </p:nvSpPr>
        <p:spPr>
          <a:xfrm>
            <a:off x="228600" y="1524000"/>
            <a:ext cx="8915400" cy="4800600"/>
          </a:xfrm>
        </p:spPr>
        <p:txBody>
          <a:bodyPr>
            <a:noAutofit/>
          </a:bodyPr>
          <a:lstStyle/>
          <a:p>
            <a:pPr algn="just"/>
            <a:r>
              <a:rPr lang="en-US" sz="2400" b="1">
                <a:latin typeface="Times New Roman" pitchFamily="18" charset="0"/>
              </a:rPr>
              <a:t>Chức </a:t>
            </a:r>
            <a:r>
              <a:rPr lang="en-US" sz="2400" b="1" smtClean="0">
                <a:latin typeface="Times New Roman" pitchFamily="18" charset="0"/>
                <a:cs typeface="Times New Roman" pitchFamily="18" charset="0"/>
              </a:rPr>
              <a:t>năng: </a:t>
            </a:r>
            <a:r>
              <a:rPr lang="en-US" sz="2400" smtClean="0">
                <a:latin typeface="Times New Roman" pitchFamily="18" charset="0"/>
                <a:cs typeface="Times New Roman" pitchFamily="18" charset="0"/>
              </a:rPr>
              <a:t>cấp </a:t>
            </a:r>
            <a:r>
              <a:rPr lang="en-US" sz="2400">
                <a:latin typeface="Times New Roman" pitchFamily="18" charset="0"/>
                <a:cs typeface="Times New Roman" pitchFamily="18" charset="0"/>
              </a:rPr>
              <a:t>phát bộ nhớ</a:t>
            </a:r>
            <a:r>
              <a:rPr lang="en-US" sz="2400" smtClean="0">
                <a:latin typeface="Times New Roman" pitchFamily="18" charset="0"/>
                <a:cs typeface="Times New Roman" pitchFamily="18" charset="0"/>
              </a:rPr>
              <a:t>. Hàm này </a:t>
            </a:r>
            <a:r>
              <a:rPr lang="vi-VN" sz="2400" smtClean="0">
                <a:latin typeface="Times New Roman" pitchFamily="18" charset="0"/>
                <a:cs typeface="Times New Roman" pitchFamily="18" charset="0"/>
              </a:rPr>
              <a:t>trả </a:t>
            </a:r>
            <a:r>
              <a:rPr lang="vi-VN" sz="2400">
                <a:latin typeface="Times New Roman" pitchFamily="18" charset="0"/>
                <a:cs typeface="Times New Roman" pitchFamily="18" charset="0"/>
              </a:rPr>
              <a:t>về một con trỏ trỏ tới đầu của khối nhớ vừa được cấp </a:t>
            </a:r>
            <a:r>
              <a:rPr lang="vi-VN" sz="2400" smtClean="0">
                <a:latin typeface="Times New Roman" pitchFamily="18" charset="0"/>
                <a:cs typeface="Times New Roman" pitchFamily="18" charset="0"/>
              </a:rPr>
              <a:t>phát</a:t>
            </a:r>
            <a:r>
              <a:rPr lang="en-US" sz="2400" smtClean="0">
                <a:latin typeface="Times New Roman" pitchFamily="18" charset="0"/>
                <a:cs typeface="Times New Roman" pitchFamily="18" charset="0"/>
              </a:rPr>
              <a:t>.</a:t>
            </a:r>
            <a:endParaRPr lang="en-US" sz="2400">
              <a:latin typeface="Times New Roman" pitchFamily="18" charset="0"/>
              <a:cs typeface="Times New Roman" pitchFamily="18" charset="0"/>
            </a:endParaRPr>
          </a:p>
          <a:p>
            <a:pPr algn="just"/>
            <a:r>
              <a:rPr lang="en-US" sz="2400" b="1" smtClean="0">
                <a:latin typeface="Times New Roman" pitchFamily="18" charset="0"/>
              </a:rPr>
              <a:t>Cú pháp: </a:t>
            </a:r>
          </a:p>
          <a:p>
            <a:pPr marL="0" indent="0" algn="just">
              <a:buNone/>
            </a:pPr>
            <a:r>
              <a:rPr lang="en-US" sz="2400" smtClean="0"/>
              <a:t>	Cấp </a:t>
            </a:r>
            <a:r>
              <a:rPr lang="en-US" sz="2400"/>
              <a:t>phát bộ nhớ chứa một phần tử có kiểu </a:t>
            </a:r>
            <a:r>
              <a:rPr lang="en-US" sz="2400" i="1" smtClean="0"/>
              <a:t>type:</a:t>
            </a:r>
            <a:endParaRPr lang="en-US" sz="2400" b="1" i="1">
              <a:latin typeface="Times New Roman" pitchFamily="18" charset="0"/>
            </a:endParaRPr>
          </a:p>
          <a:p>
            <a:pPr marL="0" indent="0" algn="just">
              <a:buNone/>
            </a:pPr>
            <a:r>
              <a:rPr lang="en-US" sz="2400" i="1" smtClean="0"/>
              <a:t>		pointer</a:t>
            </a:r>
            <a:r>
              <a:rPr lang="en-US" sz="2400"/>
              <a:t> </a:t>
            </a:r>
            <a:r>
              <a:rPr lang="en-US" sz="2400" b="1"/>
              <a:t>= new </a:t>
            </a:r>
            <a:r>
              <a:rPr lang="en-US" sz="2400" i="1" smtClean="0"/>
              <a:t>type</a:t>
            </a:r>
          </a:p>
          <a:p>
            <a:pPr marL="0" indent="0" algn="just">
              <a:buNone/>
            </a:pPr>
            <a:r>
              <a:rPr lang="en-US" sz="2400" smtClean="0"/>
              <a:t>	Cấp </a:t>
            </a:r>
            <a:r>
              <a:rPr lang="en-US" sz="2400"/>
              <a:t>phát một khối nhớ (một mảng) gồm các phần tử kiểu </a:t>
            </a:r>
            <a:r>
              <a:rPr lang="en-US" sz="2400" i="1" smtClean="0"/>
              <a:t>type:</a:t>
            </a:r>
            <a:endParaRPr lang="en-US" sz="2400"/>
          </a:p>
          <a:p>
            <a:pPr marL="0" indent="0" algn="just">
              <a:buNone/>
            </a:pPr>
            <a:r>
              <a:rPr lang="en-US" sz="2400" smtClean="0"/>
              <a:t>	   	</a:t>
            </a:r>
            <a:r>
              <a:rPr lang="en-US" sz="2400" i="1" smtClean="0"/>
              <a:t>pointer</a:t>
            </a:r>
            <a:r>
              <a:rPr lang="en-US" sz="2400"/>
              <a:t> </a:t>
            </a:r>
            <a:r>
              <a:rPr lang="en-US" sz="2400" b="1"/>
              <a:t>= new </a:t>
            </a:r>
            <a:r>
              <a:rPr lang="en-US" sz="2400" i="1"/>
              <a:t>type</a:t>
            </a:r>
            <a:r>
              <a:rPr lang="en-US" sz="2400"/>
              <a:t> </a:t>
            </a:r>
            <a:r>
              <a:rPr lang="en-US" sz="2400" b="1"/>
              <a:t>[</a:t>
            </a:r>
            <a:r>
              <a:rPr lang="en-US" sz="2400"/>
              <a:t> </a:t>
            </a:r>
            <a:r>
              <a:rPr lang="en-US" sz="2400" i="1"/>
              <a:t>elements</a:t>
            </a:r>
            <a:r>
              <a:rPr lang="en-US" sz="2400"/>
              <a:t> </a:t>
            </a:r>
            <a:r>
              <a:rPr lang="en-US" sz="2400" b="1"/>
              <a:t>]</a:t>
            </a:r>
            <a:endParaRPr lang="en-US" sz="2400"/>
          </a:p>
          <a:p>
            <a:pPr algn="just"/>
            <a:r>
              <a:rPr lang="en-US" sz="2400" b="1" u="sng" smtClean="0">
                <a:latin typeface="Times New Roman" pitchFamily="18" charset="0"/>
              </a:rPr>
              <a:t>Ví </a:t>
            </a:r>
            <a:r>
              <a:rPr lang="en-US" sz="2400" b="1" u="sng">
                <a:latin typeface="Times New Roman" pitchFamily="18" charset="0"/>
              </a:rPr>
              <a:t>dụ</a:t>
            </a:r>
            <a:r>
              <a:rPr lang="en-US" sz="2400" b="1">
                <a:latin typeface="Times New Roman" pitchFamily="18" charset="0"/>
              </a:rPr>
              <a:t>:</a:t>
            </a:r>
          </a:p>
          <a:p>
            <a:pPr lvl="1" algn="just">
              <a:buFont typeface="Wingdings" pitchFamily="2" charset="2"/>
              <a:buNone/>
            </a:pPr>
            <a:r>
              <a:rPr lang="en-US" sz="2400" b="1">
                <a:latin typeface="Times New Roman" pitchFamily="18" charset="0"/>
              </a:rPr>
              <a:t>			int *</a:t>
            </a:r>
            <a:r>
              <a:rPr lang="en-US" sz="2400" b="1" smtClean="0">
                <a:solidFill>
                  <a:srgbClr val="3347AD"/>
                </a:solidFill>
                <a:latin typeface="Times New Roman" pitchFamily="18" charset="0"/>
              </a:rPr>
              <a:t>p</a:t>
            </a:r>
            <a:r>
              <a:rPr lang="en-US" sz="2400" b="1" smtClean="0">
                <a:latin typeface="Times New Roman" pitchFamily="18" charset="0"/>
              </a:rPr>
              <a:t>;		</a:t>
            </a:r>
            <a:r>
              <a:rPr lang="en-US" sz="2400" b="1" smtClean="0">
                <a:solidFill>
                  <a:srgbClr val="3347AD"/>
                </a:solidFill>
                <a:latin typeface="Times New Roman" pitchFamily="18" charset="0"/>
              </a:rPr>
              <a:t>p</a:t>
            </a:r>
            <a:r>
              <a:rPr lang="en-US" sz="2400" b="1" smtClean="0">
                <a:latin typeface="Times New Roman" pitchFamily="18" charset="0"/>
              </a:rPr>
              <a:t>= new int;</a:t>
            </a:r>
          </a:p>
          <a:p>
            <a:pPr lvl="1" algn="just">
              <a:buFont typeface="Wingdings" pitchFamily="2" charset="2"/>
              <a:buNone/>
            </a:pPr>
            <a:endParaRPr lang="en-US" sz="2400" b="1" smtClean="0">
              <a:latin typeface="Times New Roman" pitchFamily="18" charset="0"/>
            </a:endParaRPr>
          </a:p>
          <a:p>
            <a:pPr lvl="1" algn="just">
              <a:buNone/>
            </a:pPr>
            <a:r>
              <a:rPr lang="en-US" sz="2400" b="1">
                <a:latin typeface="Times New Roman" pitchFamily="18" charset="0"/>
              </a:rPr>
              <a:t>			int </a:t>
            </a:r>
            <a:r>
              <a:rPr lang="en-US" sz="2400" b="1" smtClean="0">
                <a:latin typeface="Times New Roman" pitchFamily="18" charset="0"/>
              </a:rPr>
              <a:t>*</a:t>
            </a:r>
            <a:r>
              <a:rPr lang="en-US" sz="2400" b="1" smtClean="0">
                <a:solidFill>
                  <a:srgbClr val="3347AD"/>
                </a:solidFill>
                <a:latin typeface="Times New Roman" pitchFamily="18" charset="0"/>
              </a:rPr>
              <a:t>c</a:t>
            </a:r>
            <a:r>
              <a:rPr lang="en-US" sz="2400" b="1" smtClean="0">
                <a:latin typeface="Times New Roman" pitchFamily="18" charset="0"/>
              </a:rPr>
              <a:t>;</a:t>
            </a:r>
            <a:r>
              <a:rPr lang="en-US" sz="2400" b="1">
                <a:solidFill>
                  <a:srgbClr val="FFFF00"/>
                </a:solidFill>
                <a:latin typeface="Times New Roman" pitchFamily="18" charset="0"/>
              </a:rPr>
              <a:t>		</a:t>
            </a:r>
            <a:r>
              <a:rPr lang="en-US" sz="2400" b="1">
                <a:solidFill>
                  <a:srgbClr val="3347AD"/>
                </a:solidFill>
                <a:latin typeface="Times New Roman" pitchFamily="18" charset="0"/>
              </a:rPr>
              <a:t>c</a:t>
            </a:r>
            <a:r>
              <a:rPr lang="en-US" sz="2400" b="1" smtClean="0">
                <a:latin typeface="Times New Roman" pitchFamily="18" charset="0"/>
              </a:rPr>
              <a:t>= new int[10];</a:t>
            </a:r>
            <a:endParaRPr lang="en-US" sz="2400" b="1">
              <a:latin typeface="Times New Roman" pitchFamily="18" charset="0"/>
            </a:endParaRPr>
          </a:p>
        </p:txBody>
      </p:sp>
    </p:spTree>
    <p:extLst>
      <p:ext uri="{BB962C8B-B14F-4D97-AF65-F5344CB8AC3E}">
        <p14:creationId xmlns:p14="http://schemas.microsoft.com/office/powerpoint/2010/main" val="228087275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new (C++)</a:t>
            </a:r>
            <a:endParaRPr lang="en-US"/>
          </a:p>
        </p:txBody>
      </p:sp>
      <p:sp>
        <p:nvSpPr>
          <p:cNvPr id="223235" name="Rectangle 3"/>
          <p:cNvSpPr>
            <a:spLocks noGrp="1" noChangeArrowheads="1"/>
          </p:cNvSpPr>
          <p:nvPr>
            <p:ph type="body" idx="1"/>
          </p:nvPr>
        </p:nvSpPr>
        <p:spPr>
          <a:xfrm>
            <a:off x="228600" y="1524000"/>
            <a:ext cx="8915400" cy="4800600"/>
          </a:xfrm>
        </p:spPr>
        <p:txBody>
          <a:bodyPr>
            <a:noAutofit/>
          </a:bodyPr>
          <a:lstStyle/>
          <a:p>
            <a:pPr marL="0" indent="0" algn="just">
              <a:buNone/>
            </a:pPr>
            <a:r>
              <a:rPr lang="en-US" sz="2400" b="1" smtClean="0">
                <a:latin typeface="Times New Roman" pitchFamily="18" charset="0"/>
              </a:rPr>
              <a:t>	int </a:t>
            </a:r>
            <a:r>
              <a:rPr lang="en-US" sz="2400" b="1">
                <a:latin typeface="Times New Roman" pitchFamily="18" charset="0"/>
              </a:rPr>
              <a:t>*</a:t>
            </a:r>
            <a:r>
              <a:rPr lang="en-US" sz="2400" b="1">
                <a:solidFill>
                  <a:srgbClr val="3347AD"/>
                </a:solidFill>
                <a:latin typeface="Times New Roman" pitchFamily="18" charset="0"/>
              </a:rPr>
              <a:t>p</a:t>
            </a:r>
            <a:r>
              <a:rPr lang="en-US" sz="2400" b="1">
                <a:latin typeface="Times New Roman" pitchFamily="18" charset="0"/>
              </a:rPr>
              <a:t>;		</a:t>
            </a:r>
            <a:r>
              <a:rPr lang="en-US" sz="2400" b="1">
                <a:solidFill>
                  <a:srgbClr val="3347AD"/>
                </a:solidFill>
                <a:latin typeface="Times New Roman" pitchFamily="18" charset="0"/>
              </a:rPr>
              <a:t>p</a:t>
            </a:r>
            <a:r>
              <a:rPr lang="en-US" sz="2400" b="1">
                <a:latin typeface="Times New Roman" pitchFamily="18" charset="0"/>
              </a:rPr>
              <a:t>= new int</a:t>
            </a:r>
            <a:r>
              <a:rPr lang="en-US" sz="2400" b="1" smtClean="0">
                <a:latin typeface="Times New Roman" pitchFamily="18" charset="0"/>
              </a:rPr>
              <a:t>;</a:t>
            </a:r>
          </a:p>
          <a:p>
            <a:pPr marL="0" indent="0" algn="just">
              <a:buNone/>
            </a:pPr>
            <a:endParaRPr lang="en-US" sz="2400" b="1">
              <a:latin typeface="Times New Roman" pitchFamily="18" charset="0"/>
            </a:endParaRPr>
          </a:p>
          <a:p>
            <a:pPr marL="0" indent="0" algn="just">
              <a:buNone/>
            </a:pPr>
            <a:endParaRPr lang="en-US" sz="2400" smtClean="0">
              <a:latin typeface="Times New Roman" pitchFamily="18" charset="0"/>
            </a:endParaRPr>
          </a:p>
          <a:p>
            <a:pPr marL="0" indent="0" algn="just">
              <a:buNone/>
            </a:pPr>
            <a:endParaRPr lang="en-US" sz="2400" b="1">
              <a:latin typeface="Times New Roman" pitchFamily="18" charset="0"/>
            </a:endParaRPr>
          </a:p>
          <a:p>
            <a:pPr marL="0" indent="0" algn="just">
              <a:buNone/>
            </a:pPr>
            <a:endParaRPr lang="en-US" sz="2400" b="1" smtClean="0">
              <a:latin typeface="Times New Roman" pitchFamily="18" charset="0"/>
            </a:endParaRPr>
          </a:p>
          <a:p>
            <a:pPr marL="0" lvl="1" indent="0" algn="just">
              <a:buNone/>
            </a:pPr>
            <a:r>
              <a:rPr lang="en-US" sz="2400" b="1" smtClean="0">
                <a:latin typeface="Times New Roman" pitchFamily="18" charset="0"/>
              </a:rPr>
              <a:t>	int </a:t>
            </a:r>
            <a:r>
              <a:rPr lang="en-US" sz="2400" b="1">
                <a:latin typeface="Times New Roman" pitchFamily="18" charset="0"/>
              </a:rPr>
              <a:t>*</a:t>
            </a:r>
            <a:r>
              <a:rPr lang="en-US" sz="2400" b="1">
                <a:solidFill>
                  <a:srgbClr val="3347AD"/>
                </a:solidFill>
                <a:latin typeface="Times New Roman" pitchFamily="18" charset="0"/>
              </a:rPr>
              <a:t>c</a:t>
            </a:r>
            <a:r>
              <a:rPr lang="en-US" sz="2400" b="1">
                <a:latin typeface="Times New Roman" pitchFamily="18" charset="0"/>
              </a:rPr>
              <a:t>;</a:t>
            </a:r>
            <a:r>
              <a:rPr lang="en-US" sz="2400" b="1">
                <a:solidFill>
                  <a:srgbClr val="FFFF00"/>
                </a:solidFill>
                <a:latin typeface="Times New Roman" pitchFamily="18" charset="0"/>
              </a:rPr>
              <a:t>		</a:t>
            </a:r>
            <a:r>
              <a:rPr lang="en-US" sz="2400" b="1">
                <a:solidFill>
                  <a:srgbClr val="3347AD"/>
                </a:solidFill>
                <a:latin typeface="Times New Roman" pitchFamily="18" charset="0"/>
              </a:rPr>
              <a:t>c</a:t>
            </a:r>
            <a:r>
              <a:rPr lang="en-US" sz="2400" b="1">
                <a:latin typeface="Times New Roman" pitchFamily="18" charset="0"/>
              </a:rPr>
              <a:t>= new </a:t>
            </a:r>
            <a:r>
              <a:rPr lang="en-US" sz="2400" b="1" smtClean="0">
                <a:latin typeface="Times New Roman" pitchFamily="18" charset="0"/>
              </a:rPr>
              <a:t>int[3];</a:t>
            </a:r>
            <a:endParaRPr lang="en-US" sz="2400" b="1">
              <a:latin typeface="Times New Roman" pitchFamily="18" charset="0"/>
            </a:endParaRPr>
          </a:p>
          <a:p>
            <a:pPr marL="0" indent="0" algn="just">
              <a:buNone/>
            </a:pPr>
            <a:endParaRPr lang="en-US" sz="2400" b="1" smtClean="0">
              <a:latin typeface="Times New Roman" pitchFamily="18" charset="0"/>
            </a:endParaRPr>
          </a:p>
        </p:txBody>
      </p:sp>
      <p:grpSp>
        <p:nvGrpSpPr>
          <p:cNvPr id="5" name="Group 7"/>
          <p:cNvGrpSpPr>
            <a:grpSpLocks/>
          </p:cNvGrpSpPr>
          <p:nvPr/>
        </p:nvGrpSpPr>
        <p:grpSpPr bwMode="auto">
          <a:xfrm>
            <a:off x="1814871" y="2227855"/>
            <a:ext cx="1282700" cy="747713"/>
            <a:chOff x="2504" y="2507"/>
            <a:chExt cx="808" cy="471"/>
          </a:xfrm>
        </p:grpSpPr>
        <p:sp>
          <p:nvSpPr>
            <p:cNvPr id="6" name="Text Box 8"/>
            <p:cNvSpPr txBox="1">
              <a:spLocks noChangeArrowheads="1"/>
            </p:cNvSpPr>
            <p:nvPr/>
          </p:nvSpPr>
          <p:spPr bwMode="auto">
            <a:xfrm>
              <a:off x="2504" y="2766"/>
              <a:ext cx="576" cy="212"/>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000">
                  <a:solidFill>
                    <a:schemeClr val="accent2"/>
                  </a:solidFill>
                  <a:latin typeface="VNI-Times" pitchFamily="2" charset="0"/>
                </a:rPr>
                <a:t>1050</a:t>
              </a:r>
              <a:endParaRPr lang="en-US" sz="2200">
                <a:solidFill>
                  <a:schemeClr val="accent2"/>
                </a:solidFill>
                <a:latin typeface="VNI-Times" pitchFamily="2" charset="0"/>
              </a:endParaRPr>
            </a:p>
          </p:txBody>
        </p:sp>
        <p:sp>
          <p:nvSpPr>
            <p:cNvPr id="7" name="Text Box 9"/>
            <p:cNvSpPr txBox="1">
              <a:spLocks noChangeArrowheads="1"/>
            </p:cNvSpPr>
            <p:nvPr/>
          </p:nvSpPr>
          <p:spPr bwMode="auto">
            <a:xfrm>
              <a:off x="2544" y="2516"/>
              <a:ext cx="480" cy="227"/>
            </a:xfrm>
            <a:prstGeom prst="rect">
              <a:avLst/>
            </a:prstGeom>
            <a:solidFill>
              <a:srgbClr val="66FFFF"/>
            </a:solidFill>
            <a:ln w="9525">
              <a:no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r>
                <a:rPr lang="en-US" sz="2200" smtClean="0">
                  <a:solidFill>
                    <a:schemeClr val="tx2"/>
                  </a:solidFill>
                  <a:latin typeface="VNI-Times" pitchFamily="2" charset="0"/>
                </a:rPr>
                <a:t>1000</a:t>
              </a:r>
              <a:endParaRPr lang="en-US" sz="2200">
                <a:solidFill>
                  <a:schemeClr val="tx2"/>
                </a:solidFill>
                <a:latin typeface="VNI-Times" pitchFamily="2" charset="0"/>
              </a:endParaRPr>
            </a:p>
          </p:txBody>
        </p:sp>
        <p:sp>
          <p:nvSpPr>
            <p:cNvPr id="8" name="Text Box 10"/>
            <p:cNvSpPr txBox="1">
              <a:spLocks noChangeArrowheads="1"/>
            </p:cNvSpPr>
            <p:nvPr/>
          </p:nvSpPr>
          <p:spPr bwMode="auto">
            <a:xfrm>
              <a:off x="3024" y="2507"/>
              <a:ext cx="288" cy="227"/>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200">
                  <a:solidFill>
                    <a:schemeClr val="tx2"/>
                  </a:solidFill>
                  <a:latin typeface="VNI-Times" pitchFamily="2" charset="0"/>
                </a:rPr>
                <a:t>p</a:t>
              </a:r>
            </a:p>
          </p:txBody>
        </p:sp>
      </p:grpSp>
      <p:grpSp>
        <p:nvGrpSpPr>
          <p:cNvPr id="9" name="Group 7"/>
          <p:cNvGrpSpPr>
            <a:grpSpLocks/>
          </p:cNvGrpSpPr>
          <p:nvPr/>
        </p:nvGrpSpPr>
        <p:grpSpPr bwMode="auto">
          <a:xfrm>
            <a:off x="3857380" y="2175467"/>
            <a:ext cx="2209800" cy="768351"/>
            <a:chOff x="1832" y="2511"/>
            <a:chExt cx="1248" cy="484"/>
          </a:xfrm>
        </p:grpSpPr>
        <p:sp>
          <p:nvSpPr>
            <p:cNvPr id="10" name="Text Box 8"/>
            <p:cNvSpPr txBox="1">
              <a:spLocks noChangeArrowheads="1"/>
            </p:cNvSpPr>
            <p:nvPr/>
          </p:nvSpPr>
          <p:spPr bwMode="auto">
            <a:xfrm>
              <a:off x="2504" y="2766"/>
              <a:ext cx="576" cy="229"/>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200" smtClean="0">
                  <a:solidFill>
                    <a:schemeClr val="accent2"/>
                  </a:solidFill>
                  <a:latin typeface="VNI-Times" pitchFamily="2" charset="0"/>
                </a:rPr>
                <a:t>1000</a:t>
              </a:r>
              <a:endParaRPr lang="en-US" sz="2200">
                <a:solidFill>
                  <a:schemeClr val="accent2"/>
                </a:solidFill>
                <a:latin typeface="VNI-Times" pitchFamily="2" charset="0"/>
              </a:endParaRPr>
            </a:p>
          </p:txBody>
        </p:sp>
        <p:sp>
          <p:nvSpPr>
            <p:cNvPr id="11" name="Text Box 9"/>
            <p:cNvSpPr txBox="1">
              <a:spLocks noChangeArrowheads="1"/>
            </p:cNvSpPr>
            <p:nvPr/>
          </p:nvSpPr>
          <p:spPr bwMode="auto">
            <a:xfrm>
              <a:off x="2573" y="2516"/>
              <a:ext cx="480" cy="227"/>
            </a:xfrm>
            <a:prstGeom prst="rect">
              <a:avLst/>
            </a:prstGeom>
            <a:solidFill>
              <a:srgbClr val="66FFFF"/>
            </a:solidFill>
            <a:ln w="9525">
              <a:no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endParaRPr lang="en-US" sz="2200">
                <a:solidFill>
                  <a:schemeClr val="tx2"/>
                </a:solidFill>
                <a:latin typeface="VNI-Times" pitchFamily="2" charset="0"/>
              </a:endParaRPr>
            </a:p>
          </p:txBody>
        </p:sp>
        <p:sp>
          <p:nvSpPr>
            <p:cNvPr id="12" name="Text Box 10"/>
            <p:cNvSpPr txBox="1">
              <a:spLocks noChangeArrowheads="1"/>
            </p:cNvSpPr>
            <p:nvPr/>
          </p:nvSpPr>
          <p:spPr bwMode="auto">
            <a:xfrm>
              <a:off x="1832" y="2511"/>
              <a:ext cx="808" cy="400"/>
            </a:xfrm>
            <a:prstGeom prst="rect">
              <a:avLst/>
            </a:prstGeom>
            <a:noFill/>
            <a:ln w="9525">
              <a:noFill/>
              <a:miter lim="800000"/>
              <a:headEnd/>
              <a:tailEnd/>
            </a:ln>
            <a:effectLst/>
          </p:spPr>
          <p:txBody>
            <a:bodyPr wrap="square" lIns="92075" tIns="46038" rIns="92075" bIns="46038">
              <a:spAutoFit/>
            </a:bodyPr>
            <a:lstStyle/>
            <a:p>
              <a:pPr eaLnBrk="0" hangingPunct="0">
                <a:lnSpc>
                  <a:spcPct val="80000"/>
                </a:lnSpc>
                <a:spcBef>
                  <a:spcPct val="50000"/>
                </a:spcBef>
                <a:buClr>
                  <a:schemeClr val="tx2"/>
                </a:buClr>
              </a:pPr>
              <a:r>
                <a:rPr lang="en-US" sz="2200" smtClean="0">
                  <a:solidFill>
                    <a:schemeClr val="tx2"/>
                  </a:solidFill>
                  <a:latin typeface="VNI-Times" pitchFamily="2" charset="0"/>
                </a:rPr>
                <a:t>undefined</a:t>
              </a:r>
              <a:endParaRPr lang="en-US" sz="2200">
                <a:solidFill>
                  <a:schemeClr val="tx2"/>
                </a:solidFill>
                <a:latin typeface="VNI-Times" pitchFamily="2" charset="0"/>
              </a:endParaRPr>
            </a:p>
          </p:txBody>
        </p:sp>
      </p:grpSp>
      <p:cxnSp>
        <p:nvCxnSpPr>
          <p:cNvPr id="14" name="Elbow Connector 13"/>
          <p:cNvCxnSpPr/>
          <p:nvPr/>
        </p:nvCxnSpPr>
        <p:spPr>
          <a:xfrm>
            <a:off x="2729271" y="2559643"/>
            <a:ext cx="2318001" cy="123825"/>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8" name="Group 7"/>
          <p:cNvGrpSpPr>
            <a:grpSpLocks/>
          </p:cNvGrpSpPr>
          <p:nvPr/>
        </p:nvGrpSpPr>
        <p:grpSpPr bwMode="auto">
          <a:xfrm>
            <a:off x="1905000" y="4662487"/>
            <a:ext cx="1282700" cy="747713"/>
            <a:chOff x="2504" y="2507"/>
            <a:chExt cx="808" cy="471"/>
          </a:xfrm>
        </p:grpSpPr>
        <p:sp>
          <p:nvSpPr>
            <p:cNvPr id="19" name="Text Box 8"/>
            <p:cNvSpPr txBox="1">
              <a:spLocks noChangeArrowheads="1"/>
            </p:cNvSpPr>
            <p:nvPr/>
          </p:nvSpPr>
          <p:spPr bwMode="auto">
            <a:xfrm>
              <a:off x="2504" y="2766"/>
              <a:ext cx="576" cy="212"/>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000" smtClean="0">
                  <a:solidFill>
                    <a:schemeClr val="accent2"/>
                  </a:solidFill>
                  <a:latin typeface="VNI-Times" pitchFamily="2" charset="0"/>
                </a:rPr>
                <a:t>1100</a:t>
              </a:r>
              <a:endParaRPr lang="en-US" sz="2200">
                <a:solidFill>
                  <a:schemeClr val="accent2"/>
                </a:solidFill>
                <a:latin typeface="VNI-Times" pitchFamily="2" charset="0"/>
              </a:endParaRPr>
            </a:p>
          </p:txBody>
        </p:sp>
        <p:sp>
          <p:nvSpPr>
            <p:cNvPr id="20" name="Text Box 9"/>
            <p:cNvSpPr txBox="1">
              <a:spLocks noChangeArrowheads="1"/>
            </p:cNvSpPr>
            <p:nvPr/>
          </p:nvSpPr>
          <p:spPr bwMode="auto">
            <a:xfrm>
              <a:off x="2544" y="2516"/>
              <a:ext cx="480" cy="227"/>
            </a:xfrm>
            <a:prstGeom prst="rect">
              <a:avLst/>
            </a:prstGeom>
            <a:solidFill>
              <a:srgbClr val="66FFFF"/>
            </a:solidFill>
            <a:ln w="9525">
              <a:no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r>
                <a:rPr lang="en-US" sz="2200" smtClean="0">
                  <a:solidFill>
                    <a:schemeClr val="tx2"/>
                  </a:solidFill>
                  <a:latin typeface="VNI-Times" pitchFamily="2" charset="0"/>
                </a:rPr>
                <a:t>1020</a:t>
              </a:r>
              <a:endParaRPr lang="en-US" sz="2200">
                <a:solidFill>
                  <a:schemeClr val="tx2"/>
                </a:solidFill>
                <a:latin typeface="VNI-Times" pitchFamily="2" charset="0"/>
              </a:endParaRPr>
            </a:p>
          </p:txBody>
        </p:sp>
        <p:sp>
          <p:nvSpPr>
            <p:cNvPr id="21" name="Text Box 10"/>
            <p:cNvSpPr txBox="1">
              <a:spLocks noChangeArrowheads="1"/>
            </p:cNvSpPr>
            <p:nvPr/>
          </p:nvSpPr>
          <p:spPr bwMode="auto">
            <a:xfrm>
              <a:off x="3024" y="2507"/>
              <a:ext cx="288" cy="227"/>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200" smtClean="0">
                  <a:solidFill>
                    <a:schemeClr val="tx2"/>
                  </a:solidFill>
                  <a:latin typeface="VNI-Times" pitchFamily="2" charset="0"/>
                </a:rPr>
                <a:t>c</a:t>
              </a:r>
              <a:endParaRPr lang="en-US" sz="2200">
                <a:solidFill>
                  <a:schemeClr val="tx2"/>
                </a:solidFill>
                <a:latin typeface="VNI-Times" pitchFamily="2" charset="0"/>
              </a:endParaRPr>
            </a:p>
          </p:txBody>
        </p:sp>
      </p:grpSp>
      <p:grpSp>
        <p:nvGrpSpPr>
          <p:cNvPr id="22" name="Group 7"/>
          <p:cNvGrpSpPr>
            <a:grpSpLocks/>
          </p:cNvGrpSpPr>
          <p:nvPr/>
        </p:nvGrpSpPr>
        <p:grpSpPr bwMode="auto">
          <a:xfrm>
            <a:off x="3947509" y="4610099"/>
            <a:ext cx="2209800" cy="768351"/>
            <a:chOff x="1832" y="2511"/>
            <a:chExt cx="1248" cy="484"/>
          </a:xfrm>
        </p:grpSpPr>
        <p:sp>
          <p:nvSpPr>
            <p:cNvPr id="23" name="Text Box 8"/>
            <p:cNvSpPr txBox="1">
              <a:spLocks noChangeArrowheads="1"/>
            </p:cNvSpPr>
            <p:nvPr/>
          </p:nvSpPr>
          <p:spPr bwMode="auto">
            <a:xfrm>
              <a:off x="2504" y="2766"/>
              <a:ext cx="576" cy="229"/>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200" smtClean="0">
                  <a:solidFill>
                    <a:schemeClr val="accent2"/>
                  </a:solidFill>
                  <a:latin typeface="VNI-Times" pitchFamily="2" charset="0"/>
                </a:rPr>
                <a:t>1020</a:t>
              </a:r>
              <a:endParaRPr lang="en-US" sz="2200">
                <a:solidFill>
                  <a:schemeClr val="accent2"/>
                </a:solidFill>
                <a:latin typeface="VNI-Times" pitchFamily="2" charset="0"/>
              </a:endParaRPr>
            </a:p>
          </p:txBody>
        </p:sp>
        <p:sp>
          <p:nvSpPr>
            <p:cNvPr id="24" name="Text Box 9"/>
            <p:cNvSpPr txBox="1">
              <a:spLocks noChangeArrowheads="1"/>
            </p:cNvSpPr>
            <p:nvPr/>
          </p:nvSpPr>
          <p:spPr bwMode="auto">
            <a:xfrm>
              <a:off x="2565" y="2516"/>
              <a:ext cx="480" cy="227"/>
            </a:xfrm>
            <a:prstGeom prst="rect">
              <a:avLst/>
            </a:prstGeom>
            <a:solidFill>
              <a:srgbClr val="66FFFF"/>
            </a:solidFill>
            <a:ln w="9525">
              <a:solidFill>
                <a:schemeClr val="accent1"/>
              </a:solid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endParaRPr lang="en-US" sz="2200">
                <a:solidFill>
                  <a:schemeClr val="tx2"/>
                </a:solidFill>
                <a:latin typeface="VNI-Times" pitchFamily="2" charset="0"/>
              </a:endParaRPr>
            </a:p>
          </p:txBody>
        </p:sp>
        <p:sp>
          <p:nvSpPr>
            <p:cNvPr id="25" name="Text Box 10"/>
            <p:cNvSpPr txBox="1">
              <a:spLocks noChangeArrowheads="1"/>
            </p:cNvSpPr>
            <p:nvPr/>
          </p:nvSpPr>
          <p:spPr bwMode="auto">
            <a:xfrm>
              <a:off x="1832" y="2511"/>
              <a:ext cx="808" cy="400"/>
            </a:xfrm>
            <a:prstGeom prst="rect">
              <a:avLst/>
            </a:prstGeom>
            <a:noFill/>
            <a:ln w="9525">
              <a:noFill/>
              <a:miter lim="800000"/>
              <a:headEnd/>
              <a:tailEnd/>
            </a:ln>
            <a:effectLst/>
          </p:spPr>
          <p:txBody>
            <a:bodyPr wrap="square" lIns="92075" tIns="46038" rIns="92075" bIns="46038">
              <a:spAutoFit/>
            </a:bodyPr>
            <a:lstStyle/>
            <a:p>
              <a:pPr eaLnBrk="0" hangingPunct="0">
                <a:lnSpc>
                  <a:spcPct val="80000"/>
                </a:lnSpc>
                <a:spcBef>
                  <a:spcPct val="50000"/>
                </a:spcBef>
                <a:buClr>
                  <a:schemeClr val="tx2"/>
                </a:buClr>
              </a:pPr>
              <a:r>
                <a:rPr lang="en-US" sz="2200" smtClean="0">
                  <a:solidFill>
                    <a:schemeClr val="tx2"/>
                  </a:solidFill>
                  <a:latin typeface="VNI-Times" pitchFamily="2" charset="0"/>
                </a:rPr>
                <a:t>undefined</a:t>
              </a:r>
              <a:endParaRPr lang="en-US" sz="2200">
                <a:solidFill>
                  <a:schemeClr val="tx2"/>
                </a:solidFill>
                <a:latin typeface="VNI-Times" pitchFamily="2" charset="0"/>
              </a:endParaRPr>
            </a:p>
          </p:txBody>
        </p:sp>
      </p:grpSp>
      <p:cxnSp>
        <p:nvCxnSpPr>
          <p:cNvPr id="26" name="Elbow Connector 25"/>
          <p:cNvCxnSpPr/>
          <p:nvPr/>
        </p:nvCxnSpPr>
        <p:spPr>
          <a:xfrm>
            <a:off x="2819400" y="4994275"/>
            <a:ext cx="2318001" cy="123825"/>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 Box 9"/>
          <p:cNvSpPr txBox="1">
            <a:spLocks noChangeArrowheads="1"/>
          </p:cNvSpPr>
          <p:nvPr/>
        </p:nvSpPr>
        <p:spPr bwMode="auto">
          <a:xfrm>
            <a:off x="6096000" y="4610099"/>
            <a:ext cx="849923" cy="360363"/>
          </a:xfrm>
          <a:prstGeom prst="rect">
            <a:avLst/>
          </a:prstGeom>
          <a:solidFill>
            <a:srgbClr val="66FFFF"/>
          </a:solidFill>
          <a:ln w="9525">
            <a:solidFill>
              <a:schemeClr val="accent1"/>
            </a:solid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endParaRPr lang="en-US" sz="2200">
              <a:solidFill>
                <a:schemeClr val="tx2"/>
              </a:solidFill>
              <a:latin typeface="VNI-Times" pitchFamily="2" charset="0"/>
            </a:endParaRPr>
          </a:p>
        </p:txBody>
      </p:sp>
      <p:sp>
        <p:nvSpPr>
          <p:cNvPr id="30" name="Text Box 9"/>
          <p:cNvSpPr txBox="1">
            <a:spLocks noChangeArrowheads="1"/>
          </p:cNvSpPr>
          <p:nvPr/>
        </p:nvSpPr>
        <p:spPr bwMode="auto">
          <a:xfrm>
            <a:off x="6943465" y="4610098"/>
            <a:ext cx="849923" cy="360363"/>
          </a:xfrm>
          <a:prstGeom prst="rect">
            <a:avLst/>
          </a:prstGeom>
          <a:solidFill>
            <a:srgbClr val="66FFFF"/>
          </a:solidFill>
          <a:ln w="9525">
            <a:solidFill>
              <a:schemeClr val="accent1"/>
            </a:solid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endParaRPr lang="en-US" sz="2200">
              <a:solidFill>
                <a:schemeClr val="tx2"/>
              </a:solidFill>
              <a:latin typeface="VNI-Times" pitchFamily="2" charset="0"/>
            </a:endParaRPr>
          </a:p>
        </p:txBody>
      </p:sp>
    </p:spTree>
    <p:extLst>
      <p:ext uri="{BB962C8B-B14F-4D97-AF65-F5344CB8AC3E}">
        <p14:creationId xmlns:p14="http://schemas.microsoft.com/office/powerpoint/2010/main" val="361876542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new (C++)</a:t>
            </a:r>
            <a:endParaRPr lang="en-US"/>
          </a:p>
        </p:txBody>
      </p:sp>
      <p:sp>
        <p:nvSpPr>
          <p:cNvPr id="223235" name="Rectangle 3"/>
          <p:cNvSpPr>
            <a:spLocks noGrp="1" noChangeArrowheads="1"/>
          </p:cNvSpPr>
          <p:nvPr>
            <p:ph type="body" idx="1"/>
          </p:nvPr>
        </p:nvSpPr>
        <p:spPr>
          <a:xfrm>
            <a:off x="228600" y="1524000"/>
            <a:ext cx="8915400" cy="4800600"/>
          </a:xfrm>
        </p:spPr>
        <p:txBody>
          <a:bodyPr>
            <a:noAutofit/>
          </a:bodyPr>
          <a:lstStyle/>
          <a:p>
            <a:pPr algn="just"/>
            <a:r>
              <a:rPr lang="en-US" sz="2400" smtClean="0">
                <a:latin typeface="Times New Roman" pitchFamily="18" charset="0"/>
                <a:cs typeface="Times New Roman" pitchFamily="18" charset="0"/>
              </a:rPr>
              <a:t>Việc cấp phát bộ nhớ cho 1 con trỏ có khác gì so với khai báo mảng thông thường? </a:t>
            </a:r>
          </a:p>
          <a:p>
            <a:pPr algn="just"/>
            <a:r>
              <a:rPr lang="vi-VN" sz="2400">
                <a:latin typeface="Times New Roman" pitchFamily="18" charset="0"/>
                <a:cs typeface="Times New Roman" pitchFamily="18" charset="0"/>
              </a:rPr>
              <a:t>Bộ nhớ động </a:t>
            </a:r>
            <a:r>
              <a:rPr lang="vi-VN" sz="2400" smtClean="0">
                <a:latin typeface="Times New Roman" pitchFamily="18" charset="0"/>
                <a:cs typeface="Times New Roman" pitchFamily="18" charset="0"/>
              </a:rPr>
              <a:t>được </a:t>
            </a:r>
            <a:r>
              <a:rPr lang="vi-VN" sz="2400">
                <a:latin typeface="Times New Roman" pitchFamily="18" charset="0"/>
                <a:cs typeface="Times New Roman" pitchFamily="18" charset="0"/>
              </a:rPr>
              <a:t>quản lí bởi hệ điều hành và trong các môi trường đa nhiệm có thể chạy một lúc vài chương </a:t>
            </a:r>
            <a:r>
              <a:rPr lang="vi-VN" sz="2400" smtClean="0">
                <a:latin typeface="Times New Roman" pitchFamily="18" charset="0"/>
                <a:cs typeface="Times New Roman" pitchFamily="18" charset="0"/>
              </a:rPr>
              <a:t>trình</a:t>
            </a:r>
            <a:r>
              <a:rPr lang="en-US" sz="2400" smtClean="0">
                <a:latin typeface="Times New Roman" pitchFamily="18" charset="0"/>
                <a:cs typeface="Times New Roman" pitchFamily="18" charset="0"/>
              </a:rPr>
              <a:t>,</a:t>
            </a:r>
            <a:r>
              <a:rPr lang="vi-VN" sz="2400" smtClean="0">
                <a:latin typeface="Times New Roman" pitchFamily="18" charset="0"/>
                <a:cs typeface="Times New Roman" pitchFamily="18" charset="0"/>
              </a:rPr>
              <a:t> </a:t>
            </a:r>
            <a:r>
              <a:rPr lang="en-US" sz="2400" smtClean="0">
                <a:latin typeface="Times New Roman" pitchFamily="18" charset="0"/>
                <a:cs typeface="Times New Roman" pitchFamily="18" charset="0"/>
              </a:rPr>
              <a:t>có thể </a:t>
            </a:r>
            <a:r>
              <a:rPr lang="vi-VN" sz="2400" smtClean="0">
                <a:latin typeface="Times New Roman" pitchFamily="18" charset="0"/>
                <a:cs typeface="Times New Roman" pitchFamily="18" charset="0"/>
              </a:rPr>
              <a:t>hết </a:t>
            </a:r>
            <a:r>
              <a:rPr lang="vi-VN" sz="2400">
                <a:latin typeface="Times New Roman" pitchFamily="18" charset="0"/>
                <a:cs typeface="Times New Roman" pitchFamily="18" charset="0"/>
              </a:rPr>
              <a:t>bộ nhớ để cấp phát. Nếu </a:t>
            </a:r>
            <a:r>
              <a:rPr lang="vi-VN" sz="2400" smtClean="0">
                <a:latin typeface="Times New Roman" pitchFamily="18" charset="0"/>
                <a:cs typeface="Times New Roman" pitchFamily="18" charset="0"/>
              </a:rPr>
              <a:t>hệ </a:t>
            </a:r>
            <a:r>
              <a:rPr lang="vi-VN" sz="2400">
                <a:latin typeface="Times New Roman" pitchFamily="18" charset="0"/>
                <a:cs typeface="Times New Roman" pitchFamily="18" charset="0"/>
              </a:rPr>
              <a:t>điều hành không thể cấp phát bộ nhớ </a:t>
            </a:r>
            <a:r>
              <a:rPr lang="en-US" sz="2400" smtClean="0">
                <a:latin typeface="Times New Roman" pitchFamily="18" charset="0"/>
                <a:cs typeface="Times New Roman" pitchFamily="18" charset="0"/>
              </a:rPr>
              <a:t>khi dùng với </a:t>
            </a:r>
            <a:r>
              <a:rPr lang="vi-VN" sz="2400" smtClean="0">
                <a:latin typeface="Times New Roman" pitchFamily="18" charset="0"/>
                <a:cs typeface="Times New Roman" pitchFamily="18" charset="0"/>
              </a:rPr>
              <a:t>toán </a:t>
            </a:r>
            <a:r>
              <a:rPr lang="vi-VN" sz="2400">
                <a:latin typeface="Times New Roman" pitchFamily="18" charset="0"/>
                <a:cs typeface="Times New Roman" pitchFamily="18" charset="0"/>
              </a:rPr>
              <a:t>tử </a:t>
            </a:r>
            <a:r>
              <a:rPr lang="vi-VN" sz="2400" b="1">
                <a:latin typeface="Times New Roman" pitchFamily="18" charset="0"/>
                <a:cs typeface="Times New Roman" pitchFamily="18" charset="0"/>
              </a:rPr>
              <a:t>new</a:t>
            </a:r>
            <a:r>
              <a:rPr lang="vi-VN" sz="2400">
                <a:latin typeface="Times New Roman" pitchFamily="18" charset="0"/>
                <a:cs typeface="Times New Roman" pitchFamily="18" charset="0"/>
              </a:rPr>
              <a:t>, một con trỏ </a:t>
            </a:r>
            <a:r>
              <a:rPr lang="en-US" sz="2400" smtClean="0">
                <a:solidFill>
                  <a:srgbClr val="0070C0"/>
                </a:solidFill>
                <a:latin typeface="Times New Roman" pitchFamily="18" charset="0"/>
                <a:cs typeface="Times New Roman" pitchFamily="18" charset="0"/>
              </a:rPr>
              <a:t>NULL </a:t>
            </a:r>
            <a:r>
              <a:rPr lang="vi-VN" sz="2400" smtClean="0">
                <a:latin typeface="Times New Roman" pitchFamily="18" charset="0"/>
                <a:cs typeface="Times New Roman" pitchFamily="18" charset="0"/>
              </a:rPr>
              <a:t>sẽ </a:t>
            </a:r>
            <a:r>
              <a:rPr lang="vi-VN" sz="2400">
                <a:latin typeface="Times New Roman" pitchFamily="18" charset="0"/>
                <a:cs typeface="Times New Roman" pitchFamily="18" charset="0"/>
              </a:rPr>
              <a:t>được trả về. </a:t>
            </a:r>
            <a:endParaRPr lang="en-US" sz="2400" smtClean="0">
              <a:latin typeface="Times New Roman" pitchFamily="18" charset="0"/>
              <a:cs typeface="Times New Roman" pitchFamily="18" charset="0"/>
            </a:endParaRPr>
          </a:p>
          <a:p>
            <a:pPr algn="just"/>
            <a:r>
              <a:rPr lang="en-US" sz="2400" smtClean="0">
                <a:latin typeface="Times New Roman" pitchFamily="18" charset="0"/>
                <a:cs typeface="Times New Roman" pitchFamily="18" charset="0"/>
              </a:rPr>
              <a:t>Nên </a:t>
            </a:r>
            <a:r>
              <a:rPr lang="vi-VN" sz="2400" smtClean="0">
                <a:latin typeface="Times New Roman" pitchFamily="18" charset="0"/>
                <a:cs typeface="Times New Roman" pitchFamily="18" charset="0"/>
              </a:rPr>
              <a:t>kiểm </a:t>
            </a:r>
            <a:r>
              <a:rPr lang="vi-VN" sz="2400">
                <a:latin typeface="Times New Roman" pitchFamily="18" charset="0"/>
                <a:cs typeface="Times New Roman" pitchFamily="18" charset="0"/>
              </a:rPr>
              <a:t>tra xem con trỏ trả về bởi toán tử </a:t>
            </a:r>
            <a:r>
              <a:rPr lang="vi-VN" sz="2400" b="1" smtClean="0">
                <a:latin typeface="Times New Roman" pitchFamily="18" charset="0"/>
                <a:cs typeface="Times New Roman" pitchFamily="18" charset="0"/>
              </a:rPr>
              <a:t>new</a:t>
            </a:r>
            <a:r>
              <a:rPr lang="en-US" sz="2400" b="1" smtClean="0">
                <a:latin typeface="Times New Roman" pitchFamily="18" charset="0"/>
                <a:cs typeface="Times New Roman" pitchFamily="18" charset="0"/>
              </a:rPr>
              <a:t> </a:t>
            </a:r>
            <a:r>
              <a:rPr lang="vi-VN" sz="2400" smtClean="0">
                <a:latin typeface="Times New Roman" pitchFamily="18" charset="0"/>
                <a:cs typeface="Times New Roman" pitchFamily="18" charset="0"/>
              </a:rPr>
              <a:t>có </a:t>
            </a:r>
            <a:r>
              <a:rPr lang="vi-VN" sz="2400">
                <a:latin typeface="Times New Roman" pitchFamily="18" charset="0"/>
                <a:cs typeface="Times New Roman" pitchFamily="18" charset="0"/>
              </a:rPr>
              <a:t>bằng </a:t>
            </a:r>
            <a:r>
              <a:rPr lang="en-US" sz="2400" smtClean="0">
                <a:latin typeface="Times New Roman" pitchFamily="18" charset="0"/>
                <a:cs typeface="Times New Roman" pitchFamily="18" charset="0"/>
              </a:rPr>
              <a:t>NULL </a:t>
            </a:r>
            <a:r>
              <a:rPr lang="vi-VN" sz="2400" smtClean="0">
                <a:latin typeface="Times New Roman" pitchFamily="18" charset="0"/>
                <a:cs typeface="Times New Roman" pitchFamily="18" charset="0"/>
              </a:rPr>
              <a:t>hay không:</a:t>
            </a:r>
            <a:endParaRPr lang="vi-VN" sz="2400">
              <a:latin typeface="Times New Roman" pitchFamily="18" charset="0"/>
              <a:cs typeface="Times New Roman" pitchFamily="18" charset="0"/>
            </a:endParaRPr>
          </a:p>
          <a:p>
            <a:pPr marL="0" indent="0" algn="just">
              <a:buNone/>
            </a:pPr>
            <a:r>
              <a:rPr lang="en-US" sz="2400" smtClean="0">
                <a:latin typeface="Times New Roman" pitchFamily="18" charset="0"/>
                <a:cs typeface="Times New Roman" pitchFamily="18" charset="0"/>
              </a:rPr>
              <a:t>	</a:t>
            </a:r>
            <a:r>
              <a:rPr lang="vi-VN" sz="2400" smtClean="0">
                <a:latin typeface="Times New Roman" pitchFamily="18" charset="0"/>
                <a:cs typeface="Times New Roman" pitchFamily="18" charset="0"/>
              </a:rPr>
              <a:t>int </a:t>
            </a:r>
            <a:r>
              <a:rPr lang="vi-VN" sz="2400">
                <a:latin typeface="Times New Roman" pitchFamily="18" charset="0"/>
                <a:cs typeface="Times New Roman" pitchFamily="18" charset="0"/>
              </a:rPr>
              <a:t>* </a:t>
            </a:r>
            <a:r>
              <a:rPr lang="en-US" sz="2400" smtClean="0">
                <a:latin typeface="Times New Roman" pitchFamily="18" charset="0"/>
                <a:cs typeface="Times New Roman" pitchFamily="18" charset="0"/>
              </a:rPr>
              <a:t>a</a:t>
            </a:r>
            <a:r>
              <a:rPr lang="vi-VN" sz="2400" smtClean="0">
                <a:latin typeface="Times New Roman" pitchFamily="18" charset="0"/>
                <a:cs typeface="Times New Roman" pitchFamily="18" charset="0"/>
              </a:rPr>
              <a:t>;</a:t>
            </a:r>
            <a:r>
              <a:rPr lang="en-US" sz="2400" smtClean="0">
                <a:latin typeface="Times New Roman" pitchFamily="18" charset="0"/>
                <a:cs typeface="Times New Roman" pitchFamily="18" charset="0"/>
              </a:rPr>
              <a:t> </a:t>
            </a:r>
          </a:p>
          <a:p>
            <a:pPr marL="0" indent="0" algn="just">
              <a:buNone/>
            </a:pPr>
            <a:r>
              <a:rPr lang="en-US" sz="2400" smtClean="0">
                <a:latin typeface="Times New Roman" pitchFamily="18" charset="0"/>
                <a:cs typeface="Times New Roman" pitchFamily="18" charset="0"/>
              </a:rPr>
              <a:t>	a</a:t>
            </a:r>
            <a:r>
              <a:rPr lang="vi-VN" sz="2400" smtClean="0">
                <a:latin typeface="Times New Roman" pitchFamily="18" charset="0"/>
                <a:cs typeface="Times New Roman" pitchFamily="18" charset="0"/>
              </a:rPr>
              <a:t> </a:t>
            </a:r>
            <a:r>
              <a:rPr lang="vi-VN" sz="2400">
                <a:latin typeface="Times New Roman" pitchFamily="18" charset="0"/>
                <a:cs typeface="Times New Roman" pitchFamily="18" charset="0"/>
              </a:rPr>
              <a:t>= new int [5</a:t>
            </a:r>
            <a:r>
              <a:rPr lang="vi-VN" sz="2400" smtClean="0">
                <a:latin typeface="Times New Roman" pitchFamily="18" charset="0"/>
                <a:cs typeface="Times New Roman" pitchFamily="18" charset="0"/>
              </a:rPr>
              <a:t>];</a:t>
            </a:r>
            <a:endParaRPr lang="en-US" sz="2400" smtClean="0">
              <a:latin typeface="Times New Roman" pitchFamily="18" charset="0"/>
              <a:cs typeface="Times New Roman" pitchFamily="18" charset="0"/>
            </a:endParaRPr>
          </a:p>
          <a:p>
            <a:pPr marL="0" indent="0" algn="just">
              <a:buNone/>
            </a:pPr>
            <a:r>
              <a:rPr lang="en-US" sz="2400" smtClean="0">
                <a:latin typeface="Times New Roman" pitchFamily="18" charset="0"/>
                <a:cs typeface="Times New Roman" pitchFamily="18" charset="0"/>
              </a:rPr>
              <a:t>	</a:t>
            </a:r>
            <a:r>
              <a:rPr lang="vi-VN" sz="2400" smtClean="0">
                <a:latin typeface="Times New Roman" pitchFamily="18" charset="0"/>
                <a:cs typeface="Times New Roman" pitchFamily="18" charset="0"/>
              </a:rPr>
              <a:t>if (</a:t>
            </a:r>
            <a:r>
              <a:rPr lang="en-US" sz="2400" smtClean="0">
                <a:latin typeface="Times New Roman" pitchFamily="18" charset="0"/>
                <a:cs typeface="Times New Roman" pitchFamily="18" charset="0"/>
              </a:rPr>
              <a:t>a</a:t>
            </a:r>
            <a:r>
              <a:rPr lang="vi-VN" sz="2400" smtClean="0">
                <a:latin typeface="Times New Roman" pitchFamily="18" charset="0"/>
                <a:cs typeface="Times New Roman" pitchFamily="18" charset="0"/>
              </a:rPr>
              <a:t> </a:t>
            </a:r>
            <a:r>
              <a:rPr lang="vi-VN" sz="2400">
                <a:latin typeface="Times New Roman" pitchFamily="18" charset="0"/>
                <a:cs typeface="Times New Roman" pitchFamily="18" charset="0"/>
              </a:rPr>
              <a:t>== NULL) {  </a:t>
            </a:r>
            <a:r>
              <a:rPr lang="vi-VN" sz="2400" i="1">
                <a:latin typeface="Times New Roman" pitchFamily="18" charset="0"/>
                <a:cs typeface="Times New Roman" pitchFamily="18" charset="0"/>
              </a:rPr>
              <a:t>// </a:t>
            </a:r>
            <a:r>
              <a:rPr lang="en-US" sz="2400" i="1" smtClean="0">
                <a:latin typeface="Times New Roman" pitchFamily="18" charset="0"/>
                <a:cs typeface="Times New Roman" pitchFamily="18" charset="0"/>
              </a:rPr>
              <a:t>Thông báo hết bộ nhớ</a:t>
            </a:r>
            <a:r>
              <a:rPr lang="vi-VN" sz="2400" i="1" smtClean="0">
                <a:latin typeface="Times New Roman" pitchFamily="18" charset="0"/>
                <a:cs typeface="Times New Roman" pitchFamily="18" charset="0"/>
              </a:rPr>
              <a:t>.</a:t>
            </a:r>
            <a:r>
              <a:rPr lang="vi-VN" sz="2400">
                <a:latin typeface="Times New Roman" pitchFamily="18" charset="0"/>
                <a:cs typeface="Times New Roman" pitchFamily="18" charset="0"/>
              </a:rPr>
              <a:t>  };</a:t>
            </a:r>
          </a:p>
          <a:p>
            <a:pPr algn="just"/>
            <a:endParaRPr lang="en-US" sz="2400" b="1">
              <a:latin typeface="Times New Roman" pitchFamily="18" charset="0"/>
              <a:cs typeface="Times New Roman" pitchFamily="18" charset="0"/>
            </a:endParaRPr>
          </a:p>
        </p:txBody>
      </p:sp>
    </p:spTree>
    <p:extLst>
      <p:ext uri="{BB962C8B-B14F-4D97-AF65-F5344CB8AC3E}">
        <p14:creationId xmlns:p14="http://schemas.microsoft.com/office/powerpoint/2010/main" val="2756530"/>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delete (C++)</a:t>
            </a:r>
            <a:endParaRPr lang="en-US"/>
          </a:p>
        </p:txBody>
      </p:sp>
      <p:sp>
        <p:nvSpPr>
          <p:cNvPr id="223235" name="Rectangle 3"/>
          <p:cNvSpPr>
            <a:spLocks noGrp="1" noChangeArrowheads="1"/>
          </p:cNvSpPr>
          <p:nvPr>
            <p:ph type="body" idx="1"/>
          </p:nvPr>
        </p:nvSpPr>
        <p:spPr>
          <a:xfrm>
            <a:off x="228600" y="1524000"/>
            <a:ext cx="8915400" cy="4800600"/>
          </a:xfrm>
        </p:spPr>
        <p:txBody>
          <a:bodyPr>
            <a:noAutofit/>
          </a:bodyPr>
          <a:lstStyle/>
          <a:p>
            <a:pPr algn="just"/>
            <a:r>
              <a:rPr lang="vi-VN" sz="2400">
                <a:latin typeface="+mj-lt"/>
              </a:rPr>
              <a:t>Vì bộ nhớ động chỉ cần thiết trong một khoảng thời gian nhất định, khi </a:t>
            </a:r>
            <a:r>
              <a:rPr lang="vi-VN" sz="2400" smtClean="0">
                <a:latin typeface="+mj-lt"/>
              </a:rPr>
              <a:t>không </a:t>
            </a:r>
            <a:r>
              <a:rPr lang="vi-VN" sz="2400">
                <a:latin typeface="+mj-lt"/>
              </a:rPr>
              <a:t>cần dùng đến nữa thì </a:t>
            </a:r>
            <a:r>
              <a:rPr lang="vi-VN" sz="2400" smtClean="0">
                <a:latin typeface="+mj-lt"/>
              </a:rPr>
              <a:t>giải phóng</a:t>
            </a:r>
            <a:r>
              <a:rPr lang="en-US" sz="2400" smtClean="0">
                <a:latin typeface="+mj-lt"/>
              </a:rPr>
              <a:t> nó</a:t>
            </a:r>
            <a:r>
              <a:rPr lang="vi-VN" sz="2400" smtClean="0">
                <a:latin typeface="+mj-lt"/>
              </a:rPr>
              <a:t> </a:t>
            </a:r>
            <a:r>
              <a:rPr lang="vi-VN" sz="2400">
                <a:latin typeface="+mj-lt"/>
              </a:rPr>
              <a:t>để </a:t>
            </a:r>
            <a:r>
              <a:rPr lang="vi-VN" sz="2400" smtClean="0">
                <a:latin typeface="+mj-lt"/>
              </a:rPr>
              <a:t>cấp </a:t>
            </a:r>
            <a:r>
              <a:rPr lang="vi-VN" sz="2400">
                <a:latin typeface="+mj-lt"/>
              </a:rPr>
              <a:t>phát cho các nhu cầu khác trong tương lai. </a:t>
            </a:r>
            <a:endParaRPr lang="en-US" sz="2400" smtClean="0">
              <a:latin typeface="+mj-lt"/>
            </a:endParaRPr>
          </a:p>
          <a:p>
            <a:pPr algn="just"/>
            <a:r>
              <a:rPr lang="vi-VN" sz="2400" smtClean="0">
                <a:latin typeface="+mj-lt"/>
              </a:rPr>
              <a:t>Để </a:t>
            </a:r>
            <a:r>
              <a:rPr lang="vi-VN" sz="2400">
                <a:latin typeface="+mj-lt"/>
              </a:rPr>
              <a:t>thực hiện việc này </a:t>
            </a:r>
            <a:r>
              <a:rPr lang="vi-VN" sz="2400" smtClean="0">
                <a:latin typeface="+mj-lt"/>
              </a:rPr>
              <a:t>dùng </a:t>
            </a:r>
            <a:r>
              <a:rPr lang="vi-VN" sz="2400">
                <a:latin typeface="+mj-lt"/>
              </a:rPr>
              <a:t>toán tử </a:t>
            </a:r>
            <a:r>
              <a:rPr lang="vi-VN" sz="2400" b="1" smtClean="0">
                <a:latin typeface="+mj-lt"/>
              </a:rPr>
              <a:t>delete</a:t>
            </a:r>
            <a:r>
              <a:rPr lang="vi-VN" sz="2400" smtClean="0">
                <a:latin typeface="+mj-lt"/>
              </a:rPr>
              <a:t>:</a:t>
            </a:r>
            <a:endParaRPr lang="vi-VN" sz="2400">
              <a:latin typeface="+mj-lt"/>
            </a:endParaRPr>
          </a:p>
          <a:p>
            <a:pPr marL="0" indent="0" algn="just">
              <a:buNone/>
            </a:pPr>
            <a:r>
              <a:rPr lang="en-US" sz="2400" smtClean="0">
                <a:latin typeface="+mj-lt"/>
              </a:rPr>
              <a:t>	G</a:t>
            </a:r>
            <a:r>
              <a:rPr lang="vi-VN" sz="2400" smtClean="0">
                <a:latin typeface="+mj-lt"/>
              </a:rPr>
              <a:t>iải </a:t>
            </a:r>
            <a:r>
              <a:rPr lang="vi-VN" sz="2400">
                <a:latin typeface="+mj-lt"/>
              </a:rPr>
              <a:t>phóng bộ nhớ được cấp phát cho một phần tử</a:t>
            </a:r>
            <a:endParaRPr lang="en-US" sz="2400" b="1" smtClean="0">
              <a:latin typeface="+mj-lt"/>
            </a:endParaRPr>
          </a:p>
          <a:p>
            <a:pPr marL="0" indent="0" algn="just">
              <a:buNone/>
            </a:pPr>
            <a:r>
              <a:rPr lang="en-US" sz="2400" b="1" smtClean="0">
                <a:latin typeface="+mj-lt"/>
              </a:rPr>
              <a:t>		</a:t>
            </a:r>
            <a:r>
              <a:rPr lang="vi-VN" sz="2400" b="1" smtClean="0">
                <a:latin typeface="+mj-lt"/>
              </a:rPr>
              <a:t>delete</a:t>
            </a:r>
            <a:r>
              <a:rPr lang="vi-VN" sz="2400" b="1">
                <a:latin typeface="+mj-lt"/>
              </a:rPr>
              <a:t> </a:t>
            </a:r>
            <a:r>
              <a:rPr lang="vi-VN" sz="2400" i="1">
                <a:latin typeface="+mj-lt"/>
              </a:rPr>
              <a:t>pointer</a:t>
            </a:r>
            <a:r>
              <a:rPr lang="vi-VN" sz="2400">
                <a:latin typeface="+mj-lt"/>
              </a:rPr>
              <a:t> </a:t>
            </a:r>
            <a:r>
              <a:rPr lang="vi-VN" sz="2400" b="1">
                <a:latin typeface="+mj-lt"/>
              </a:rPr>
              <a:t>;</a:t>
            </a:r>
            <a:endParaRPr lang="vi-VN" sz="2400">
              <a:latin typeface="+mj-lt"/>
            </a:endParaRPr>
          </a:p>
          <a:p>
            <a:pPr marL="0" indent="0" algn="just">
              <a:buNone/>
            </a:pPr>
            <a:r>
              <a:rPr lang="en-US" sz="2400" smtClean="0">
                <a:latin typeface="+mj-lt"/>
              </a:rPr>
              <a:t>	</a:t>
            </a:r>
            <a:r>
              <a:rPr lang="vi-VN" sz="2400" smtClean="0">
                <a:latin typeface="+mj-lt"/>
              </a:rPr>
              <a:t>Hoặc</a:t>
            </a:r>
            <a:r>
              <a:rPr lang="en-US" sz="2400" smtClean="0">
                <a:latin typeface="+mj-lt"/>
              </a:rPr>
              <a:t> </a:t>
            </a:r>
            <a:r>
              <a:rPr lang="en-US" sz="2400">
                <a:latin typeface="+mj-lt"/>
              </a:rPr>
              <a:t>giải phóng một khối nhớ gồm nhiều phần tử (mảng)</a:t>
            </a:r>
            <a:endParaRPr lang="vi-VN" sz="2400">
              <a:latin typeface="+mj-lt"/>
            </a:endParaRPr>
          </a:p>
          <a:p>
            <a:pPr marL="0" indent="0" algn="just">
              <a:buNone/>
            </a:pPr>
            <a:r>
              <a:rPr lang="en-US" sz="2400" b="1" smtClean="0">
                <a:latin typeface="+mj-lt"/>
              </a:rPr>
              <a:t>		</a:t>
            </a:r>
            <a:r>
              <a:rPr lang="vi-VN" sz="2400" b="1" smtClean="0">
                <a:latin typeface="+mj-lt"/>
              </a:rPr>
              <a:t>delete </a:t>
            </a:r>
            <a:r>
              <a:rPr lang="vi-VN" sz="2400" b="1">
                <a:latin typeface="+mj-lt"/>
              </a:rPr>
              <a:t>[] </a:t>
            </a:r>
            <a:r>
              <a:rPr lang="vi-VN" sz="2400" i="1">
                <a:latin typeface="+mj-lt"/>
              </a:rPr>
              <a:t>pointer</a:t>
            </a:r>
            <a:r>
              <a:rPr lang="vi-VN" sz="2400">
                <a:latin typeface="+mj-lt"/>
              </a:rPr>
              <a:t> </a:t>
            </a:r>
            <a:r>
              <a:rPr lang="vi-VN" sz="2400" b="1">
                <a:latin typeface="+mj-lt"/>
              </a:rPr>
              <a:t>;</a:t>
            </a:r>
            <a:endParaRPr lang="vi-VN" sz="2400">
              <a:latin typeface="+mj-lt"/>
            </a:endParaRPr>
          </a:p>
          <a:p>
            <a:pPr algn="just"/>
            <a:r>
              <a:rPr lang="vi-VN" sz="2400">
                <a:latin typeface="+mj-lt"/>
              </a:rPr>
              <a:t>Trong hầu hết các trình dịch cả hai biểu thức là tương đương mặc dù chúng là rõ ràng là hai toán tử khác nhau.</a:t>
            </a:r>
            <a:endParaRPr lang="en-US" sz="2400" b="1">
              <a:latin typeface="+mj-lt"/>
              <a:cs typeface="Times New Roman" pitchFamily="18" charset="0"/>
            </a:endParaRPr>
          </a:p>
        </p:txBody>
      </p:sp>
    </p:spTree>
    <p:extLst>
      <p:ext uri="{BB962C8B-B14F-4D97-AF65-F5344CB8AC3E}">
        <p14:creationId xmlns:p14="http://schemas.microsoft.com/office/powerpoint/2010/main" val="326706107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delete (C++)</a:t>
            </a:r>
            <a:endParaRPr lang="en-US"/>
          </a:p>
        </p:txBody>
      </p:sp>
      <p:sp>
        <p:nvSpPr>
          <p:cNvPr id="223235" name="Rectangle 3"/>
          <p:cNvSpPr>
            <a:spLocks noGrp="1" noChangeArrowheads="1"/>
          </p:cNvSpPr>
          <p:nvPr>
            <p:ph type="body" idx="1"/>
          </p:nvPr>
        </p:nvSpPr>
        <p:spPr>
          <a:xfrm>
            <a:off x="228600" y="1524000"/>
            <a:ext cx="8915400" cy="4800600"/>
          </a:xfrm>
        </p:spPr>
        <p:txBody>
          <a:bodyPr>
            <a:noAutofit/>
          </a:bodyPr>
          <a:lstStyle/>
          <a:p>
            <a:pPr marL="0" indent="0" algn="just">
              <a:buNone/>
            </a:pPr>
            <a:r>
              <a:rPr lang="en-US" sz="2400" b="1" smtClean="0">
                <a:latin typeface="Times New Roman" pitchFamily="18" charset="0"/>
                <a:cs typeface="Times New Roman" pitchFamily="18" charset="0"/>
              </a:rPr>
              <a:t>	int </a:t>
            </a:r>
            <a:r>
              <a:rPr lang="en-US" sz="2400" b="1">
                <a:latin typeface="Times New Roman" pitchFamily="18" charset="0"/>
                <a:cs typeface="Times New Roman" pitchFamily="18" charset="0"/>
              </a:rPr>
              <a:t>*</a:t>
            </a:r>
            <a:r>
              <a:rPr lang="en-US" sz="2400" b="1">
                <a:solidFill>
                  <a:srgbClr val="3347AD"/>
                </a:solidFill>
                <a:latin typeface="Times New Roman" pitchFamily="18" charset="0"/>
                <a:cs typeface="Times New Roman" pitchFamily="18" charset="0"/>
              </a:rPr>
              <a:t>p</a:t>
            </a:r>
            <a:r>
              <a:rPr lang="en-US" sz="2400" b="1">
                <a:latin typeface="Times New Roman" pitchFamily="18" charset="0"/>
                <a:cs typeface="Times New Roman" pitchFamily="18" charset="0"/>
              </a:rPr>
              <a:t>;	</a:t>
            </a:r>
            <a:r>
              <a:rPr lang="en-US" sz="2400" b="1" smtClean="0">
                <a:solidFill>
                  <a:srgbClr val="3347AD"/>
                </a:solidFill>
                <a:latin typeface="Times New Roman" pitchFamily="18" charset="0"/>
                <a:cs typeface="Times New Roman" pitchFamily="18" charset="0"/>
              </a:rPr>
              <a:t>p</a:t>
            </a:r>
            <a:r>
              <a:rPr lang="en-US" sz="2400" b="1">
                <a:latin typeface="Times New Roman" pitchFamily="18" charset="0"/>
                <a:cs typeface="Times New Roman" pitchFamily="18" charset="0"/>
              </a:rPr>
              <a:t>= new int</a:t>
            </a:r>
            <a:r>
              <a:rPr lang="en-US" sz="2400" b="1" smtClean="0">
                <a:latin typeface="Times New Roman" pitchFamily="18" charset="0"/>
                <a:cs typeface="Times New Roman" pitchFamily="18" charset="0"/>
              </a:rPr>
              <a:t>;	delete p;</a:t>
            </a:r>
            <a:endParaRPr lang="en-US" sz="2400" b="1">
              <a:latin typeface="Times New Roman" pitchFamily="18" charset="0"/>
              <a:cs typeface="Times New Roman" pitchFamily="18" charset="0"/>
            </a:endParaRPr>
          </a:p>
          <a:p>
            <a:pPr algn="just"/>
            <a:endParaRPr lang="en-US" sz="2400" b="1" smtClean="0">
              <a:latin typeface="Times New Roman" pitchFamily="18" charset="0"/>
              <a:cs typeface="Times New Roman" pitchFamily="18" charset="0"/>
            </a:endParaRPr>
          </a:p>
          <a:p>
            <a:pPr algn="just"/>
            <a:endParaRPr lang="en-US" sz="2400" b="1">
              <a:latin typeface="Times New Roman" pitchFamily="18" charset="0"/>
              <a:cs typeface="Times New Roman" pitchFamily="18" charset="0"/>
            </a:endParaRPr>
          </a:p>
          <a:p>
            <a:pPr algn="just">
              <a:spcBef>
                <a:spcPts val="1200"/>
              </a:spcBef>
              <a:buFontTx/>
              <a:buChar char="-"/>
            </a:pPr>
            <a:r>
              <a:rPr lang="en-US" sz="2400" smtClean="0">
                <a:latin typeface="Times New Roman" pitchFamily="18" charset="0"/>
                <a:cs typeface="Times New Roman" pitchFamily="18" charset="0"/>
              </a:rPr>
              <a:t>Xóa ô nhớ 1000 rồi nhưng p vẫn trỏ tới ô nhớ có địa chỉ 1000</a:t>
            </a:r>
            <a:r>
              <a:rPr lang="vi-VN" sz="2400" smtClean="0">
                <a:latin typeface="Times New Roman" pitchFamily="18" charset="0"/>
                <a:cs typeface="Times New Roman" pitchFamily="18" charset="0"/>
              </a:rPr>
              <a:t>!</a:t>
            </a:r>
            <a:endParaRPr lang="en-US" sz="2400" smtClean="0">
              <a:latin typeface="Times New Roman" pitchFamily="18" charset="0"/>
              <a:cs typeface="Times New Roman" pitchFamily="18" charset="0"/>
            </a:endParaRPr>
          </a:p>
          <a:p>
            <a:pPr marL="0" indent="0" algn="just">
              <a:buNone/>
            </a:pPr>
            <a:r>
              <a:rPr lang="en-US" sz="2400" smtClean="0">
                <a:latin typeface="Times New Roman" pitchFamily="18" charset="0"/>
                <a:cs typeface="Times New Roman" pitchFamily="18" charset="0"/>
              </a:rPr>
              <a:t>	</a:t>
            </a:r>
            <a:r>
              <a:rPr lang="vi-VN" sz="2400" smtClean="0">
                <a:latin typeface="Times New Roman" pitchFamily="18" charset="0"/>
                <a:cs typeface="Times New Roman" pitchFamily="18" charset="0"/>
              </a:rPr>
              <a:t>• </a:t>
            </a:r>
            <a:r>
              <a:rPr lang="vi-VN" sz="2400">
                <a:latin typeface="Times New Roman" pitchFamily="18" charset="0"/>
                <a:cs typeface="Times New Roman" pitchFamily="18" charset="0"/>
              </a:rPr>
              <a:t>Gọi là “con trỏ lạc”</a:t>
            </a:r>
          </a:p>
          <a:p>
            <a:pPr algn="just">
              <a:buFontTx/>
              <a:buChar char="-"/>
            </a:pPr>
            <a:r>
              <a:rPr lang="vi-VN" sz="2400" smtClean="0">
                <a:latin typeface="Times New Roman" pitchFamily="18" charset="0"/>
                <a:cs typeface="Times New Roman" pitchFamily="18" charset="0"/>
              </a:rPr>
              <a:t>Nếu </a:t>
            </a:r>
            <a:r>
              <a:rPr lang="vi-VN" sz="2400">
                <a:latin typeface="Times New Roman" pitchFamily="18" charset="0"/>
                <a:cs typeface="Times New Roman" pitchFamily="18" charset="0"/>
              </a:rPr>
              <a:t>sau </a:t>
            </a:r>
            <a:r>
              <a:rPr lang="vi-VN" sz="2400" smtClean="0">
                <a:latin typeface="Times New Roman" pitchFamily="18" charset="0"/>
                <a:cs typeface="Times New Roman" pitchFamily="18" charset="0"/>
              </a:rPr>
              <a:t>đó</a:t>
            </a:r>
            <a:r>
              <a:rPr lang="en-US" sz="2400" smtClean="0">
                <a:latin typeface="Times New Roman" pitchFamily="18" charset="0"/>
                <a:cs typeface="Times New Roman" pitchFamily="18" charset="0"/>
              </a:rPr>
              <a:t> lỡ</a:t>
            </a:r>
            <a:r>
              <a:rPr lang="vi-VN" sz="2400" smtClean="0">
                <a:latin typeface="Times New Roman" pitchFamily="18" charset="0"/>
                <a:cs typeface="Times New Roman" pitchFamily="18" charset="0"/>
              </a:rPr>
              <a:t> </a:t>
            </a:r>
            <a:r>
              <a:rPr lang="en-US" sz="2400" smtClean="0">
                <a:latin typeface="Times New Roman" pitchFamily="18" charset="0"/>
                <a:cs typeface="Times New Roman" pitchFamily="18" charset="0"/>
              </a:rPr>
              <a:t>thao tác </a:t>
            </a:r>
            <a:r>
              <a:rPr lang="vi-VN" sz="2400" smtClean="0">
                <a:latin typeface="Times New Roman" pitchFamily="18" charset="0"/>
                <a:cs typeface="Times New Roman" pitchFamily="18" charset="0"/>
              </a:rPr>
              <a:t>trên </a:t>
            </a:r>
            <a:r>
              <a:rPr lang="vi-VN" sz="2400">
                <a:latin typeface="Times New Roman" pitchFamily="18" charset="0"/>
                <a:cs typeface="Times New Roman" pitchFamily="18" charset="0"/>
              </a:rPr>
              <a:t>p ( *p </a:t>
            </a:r>
            <a:r>
              <a:rPr lang="vi-VN" sz="2400" smtClean="0">
                <a:latin typeface="Times New Roman" pitchFamily="18" charset="0"/>
                <a:cs typeface="Times New Roman" pitchFamily="18" charset="0"/>
              </a:rPr>
              <a:t>)</a:t>
            </a:r>
            <a:endParaRPr lang="en-US" sz="2400" smtClean="0">
              <a:latin typeface="Times New Roman" pitchFamily="18" charset="0"/>
              <a:cs typeface="Times New Roman" pitchFamily="18" charset="0"/>
            </a:endParaRPr>
          </a:p>
          <a:p>
            <a:pPr marL="0" indent="0" algn="just">
              <a:buNone/>
            </a:pPr>
            <a:r>
              <a:rPr lang="en-US" sz="2400" smtClean="0">
                <a:latin typeface="Times New Roman" pitchFamily="18" charset="0"/>
                <a:cs typeface="Times New Roman" pitchFamily="18" charset="0"/>
              </a:rPr>
              <a:t>	</a:t>
            </a:r>
            <a:r>
              <a:rPr lang="vi-VN" sz="2400" smtClean="0">
                <a:latin typeface="Times New Roman" pitchFamily="18" charset="0"/>
                <a:cs typeface="Times New Roman" pitchFamily="18" charset="0"/>
              </a:rPr>
              <a:t>• </a:t>
            </a:r>
            <a:r>
              <a:rPr lang="vi-VN" sz="2400">
                <a:latin typeface="Times New Roman" pitchFamily="18" charset="0"/>
                <a:cs typeface="Times New Roman" pitchFamily="18" charset="0"/>
              </a:rPr>
              <a:t>Kết quả không lường trước được!</a:t>
            </a:r>
          </a:p>
          <a:p>
            <a:pPr marL="0" indent="0" algn="just">
              <a:buNone/>
            </a:pPr>
            <a:r>
              <a:rPr lang="en-US" sz="2400" smtClean="0">
                <a:latin typeface="Times New Roman" pitchFamily="18" charset="0"/>
                <a:cs typeface="Times New Roman" pitchFamily="18" charset="0"/>
              </a:rPr>
              <a:t>	</a:t>
            </a:r>
            <a:r>
              <a:rPr lang="vi-VN" sz="2400" smtClean="0">
                <a:latin typeface="Times New Roman" pitchFamily="18" charset="0"/>
                <a:cs typeface="Times New Roman" pitchFamily="18" charset="0"/>
              </a:rPr>
              <a:t>• </a:t>
            </a:r>
            <a:r>
              <a:rPr lang="vi-VN" sz="2400">
                <a:latin typeface="Times New Roman" pitchFamily="18" charset="0"/>
                <a:cs typeface="Times New Roman" pitchFamily="18" charset="0"/>
              </a:rPr>
              <a:t>Thường là nguy hiểm</a:t>
            </a:r>
            <a:r>
              <a:rPr lang="vi-VN" sz="2400" smtClean="0">
                <a:latin typeface="Times New Roman" pitchFamily="18" charset="0"/>
                <a:cs typeface="Times New Roman" pitchFamily="18" charset="0"/>
              </a:rPr>
              <a:t>!</a:t>
            </a:r>
            <a:endParaRPr lang="en-US" sz="2400" smtClean="0">
              <a:latin typeface="Times New Roman" pitchFamily="18" charset="0"/>
              <a:cs typeface="Times New Roman" pitchFamily="18" charset="0"/>
            </a:endParaRPr>
          </a:p>
          <a:p>
            <a:pPr algn="just">
              <a:buFontTx/>
              <a:buChar char="-"/>
            </a:pPr>
            <a:r>
              <a:rPr lang="vi-VN" sz="2400" smtClean="0">
                <a:latin typeface="Times New Roman" pitchFamily="18" charset="0"/>
                <a:cs typeface="Times New Roman" pitchFamily="18" charset="0"/>
              </a:rPr>
              <a:t>Hãy </a:t>
            </a:r>
            <a:r>
              <a:rPr lang="vi-VN" sz="2400">
                <a:latin typeface="Times New Roman" pitchFamily="18" charset="0"/>
                <a:cs typeface="Times New Roman" pitchFamily="18" charset="0"/>
              </a:rPr>
              <a:t>tránh con trỏ </a:t>
            </a:r>
            <a:r>
              <a:rPr lang="vi-VN" sz="2400" smtClean="0">
                <a:latin typeface="Times New Roman" pitchFamily="18" charset="0"/>
                <a:cs typeface="Times New Roman" pitchFamily="18" charset="0"/>
              </a:rPr>
              <a:t>lạc</a:t>
            </a:r>
            <a:r>
              <a:rPr lang="en-US" sz="2400">
                <a:latin typeface="Times New Roman" pitchFamily="18" charset="0"/>
                <a:cs typeface="Times New Roman" pitchFamily="18" charset="0"/>
              </a:rPr>
              <a:t>:</a:t>
            </a:r>
            <a:r>
              <a:rPr lang="vi-VN" sz="2400" smtClean="0">
                <a:latin typeface="Times New Roman" pitchFamily="18" charset="0"/>
                <a:cs typeface="Times New Roman" pitchFamily="18" charset="0"/>
              </a:rPr>
              <a:t> </a:t>
            </a:r>
            <a:r>
              <a:rPr lang="en-US" sz="2400" smtClean="0">
                <a:latin typeface="Times New Roman" pitchFamily="18" charset="0"/>
                <a:cs typeface="Times New Roman" pitchFamily="18" charset="0"/>
              </a:rPr>
              <a:t>g</a:t>
            </a:r>
            <a:r>
              <a:rPr lang="vi-VN" sz="2400" smtClean="0">
                <a:latin typeface="Times New Roman" pitchFamily="18" charset="0"/>
                <a:cs typeface="Times New Roman" pitchFamily="18" charset="0"/>
              </a:rPr>
              <a:t>án </a:t>
            </a:r>
            <a:r>
              <a:rPr lang="vi-VN" sz="2400">
                <a:latin typeface="Times New Roman" pitchFamily="18" charset="0"/>
                <a:cs typeface="Times New Roman" pitchFamily="18" charset="0"/>
              </a:rPr>
              <a:t>con trỏ bằng NULL sau khi </a:t>
            </a:r>
            <a:r>
              <a:rPr lang="vi-VN" sz="2400" smtClean="0">
                <a:latin typeface="Times New Roman" pitchFamily="18" charset="0"/>
                <a:cs typeface="Times New Roman" pitchFamily="18" charset="0"/>
              </a:rPr>
              <a:t>delete</a:t>
            </a:r>
            <a:endParaRPr lang="vi-VN" sz="2400">
              <a:latin typeface="Times New Roman" pitchFamily="18" charset="0"/>
              <a:cs typeface="Times New Roman" pitchFamily="18" charset="0"/>
            </a:endParaRPr>
          </a:p>
          <a:p>
            <a:pPr marL="0" indent="0" algn="just">
              <a:buNone/>
            </a:pPr>
            <a:r>
              <a:rPr lang="en-US" sz="2400" b="1" smtClean="0">
                <a:latin typeface="Times New Roman" pitchFamily="18" charset="0"/>
                <a:cs typeface="Times New Roman" pitchFamily="18" charset="0"/>
              </a:rPr>
              <a:t>	</a:t>
            </a:r>
            <a:r>
              <a:rPr lang="vi-VN" sz="2400" b="1" smtClean="0">
                <a:latin typeface="Times New Roman" pitchFamily="18" charset="0"/>
                <a:cs typeface="Times New Roman" pitchFamily="18" charset="0"/>
              </a:rPr>
              <a:t>delete </a:t>
            </a:r>
            <a:r>
              <a:rPr lang="vi-VN" sz="2400" b="1">
                <a:latin typeface="Times New Roman" pitchFamily="18" charset="0"/>
                <a:cs typeface="Times New Roman" pitchFamily="18" charset="0"/>
              </a:rPr>
              <a:t>p</a:t>
            </a:r>
            <a:r>
              <a:rPr lang="vi-VN" sz="2400" b="1" smtClean="0">
                <a:latin typeface="Times New Roman" pitchFamily="18" charset="0"/>
                <a:cs typeface="Times New Roman" pitchFamily="18" charset="0"/>
              </a:rPr>
              <a:t>;</a:t>
            </a:r>
            <a:r>
              <a:rPr lang="en-US" sz="2400" b="1" smtClean="0">
                <a:latin typeface="Times New Roman" pitchFamily="18" charset="0"/>
                <a:cs typeface="Times New Roman" pitchFamily="18" charset="0"/>
              </a:rPr>
              <a:t> 	</a:t>
            </a:r>
            <a:r>
              <a:rPr lang="vi-VN" sz="2400" b="1" smtClean="0">
                <a:latin typeface="Times New Roman" pitchFamily="18" charset="0"/>
                <a:cs typeface="Times New Roman" pitchFamily="18" charset="0"/>
              </a:rPr>
              <a:t>p </a:t>
            </a:r>
            <a:r>
              <a:rPr lang="vi-VN" sz="2400" b="1">
                <a:latin typeface="Times New Roman" pitchFamily="18" charset="0"/>
                <a:cs typeface="Times New Roman" pitchFamily="18" charset="0"/>
              </a:rPr>
              <a:t>= NULL</a:t>
            </a:r>
            <a:r>
              <a:rPr lang="vi-VN" sz="2400" b="1" smtClean="0">
                <a:latin typeface="Times New Roman" pitchFamily="18" charset="0"/>
                <a:cs typeface="Times New Roman" pitchFamily="18" charset="0"/>
              </a:rPr>
              <a:t>;</a:t>
            </a:r>
            <a:endParaRPr lang="vi-VN" sz="2400" b="1">
              <a:latin typeface="Times New Roman" pitchFamily="18" charset="0"/>
              <a:cs typeface="Times New Roman" pitchFamily="18" charset="0"/>
            </a:endParaRPr>
          </a:p>
        </p:txBody>
      </p:sp>
      <p:grpSp>
        <p:nvGrpSpPr>
          <p:cNvPr id="5" name="Group 7"/>
          <p:cNvGrpSpPr>
            <a:grpSpLocks/>
          </p:cNvGrpSpPr>
          <p:nvPr/>
        </p:nvGrpSpPr>
        <p:grpSpPr bwMode="auto">
          <a:xfrm>
            <a:off x="1814871" y="2227855"/>
            <a:ext cx="1282700" cy="747713"/>
            <a:chOff x="2504" y="2507"/>
            <a:chExt cx="808" cy="471"/>
          </a:xfrm>
        </p:grpSpPr>
        <p:sp>
          <p:nvSpPr>
            <p:cNvPr id="6" name="Text Box 8"/>
            <p:cNvSpPr txBox="1">
              <a:spLocks noChangeArrowheads="1"/>
            </p:cNvSpPr>
            <p:nvPr/>
          </p:nvSpPr>
          <p:spPr bwMode="auto">
            <a:xfrm>
              <a:off x="2504" y="2766"/>
              <a:ext cx="576" cy="212"/>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000">
                  <a:solidFill>
                    <a:schemeClr val="accent2"/>
                  </a:solidFill>
                  <a:latin typeface="VNI-Times" pitchFamily="2" charset="0"/>
                </a:rPr>
                <a:t>1050</a:t>
              </a:r>
              <a:endParaRPr lang="en-US" sz="2200">
                <a:solidFill>
                  <a:schemeClr val="accent2"/>
                </a:solidFill>
                <a:latin typeface="VNI-Times" pitchFamily="2" charset="0"/>
              </a:endParaRPr>
            </a:p>
          </p:txBody>
        </p:sp>
        <p:sp>
          <p:nvSpPr>
            <p:cNvPr id="7" name="Text Box 9"/>
            <p:cNvSpPr txBox="1">
              <a:spLocks noChangeArrowheads="1"/>
            </p:cNvSpPr>
            <p:nvPr/>
          </p:nvSpPr>
          <p:spPr bwMode="auto">
            <a:xfrm>
              <a:off x="2544" y="2516"/>
              <a:ext cx="480" cy="227"/>
            </a:xfrm>
            <a:prstGeom prst="rect">
              <a:avLst/>
            </a:prstGeom>
            <a:solidFill>
              <a:srgbClr val="66FFFF"/>
            </a:solidFill>
            <a:ln w="9525">
              <a:no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r>
                <a:rPr lang="en-US" sz="2200" smtClean="0">
                  <a:solidFill>
                    <a:schemeClr val="tx2"/>
                  </a:solidFill>
                  <a:latin typeface="VNI-Times" pitchFamily="2" charset="0"/>
                </a:rPr>
                <a:t>1000</a:t>
              </a:r>
              <a:endParaRPr lang="en-US" sz="2200">
                <a:solidFill>
                  <a:schemeClr val="tx2"/>
                </a:solidFill>
                <a:latin typeface="VNI-Times" pitchFamily="2" charset="0"/>
              </a:endParaRPr>
            </a:p>
          </p:txBody>
        </p:sp>
        <p:sp>
          <p:nvSpPr>
            <p:cNvPr id="8" name="Text Box 10"/>
            <p:cNvSpPr txBox="1">
              <a:spLocks noChangeArrowheads="1"/>
            </p:cNvSpPr>
            <p:nvPr/>
          </p:nvSpPr>
          <p:spPr bwMode="auto">
            <a:xfrm>
              <a:off x="3024" y="2507"/>
              <a:ext cx="288" cy="227"/>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200">
                  <a:solidFill>
                    <a:schemeClr val="tx2"/>
                  </a:solidFill>
                  <a:latin typeface="VNI-Times" pitchFamily="2" charset="0"/>
                </a:rPr>
                <a:t>p</a:t>
              </a:r>
            </a:p>
          </p:txBody>
        </p:sp>
      </p:grpSp>
      <p:grpSp>
        <p:nvGrpSpPr>
          <p:cNvPr id="9" name="Group 7"/>
          <p:cNvGrpSpPr>
            <a:grpSpLocks/>
          </p:cNvGrpSpPr>
          <p:nvPr/>
        </p:nvGrpSpPr>
        <p:grpSpPr bwMode="auto">
          <a:xfrm>
            <a:off x="3857380" y="2175467"/>
            <a:ext cx="2209800" cy="768351"/>
            <a:chOff x="1832" y="2511"/>
            <a:chExt cx="1248" cy="484"/>
          </a:xfrm>
        </p:grpSpPr>
        <p:sp>
          <p:nvSpPr>
            <p:cNvPr id="10" name="Text Box 8"/>
            <p:cNvSpPr txBox="1">
              <a:spLocks noChangeArrowheads="1"/>
            </p:cNvSpPr>
            <p:nvPr/>
          </p:nvSpPr>
          <p:spPr bwMode="auto">
            <a:xfrm>
              <a:off x="2504" y="2766"/>
              <a:ext cx="576" cy="229"/>
            </a:xfrm>
            <a:prstGeom prst="rect">
              <a:avLst/>
            </a:prstGeom>
            <a:noFill/>
            <a:ln w="9525">
              <a:noFill/>
              <a:miter lim="800000"/>
              <a:headEnd/>
              <a:tailEnd/>
            </a:ln>
            <a:effectLst/>
          </p:spPr>
          <p:txBody>
            <a:bodyPr lIns="92075" tIns="46038" rIns="92075" bIns="46038">
              <a:spAutoFit/>
            </a:bodyPr>
            <a:lstStyle/>
            <a:p>
              <a:pPr eaLnBrk="0" hangingPunct="0">
                <a:lnSpc>
                  <a:spcPct val="80000"/>
                </a:lnSpc>
                <a:spcBef>
                  <a:spcPct val="50000"/>
                </a:spcBef>
                <a:buClr>
                  <a:schemeClr val="tx2"/>
                </a:buClr>
              </a:pPr>
              <a:r>
                <a:rPr lang="en-US" sz="2200" smtClean="0">
                  <a:solidFill>
                    <a:schemeClr val="accent2"/>
                  </a:solidFill>
                  <a:latin typeface="VNI-Times" pitchFamily="2" charset="0"/>
                </a:rPr>
                <a:t>1000</a:t>
              </a:r>
              <a:endParaRPr lang="en-US" sz="2200">
                <a:solidFill>
                  <a:schemeClr val="accent2"/>
                </a:solidFill>
                <a:latin typeface="VNI-Times" pitchFamily="2" charset="0"/>
              </a:endParaRPr>
            </a:p>
          </p:txBody>
        </p:sp>
        <p:sp>
          <p:nvSpPr>
            <p:cNvPr id="11" name="Text Box 9"/>
            <p:cNvSpPr txBox="1">
              <a:spLocks noChangeArrowheads="1"/>
            </p:cNvSpPr>
            <p:nvPr/>
          </p:nvSpPr>
          <p:spPr bwMode="auto">
            <a:xfrm>
              <a:off x="2573" y="2516"/>
              <a:ext cx="480" cy="227"/>
            </a:xfrm>
            <a:prstGeom prst="rect">
              <a:avLst/>
            </a:prstGeom>
            <a:solidFill>
              <a:srgbClr val="66FFFF"/>
            </a:solidFill>
            <a:ln w="9525">
              <a:noFill/>
              <a:miter lim="800000"/>
              <a:headEnd/>
              <a:tailEnd/>
            </a:ln>
            <a:effectLst/>
          </p:spPr>
          <p:txBody>
            <a:bodyPr lIns="92075" tIns="46038" rIns="92075" bIns="46038">
              <a:spAutoFit/>
            </a:bodyPr>
            <a:lstStyle/>
            <a:p>
              <a:pPr algn="ctr" eaLnBrk="0" hangingPunct="0">
                <a:lnSpc>
                  <a:spcPct val="80000"/>
                </a:lnSpc>
                <a:spcBef>
                  <a:spcPct val="50000"/>
                </a:spcBef>
                <a:buClr>
                  <a:schemeClr val="tx2"/>
                </a:buClr>
              </a:pPr>
              <a:endParaRPr lang="en-US" sz="2200">
                <a:solidFill>
                  <a:schemeClr val="tx2"/>
                </a:solidFill>
                <a:latin typeface="VNI-Times" pitchFamily="2" charset="0"/>
              </a:endParaRPr>
            </a:p>
          </p:txBody>
        </p:sp>
        <p:sp>
          <p:nvSpPr>
            <p:cNvPr id="12" name="Text Box 10"/>
            <p:cNvSpPr txBox="1">
              <a:spLocks noChangeArrowheads="1"/>
            </p:cNvSpPr>
            <p:nvPr/>
          </p:nvSpPr>
          <p:spPr bwMode="auto">
            <a:xfrm>
              <a:off x="1832" y="2511"/>
              <a:ext cx="808" cy="400"/>
            </a:xfrm>
            <a:prstGeom prst="rect">
              <a:avLst/>
            </a:prstGeom>
            <a:noFill/>
            <a:ln w="9525">
              <a:noFill/>
              <a:miter lim="800000"/>
              <a:headEnd/>
              <a:tailEnd/>
            </a:ln>
            <a:effectLst/>
          </p:spPr>
          <p:txBody>
            <a:bodyPr wrap="square" lIns="92075" tIns="46038" rIns="92075" bIns="46038">
              <a:spAutoFit/>
            </a:bodyPr>
            <a:lstStyle/>
            <a:p>
              <a:pPr eaLnBrk="0" hangingPunct="0">
                <a:lnSpc>
                  <a:spcPct val="80000"/>
                </a:lnSpc>
                <a:spcBef>
                  <a:spcPct val="50000"/>
                </a:spcBef>
                <a:buClr>
                  <a:schemeClr val="tx2"/>
                </a:buClr>
              </a:pPr>
              <a:r>
                <a:rPr lang="en-US" sz="2200" smtClean="0">
                  <a:solidFill>
                    <a:schemeClr val="tx2"/>
                  </a:solidFill>
                  <a:latin typeface="VNI-Times" pitchFamily="2" charset="0"/>
                </a:rPr>
                <a:t>undefined</a:t>
              </a:r>
              <a:endParaRPr lang="en-US" sz="2200">
                <a:solidFill>
                  <a:schemeClr val="tx2"/>
                </a:solidFill>
                <a:latin typeface="VNI-Times" pitchFamily="2" charset="0"/>
              </a:endParaRPr>
            </a:p>
          </p:txBody>
        </p:sp>
      </p:grpSp>
      <p:cxnSp>
        <p:nvCxnSpPr>
          <p:cNvPr id="13" name="Elbow Connector 12"/>
          <p:cNvCxnSpPr/>
          <p:nvPr/>
        </p:nvCxnSpPr>
        <p:spPr>
          <a:xfrm>
            <a:off x="2729271" y="2559643"/>
            <a:ext cx="2318001" cy="123825"/>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288084" y="1981200"/>
            <a:ext cx="579316" cy="640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5288084" y="1981200"/>
            <a:ext cx="579316" cy="57844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5890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malloc (C)</a:t>
            </a:r>
            <a:endParaRPr lang="en-US"/>
          </a:p>
        </p:txBody>
      </p:sp>
      <p:sp>
        <p:nvSpPr>
          <p:cNvPr id="223235" name="Rectangle 3"/>
          <p:cNvSpPr>
            <a:spLocks noGrp="1" noChangeArrowheads="1"/>
          </p:cNvSpPr>
          <p:nvPr>
            <p:ph type="body" idx="1"/>
          </p:nvPr>
        </p:nvSpPr>
        <p:spPr>
          <a:xfrm>
            <a:off x="0" y="1524000"/>
            <a:ext cx="9144001" cy="4572000"/>
          </a:xfrm>
        </p:spPr>
        <p:txBody>
          <a:bodyPr>
            <a:noAutofit/>
          </a:bodyPr>
          <a:lstStyle/>
          <a:p>
            <a:pPr algn="just"/>
            <a:r>
              <a:rPr lang="en-US" sz="2400" b="1">
                <a:latin typeface="Times New Roman" pitchFamily="18" charset="0"/>
                <a:cs typeface="Times New Roman" pitchFamily="18" charset="0"/>
              </a:rPr>
              <a:t>Chức năng: </a:t>
            </a:r>
            <a:r>
              <a:rPr lang="en-US" sz="2400">
                <a:latin typeface="Times New Roman" pitchFamily="18" charset="0"/>
                <a:cs typeface="Times New Roman" pitchFamily="18" charset="0"/>
              </a:rPr>
              <a:t>cấp phát bộ nhớ. Hàm này trả về một con trỏ kiểu void*</a:t>
            </a:r>
            <a:r>
              <a:rPr lang="en-US" sz="2400" smtClean="0">
                <a:latin typeface="Times New Roman" pitchFamily="18" charset="0"/>
                <a:cs typeface="Times New Roman" pitchFamily="18" charset="0"/>
              </a:rPr>
              <a:t>.</a:t>
            </a:r>
            <a:endParaRPr lang="en-US" sz="2400">
              <a:latin typeface="Times New Roman" pitchFamily="18" charset="0"/>
              <a:cs typeface="Times New Roman" pitchFamily="18" charset="0"/>
            </a:endParaRPr>
          </a:p>
          <a:p>
            <a:pPr algn="just"/>
            <a:r>
              <a:rPr lang="en-US" sz="2400" b="1" smtClean="0">
                <a:latin typeface="Times New Roman" pitchFamily="18" charset="0"/>
                <a:cs typeface="Times New Roman" pitchFamily="18" charset="0"/>
              </a:rPr>
              <a:t>Nguyên mẫu: </a:t>
            </a:r>
            <a:endParaRPr lang="en-US" sz="2400" b="1">
              <a:latin typeface="Times New Roman" pitchFamily="18" charset="0"/>
              <a:cs typeface="Times New Roman" pitchFamily="18" charset="0"/>
            </a:endParaRPr>
          </a:p>
          <a:p>
            <a:pPr marL="0" indent="0" algn="just">
              <a:buNone/>
            </a:pPr>
            <a:r>
              <a:rPr lang="en-US" sz="2400">
                <a:latin typeface="Times New Roman" pitchFamily="18" charset="0"/>
                <a:cs typeface="Times New Roman" pitchFamily="18" charset="0"/>
              </a:rPr>
              <a:t>	</a:t>
            </a:r>
            <a:r>
              <a:rPr lang="en-US" sz="2400" b="1">
                <a:latin typeface="Times New Roman" pitchFamily="18" charset="0"/>
                <a:cs typeface="Times New Roman" pitchFamily="18" charset="0"/>
              </a:rPr>
              <a:t>void * malloc (size_t </a:t>
            </a:r>
            <a:r>
              <a:rPr lang="en-US" sz="2400" i="1">
                <a:latin typeface="Times New Roman" pitchFamily="18" charset="0"/>
                <a:cs typeface="Times New Roman" pitchFamily="18" charset="0"/>
              </a:rPr>
              <a:t>nbytes</a:t>
            </a:r>
            <a:r>
              <a:rPr lang="en-US" sz="2400">
                <a:latin typeface="Times New Roman" pitchFamily="18" charset="0"/>
                <a:cs typeface="Times New Roman" pitchFamily="18" charset="0"/>
              </a:rPr>
              <a:t> </a:t>
            </a:r>
            <a:r>
              <a:rPr lang="en-US" sz="2400" b="1" smtClean="0">
                <a:latin typeface="Times New Roman" pitchFamily="18" charset="0"/>
                <a:cs typeface="Times New Roman" pitchFamily="18" charset="0"/>
              </a:rPr>
              <a:t>);</a:t>
            </a:r>
          </a:p>
          <a:p>
            <a:pPr marL="0" indent="0" algn="just">
              <a:buNone/>
            </a:pPr>
            <a:r>
              <a:rPr lang="en-US" sz="2400">
                <a:latin typeface="Times New Roman" pitchFamily="18" charset="0"/>
                <a:cs typeface="Times New Roman" pitchFamily="18" charset="0"/>
              </a:rPr>
              <a:t> </a:t>
            </a:r>
            <a:r>
              <a:rPr lang="en-US" sz="2400" smtClean="0">
                <a:latin typeface="Times New Roman" pitchFamily="18" charset="0"/>
                <a:cs typeface="Times New Roman" pitchFamily="18" charset="0"/>
              </a:rPr>
              <a:t>           Trong đó: </a:t>
            </a:r>
            <a:r>
              <a:rPr lang="en-US" sz="2400" i="1">
                <a:latin typeface="Times New Roman" pitchFamily="18" charset="0"/>
                <a:cs typeface="Times New Roman" pitchFamily="18" charset="0"/>
              </a:rPr>
              <a:t>nbytes</a:t>
            </a:r>
            <a:r>
              <a:rPr lang="en-US" sz="2400">
                <a:latin typeface="Times New Roman" pitchFamily="18" charset="0"/>
                <a:cs typeface="Times New Roman" pitchFamily="18" charset="0"/>
              </a:rPr>
              <a:t> là số byte chúng ta muốn gán cho con </a:t>
            </a:r>
            <a:r>
              <a:rPr lang="en-US" sz="2400" smtClean="0">
                <a:latin typeface="Times New Roman" pitchFamily="18" charset="0"/>
                <a:cs typeface="Times New Roman" pitchFamily="18" charset="0"/>
              </a:rPr>
              <a:t>trỏ</a:t>
            </a:r>
          </a:p>
          <a:p>
            <a:pPr algn="just"/>
            <a:r>
              <a:rPr lang="en-US" sz="2400" b="1" smtClean="0">
                <a:latin typeface="Times New Roman" pitchFamily="18" charset="0"/>
                <a:cs typeface="Times New Roman" pitchFamily="18" charset="0"/>
              </a:rPr>
              <a:t>Sử dụng: </a:t>
            </a:r>
            <a:r>
              <a:rPr lang="en-US" sz="2400" smtClean="0">
                <a:latin typeface="Times New Roman" pitchFamily="18" charset="0"/>
                <a:cs typeface="Times New Roman" pitchFamily="18" charset="0"/>
              </a:rPr>
              <a:t>vì h</a:t>
            </a:r>
            <a:r>
              <a:rPr lang="vi-VN" sz="2400" smtClean="0">
                <a:latin typeface="Times New Roman" pitchFamily="18" charset="0"/>
                <a:cs typeface="Times New Roman" pitchFamily="18" charset="0"/>
              </a:rPr>
              <a:t>àm </a:t>
            </a:r>
            <a:r>
              <a:rPr lang="vi-VN" sz="2400">
                <a:latin typeface="Times New Roman" pitchFamily="18" charset="0"/>
                <a:cs typeface="Times New Roman" pitchFamily="18" charset="0"/>
              </a:rPr>
              <a:t>này trả về một con trỏ kiểu void*, </a:t>
            </a:r>
            <a:r>
              <a:rPr lang="en-US" sz="2400" smtClean="0">
                <a:latin typeface="Times New Roman" pitchFamily="18" charset="0"/>
                <a:cs typeface="Times New Roman" pitchFamily="18" charset="0"/>
              </a:rPr>
              <a:t>nên </a:t>
            </a:r>
            <a:r>
              <a:rPr lang="vi-VN" sz="2400" smtClean="0">
                <a:latin typeface="Times New Roman" pitchFamily="18" charset="0"/>
                <a:cs typeface="Times New Roman" pitchFamily="18" charset="0"/>
              </a:rPr>
              <a:t>ta </a:t>
            </a:r>
            <a:r>
              <a:rPr lang="vi-VN" sz="2400">
                <a:latin typeface="Times New Roman" pitchFamily="18" charset="0"/>
                <a:cs typeface="Times New Roman" pitchFamily="18" charset="0"/>
              </a:rPr>
              <a:t>phải chuyển đổi kiểu sang kiểu của con trỏ đích</a:t>
            </a:r>
            <a:endParaRPr lang="en-US" sz="2400">
              <a:latin typeface="Times New Roman" pitchFamily="18" charset="0"/>
              <a:cs typeface="Times New Roman" pitchFamily="18" charset="0"/>
            </a:endParaRPr>
          </a:p>
          <a:p>
            <a:pPr marL="0" indent="0" algn="just">
              <a:buNone/>
            </a:pPr>
            <a:r>
              <a:rPr lang="en-US" sz="2400" b="1" smtClean="0">
                <a:latin typeface="Times New Roman" pitchFamily="18" charset="0"/>
                <a:cs typeface="Times New Roman" pitchFamily="18" charset="0"/>
              </a:rPr>
              <a:t>	</a:t>
            </a:r>
            <a:r>
              <a:rPr lang="en-US" sz="2400" u="sng" smtClean="0">
                <a:latin typeface="Times New Roman" pitchFamily="18" charset="0"/>
                <a:cs typeface="Times New Roman" pitchFamily="18" charset="0"/>
              </a:rPr>
              <a:t>Ví dụ</a:t>
            </a:r>
            <a:r>
              <a:rPr lang="en-US" sz="2400" smtClean="0">
                <a:latin typeface="Times New Roman" pitchFamily="18" charset="0"/>
                <a:cs typeface="Times New Roman" pitchFamily="18" charset="0"/>
              </a:rPr>
              <a:t>:</a:t>
            </a:r>
          </a:p>
          <a:p>
            <a:pPr lvl="1" algn="just">
              <a:buFont typeface="Wingdings" pitchFamily="2" charset="2"/>
              <a:buNone/>
            </a:pPr>
            <a:r>
              <a:rPr lang="en-US" sz="2400" b="1">
                <a:latin typeface="Times New Roman" pitchFamily="18" charset="0"/>
                <a:cs typeface="Times New Roman" pitchFamily="18" charset="0"/>
              </a:rPr>
              <a:t>	</a:t>
            </a:r>
            <a:r>
              <a:rPr lang="en-US" sz="2400" b="1" smtClean="0">
                <a:latin typeface="Times New Roman" pitchFamily="18" charset="0"/>
                <a:cs typeface="Times New Roman" pitchFamily="18" charset="0"/>
              </a:rPr>
              <a:t>	</a:t>
            </a:r>
            <a:r>
              <a:rPr lang="en-US" sz="2400" b="1">
                <a:latin typeface="Times New Roman" pitchFamily="18" charset="0"/>
                <a:cs typeface="Times New Roman" pitchFamily="18" charset="0"/>
              </a:rPr>
              <a:t>	</a:t>
            </a:r>
            <a:r>
              <a:rPr lang="sv-SE" sz="2400" smtClean="0">
                <a:latin typeface="Times New Roman" pitchFamily="18" charset="0"/>
                <a:cs typeface="Times New Roman" pitchFamily="18" charset="0"/>
              </a:rPr>
              <a:t>char </a:t>
            </a:r>
            <a:r>
              <a:rPr lang="sv-SE" sz="2400">
                <a:latin typeface="Times New Roman" pitchFamily="18" charset="0"/>
                <a:cs typeface="Times New Roman" pitchFamily="18" charset="0"/>
              </a:rPr>
              <a:t>* ronny</a:t>
            </a:r>
            <a:r>
              <a:rPr lang="sv-SE" sz="2400" smtClean="0">
                <a:latin typeface="Times New Roman" pitchFamily="18" charset="0"/>
                <a:cs typeface="Times New Roman" pitchFamily="18" charset="0"/>
              </a:rPr>
              <a:t>;	ronny </a:t>
            </a:r>
            <a:r>
              <a:rPr lang="sv-SE" sz="2400">
                <a:latin typeface="Times New Roman" pitchFamily="18" charset="0"/>
                <a:cs typeface="Times New Roman" pitchFamily="18" charset="0"/>
              </a:rPr>
              <a:t>= (char *) malloc </a:t>
            </a:r>
            <a:r>
              <a:rPr lang="sv-SE" sz="2400" smtClean="0">
                <a:latin typeface="Times New Roman" pitchFamily="18" charset="0"/>
                <a:cs typeface="Times New Roman" pitchFamily="18" charset="0"/>
              </a:rPr>
              <a:t>(sizeof(char));</a:t>
            </a:r>
          </a:p>
          <a:p>
            <a:pPr lvl="1" algn="just">
              <a:buNone/>
            </a:pPr>
            <a:r>
              <a:rPr lang="en-US" sz="2400" b="1">
                <a:latin typeface="Times New Roman" pitchFamily="18" charset="0"/>
                <a:cs typeface="Times New Roman" pitchFamily="18" charset="0"/>
              </a:rPr>
              <a:t>	</a:t>
            </a:r>
            <a:r>
              <a:rPr lang="en-US" sz="2400" b="1" smtClean="0">
                <a:latin typeface="Times New Roman" pitchFamily="18" charset="0"/>
                <a:cs typeface="Times New Roman" pitchFamily="18" charset="0"/>
              </a:rPr>
              <a:t>	</a:t>
            </a:r>
            <a:r>
              <a:rPr lang="en-US" sz="2400" b="1">
                <a:latin typeface="Times New Roman" pitchFamily="18" charset="0"/>
                <a:cs typeface="Times New Roman" pitchFamily="18" charset="0"/>
              </a:rPr>
              <a:t>	</a:t>
            </a:r>
            <a:r>
              <a:rPr lang="sv-SE" sz="2400">
                <a:latin typeface="Times New Roman" pitchFamily="18" charset="0"/>
                <a:cs typeface="Times New Roman" pitchFamily="18" charset="0"/>
              </a:rPr>
              <a:t>char * </a:t>
            </a:r>
            <a:r>
              <a:rPr lang="sv-SE" sz="2400" smtClean="0">
                <a:latin typeface="Times New Roman" pitchFamily="18" charset="0"/>
                <a:cs typeface="Times New Roman" pitchFamily="18" charset="0"/>
              </a:rPr>
              <a:t>tom;</a:t>
            </a:r>
            <a:r>
              <a:rPr lang="sv-SE" sz="2400">
                <a:latin typeface="Times New Roman" pitchFamily="18" charset="0"/>
                <a:cs typeface="Times New Roman" pitchFamily="18" charset="0"/>
              </a:rPr>
              <a:t>	</a:t>
            </a:r>
            <a:r>
              <a:rPr lang="sv-SE" sz="2400" smtClean="0">
                <a:latin typeface="Times New Roman" pitchFamily="18" charset="0"/>
                <a:cs typeface="Times New Roman" pitchFamily="18" charset="0"/>
              </a:rPr>
              <a:t>tom= </a:t>
            </a:r>
            <a:r>
              <a:rPr lang="sv-SE" sz="2400">
                <a:latin typeface="Times New Roman" pitchFamily="18" charset="0"/>
                <a:cs typeface="Times New Roman" pitchFamily="18" charset="0"/>
              </a:rPr>
              <a:t>(char *) malloc (sizeof(char</a:t>
            </a:r>
            <a:r>
              <a:rPr lang="sv-SE" sz="2400" smtClean="0">
                <a:latin typeface="Times New Roman" pitchFamily="18" charset="0"/>
                <a:cs typeface="Times New Roman" pitchFamily="18" charset="0"/>
              </a:rPr>
              <a:t>)*5);</a:t>
            </a:r>
          </a:p>
          <a:p>
            <a:pPr lvl="1" algn="just">
              <a:buNone/>
            </a:pPr>
            <a:r>
              <a:rPr lang="en-US" sz="2400" smtClean="0">
                <a:latin typeface="Times New Roman" pitchFamily="18" charset="0"/>
                <a:cs typeface="Times New Roman" pitchFamily="18" charset="0"/>
              </a:rPr>
              <a:t>T</a:t>
            </a:r>
            <a:r>
              <a:rPr lang="vi-VN" sz="2400" smtClean="0">
                <a:latin typeface="Times New Roman" pitchFamily="18" charset="0"/>
                <a:cs typeface="Times New Roman" pitchFamily="18" charset="0"/>
              </a:rPr>
              <a:t>oán </a:t>
            </a:r>
            <a:r>
              <a:rPr lang="vi-VN" sz="2400">
                <a:latin typeface="Times New Roman" pitchFamily="18" charset="0"/>
                <a:cs typeface="Times New Roman" pitchFamily="18" charset="0"/>
              </a:rPr>
              <a:t>tử </a:t>
            </a:r>
            <a:r>
              <a:rPr lang="vi-VN" sz="2400" i="1" smtClean="0">
                <a:latin typeface="Times New Roman" pitchFamily="18" charset="0"/>
                <a:cs typeface="Times New Roman" pitchFamily="18" charset="0"/>
              </a:rPr>
              <a:t>sizeof</a:t>
            </a:r>
            <a:r>
              <a:rPr lang="en-US" sz="2400">
                <a:latin typeface="Times New Roman" pitchFamily="18" charset="0"/>
                <a:cs typeface="Times New Roman" pitchFamily="18" charset="0"/>
              </a:rPr>
              <a:t> </a:t>
            </a:r>
            <a:r>
              <a:rPr lang="en-US" sz="2400" smtClean="0">
                <a:latin typeface="Times New Roman" pitchFamily="18" charset="0"/>
                <a:cs typeface="Times New Roman" pitchFamily="18" charset="0"/>
              </a:rPr>
              <a:t> </a:t>
            </a:r>
            <a:r>
              <a:rPr lang="vi-VN" sz="2400" smtClean="0">
                <a:latin typeface="Times New Roman" pitchFamily="18" charset="0"/>
                <a:cs typeface="Times New Roman" pitchFamily="18" charset="0"/>
              </a:rPr>
              <a:t>trả </a:t>
            </a:r>
            <a:r>
              <a:rPr lang="vi-VN" sz="2400">
                <a:latin typeface="Times New Roman" pitchFamily="18" charset="0"/>
                <a:cs typeface="Times New Roman" pitchFamily="18" charset="0"/>
              </a:rPr>
              <a:t>về kích thước của một kiểu dữ liệu cụ </a:t>
            </a:r>
            <a:r>
              <a:rPr lang="vi-VN" sz="2400" smtClean="0">
                <a:latin typeface="Times New Roman" pitchFamily="18" charset="0"/>
                <a:cs typeface="Times New Roman" pitchFamily="18" charset="0"/>
              </a:rPr>
              <a:t>thể</a:t>
            </a:r>
            <a:r>
              <a:rPr lang="en-US" sz="2400" smtClean="0">
                <a:latin typeface="Times New Roman" pitchFamily="18" charset="0"/>
                <a:cs typeface="Times New Roman" pitchFamily="18" charset="0"/>
              </a:rPr>
              <a:t>.</a:t>
            </a:r>
            <a:endParaRPr lang="en-US" sz="2400" b="1">
              <a:latin typeface="Times New Roman" pitchFamily="18" charset="0"/>
              <a:cs typeface="Times New Roman" pitchFamily="18" charset="0"/>
            </a:endParaRPr>
          </a:p>
          <a:p>
            <a:pPr lvl="1" algn="just">
              <a:buFont typeface="Wingdings" pitchFamily="2" charset="2"/>
              <a:buNone/>
            </a:pPr>
            <a:endParaRPr lang="en-US" sz="24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c</a:t>
            </a:r>
            <a:r>
              <a:rPr lang="en-US" smtClean="0"/>
              <a:t>alloc (C)</a:t>
            </a:r>
            <a:endParaRPr lang="en-US"/>
          </a:p>
        </p:txBody>
      </p:sp>
      <p:sp>
        <p:nvSpPr>
          <p:cNvPr id="223235" name="Rectangle 3"/>
          <p:cNvSpPr>
            <a:spLocks noGrp="1" noChangeArrowheads="1"/>
          </p:cNvSpPr>
          <p:nvPr>
            <p:ph type="body" idx="1"/>
          </p:nvPr>
        </p:nvSpPr>
        <p:spPr>
          <a:xfrm>
            <a:off x="0" y="1524000"/>
            <a:ext cx="9144001" cy="4572000"/>
          </a:xfrm>
        </p:spPr>
        <p:txBody>
          <a:bodyPr>
            <a:noAutofit/>
          </a:bodyPr>
          <a:lstStyle/>
          <a:p>
            <a:pPr algn="just"/>
            <a:r>
              <a:rPr lang="en-US" sz="2400" b="1">
                <a:latin typeface="Times New Roman" pitchFamily="18" charset="0"/>
                <a:cs typeface="Times New Roman" pitchFamily="18" charset="0"/>
              </a:rPr>
              <a:t>Chức năng: </a:t>
            </a:r>
            <a:r>
              <a:rPr lang="en-US" sz="2400">
                <a:latin typeface="Times New Roman" pitchFamily="18" charset="0"/>
                <a:cs typeface="Times New Roman" pitchFamily="18" charset="0"/>
              </a:rPr>
              <a:t>cấp phát bộ nhớ. Hàm này trả về một con trỏ kiểu void*</a:t>
            </a:r>
            <a:r>
              <a:rPr lang="en-US" sz="2400" smtClean="0">
                <a:latin typeface="Times New Roman" pitchFamily="18" charset="0"/>
                <a:cs typeface="Times New Roman" pitchFamily="18" charset="0"/>
              </a:rPr>
              <a:t>.</a:t>
            </a:r>
            <a:endParaRPr lang="en-US" sz="2400">
              <a:latin typeface="Times New Roman" pitchFamily="18" charset="0"/>
              <a:cs typeface="Times New Roman" pitchFamily="18" charset="0"/>
            </a:endParaRPr>
          </a:p>
          <a:p>
            <a:pPr algn="just"/>
            <a:r>
              <a:rPr lang="en-US" sz="2400" b="1" smtClean="0">
                <a:latin typeface="Times New Roman" pitchFamily="18" charset="0"/>
                <a:cs typeface="Times New Roman" pitchFamily="18" charset="0"/>
              </a:rPr>
              <a:t>Nguyên mẫu: </a:t>
            </a:r>
            <a:endParaRPr lang="en-US" sz="2400" b="1">
              <a:latin typeface="Times New Roman" pitchFamily="18" charset="0"/>
              <a:cs typeface="Times New Roman" pitchFamily="18" charset="0"/>
            </a:endParaRPr>
          </a:p>
          <a:p>
            <a:pPr marL="0" indent="0" algn="just">
              <a:buNone/>
            </a:pPr>
            <a:r>
              <a:rPr lang="en-US" sz="2400">
                <a:latin typeface="Times New Roman" pitchFamily="18" charset="0"/>
                <a:cs typeface="Times New Roman" pitchFamily="18" charset="0"/>
              </a:rPr>
              <a:t>	</a:t>
            </a:r>
            <a:r>
              <a:rPr lang="en-US" sz="2400" b="1"/>
              <a:t>void * calloc (size_t </a:t>
            </a:r>
            <a:r>
              <a:rPr lang="en-US" sz="2400" i="1"/>
              <a:t>nelements</a:t>
            </a:r>
            <a:r>
              <a:rPr lang="en-US" sz="2400"/>
              <a:t> </a:t>
            </a:r>
            <a:r>
              <a:rPr lang="en-US" sz="2400" b="1"/>
              <a:t>, size_t </a:t>
            </a:r>
            <a:r>
              <a:rPr lang="en-US" sz="2400" i="1"/>
              <a:t>size</a:t>
            </a:r>
            <a:r>
              <a:rPr lang="en-US" sz="2400"/>
              <a:t> </a:t>
            </a:r>
            <a:r>
              <a:rPr lang="en-US" sz="2400" b="1"/>
              <a:t>);</a:t>
            </a:r>
            <a:endParaRPr lang="en-US" sz="2400" b="1" smtClean="0">
              <a:latin typeface="Times New Roman" pitchFamily="18" charset="0"/>
              <a:cs typeface="Times New Roman" pitchFamily="18" charset="0"/>
            </a:endParaRPr>
          </a:p>
          <a:p>
            <a:pPr marL="0" indent="0" algn="just">
              <a:buNone/>
            </a:pPr>
            <a:r>
              <a:rPr lang="en-US" sz="2400">
                <a:latin typeface="Times New Roman" pitchFamily="18" charset="0"/>
                <a:cs typeface="Times New Roman" pitchFamily="18" charset="0"/>
              </a:rPr>
              <a:t> </a:t>
            </a:r>
            <a:r>
              <a:rPr lang="en-US" sz="2400" smtClean="0">
                <a:latin typeface="Times New Roman" pitchFamily="18" charset="0"/>
                <a:cs typeface="Times New Roman" pitchFamily="18" charset="0"/>
              </a:rPr>
              <a:t>           Trong đó:</a:t>
            </a:r>
            <a:r>
              <a:rPr lang="vi-VN" sz="2400" smtClean="0"/>
              <a:t> </a:t>
            </a:r>
            <a:r>
              <a:rPr lang="vi-VN" sz="2400" i="1" smtClean="0"/>
              <a:t>nelements</a:t>
            </a:r>
            <a:r>
              <a:rPr lang="en-US" sz="2400"/>
              <a:t>:</a:t>
            </a:r>
            <a:r>
              <a:rPr lang="vi-VN" sz="2400" smtClean="0"/>
              <a:t> </a:t>
            </a:r>
            <a:r>
              <a:rPr lang="vi-VN" sz="2400"/>
              <a:t>số phần tử </a:t>
            </a:r>
            <a:endParaRPr lang="en-US" sz="2400" smtClean="0"/>
          </a:p>
          <a:p>
            <a:pPr marL="0" indent="0" algn="just">
              <a:buNone/>
            </a:pPr>
            <a:r>
              <a:rPr lang="en-US" sz="2400" i="1" smtClean="0"/>
              <a:t>	    	     </a:t>
            </a:r>
            <a:r>
              <a:rPr lang="vi-VN" sz="2400" i="1" smtClean="0"/>
              <a:t>size</a:t>
            </a:r>
            <a:r>
              <a:rPr lang="en-US" sz="2400"/>
              <a:t>:</a:t>
            </a:r>
            <a:r>
              <a:rPr lang="vi-VN" sz="2400" smtClean="0"/>
              <a:t> </a:t>
            </a:r>
            <a:r>
              <a:rPr lang="vi-VN" sz="2400"/>
              <a:t>kích thước của mỗi phần tử. </a:t>
            </a:r>
            <a:endParaRPr lang="en-US" sz="2400" smtClean="0"/>
          </a:p>
          <a:p>
            <a:pPr marL="0" indent="0" algn="just">
              <a:buNone/>
            </a:pPr>
            <a:r>
              <a:rPr lang="en-US" sz="2400" smtClean="0">
                <a:latin typeface="Times New Roman" pitchFamily="18" charset="0"/>
                <a:cs typeface="Times New Roman" pitchFamily="18" charset="0"/>
              </a:rPr>
              <a:t>	Hàm này cấp phát bộ nhớ có kích thước bằng </a:t>
            </a:r>
            <a:r>
              <a:rPr lang="en-US" sz="2400" i="1" smtClean="0"/>
              <a:t>nelements* size</a:t>
            </a:r>
            <a:endParaRPr lang="en-US" sz="2400" smtClean="0">
              <a:latin typeface="Times New Roman" pitchFamily="18" charset="0"/>
              <a:cs typeface="Times New Roman" pitchFamily="18" charset="0"/>
            </a:endParaRPr>
          </a:p>
          <a:p>
            <a:pPr algn="just"/>
            <a:r>
              <a:rPr lang="en-US" sz="2400" b="1" smtClean="0">
                <a:latin typeface="Times New Roman" pitchFamily="18" charset="0"/>
                <a:cs typeface="Times New Roman" pitchFamily="18" charset="0"/>
              </a:rPr>
              <a:t>Sử dụng: </a:t>
            </a:r>
            <a:r>
              <a:rPr lang="en-US" sz="2400" smtClean="0">
                <a:latin typeface="Times New Roman" pitchFamily="18" charset="0"/>
                <a:cs typeface="Times New Roman" pitchFamily="18" charset="0"/>
              </a:rPr>
              <a:t>giống hàm malloc</a:t>
            </a:r>
            <a:endParaRPr lang="en-US" sz="2400">
              <a:latin typeface="Times New Roman" pitchFamily="18" charset="0"/>
              <a:cs typeface="Times New Roman" pitchFamily="18" charset="0"/>
            </a:endParaRPr>
          </a:p>
          <a:p>
            <a:pPr marL="0" indent="0" algn="just">
              <a:buNone/>
            </a:pPr>
            <a:r>
              <a:rPr lang="en-US" sz="2400" b="1" smtClean="0">
                <a:latin typeface="Times New Roman" pitchFamily="18" charset="0"/>
                <a:cs typeface="Times New Roman" pitchFamily="18" charset="0"/>
              </a:rPr>
              <a:t>	</a:t>
            </a:r>
            <a:r>
              <a:rPr lang="en-US" sz="2400" u="sng" smtClean="0">
                <a:latin typeface="Times New Roman" pitchFamily="18" charset="0"/>
                <a:cs typeface="Times New Roman" pitchFamily="18" charset="0"/>
              </a:rPr>
              <a:t>Ví dụ</a:t>
            </a:r>
            <a:r>
              <a:rPr lang="en-US" sz="2400" smtClean="0">
                <a:latin typeface="Times New Roman" pitchFamily="18" charset="0"/>
                <a:cs typeface="Times New Roman" pitchFamily="18" charset="0"/>
              </a:rPr>
              <a:t>:</a:t>
            </a:r>
          </a:p>
          <a:p>
            <a:pPr lvl="1" algn="just">
              <a:buFont typeface="Wingdings" pitchFamily="2" charset="2"/>
              <a:buNone/>
            </a:pPr>
            <a:r>
              <a:rPr lang="en-US" sz="2400" b="1">
                <a:latin typeface="Times New Roman" pitchFamily="18" charset="0"/>
                <a:cs typeface="Times New Roman" pitchFamily="18" charset="0"/>
              </a:rPr>
              <a:t>	</a:t>
            </a:r>
            <a:r>
              <a:rPr lang="en-US" sz="2400" b="1" smtClean="0">
                <a:latin typeface="Times New Roman" pitchFamily="18" charset="0"/>
                <a:cs typeface="Times New Roman" pitchFamily="18" charset="0"/>
              </a:rPr>
              <a:t>	</a:t>
            </a:r>
            <a:r>
              <a:rPr lang="en-US" sz="2400" b="1">
                <a:latin typeface="Times New Roman" pitchFamily="18" charset="0"/>
                <a:cs typeface="Times New Roman" pitchFamily="18" charset="0"/>
              </a:rPr>
              <a:t>	</a:t>
            </a:r>
            <a:r>
              <a:rPr lang="sv-SE" sz="2400" smtClean="0">
                <a:latin typeface="Times New Roman" pitchFamily="18" charset="0"/>
                <a:cs typeface="Times New Roman" pitchFamily="18" charset="0"/>
              </a:rPr>
              <a:t>char </a:t>
            </a:r>
            <a:r>
              <a:rPr lang="sv-SE" sz="2400">
                <a:latin typeface="Times New Roman" pitchFamily="18" charset="0"/>
                <a:cs typeface="Times New Roman" pitchFamily="18" charset="0"/>
              </a:rPr>
              <a:t>* ronny</a:t>
            </a:r>
            <a:r>
              <a:rPr lang="sv-SE" sz="2400" smtClean="0">
                <a:latin typeface="Times New Roman" pitchFamily="18" charset="0"/>
                <a:cs typeface="Times New Roman" pitchFamily="18" charset="0"/>
              </a:rPr>
              <a:t>;	ronny </a:t>
            </a:r>
            <a:r>
              <a:rPr lang="sv-SE" sz="2400">
                <a:latin typeface="Times New Roman" pitchFamily="18" charset="0"/>
                <a:cs typeface="Times New Roman" pitchFamily="18" charset="0"/>
              </a:rPr>
              <a:t>= (char *) c</a:t>
            </a:r>
            <a:r>
              <a:rPr lang="sv-SE" sz="2400" smtClean="0">
                <a:latin typeface="Times New Roman" pitchFamily="18" charset="0"/>
                <a:cs typeface="Times New Roman" pitchFamily="18" charset="0"/>
              </a:rPr>
              <a:t>alloc (1, sizeof(char));</a:t>
            </a:r>
          </a:p>
          <a:p>
            <a:pPr lvl="1" algn="just">
              <a:buNone/>
            </a:pPr>
            <a:r>
              <a:rPr lang="en-US" sz="2400" b="1">
                <a:latin typeface="Times New Roman" pitchFamily="18" charset="0"/>
                <a:cs typeface="Times New Roman" pitchFamily="18" charset="0"/>
              </a:rPr>
              <a:t>	</a:t>
            </a:r>
            <a:r>
              <a:rPr lang="en-US" sz="2400" b="1" smtClean="0">
                <a:latin typeface="Times New Roman" pitchFamily="18" charset="0"/>
                <a:cs typeface="Times New Roman" pitchFamily="18" charset="0"/>
              </a:rPr>
              <a:t>	</a:t>
            </a:r>
            <a:r>
              <a:rPr lang="en-US" sz="2400" b="1">
                <a:latin typeface="Times New Roman" pitchFamily="18" charset="0"/>
                <a:cs typeface="Times New Roman" pitchFamily="18" charset="0"/>
              </a:rPr>
              <a:t>	</a:t>
            </a:r>
            <a:r>
              <a:rPr lang="sv-SE" sz="2400">
                <a:latin typeface="Times New Roman" pitchFamily="18" charset="0"/>
                <a:cs typeface="Times New Roman" pitchFamily="18" charset="0"/>
              </a:rPr>
              <a:t>char * </a:t>
            </a:r>
            <a:r>
              <a:rPr lang="sv-SE" sz="2400" smtClean="0">
                <a:latin typeface="Times New Roman" pitchFamily="18" charset="0"/>
                <a:cs typeface="Times New Roman" pitchFamily="18" charset="0"/>
              </a:rPr>
              <a:t>tom;</a:t>
            </a:r>
            <a:r>
              <a:rPr lang="sv-SE" sz="2400">
                <a:latin typeface="Times New Roman" pitchFamily="18" charset="0"/>
                <a:cs typeface="Times New Roman" pitchFamily="18" charset="0"/>
              </a:rPr>
              <a:t>	</a:t>
            </a:r>
            <a:r>
              <a:rPr lang="sv-SE" sz="2400" smtClean="0">
                <a:latin typeface="Times New Roman" pitchFamily="18" charset="0"/>
                <a:cs typeface="Times New Roman" pitchFamily="18" charset="0"/>
              </a:rPr>
              <a:t>tom= </a:t>
            </a:r>
            <a:r>
              <a:rPr lang="sv-SE" sz="2400">
                <a:latin typeface="Times New Roman" pitchFamily="18" charset="0"/>
                <a:cs typeface="Times New Roman" pitchFamily="18" charset="0"/>
              </a:rPr>
              <a:t>(char *) </a:t>
            </a:r>
            <a:r>
              <a:rPr lang="sv-SE" sz="2400" smtClean="0">
                <a:latin typeface="Times New Roman" pitchFamily="18" charset="0"/>
                <a:cs typeface="Times New Roman" pitchFamily="18" charset="0"/>
              </a:rPr>
              <a:t>calloc </a:t>
            </a:r>
            <a:r>
              <a:rPr lang="sv-SE" sz="2400" smtClean="0">
                <a:latin typeface="Times New Roman" pitchFamily="18" charset="0"/>
                <a:cs typeface="Times New Roman" pitchFamily="18" charset="0"/>
              </a:rPr>
              <a:t>(5, sizeof(char));</a:t>
            </a:r>
          </a:p>
        </p:txBody>
      </p:sp>
    </p:spTree>
    <p:extLst>
      <p:ext uri="{BB962C8B-B14F-4D97-AF65-F5344CB8AC3E}">
        <p14:creationId xmlns:p14="http://schemas.microsoft.com/office/powerpoint/2010/main" val="19297242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realloc (C)</a:t>
            </a:r>
            <a:endParaRPr lang="en-US"/>
          </a:p>
        </p:txBody>
      </p:sp>
      <p:sp>
        <p:nvSpPr>
          <p:cNvPr id="223235" name="Rectangle 3"/>
          <p:cNvSpPr>
            <a:spLocks noGrp="1" noChangeArrowheads="1"/>
          </p:cNvSpPr>
          <p:nvPr>
            <p:ph type="body" idx="1"/>
          </p:nvPr>
        </p:nvSpPr>
        <p:spPr>
          <a:xfrm>
            <a:off x="0" y="1524000"/>
            <a:ext cx="9144001" cy="4572000"/>
          </a:xfrm>
        </p:spPr>
        <p:txBody>
          <a:bodyPr>
            <a:noAutofit/>
          </a:bodyPr>
          <a:lstStyle/>
          <a:p>
            <a:pPr algn="just"/>
            <a:r>
              <a:rPr lang="en-US" sz="2800" b="1">
                <a:latin typeface="Times New Roman" pitchFamily="18" charset="0"/>
                <a:cs typeface="Times New Roman" pitchFamily="18" charset="0"/>
              </a:rPr>
              <a:t>Chức năng: </a:t>
            </a:r>
            <a:r>
              <a:rPr lang="vi-VN" sz="2800">
                <a:latin typeface="Times New Roman" pitchFamily="18" charset="0"/>
                <a:cs typeface="Times New Roman" pitchFamily="18" charset="0"/>
              </a:rPr>
              <a:t>thay đổi kích thước của khối nhớ đã được cấp phát cho một con trỏ</a:t>
            </a:r>
            <a:r>
              <a:rPr lang="en-US" sz="2800" smtClean="0">
                <a:latin typeface="Times New Roman" pitchFamily="18" charset="0"/>
                <a:cs typeface="Times New Roman" pitchFamily="18" charset="0"/>
              </a:rPr>
              <a:t>.</a:t>
            </a:r>
            <a:endParaRPr lang="en-US" sz="2800">
              <a:latin typeface="Times New Roman" pitchFamily="18" charset="0"/>
              <a:cs typeface="Times New Roman" pitchFamily="18" charset="0"/>
            </a:endParaRPr>
          </a:p>
          <a:p>
            <a:pPr algn="just"/>
            <a:r>
              <a:rPr lang="en-US" sz="2800" b="1" smtClean="0">
                <a:latin typeface="Times New Roman" pitchFamily="18" charset="0"/>
                <a:cs typeface="Times New Roman" pitchFamily="18" charset="0"/>
              </a:rPr>
              <a:t>Nguyên mẫu: </a:t>
            </a:r>
            <a:endParaRPr lang="en-US" sz="2800" b="1">
              <a:latin typeface="Times New Roman" pitchFamily="18" charset="0"/>
              <a:cs typeface="Times New Roman" pitchFamily="18" charset="0"/>
            </a:endParaRPr>
          </a:p>
          <a:p>
            <a:pPr marL="0" indent="0" algn="just">
              <a:buNone/>
            </a:pPr>
            <a:r>
              <a:rPr lang="en-US" sz="2800">
                <a:latin typeface="Times New Roman" pitchFamily="18" charset="0"/>
                <a:cs typeface="Times New Roman" pitchFamily="18" charset="0"/>
              </a:rPr>
              <a:t>	</a:t>
            </a:r>
            <a:r>
              <a:rPr lang="en-US" sz="2800" b="1">
                <a:latin typeface="Times New Roman" pitchFamily="18" charset="0"/>
                <a:cs typeface="Times New Roman" pitchFamily="18" charset="0"/>
              </a:rPr>
              <a:t> void * realloc (void * </a:t>
            </a:r>
            <a:r>
              <a:rPr lang="en-US" sz="2800" i="1">
                <a:latin typeface="Times New Roman" pitchFamily="18" charset="0"/>
                <a:cs typeface="Times New Roman" pitchFamily="18" charset="0"/>
              </a:rPr>
              <a:t>pointer</a:t>
            </a:r>
            <a:r>
              <a:rPr lang="en-US" sz="2800">
                <a:latin typeface="Times New Roman" pitchFamily="18" charset="0"/>
                <a:cs typeface="Times New Roman" pitchFamily="18" charset="0"/>
              </a:rPr>
              <a:t> </a:t>
            </a:r>
            <a:r>
              <a:rPr lang="en-US" sz="2800" b="1">
                <a:latin typeface="Times New Roman" pitchFamily="18" charset="0"/>
                <a:cs typeface="Times New Roman" pitchFamily="18" charset="0"/>
              </a:rPr>
              <a:t>, size_t </a:t>
            </a:r>
            <a:r>
              <a:rPr lang="en-US" sz="2800" i="1" smtClean="0">
                <a:latin typeface="Times New Roman" pitchFamily="18" charset="0"/>
                <a:cs typeface="Times New Roman" pitchFamily="18" charset="0"/>
              </a:rPr>
              <a:t>newsize</a:t>
            </a:r>
            <a:r>
              <a:rPr lang="en-US" sz="2800">
                <a:latin typeface="Times New Roman" pitchFamily="18" charset="0"/>
                <a:cs typeface="Times New Roman" pitchFamily="18" charset="0"/>
              </a:rPr>
              <a:t> </a:t>
            </a:r>
            <a:r>
              <a:rPr lang="en-US" sz="2800" b="1">
                <a:latin typeface="Times New Roman" pitchFamily="18" charset="0"/>
                <a:cs typeface="Times New Roman" pitchFamily="18" charset="0"/>
              </a:rPr>
              <a:t>);</a:t>
            </a:r>
            <a:endParaRPr lang="en-US" sz="2800" b="1" smtClean="0">
              <a:latin typeface="Times New Roman" pitchFamily="18" charset="0"/>
              <a:cs typeface="Times New Roman" pitchFamily="18" charset="0"/>
            </a:endParaRPr>
          </a:p>
          <a:p>
            <a:pPr marL="3938588" indent="-3938588" algn="just">
              <a:buNone/>
            </a:pPr>
            <a:r>
              <a:rPr lang="en-US" sz="2800">
                <a:latin typeface="Times New Roman" pitchFamily="18" charset="0"/>
                <a:cs typeface="Times New Roman" pitchFamily="18" charset="0"/>
              </a:rPr>
              <a:t> </a:t>
            </a:r>
            <a:r>
              <a:rPr lang="en-US" sz="2800" smtClean="0">
                <a:latin typeface="Times New Roman" pitchFamily="18" charset="0"/>
                <a:cs typeface="Times New Roman" pitchFamily="18" charset="0"/>
              </a:rPr>
              <a:t>           Trong đó:</a:t>
            </a:r>
            <a:r>
              <a:rPr lang="vi-VN" sz="2800" smtClean="0">
                <a:latin typeface="Times New Roman" pitchFamily="18" charset="0"/>
                <a:cs typeface="Times New Roman" pitchFamily="18" charset="0"/>
              </a:rPr>
              <a:t> </a:t>
            </a:r>
            <a:r>
              <a:rPr lang="vi-VN" sz="2800" i="1" smtClean="0">
                <a:latin typeface="Times New Roman" pitchFamily="18" charset="0"/>
                <a:cs typeface="Times New Roman" pitchFamily="18" charset="0"/>
              </a:rPr>
              <a:t>pointer</a:t>
            </a:r>
            <a:r>
              <a:rPr lang="en-US" sz="2800" i="1" smtClean="0">
                <a:latin typeface="Times New Roman" pitchFamily="18" charset="0"/>
                <a:cs typeface="Times New Roman" pitchFamily="18" charset="0"/>
              </a:rPr>
              <a:t>:</a:t>
            </a:r>
            <a:r>
              <a:rPr lang="vi-VN" sz="2800">
                <a:latin typeface="Times New Roman" pitchFamily="18" charset="0"/>
                <a:cs typeface="Times New Roman" pitchFamily="18" charset="0"/>
              </a:rPr>
              <a:t> </a:t>
            </a:r>
            <a:r>
              <a:rPr lang="vi-VN" sz="2800" smtClean="0">
                <a:latin typeface="Times New Roman" pitchFamily="18" charset="0"/>
                <a:cs typeface="Times New Roman" pitchFamily="18" charset="0"/>
              </a:rPr>
              <a:t>con </a:t>
            </a:r>
            <a:r>
              <a:rPr lang="vi-VN" sz="2800">
                <a:latin typeface="Times New Roman" pitchFamily="18" charset="0"/>
                <a:cs typeface="Times New Roman" pitchFamily="18" charset="0"/>
              </a:rPr>
              <a:t>trỏ đã được cấp phát bộ </a:t>
            </a:r>
            <a:r>
              <a:rPr lang="vi-VN" sz="2800" smtClean="0">
                <a:latin typeface="Times New Roman" pitchFamily="18" charset="0"/>
                <a:cs typeface="Times New Roman" pitchFamily="18" charset="0"/>
              </a:rPr>
              <a:t>nhớ</a:t>
            </a:r>
            <a:r>
              <a:rPr lang="en-US" sz="2800" smtClean="0">
                <a:latin typeface="Times New Roman" pitchFamily="18" charset="0"/>
                <a:cs typeface="Times New Roman" pitchFamily="18" charset="0"/>
              </a:rPr>
              <a:t> (với các hàm new, malloc, calloc, realloc trước đó)</a:t>
            </a:r>
            <a:r>
              <a:rPr lang="vi-VN" sz="2800" smtClean="0">
                <a:latin typeface="Times New Roman" pitchFamily="18" charset="0"/>
                <a:cs typeface="Times New Roman" pitchFamily="18" charset="0"/>
              </a:rPr>
              <a:t> </a:t>
            </a:r>
            <a:r>
              <a:rPr lang="vi-VN" sz="2800">
                <a:latin typeface="Times New Roman" pitchFamily="18" charset="0"/>
                <a:cs typeface="Times New Roman" pitchFamily="18" charset="0"/>
              </a:rPr>
              <a:t>hay một con trỏ </a:t>
            </a:r>
            <a:r>
              <a:rPr lang="vi-VN" sz="2800" smtClean="0">
                <a:latin typeface="Times New Roman" pitchFamily="18" charset="0"/>
                <a:cs typeface="Times New Roman" pitchFamily="18" charset="0"/>
              </a:rPr>
              <a:t>null</a:t>
            </a:r>
            <a:endParaRPr lang="en-US" sz="2800" smtClean="0">
              <a:latin typeface="Times New Roman" pitchFamily="18" charset="0"/>
              <a:cs typeface="Times New Roman" pitchFamily="18" charset="0"/>
            </a:endParaRPr>
          </a:p>
          <a:p>
            <a:pPr marL="0" indent="0" algn="just">
              <a:buNone/>
            </a:pPr>
            <a:r>
              <a:rPr lang="en-US" sz="2800">
                <a:latin typeface="Times New Roman" pitchFamily="18" charset="0"/>
                <a:cs typeface="Times New Roman" pitchFamily="18" charset="0"/>
              </a:rPr>
              <a:t>	</a:t>
            </a:r>
            <a:r>
              <a:rPr lang="en-US" sz="2800" smtClean="0">
                <a:latin typeface="Times New Roman" pitchFamily="18" charset="0"/>
                <a:cs typeface="Times New Roman" pitchFamily="18" charset="0"/>
              </a:rPr>
              <a:t>	    	</a:t>
            </a:r>
            <a:r>
              <a:rPr lang="en-US" sz="2800" i="1" smtClean="0">
                <a:latin typeface="Times New Roman" pitchFamily="18" charset="0"/>
                <a:cs typeface="Times New Roman" pitchFamily="18" charset="0"/>
              </a:rPr>
              <a:t>new</a:t>
            </a:r>
            <a:r>
              <a:rPr lang="vi-VN" sz="2800" i="1" smtClean="0">
                <a:latin typeface="Times New Roman" pitchFamily="18" charset="0"/>
                <a:cs typeface="Times New Roman" pitchFamily="18" charset="0"/>
              </a:rPr>
              <a:t>size</a:t>
            </a:r>
            <a:r>
              <a:rPr lang="en-US" sz="2800" i="1" smtClean="0">
                <a:latin typeface="Times New Roman" pitchFamily="18" charset="0"/>
                <a:cs typeface="Times New Roman" pitchFamily="18" charset="0"/>
              </a:rPr>
              <a:t>:</a:t>
            </a:r>
            <a:r>
              <a:rPr lang="vi-VN" sz="2800">
                <a:latin typeface="Times New Roman" pitchFamily="18" charset="0"/>
                <a:cs typeface="Times New Roman" pitchFamily="18" charset="0"/>
              </a:rPr>
              <a:t> </a:t>
            </a:r>
            <a:r>
              <a:rPr lang="vi-VN" sz="2800" smtClean="0">
                <a:latin typeface="Times New Roman" pitchFamily="18" charset="0"/>
                <a:cs typeface="Times New Roman" pitchFamily="18" charset="0"/>
              </a:rPr>
              <a:t>kích </a:t>
            </a:r>
            <a:r>
              <a:rPr lang="vi-VN" sz="2800">
                <a:latin typeface="Times New Roman" pitchFamily="18" charset="0"/>
                <a:cs typeface="Times New Roman" pitchFamily="18" charset="0"/>
              </a:rPr>
              <a:t>thước của khối nhớ </a:t>
            </a:r>
            <a:r>
              <a:rPr lang="vi-VN" sz="2800" smtClean="0">
                <a:latin typeface="Times New Roman" pitchFamily="18" charset="0"/>
                <a:cs typeface="Times New Roman" pitchFamily="18" charset="0"/>
              </a:rPr>
              <a:t>mới </a:t>
            </a:r>
            <a:endParaRPr lang="en-US" sz="2800" smtClean="0">
              <a:latin typeface="Times New Roman" pitchFamily="18" charset="0"/>
              <a:cs typeface="Times New Roman" pitchFamily="18" charset="0"/>
            </a:endParaRPr>
          </a:p>
        </p:txBody>
      </p:sp>
    </p:spTree>
    <p:extLst>
      <p:ext uri="{BB962C8B-B14F-4D97-AF65-F5344CB8AC3E}">
        <p14:creationId xmlns:p14="http://schemas.microsoft.com/office/powerpoint/2010/main" val="75015161"/>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realloc (C)</a:t>
            </a:r>
            <a:endParaRPr lang="en-US"/>
          </a:p>
        </p:txBody>
      </p:sp>
      <p:sp>
        <p:nvSpPr>
          <p:cNvPr id="223235" name="Rectangle 3"/>
          <p:cNvSpPr>
            <a:spLocks noGrp="1" noChangeArrowheads="1"/>
          </p:cNvSpPr>
          <p:nvPr>
            <p:ph type="body" idx="1"/>
          </p:nvPr>
        </p:nvSpPr>
        <p:spPr>
          <a:xfrm>
            <a:off x="0" y="1524000"/>
            <a:ext cx="9144001" cy="4572000"/>
          </a:xfrm>
        </p:spPr>
        <p:txBody>
          <a:bodyPr>
            <a:noAutofit/>
          </a:bodyPr>
          <a:lstStyle/>
          <a:p>
            <a:pPr marL="0" indent="0" algn="just">
              <a:buNone/>
            </a:pPr>
            <a:r>
              <a:rPr lang="en-US" sz="2700">
                <a:latin typeface="Times New Roman" pitchFamily="18" charset="0"/>
                <a:cs typeface="Times New Roman" pitchFamily="18" charset="0"/>
              </a:rPr>
              <a:t> </a:t>
            </a:r>
            <a:r>
              <a:rPr lang="en-US" sz="2700" smtClean="0">
                <a:latin typeface="Times New Roman" pitchFamily="18" charset="0"/>
                <a:cs typeface="Times New Roman" pitchFamily="18" charset="0"/>
              </a:rPr>
              <a:t>- Nếu kích thước khối nhớ mới </a:t>
            </a:r>
            <a:r>
              <a:rPr lang="en-US" sz="2700" i="1">
                <a:latin typeface="Times New Roman" pitchFamily="18" charset="0"/>
                <a:cs typeface="Times New Roman" pitchFamily="18" charset="0"/>
              </a:rPr>
              <a:t>newsize</a:t>
            </a:r>
            <a:r>
              <a:rPr lang="en-US" sz="2700" smtClean="0">
                <a:latin typeface="Times New Roman" pitchFamily="18" charset="0"/>
                <a:cs typeface="Times New Roman" pitchFamily="18" charset="0"/>
              </a:rPr>
              <a:t> nhỏ hơn kích thước cũ: </a:t>
            </a:r>
            <a:r>
              <a:rPr lang="en-US" sz="2700" i="1" smtClean="0">
                <a:latin typeface="Times New Roman" pitchFamily="18" charset="0"/>
                <a:cs typeface="Times New Roman" pitchFamily="18" charset="0"/>
              </a:rPr>
              <a:t>pointer </a:t>
            </a:r>
            <a:r>
              <a:rPr lang="en-US" sz="2700" smtClean="0">
                <a:latin typeface="Times New Roman" pitchFamily="18" charset="0"/>
                <a:cs typeface="Times New Roman" pitchFamily="18" charset="0"/>
              </a:rPr>
              <a:t>vẫn giữ nguyên địa chỉ, giá trị các phần tử dư thừa bị xóa đi. Hàm trả về địa chỉ của </a:t>
            </a:r>
            <a:r>
              <a:rPr lang="en-US" sz="2700" i="1" smtClean="0">
                <a:latin typeface="Times New Roman" pitchFamily="18" charset="0"/>
                <a:cs typeface="Times New Roman" pitchFamily="18" charset="0"/>
              </a:rPr>
              <a:t>pointer.</a:t>
            </a:r>
          </a:p>
          <a:p>
            <a:pPr marL="0" indent="0" algn="just">
              <a:buNone/>
            </a:pPr>
            <a:r>
              <a:rPr lang="en-US" sz="2700">
                <a:latin typeface="Times New Roman" pitchFamily="18" charset="0"/>
                <a:cs typeface="Times New Roman" pitchFamily="18" charset="0"/>
              </a:rPr>
              <a:t> </a:t>
            </a:r>
            <a:r>
              <a:rPr lang="en-US" sz="2700" smtClean="0">
                <a:latin typeface="Times New Roman" pitchFamily="18" charset="0"/>
                <a:cs typeface="Times New Roman" pitchFamily="18" charset="0"/>
              </a:rPr>
              <a:t>- Nếu </a:t>
            </a:r>
            <a:r>
              <a:rPr lang="en-US" sz="2700">
                <a:latin typeface="Times New Roman" pitchFamily="18" charset="0"/>
                <a:cs typeface="Times New Roman" pitchFamily="18" charset="0"/>
              </a:rPr>
              <a:t>kích thước khối nhớ mới </a:t>
            </a:r>
            <a:r>
              <a:rPr lang="en-US" sz="2700" i="1">
                <a:latin typeface="Times New Roman" pitchFamily="18" charset="0"/>
                <a:cs typeface="Times New Roman" pitchFamily="18" charset="0"/>
              </a:rPr>
              <a:t>newsize</a:t>
            </a:r>
            <a:r>
              <a:rPr lang="en-US" sz="2700">
                <a:latin typeface="Times New Roman" pitchFamily="18" charset="0"/>
                <a:cs typeface="Times New Roman" pitchFamily="18" charset="0"/>
              </a:rPr>
              <a:t> </a:t>
            </a:r>
            <a:r>
              <a:rPr lang="en-US" sz="2700" smtClean="0">
                <a:latin typeface="Times New Roman" pitchFamily="18" charset="0"/>
                <a:cs typeface="Times New Roman" pitchFamily="18" charset="0"/>
              </a:rPr>
              <a:t>bằng kích </a:t>
            </a:r>
            <a:r>
              <a:rPr lang="en-US" sz="2700">
                <a:latin typeface="Times New Roman" pitchFamily="18" charset="0"/>
                <a:cs typeface="Times New Roman" pitchFamily="18" charset="0"/>
              </a:rPr>
              <a:t>thước cũ: </a:t>
            </a:r>
            <a:r>
              <a:rPr lang="en-US" sz="2700" i="1" smtClean="0">
                <a:latin typeface="Times New Roman" pitchFamily="18" charset="0"/>
                <a:cs typeface="Times New Roman" pitchFamily="18" charset="0"/>
              </a:rPr>
              <a:t>pointer </a:t>
            </a:r>
            <a:r>
              <a:rPr lang="en-US" sz="2700">
                <a:latin typeface="Times New Roman" pitchFamily="18" charset="0"/>
                <a:cs typeface="Times New Roman" pitchFamily="18" charset="0"/>
              </a:rPr>
              <a:t>vẫn giữ nguyên địa </a:t>
            </a:r>
            <a:r>
              <a:rPr lang="en-US" sz="2700" smtClean="0">
                <a:latin typeface="Times New Roman" pitchFamily="18" charset="0"/>
                <a:cs typeface="Times New Roman" pitchFamily="18" charset="0"/>
              </a:rPr>
              <a:t>chỉ và giá trị </a:t>
            </a:r>
            <a:r>
              <a:rPr lang="en-US" sz="2700">
                <a:latin typeface="Times New Roman" pitchFamily="18" charset="0"/>
                <a:cs typeface="Times New Roman" pitchFamily="18" charset="0"/>
              </a:rPr>
              <a:t>các phần </a:t>
            </a:r>
            <a:r>
              <a:rPr lang="en-US" sz="2700" smtClean="0">
                <a:latin typeface="Times New Roman" pitchFamily="18" charset="0"/>
                <a:cs typeface="Times New Roman" pitchFamily="18" charset="0"/>
              </a:rPr>
              <a:t>tử. </a:t>
            </a:r>
            <a:r>
              <a:rPr lang="en-US" sz="2700">
                <a:latin typeface="Times New Roman" pitchFamily="18" charset="0"/>
                <a:cs typeface="Times New Roman" pitchFamily="18" charset="0"/>
              </a:rPr>
              <a:t>Hàm trả về địa chỉ của </a:t>
            </a:r>
            <a:r>
              <a:rPr lang="en-US" sz="2700" i="1">
                <a:latin typeface="Times New Roman" pitchFamily="18" charset="0"/>
                <a:cs typeface="Times New Roman" pitchFamily="18" charset="0"/>
              </a:rPr>
              <a:t>pointer</a:t>
            </a:r>
            <a:r>
              <a:rPr lang="en-US" sz="2700" i="1" smtClean="0">
                <a:latin typeface="Times New Roman" pitchFamily="18" charset="0"/>
                <a:cs typeface="Times New Roman" pitchFamily="18" charset="0"/>
              </a:rPr>
              <a:t>.</a:t>
            </a:r>
          </a:p>
          <a:p>
            <a:pPr marL="0" indent="0" algn="just">
              <a:buNone/>
            </a:pPr>
            <a:r>
              <a:rPr lang="en-US" sz="2700" smtClean="0">
                <a:latin typeface="Times New Roman" pitchFamily="18" charset="0"/>
                <a:cs typeface="Times New Roman" pitchFamily="18" charset="0"/>
              </a:rPr>
              <a:t> - </a:t>
            </a:r>
            <a:r>
              <a:rPr lang="en-US" sz="2700">
                <a:latin typeface="Times New Roman" pitchFamily="18" charset="0"/>
                <a:cs typeface="Times New Roman" pitchFamily="18" charset="0"/>
              </a:rPr>
              <a:t>Nếu kích thước khối nhớ mới </a:t>
            </a:r>
            <a:r>
              <a:rPr lang="en-US" sz="2700" i="1">
                <a:latin typeface="Times New Roman" pitchFamily="18" charset="0"/>
                <a:cs typeface="Times New Roman" pitchFamily="18" charset="0"/>
              </a:rPr>
              <a:t>newsize</a:t>
            </a:r>
            <a:r>
              <a:rPr lang="en-US" sz="2700">
                <a:latin typeface="Times New Roman" pitchFamily="18" charset="0"/>
                <a:cs typeface="Times New Roman" pitchFamily="18" charset="0"/>
              </a:rPr>
              <a:t> </a:t>
            </a:r>
            <a:r>
              <a:rPr lang="en-US" sz="2700" smtClean="0">
                <a:latin typeface="Times New Roman" pitchFamily="18" charset="0"/>
                <a:cs typeface="Times New Roman" pitchFamily="18" charset="0"/>
              </a:rPr>
              <a:t>lớn hơn </a:t>
            </a:r>
            <a:r>
              <a:rPr lang="en-US" sz="2700">
                <a:latin typeface="Times New Roman" pitchFamily="18" charset="0"/>
                <a:cs typeface="Times New Roman" pitchFamily="18" charset="0"/>
              </a:rPr>
              <a:t>kích thước cũ: cấp phát 1 </a:t>
            </a:r>
            <a:r>
              <a:rPr lang="en-US" sz="2700" i="1">
                <a:latin typeface="Times New Roman" pitchFamily="18" charset="0"/>
                <a:cs typeface="Times New Roman" pitchFamily="18" charset="0"/>
              </a:rPr>
              <a:t>khối nhớ mới </a:t>
            </a:r>
            <a:r>
              <a:rPr lang="en-US" sz="2700">
                <a:latin typeface="Times New Roman" pitchFamily="18" charset="0"/>
                <a:cs typeface="Times New Roman" pitchFamily="18" charset="0"/>
              </a:rPr>
              <a:t>và các phần tử có giá trị bằng giá trị các phần tử trong </a:t>
            </a:r>
            <a:r>
              <a:rPr lang="en-US" sz="2700" i="1" smtClean="0">
                <a:latin typeface="Times New Roman" pitchFamily="18" charset="0"/>
                <a:cs typeface="Times New Roman" pitchFamily="18" charset="0"/>
              </a:rPr>
              <a:t>pointer; pointer </a:t>
            </a:r>
            <a:r>
              <a:rPr lang="en-US" sz="2700">
                <a:latin typeface="Times New Roman" pitchFamily="18" charset="0"/>
                <a:cs typeface="Times New Roman" pitchFamily="18" charset="0"/>
              </a:rPr>
              <a:t>vẫn giữ nguyên địa </a:t>
            </a:r>
            <a:r>
              <a:rPr lang="en-US" sz="2700" smtClean="0">
                <a:latin typeface="Times New Roman" pitchFamily="18" charset="0"/>
                <a:cs typeface="Times New Roman" pitchFamily="18" charset="0"/>
              </a:rPr>
              <a:t>chỉ và giá trị tất cả phần </a:t>
            </a:r>
            <a:r>
              <a:rPr lang="en-US" sz="2700">
                <a:latin typeface="Times New Roman" pitchFamily="18" charset="0"/>
                <a:cs typeface="Times New Roman" pitchFamily="18" charset="0"/>
              </a:rPr>
              <a:t>tử </a:t>
            </a:r>
            <a:r>
              <a:rPr lang="en-US" sz="2700" smtClean="0">
                <a:latin typeface="Times New Roman" pitchFamily="18" charset="0"/>
                <a:cs typeface="Times New Roman" pitchFamily="18" charset="0"/>
              </a:rPr>
              <a:t>bị </a:t>
            </a:r>
            <a:r>
              <a:rPr lang="en-US" sz="2700">
                <a:latin typeface="Times New Roman" pitchFamily="18" charset="0"/>
                <a:cs typeface="Times New Roman" pitchFamily="18" charset="0"/>
              </a:rPr>
              <a:t>xóa </a:t>
            </a:r>
            <a:r>
              <a:rPr lang="en-US" sz="2700" smtClean="0">
                <a:latin typeface="Times New Roman" pitchFamily="18" charset="0"/>
                <a:cs typeface="Times New Roman" pitchFamily="18" charset="0"/>
              </a:rPr>
              <a:t>đi. Hàm trả về địa chỉ của </a:t>
            </a:r>
            <a:r>
              <a:rPr lang="en-US" sz="2700" i="1" smtClean="0">
                <a:latin typeface="Times New Roman" pitchFamily="18" charset="0"/>
                <a:cs typeface="Times New Roman" pitchFamily="18" charset="0"/>
              </a:rPr>
              <a:t>khối nhớ mới.</a:t>
            </a:r>
          </a:p>
        </p:txBody>
      </p:sp>
    </p:spTree>
    <p:extLst>
      <p:ext uri="{BB962C8B-B14F-4D97-AF65-F5344CB8AC3E}">
        <p14:creationId xmlns:p14="http://schemas.microsoft.com/office/powerpoint/2010/main" val="1263770517"/>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realloc (C)</a:t>
            </a:r>
            <a:endParaRPr lang="en-US"/>
          </a:p>
        </p:txBody>
      </p:sp>
      <p:sp>
        <p:nvSpPr>
          <p:cNvPr id="223235" name="Rectangle 3"/>
          <p:cNvSpPr>
            <a:spLocks noGrp="1" noChangeArrowheads="1"/>
          </p:cNvSpPr>
          <p:nvPr>
            <p:ph type="body" idx="1"/>
          </p:nvPr>
        </p:nvSpPr>
        <p:spPr>
          <a:xfrm>
            <a:off x="0" y="1524000"/>
            <a:ext cx="9144001" cy="4572000"/>
          </a:xfrm>
        </p:spPr>
        <p:txBody>
          <a:bodyPr>
            <a:noAutofit/>
          </a:bodyPr>
          <a:lstStyle/>
          <a:p>
            <a:pPr marL="0" indent="0" algn="just">
              <a:buNone/>
            </a:pPr>
            <a:r>
              <a:rPr lang="en-US" sz="2800" smtClean="0">
                <a:latin typeface="Times New Roman" pitchFamily="18" charset="0"/>
                <a:cs typeface="Times New Roman" pitchFamily="18" charset="0"/>
              </a:rPr>
              <a:t>- </a:t>
            </a:r>
            <a:r>
              <a:rPr lang="vi-VN" sz="2800" smtClean="0">
                <a:latin typeface="Times New Roman" pitchFamily="18" charset="0"/>
                <a:cs typeface="Times New Roman" pitchFamily="18" charset="0"/>
              </a:rPr>
              <a:t>Nếu </a:t>
            </a:r>
            <a:r>
              <a:rPr lang="vi-VN" sz="2800">
                <a:latin typeface="Times New Roman" pitchFamily="18" charset="0"/>
                <a:cs typeface="Times New Roman" pitchFamily="18" charset="0"/>
              </a:rPr>
              <a:t>không thể thay đổi kích thước của </a:t>
            </a:r>
            <a:r>
              <a:rPr lang="en-US" sz="2800" i="1" smtClean="0">
                <a:latin typeface="Times New Roman" pitchFamily="18" charset="0"/>
                <a:cs typeface="Times New Roman" pitchFamily="18" charset="0"/>
              </a:rPr>
              <a:t>pointer</a:t>
            </a:r>
            <a:r>
              <a:rPr lang="en-US" sz="2800" smtClean="0">
                <a:latin typeface="Times New Roman" pitchFamily="18" charset="0"/>
                <a:cs typeface="Times New Roman" pitchFamily="18" charset="0"/>
              </a:rPr>
              <a:t> </a:t>
            </a:r>
            <a:r>
              <a:rPr lang="vi-VN" sz="2800" smtClean="0">
                <a:latin typeface="Times New Roman" pitchFamily="18" charset="0"/>
                <a:cs typeface="Times New Roman" pitchFamily="18" charset="0"/>
              </a:rPr>
              <a:t>thì </a:t>
            </a:r>
            <a:r>
              <a:rPr lang="vi-VN" sz="2800">
                <a:latin typeface="Times New Roman" pitchFamily="18" charset="0"/>
                <a:cs typeface="Times New Roman" pitchFamily="18" charset="0"/>
              </a:rPr>
              <a:t>hàm sẽ trả về một con trỏ </a:t>
            </a:r>
            <a:r>
              <a:rPr lang="en-US" sz="2800" smtClean="0">
                <a:latin typeface="Times New Roman" pitchFamily="18" charset="0"/>
                <a:cs typeface="Times New Roman" pitchFamily="18" charset="0"/>
              </a:rPr>
              <a:t>NULL, </a:t>
            </a:r>
            <a:r>
              <a:rPr lang="vi-VN" sz="2800" i="1" smtClean="0">
                <a:latin typeface="Times New Roman" pitchFamily="18" charset="0"/>
                <a:cs typeface="Times New Roman" pitchFamily="18" charset="0"/>
              </a:rPr>
              <a:t>pointer</a:t>
            </a:r>
            <a:r>
              <a:rPr lang="en-US" sz="2800" i="1" smtClean="0">
                <a:latin typeface="Times New Roman" pitchFamily="18" charset="0"/>
                <a:cs typeface="Times New Roman" pitchFamily="18" charset="0"/>
              </a:rPr>
              <a:t> </a:t>
            </a:r>
            <a:r>
              <a:rPr lang="vi-VN" sz="2800" smtClean="0">
                <a:latin typeface="Times New Roman" pitchFamily="18" charset="0"/>
                <a:cs typeface="Times New Roman" pitchFamily="18" charset="0"/>
              </a:rPr>
              <a:t>và </a:t>
            </a:r>
            <a:r>
              <a:rPr lang="vi-VN" sz="2800">
                <a:latin typeface="Times New Roman" pitchFamily="18" charset="0"/>
                <a:cs typeface="Times New Roman" pitchFamily="18" charset="0"/>
              </a:rPr>
              <a:t>nội dung của nó sẽ không bị thay đổi</a:t>
            </a:r>
            <a:endParaRPr lang="en-US" sz="2800" smtClean="0">
              <a:latin typeface="Times New Roman" pitchFamily="18" charset="0"/>
              <a:cs typeface="Times New Roman" pitchFamily="18" charset="0"/>
            </a:endParaRPr>
          </a:p>
          <a:p>
            <a:pPr algn="just"/>
            <a:r>
              <a:rPr lang="en-US" sz="2800" b="1" smtClean="0">
                <a:latin typeface="Times New Roman" pitchFamily="18" charset="0"/>
                <a:cs typeface="Times New Roman" pitchFamily="18" charset="0"/>
              </a:rPr>
              <a:t>Sử dụng:</a:t>
            </a:r>
            <a:endParaRPr lang="en-US" sz="2800" smtClean="0">
              <a:latin typeface="Times New Roman" pitchFamily="18" charset="0"/>
              <a:cs typeface="Times New Roman" pitchFamily="18" charset="0"/>
            </a:endParaRPr>
          </a:p>
          <a:p>
            <a:pPr marL="0" indent="0" fontAlgn="base">
              <a:buNone/>
            </a:pPr>
            <a:r>
              <a:rPr lang="en-US" sz="2800" smtClean="0"/>
              <a:t>	int </a:t>
            </a:r>
            <a:r>
              <a:rPr lang="en-US" sz="2800"/>
              <a:t>*p = (int*)malloc(5*sizeof(int));</a:t>
            </a:r>
          </a:p>
          <a:p>
            <a:pPr marL="0" indent="0" fontAlgn="base">
              <a:buNone/>
            </a:pPr>
            <a:r>
              <a:rPr lang="en-US" sz="2800" smtClean="0"/>
              <a:t>	int </a:t>
            </a:r>
            <a:r>
              <a:rPr lang="en-US" sz="2800"/>
              <a:t>*q = (int*)realloc(p, 10*sizeof(int));</a:t>
            </a:r>
          </a:p>
          <a:p>
            <a:pPr marL="0" indent="0" algn="just">
              <a:buNone/>
            </a:pPr>
            <a:endParaRPr lang="sv-SE" sz="2800" smtClean="0">
              <a:latin typeface="Times New Roman" pitchFamily="18" charset="0"/>
              <a:cs typeface="Times New Roman" pitchFamily="18" charset="0"/>
            </a:endParaRPr>
          </a:p>
        </p:txBody>
      </p:sp>
    </p:spTree>
    <p:extLst>
      <p:ext uri="{BB962C8B-B14F-4D97-AF65-F5344CB8AC3E}">
        <p14:creationId xmlns:p14="http://schemas.microsoft.com/office/powerpoint/2010/main" val="128413720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3234" name="Rectangle 2"/>
          <p:cNvSpPr>
            <a:spLocks noGrp="1" noChangeArrowheads="1"/>
          </p:cNvSpPr>
          <p:nvPr>
            <p:ph type="title"/>
          </p:nvPr>
        </p:nvSpPr>
        <p:spPr/>
        <p:txBody>
          <a:bodyPr/>
          <a:lstStyle/>
          <a:p>
            <a:r>
              <a:rPr lang="en-US"/>
              <a:t>Hàm </a:t>
            </a:r>
            <a:r>
              <a:rPr lang="en-US" smtClean="0"/>
              <a:t>free (C)</a:t>
            </a:r>
            <a:endParaRPr lang="en-US"/>
          </a:p>
        </p:txBody>
      </p:sp>
      <p:sp>
        <p:nvSpPr>
          <p:cNvPr id="223235" name="Rectangle 3"/>
          <p:cNvSpPr>
            <a:spLocks noGrp="1" noChangeArrowheads="1"/>
          </p:cNvSpPr>
          <p:nvPr>
            <p:ph type="body" idx="1"/>
          </p:nvPr>
        </p:nvSpPr>
        <p:spPr>
          <a:xfrm>
            <a:off x="228600" y="1524000"/>
            <a:ext cx="8915400" cy="4800600"/>
          </a:xfrm>
        </p:spPr>
        <p:txBody>
          <a:bodyPr>
            <a:noAutofit/>
          </a:bodyPr>
          <a:lstStyle/>
          <a:p>
            <a:pPr algn="just"/>
            <a:r>
              <a:rPr lang="en-US" sz="2400" b="1">
                <a:latin typeface="Times New Roman" pitchFamily="18" charset="0"/>
                <a:cs typeface="Times New Roman" pitchFamily="18" charset="0"/>
              </a:rPr>
              <a:t>Chức năng</a:t>
            </a:r>
            <a:r>
              <a:rPr lang="en-US" sz="2400" b="1" smtClean="0">
                <a:latin typeface="Times New Roman" pitchFamily="18" charset="0"/>
                <a:cs typeface="Times New Roman" pitchFamily="18" charset="0"/>
              </a:rPr>
              <a:t>: </a:t>
            </a:r>
            <a:r>
              <a:rPr lang="en-US" sz="2400" smtClean="0">
                <a:latin typeface="Times New Roman" pitchFamily="18" charset="0"/>
                <a:cs typeface="Times New Roman" pitchFamily="18" charset="0"/>
              </a:rPr>
              <a:t>giống delete</a:t>
            </a:r>
          </a:p>
          <a:p>
            <a:pPr algn="just"/>
            <a:r>
              <a:rPr lang="en-US" sz="2400" b="1" smtClean="0">
                <a:latin typeface="Times New Roman" pitchFamily="18" charset="0"/>
                <a:cs typeface="Times New Roman" pitchFamily="18" charset="0"/>
              </a:rPr>
              <a:t>Nguyên mẫu: </a:t>
            </a:r>
          </a:p>
          <a:p>
            <a:pPr marL="0" indent="0" algn="just">
              <a:buNone/>
            </a:pPr>
            <a:r>
              <a:rPr lang="en-US" sz="2400">
                <a:latin typeface="Times New Roman" pitchFamily="18" charset="0"/>
                <a:cs typeface="Times New Roman" pitchFamily="18" charset="0"/>
              </a:rPr>
              <a:t>	</a:t>
            </a:r>
            <a:r>
              <a:rPr lang="en-US" sz="2400" b="1"/>
              <a:t> void free (void * </a:t>
            </a:r>
            <a:r>
              <a:rPr lang="en-US" sz="2400" i="1"/>
              <a:t>pointer</a:t>
            </a:r>
            <a:r>
              <a:rPr lang="en-US" sz="2400"/>
              <a:t> </a:t>
            </a:r>
            <a:r>
              <a:rPr lang="en-US" sz="2400" b="1"/>
              <a:t>);</a:t>
            </a:r>
            <a:endParaRPr lang="en-US" sz="2400" b="1">
              <a:latin typeface="Times New Roman" pitchFamily="18" charset="0"/>
              <a:cs typeface="Times New Roman" pitchFamily="18" charset="0"/>
            </a:endParaRPr>
          </a:p>
          <a:p>
            <a:pPr marL="0" indent="0" algn="just">
              <a:buNone/>
            </a:pPr>
            <a:r>
              <a:rPr lang="en-US" sz="2400">
                <a:latin typeface="Times New Roman" pitchFamily="18" charset="0"/>
                <a:cs typeface="Times New Roman" pitchFamily="18" charset="0"/>
              </a:rPr>
              <a:t>            Trong đó:</a:t>
            </a:r>
            <a:r>
              <a:rPr lang="vi-VN" sz="2400"/>
              <a:t> </a:t>
            </a:r>
            <a:r>
              <a:rPr lang="en-US" sz="2400" i="1" smtClean="0"/>
              <a:t>pointer </a:t>
            </a:r>
            <a:r>
              <a:rPr lang="en-US" sz="2400" smtClean="0"/>
              <a:t>là con trỏ cần giải phóng bộ nhớ</a:t>
            </a:r>
            <a:endParaRPr lang="en-US" sz="2400"/>
          </a:p>
          <a:p>
            <a:pPr algn="just"/>
            <a:r>
              <a:rPr lang="en-US" sz="2400" b="1" smtClean="0">
                <a:latin typeface="Times New Roman" pitchFamily="18" charset="0"/>
                <a:cs typeface="Times New Roman" pitchFamily="18" charset="0"/>
              </a:rPr>
              <a:t>Sử </a:t>
            </a:r>
            <a:r>
              <a:rPr lang="en-US" sz="2400" b="1">
                <a:latin typeface="Times New Roman" pitchFamily="18" charset="0"/>
                <a:cs typeface="Times New Roman" pitchFamily="18" charset="0"/>
              </a:rPr>
              <a:t>dụng: </a:t>
            </a:r>
            <a:r>
              <a:rPr lang="en-US" sz="2400">
                <a:latin typeface="Times New Roman" pitchFamily="18" charset="0"/>
                <a:cs typeface="Times New Roman" pitchFamily="18" charset="0"/>
              </a:rPr>
              <a:t>giống hàm malloc</a:t>
            </a:r>
          </a:p>
          <a:p>
            <a:pPr marL="0" indent="0" algn="just">
              <a:buNone/>
            </a:pPr>
            <a:r>
              <a:rPr lang="en-US" sz="2400" b="1">
                <a:latin typeface="Times New Roman" pitchFamily="18" charset="0"/>
                <a:cs typeface="Times New Roman" pitchFamily="18" charset="0"/>
              </a:rPr>
              <a:t>	</a:t>
            </a:r>
            <a:r>
              <a:rPr lang="en-US" sz="2400" u="sng">
                <a:latin typeface="Times New Roman" pitchFamily="18" charset="0"/>
                <a:cs typeface="Times New Roman" pitchFamily="18" charset="0"/>
              </a:rPr>
              <a:t>Ví dụ</a:t>
            </a:r>
            <a:r>
              <a:rPr lang="en-US" sz="2400">
                <a:latin typeface="Times New Roman" pitchFamily="18" charset="0"/>
                <a:cs typeface="Times New Roman" pitchFamily="18" charset="0"/>
              </a:rPr>
              <a:t>:</a:t>
            </a:r>
          </a:p>
          <a:p>
            <a:pPr lvl="1" algn="just">
              <a:buFont typeface="Wingdings" pitchFamily="2" charset="2"/>
              <a:buNone/>
            </a:pPr>
            <a:r>
              <a:rPr lang="en-US" sz="2400" b="1">
                <a:latin typeface="Times New Roman" pitchFamily="18" charset="0"/>
                <a:cs typeface="Times New Roman" pitchFamily="18" charset="0"/>
              </a:rPr>
              <a:t>			</a:t>
            </a:r>
            <a:r>
              <a:rPr lang="en-US" sz="2400"/>
              <a:t> int* my_array = (int*)</a:t>
            </a:r>
            <a:r>
              <a:rPr lang="en-US" sz="2400" smtClean="0"/>
              <a:t>malloc(10*sizeof(int));</a:t>
            </a:r>
          </a:p>
          <a:p>
            <a:pPr lvl="1" algn="just">
              <a:buFont typeface="Wingdings" pitchFamily="2" charset="2"/>
              <a:buNone/>
            </a:pPr>
            <a:r>
              <a:rPr lang="en-US" sz="2400" smtClean="0"/>
              <a:t>			 free(my_array</a:t>
            </a:r>
            <a:r>
              <a:rPr lang="en-US" sz="2400"/>
              <a:t>);</a:t>
            </a:r>
            <a:endParaRPr lang="en-US" sz="2400" b="1">
              <a:latin typeface="+mj-lt"/>
              <a:cs typeface="Times New Roman" pitchFamily="18" charset="0"/>
            </a:endParaRPr>
          </a:p>
        </p:txBody>
      </p:sp>
    </p:spTree>
    <p:extLst>
      <p:ext uri="{BB962C8B-B14F-4D97-AF65-F5344CB8AC3E}">
        <p14:creationId xmlns:p14="http://schemas.microsoft.com/office/powerpoint/2010/main" val="43195225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half" idx="11"/>
          </p:nvPr>
        </p:nvSpPr>
        <p:spPr/>
        <p:txBody>
          <a:bodyPr/>
          <a:lstStyle/>
          <a:p>
            <a:r>
              <a:rPr lang="en-US"/>
              <a:t>www.uit.edu.vn</a:t>
            </a:r>
          </a:p>
        </p:txBody>
      </p:sp>
      <p:sp>
        <p:nvSpPr>
          <p:cNvPr id="227330" name="Rectangle 2"/>
          <p:cNvSpPr>
            <a:spLocks noGrp="1" noChangeArrowheads="1"/>
          </p:cNvSpPr>
          <p:nvPr>
            <p:ph type="title"/>
          </p:nvPr>
        </p:nvSpPr>
        <p:spPr>
          <a:xfrm>
            <a:off x="866775" y="171450"/>
            <a:ext cx="7820025" cy="819150"/>
          </a:xfrm>
        </p:spPr>
        <p:txBody>
          <a:bodyPr>
            <a:noAutofit/>
          </a:bodyPr>
          <a:lstStyle/>
          <a:p>
            <a:r>
              <a:rPr lang="en-US"/>
              <a:t>Hàm free (C</a:t>
            </a:r>
            <a:r>
              <a:rPr lang="en-US" smtClean="0"/>
              <a:t>) – Mảng 1 chiều</a:t>
            </a:r>
            <a:endParaRPr lang="en-US"/>
          </a:p>
        </p:txBody>
      </p:sp>
      <p:sp>
        <p:nvSpPr>
          <p:cNvPr id="227331" name="Rectangle 3"/>
          <p:cNvSpPr>
            <a:spLocks noGrp="1" noChangeArrowheads="1"/>
          </p:cNvSpPr>
          <p:nvPr>
            <p:ph type="body" idx="1"/>
          </p:nvPr>
        </p:nvSpPr>
        <p:spPr>
          <a:xfrm>
            <a:off x="533400" y="1676400"/>
            <a:ext cx="8305800" cy="5029200"/>
          </a:xfrm>
        </p:spPr>
        <p:txBody>
          <a:bodyPr>
            <a:normAutofit/>
          </a:bodyPr>
          <a:lstStyle/>
          <a:p>
            <a:pPr marL="1347788" lvl="3" indent="0">
              <a:lnSpc>
                <a:spcPct val="80000"/>
              </a:lnSpc>
              <a:buFontTx/>
              <a:buNone/>
            </a:pPr>
            <a:r>
              <a:rPr lang="en-US" sz="3600" b="1" smtClean="0">
                <a:solidFill>
                  <a:srgbClr val="3347AD"/>
                </a:solidFill>
                <a:latin typeface="Times New Roman" pitchFamily="18" charset="0"/>
              </a:rPr>
              <a:t>a</a:t>
            </a:r>
            <a:r>
              <a:rPr lang="en-US" sz="3600" b="1" smtClean="0">
                <a:solidFill>
                  <a:srgbClr val="3347AD"/>
                </a:solidFill>
                <a:latin typeface="VNI-Times" pitchFamily="2" charset="0"/>
              </a:rPr>
              <a:t> </a:t>
            </a:r>
            <a:r>
              <a:rPr lang="en-US" sz="3600" b="1">
                <a:solidFill>
                  <a:srgbClr val="3347AD"/>
                </a:solidFill>
                <a:latin typeface="VNI-Times" pitchFamily="2" charset="0"/>
              </a:rPr>
              <a:t>= (</a:t>
            </a:r>
            <a:r>
              <a:rPr lang="en-US" sz="3600" b="1">
                <a:solidFill>
                  <a:srgbClr val="3347AD"/>
                </a:solidFill>
                <a:latin typeface="Times New Roman" pitchFamily="18" charset="0"/>
              </a:rPr>
              <a:t>int</a:t>
            </a:r>
            <a:r>
              <a:rPr lang="en-US" sz="3600" b="1">
                <a:solidFill>
                  <a:srgbClr val="3347AD"/>
                </a:solidFill>
                <a:latin typeface="VNI-Times" pitchFamily="2" charset="0"/>
              </a:rPr>
              <a:t> *)</a:t>
            </a:r>
            <a:r>
              <a:rPr lang="en-US" sz="3600" b="1">
                <a:solidFill>
                  <a:srgbClr val="3347AD"/>
                </a:solidFill>
                <a:latin typeface="Times New Roman" pitchFamily="18" charset="0"/>
              </a:rPr>
              <a:t>malloc</a:t>
            </a:r>
            <a:r>
              <a:rPr lang="en-US" sz="3600" b="1">
                <a:solidFill>
                  <a:srgbClr val="3347AD"/>
                </a:solidFill>
                <a:latin typeface="VNI-Times" pitchFamily="2" charset="0"/>
              </a:rPr>
              <a:t>(</a:t>
            </a:r>
            <a:r>
              <a:rPr lang="en-US" sz="3600" b="1">
                <a:solidFill>
                  <a:srgbClr val="3347AD"/>
                </a:solidFill>
                <a:latin typeface="Times New Roman" pitchFamily="18" charset="0"/>
              </a:rPr>
              <a:t>n</a:t>
            </a:r>
            <a:r>
              <a:rPr lang="en-US" sz="3600" b="1">
                <a:solidFill>
                  <a:srgbClr val="3347AD"/>
                </a:solidFill>
                <a:latin typeface="VNI-Times" pitchFamily="2" charset="0"/>
              </a:rPr>
              <a:t>*</a:t>
            </a:r>
            <a:r>
              <a:rPr lang="en-US" sz="3600" b="1">
                <a:solidFill>
                  <a:srgbClr val="3347AD"/>
                </a:solidFill>
                <a:latin typeface="Times New Roman" pitchFamily="18" charset="0"/>
              </a:rPr>
              <a:t>sizeof</a:t>
            </a:r>
            <a:r>
              <a:rPr lang="en-US" sz="3600" b="1">
                <a:solidFill>
                  <a:srgbClr val="3347AD"/>
                </a:solidFill>
                <a:latin typeface="VNI-Times" pitchFamily="2" charset="0"/>
              </a:rPr>
              <a:t>(</a:t>
            </a:r>
            <a:r>
              <a:rPr lang="en-US" sz="3600" b="1">
                <a:solidFill>
                  <a:srgbClr val="3347AD"/>
                </a:solidFill>
                <a:latin typeface="Times New Roman" pitchFamily="18" charset="0"/>
              </a:rPr>
              <a:t>int</a:t>
            </a:r>
            <a:r>
              <a:rPr lang="en-US" sz="3600" b="1">
                <a:solidFill>
                  <a:srgbClr val="3347AD"/>
                </a:solidFill>
                <a:latin typeface="VNI-Times" pitchFamily="2" charset="0"/>
              </a:rPr>
              <a:t>));</a:t>
            </a:r>
            <a:r>
              <a:rPr lang="en-US" sz="3600" b="1">
                <a:solidFill>
                  <a:srgbClr val="FFFF00"/>
                </a:solidFill>
                <a:latin typeface="VNI-Times" pitchFamily="2" charset="0"/>
              </a:rPr>
              <a:t> </a:t>
            </a:r>
          </a:p>
          <a:p>
            <a:pPr marL="1347788" lvl="3" indent="0">
              <a:lnSpc>
                <a:spcPct val="80000"/>
              </a:lnSpc>
              <a:buFontTx/>
              <a:buNone/>
            </a:pPr>
            <a:r>
              <a:rPr lang="en-US" sz="3200" i="1" smtClean="0">
                <a:latin typeface="VNI-Times" pitchFamily="2" charset="0"/>
              </a:rPr>
              <a:t>/* </a:t>
            </a:r>
            <a:r>
              <a:rPr lang="en-US" sz="3200" i="1">
                <a:latin typeface="Times New Roman" pitchFamily="18" charset="0"/>
              </a:rPr>
              <a:t>kiểm</a:t>
            </a:r>
            <a:r>
              <a:rPr lang="en-US" sz="3200" i="1">
                <a:latin typeface="VNI-Times" pitchFamily="2" charset="0"/>
              </a:rPr>
              <a:t> </a:t>
            </a:r>
            <a:r>
              <a:rPr lang="en-US" sz="3200" i="1">
                <a:latin typeface="Times New Roman" pitchFamily="18" charset="0"/>
              </a:rPr>
              <a:t>tra</a:t>
            </a:r>
            <a:r>
              <a:rPr lang="en-US" sz="3200" i="1">
                <a:latin typeface="VNI-Times" pitchFamily="2" charset="0"/>
              </a:rPr>
              <a:t> </a:t>
            </a:r>
            <a:r>
              <a:rPr lang="en-US" sz="3200" i="1">
                <a:latin typeface="Times New Roman" pitchFamily="18" charset="0"/>
              </a:rPr>
              <a:t>sự</a:t>
            </a:r>
            <a:r>
              <a:rPr lang="en-US" sz="3200" i="1">
                <a:latin typeface="VNI-Times" pitchFamily="2" charset="0"/>
              </a:rPr>
              <a:t> </a:t>
            </a:r>
            <a:r>
              <a:rPr lang="en-US" sz="3200" i="1">
                <a:latin typeface="Times New Roman" pitchFamily="18" charset="0"/>
              </a:rPr>
              <a:t>cấp</a:t>
            </a:r>
            <a:r>
              <a:rPr lang="en-US" sz="3200" i="1">
                <a:latin typeface="VNI-Times" pitchFamily="2" charset="0"/>
              </a:rPr>
              <a:t> </a:t>
            </a:r>
            <a:r>
              <a:rPr lang="en-US" sz="3200" i="1">
                <a:latin typeface="Times New Roman" pitchFamily="18" charset="0"/>
              </a:rPr>
              <a:t>phát</a:t>
            </a:r>
            <a:r>
              <a:rPr lang="en-US" sz="3200" i="1">
                <a:latin typeface="VNI-Times" pitchFamily="2" charset="0"/>
              </a:rPr>
              <a:t> </a:t>
            </a:r>
            <a:r>
              <a:rPr lang="en-US" sz="3200" i="1">
                <a:latin typeface="Times New Roman" pitchFamily="18" charset="0"/>
              </a:rPr>
              <a:t>thành</a:t>
            </a:r>
            <a:r>
              <a:rPr lang="en-US" sz="3200" i="1">
                <a:latin typeface="VNI-Times" pitchFamily="2" charset="0"/>
              </a:rPr>
              <a:t> </a:t>
            </a:r>
            <a:r>
              <a:rPr lang="en-US" sz="3200" i="1">
                <a:latin typeface="Times New Roman" pitchFamily="18" charset="0"/>
              </a:rPr>
              <a:t>công</a:t>
            </a:r>
            <a:r>
              <a:rPr lang="en-US" sz="3200" i="1">
                <a:latin typeface="VNI-Times" pitchFamily="2" charset="0"/>
              </a:rPr>
              <a:t> */</a:t>
            </a:r>
          </a:p>
          <a:p>
            <a:pPr marL="1347788" lvl="3" indent="0">
              <a:lnSpc>
                <a:spcPct val="80000"/>
              </a:lnSpc>
              <a:buFontTx/>
              <a:buNone/>
            </a:pPr>
            <a:r>
              <a:rPr lang="en-US" sz="3200" b="1" smtClean="0">
                <a:latin typeface="Times New Roman" pitchFamily="18" charset="0"/>
              </a:rPr>
              <a:t>if</a:t>
            </a:r>
            <a:r>
              <a:rPr lang="en-US" sz="3200" b="1" smtClean="0">
                <a:latin typeface="VNI-Times" pitchFamily="2" charset="0"/>
              </a:rPr>
              <a:t>(</a:t>
            </a:r>
            <a:r>
              <a:rPr lang="en-US" sz="3200" b="1" smtClean="0">
                <a:latin typeface="Times New Roman" pitchFamily="18" charset="0"/>
              </a:rPr>
              <a:t>a</a:t>
            </a:r>
            <a:r>
              <a:rPr lang="en-US" sz="3200" b="1">
                <a:latin typeface="VNI-Times" pitchFamily="2" charset="0"/>
              </a:rPr>
              <a:t>!=</a:t>
            </a:r>
            <a:r>
              <a:rPr lang="en-US" sz="3200" b="1">
                <a:latin typeface="Times New Roman" pitchFamily="18" charset="0"/>
              </a:rPr>
              <a:t>NULL</a:t>
            </a:r>
            <a:r>
              <a:rPr lang="en-US" sz="3200" b="1">
                <a:latin typeface="VNI-Times" pitchFamily="2" charset="0"/>
              </a:rPr>
              <a:t>) </a:t>
            </a:r>
            <a:endParaRPr lang="en-US" sz="3200">
              <a:latin typeface="VNI-Times" pitchFamily="2" charset="0"/>
            </a:endParaRPr>
          </a:p>
          <a:p>
            <a:pPr marL="1347788" lvl="3" indent="0">
              <a:lnSpc>
                <a:spcPct val="80000"/>
              </a:lnSpc>
              <a:buFontTx/>
              <a:buNone/>
            </a:pPr>
            <a:r>
              <a:rPr lang="en-US" sz="3200" b="1" smtClean="0">
                <a:latin typeface="VNI-Times" pitchFamily="2" charset="0"/>
              </a:rPr>
              <a:t>{ </a:t>
            </a:r>
            <a:endParaRPr lang="en-US" sz="3200">
              <a:latin typeface="VNI-Times" pitchFamily="2" charset="0"/>
            </a:endParaRPr>
          </a:p>
          <a:p>
            <a:pPr marL="1347788" lvl="3" indent="0">
              <a:lnSpc>
                <a:spcPct val="80000"/>
              </a:lnSpc>
              <a:buFontTx/>
              <a:buNone/>
            </a:pPr>
            <a:r>
              <a:rPr lang="en-US" sz="3200">
                <a:solidFill>
                  <a:srgbClr val="3399FF"/>
                </a:solidFill>
                <a:latin typeface="VNI-Times" pitchFamily="2" charset="0"/>
              </a:rPr>
              <a:t>	 </a:t>
            </a:r>
            <a:r>
              <a:rPr lang="en-US" sz="3200">
                <a:solidFill>
                  <a:srgbClr val="3399FF"/>
                </a:solidFill>
                <a:latin typeface="Times New Roman" pitchFamily="18" charset="0"/>
              </a:rPr>
              <a:t>…………</a:t>
            </a:r>
            <a:r>
              <a:rPr lang="en-US" sz="3200">
                <a:solidFill>
                  <a:srgbClr val="3399FF"/>
                </a:solidFill>
                <a:latin typeface="VNI-Times" pitchFamily="2" charset="0"/>
              </a:rPr>
              <a:t>.</a:t>
            </a:r>
          </a:p>
          <a:p>
            <a:pPr marL="1347788" lvl="3" indent="0">
              <a:lnSpc>
                <a:spcPct val="80000"/>
              </a:lnSpc>
              <a:buFontTx/>
              <a:buNone/>
            </a:pPr>
            <a:r>
              <a:rPr lang="en-US" sz="3200">
                <a:latin typeface="VNI-Times" pitchFamily="2" charset="0"/>
              </a:rPr>
              <a:t>	  </a:t>
            </a:r>
            <a:r>
              <a:rPr lang="en-US" sz="3200" b="1">
                <a:latin typeface="VNI-Times" pitchFamily="2" charset="0"/>
              </a:rPr>
              <a:t> </a:t>
            </a:r>
            <a:r>
              <a:rPr lang="en-US" sz="3200" b="1">
                <a:latin typeface="Times New Roman" pitchFamily="18" charset="0"/>
              </a:rPr>
              <a:t>free</a:t>
            </a:r>
            <a:r>
              <a:rPr lang="en-US" sz="3200" b="1">
                <a:latin typeface="VNI-Times" pitchFamily="2" charset="0"/>
              </a:rPr>
              <a:t>(</a:t>
            </a:r>
            <a:r>
              <a:rPr lang="en-US" sz="3200" b="1">
                <a:latin typeface="Times New Roman" pitchFamily="18" charset="0"/>
              </a:rPr>
              <a:t>a</a:t>
            </a:r>
            <a:r>
              <a:rPr lang="en-US" sz="3200" b="1">
                <a:latin typeface="VNI-Times" pitchFamily="2" charset="0"/>
              </a:rPr>
              <a:t>);</a:t>
            </a:r>
            <a:endParaRPr lang="en-US" sz="3200">
              <a:latin typeface="VNI-Times" pitchFamily="2" charset="0"/>
            </a:endParaRPr>
          </a:p>
          <a:p>
            <a:pPr marL="1347788" lvl="3" indent="0">
              <a:lnSpc>
                <a:spcPct val="80000"/>
              </a:lnSpc>
              <a:buFontTx/>
              <a:buNone/>
            </a:pPr>
            <a:r>
              <a:rPr lang="en-US" sz="3200" smtClean="0">
                <a:latin typeface="VNI-Times" pitchFamily="2" charset="0"/>
              </a:rPr>
              <a:t>}</a:t>
            </a:r>
            <a:endParaRPr lang="en-US" sz="3200">
              <a:latin typeface="VNI-Times" pitchFamily="2"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p:cNvSpPr>
            <a:spLocks noGrp="1"/>
          </p:cNvSpPr>
          <p:nvPr>
            <p:ph type="dt" sz="half" idx="11"/>
          </p:nvPr>
        </p:nvSpPr>
        <p:spPr/>
        <p:txBody>
          <a:bodyPr/>
          <a:lstStyle/>
          <a:p>
            <a:r>
              <a:rPr lang="en-US"/>
              <a:t>www.uit.edu.vn</a:t>
            </a:r>
          </a:p>
        </p:txBody>
      </p:sp>
      <p:sp>
        <p:nvSpPr>
          <p:cNvPr id="228355" name="Rectangle 3"/>
          <p:cNvSpPr>
            <a:spLocks noGrp="1" noChangeArrowheads="1"/>
          </p:cNvSpPr>
          <p:nvPr>
            <p:ph type="body" idx="1"/>
          </p:nvPr>
        </p:nvSpPr>
        <p:spPr>
          <a:xfrm>
            <a:off x="211138" y="2057400"/>
            <a:ext cx="5122862" cy="4038600"/>
          </a:xfrm>
          <a:noFill/>
          <a:ln>
            <a:solidFill>
              <a:srgbClr val="FFFF00"/>
            </a:solidFill>
          </a:ln>
        </p:spPr>
        <p:txBody>
          <a:bodyPr>
            <a:normAutofit lnSpcReduction="10000"/>
          </a:bodyPr>
          <a:lstStyle/>
          <a:p>
            <a:pPr>
              <a:lnSpc>
                <a:spcPct val="80000"/>
              </a:lnSpc>
              <a:buFont typeface="Wingdings" pitchFamily="2" charset="2"/>
              <a:buNone/>
            </a:pPr>
            <a:r>
              <a:rPr lang="en-US" sz="2400" i="1">
                <a:latin typeface="VNI-Times" pitchFamily="2" charset="0"/>
              </a:rPr>
              <a:t>/* </a:t>
            </a:r>
            <a:r>
              <a:rPr lang="en-US" sz="2400" i="1">
                <a:latin typeface="Times New Roman" pitchFamily="18" charset="0"/>
              </a:rPr>
              <a:t>kiểm</a:t>
            </a:r>
            <a:r>
              <a:rPr lang="en-US" sz="2400" i="1">
                <a:latin typeface="VNI-Times" pitchFamily="2" charset="0"/>
              </a:rPr>
              <a:t> </a:t>
            </a:r>
            <a:r>
              <a:rPr lang="en-US" sz="2400" i="1">
                <a:latin typeface="Times New Roman" pitchFamily="18" charset="0"/>
              </a:rPr>
              <a:t>tra</a:t>
            </a:r>
            <a:r>
              <a:rPr lang="en-US" sz="2400" i="1">
                <a:latin typeface="VNI-Times" pitchFamily="2" charset="0"/>
              </a:rPr>
              <a:t> </a:t>
            </a:r>
            <a:r>
              <a:rPr lang="en-US" sz="2400" i="1">
                <a:latin typeface="Times New Roman" pitchFamily="18" charset="0"/>
              </a:rPr>
              <a:t>sự</a:t>
            </a:r>
            <a:r>
              <a:rPr lang="en-US" sz="2400" i="1">
                <a:latin typeface="VNI-Times" pitchFamily="2" charset="0"/>
              </a:rPr>
              <a:t> </a:t>
            </a:r>
            <a:r>
              <a:rPr lang="en-US" sz="2400" i="1">
                <a:latin typeface="Times New Roman" pitchFamily="18" charset="0"/>
              </a:rPr>
              <a:t>cấp</a:t>
            </a:r>
            <a:r>
              <a:rPr lang="en-US" sz="2400" i="1">
                <a:latin typeface="VNI-Times" pitchFamily="2" charset="0"/>
              </a:rPr>
              <a:t> </a:t>
            </a:r>
            <a:r>
              <a:rPr lang="en-US" sz="2400" i="1">
                <a:latin typeface="Times New Roman" pitchFamily="18" charset="0"/>
              </a:rPr>
              <a:t>phát</a:t>
            </a:r>
            <a:r>
              <a:rPr lang="en-US" sz="2400" i="1">
                <a:latin typeface="VNI-Times" pitchFamily="2" charset="0"/>
              </a:rPr>
              <a:t> </a:t>
            </a:r>
            <a:r>
              <a:rPr lang="en-US" sz="2400" i="1">
                <a:latin typeface="Times New Roman" pitchFamily="18" charset="0"/>
              </a:rPr>
              <a:t>thành</a:t>
            </a:r>
            <a:r>
              <a:rPr lang="en-US" sz="2400" i="1">
                <a:latin typeface="VNI-Times" pitchFamily="2" charset="0"/>
              </a:rPr>
              <a:t> </a:t>
            </a:r>
            <a:r>
              <a:rPr lang="en-US" sz="2400" i="1">
                <a:latin typeface="Times New Roman" pitchFamily="18" charset="0"/>
              </a:rPr>
              <a:t>công</a:t>
            </a:r>
            <a:r>
              <a:rPr lang="en-US" sz="2400" i="1">
                <a:latin typeface="VNI-Times" pitchFamily="2" charset="0"/>
              </a:rPr>
              <a:t> */</a:t>
            </a:r>
            <a:endParaRPr lang="en-US" sz="2400">
              <a:latin typeface="VNI-Times" pitchFamily="2" charset="0"/>
            </a:endParaRPr>
          </a:p>
          <a:p>
            <a:pPr>
              <a:lnSpc>
                <a:spcPct val="80000"/>
              </a:lnSpc>
              <a:buFont typeface="Wingdings" pitchFamily="2" charset="2"/>
              <a:buNone/>
            </a:pPr>
            <a:r>
              <a:rPr lang="en-US" sz="2400">
                <a:latin typeface="VNI-Times" pitchFamily="2" charset="0"/>
              </a:rPr>
              <a:t>	</a:t>
            </a:r>
            <a:r>
              <a:rPr lang="en-US" sz="2400" b="1">
                <a:solidFill>
                  <a:srgbClr val="3347AD"/>
                </a:solidFill>
                <a:latin typeface="Times New Roman" pitchFamily="18" charset="0"/>
              </a:rPr>
              <a:t>if</a:t>
            </a:r>
            <a:r>
              <a:rPr lang="en-US" sz="2400" b="1">
                <a:solidFill>
                  <a:srgbClr val="3347AD"/>
                </a:solidFill>
                <a:latin typeface="VNI-Times" pitchFamily="2" charset="0"/>
              </a:rPr>
              <a:t>(</a:t>
            </a:r>
            <a:r>
              <a:rPr lang="en-US" sz="2400" b="1">
                <a:solidFill>
                  <a:srgbClr val="3347AD"/>
                </a:solidFill>
                <a:latin typeface="Times New Roman" pitchFamily="18" charset="0"/>
              </a:rPr>
              <a:t>a</a:t>
            </a:r>
            <a:r>
              <a:rPr lang="en-US" sz="2400" b="1">
                <a:solidFill>
                  <a:srgbClr val="3347AD"/>
                </a:solidFill>
                <a:latin typeface="VNI-Times" pitchFamily="2" charset="0"/>
              </a:rPr>
              <a:t>!=</a:t>
            </a:r>
            <a:r>
              <a:rPr lang="en-US" sz="2400" b="1">
                <a:solidFill>
                  <a:srgbClr val="3347AD"/>
                </a:solidFill>
                <a:latin typeface="Times New Roman" pitchFamily="18" charset="0"/>
              </a:rPr>
              <a:t>NULL</a:t>
            </a:r>
            <a:r>
              <a:rPr lang="en-US" sz="2400" b="1">
                <a:solidFill>
                  <a:srgbClr val="3347AD"/>
                </a:solidFill>
                <a:latin typeface="VNI-Times" pitchFamily="2" charset="0"/>
              </a:rPr>
              <a:t>) </a:t>
            </a:r>
          </a:p>
          <a:p>
            <a:pPr>
              <a:lnSpc>
                <a:spcPct val="80000"/>
              </a:lnSpc>
              <a:buFont typeface="Wingdings" pitchFamily="2" charset="2"/>
              <a:buNone/>
            </a:pPr>
            <a:r>
              <a:rPr lang="en-US" sz="2400" b="1">
                <a:solidFill>
                  <a:srgbClr val="3347AD"/>
                </a:solidFill>
                <a:latin typeface="VNI-Times" pitchFamily="2" charset="0"/>
              </a:rPr>
              <a:t>	{ </a:t>
            </a:r>
            <a:r>
              <a:rPr lang="en-US" sz="2400" b="1">
                <a:solidFill>
                  <a:srgbClr val="3347AD"/>
                </a:solidFill>
                <a:latin typeface="Times New Roman" pitchFamily="18" charset="0"/>
              </a:rPr>
              <a:t>kt</a:t>
            </a:r>
            <a:r>
              <a:rPr lang="en-US" sz="2400" b="1">
                <a:solidFill>
                  <a:srgbClr val="3347AD"/>
                </a:solidFill>
                <a:latin typeface="VNI-Times" pitchFamily="2" charset="0"/>
              </a:rPr>
              <a:t>=0;</a:t>
            </a:r>
          </a:p>
          <a:p>
            <a:pPr>
              <a:lnSpc>
                <a:spcPct val="80000"/>
              </a:lnSpc>
              <a:buFont typeface="Wingdings" pitchFamily="2" charset="2"/>
              <a:buNone/>
            </a:pPr>
            <a:r>
              <a:rPr lang="en-US" sz="2400" b="1">
                <a:solidFill>
                  <a:srgbClr val="3347AD"/>
                </a:solidFill>
                <a:latin typeface="VNI-Times" pitchFamily="2" charset="0"/>
              </a:rPr>
              <a:t>       </a:t>
            </a:r>
            <a:r>
              <a:rPr lang="en-US" sz="2400" b="1">
                <a:solidFill>
                  <a:srgbClr val="3347AD"/>
                </a:solidFill>
                <a:latin typeface="Times New Roman" pitchFamily="18" charset="0"/>
              </a:rPr>
              <a:t>for</a:t>
            </a:r>
            <a:r>
              <a:rPr lang="en-US" sz="2400" b="1">
                <a:solidFill>
                  <a:srgbClr val="3347AD"/>
                </a:solidFill>
                <a:latin typeface="VNI-Times" pitchFamily="2" charset="0"/>
              </a:rPr>
              <a:t>(</a:t>
            </a:r>
            <a:r>
              <a:rPr lang="en-US" sz="2400" b="1">
                <a:solidFill>
                  <a:srgbClr val="3347AD"/>
                </a:solidFill>
                <a:latin typeface="Times New Roman" pitchFamily="18" charset="0"/>
              </a:rPr>
              <a:t>i</a:t>
            </a:r>
            <a:r>
              <a:rPr lang="en-US" sz="2400" b="1">
                <a:solidFill>
                  <a:srgbClr val="3347AD"/>
                </a:solidFill>
                <a:latin typeface="VNI-Times" pitchFamily="2" charset="0"/>
              </a:rPr>
              <a:t>=0;</a:t>
            </a:r>
            <a:r>
              <a:rPr lang="en-US" sz="2400" b="1">
                <a:solidFill>
                  <a:srgbClr val="3347AD"/>
                </a:solidFill>
                <a:latin typeface="Times New Roman" pitchFamily="18" charset="0"/>
              </a:rPr>
              <a:t>i</a:t>
            </a:r>
            <a:r>
              <a:rPr lang="en-US" sz="2400" b="1">
                <a:solidFill>
                  <a:srgbClr val="3347AD"/>
                </a:solidFill>
                <a:latin typeface="VNI-Times" pitchFamily="2" charset="0"/>
              </a:rPr>
              <a:t>&lt;</a:t>
            </a:r>
            <a:r>
              <a:rPr lang="en-US" sz="2400" b="1">
                <a:solidFill>
                  <a:srgbClr val="3347AD"/>
                </a:solidFill>
                <a:latin typeface="Times New Roman" pitchFamily="18" charset="0"/>
              </a:rPr>
              <a:t>m</a:t>
            </a:r>
            <a:r>
              <a:rPr lang="en-US" sz="2400" b="1">
                <a:solidFill>
                  <a:srgbClr val="3347AD"/>
                </a:solidFill>
                <a:latin typeface="VNI-Times" pitchFamily="2" charset="0"/>
              </a:rPr>
              <a:t>;</a:t>
            </a:r>
            <a:r>
              <a:rPr lang="en-US" sz="2400" b="1">
                <a:solidFill>
                  <a:srgbClr val="3347AD"/>
                </a:solidFill>
                <a:latin typeface="Times New Roman" pitchFamily="18" charset="0"/>
              </a:rPr>
              <a:t>i</a:t>
            </a:r>
            <a:r>
              <a:rPr lang="en-US" sz="2400" b="1">
                <a:solidFill>
                  <a:srgbClr val="3347AD"/>
                </a:solidFill>
                <a:latin typeface="VNI-Times" pitchFamily="2" charset="0"/>
              </a:rPr>
              <a:t>++)</a:t>
            </a:r>
          </a:p>
          <a:p>
            <a:pPr>
              <a:lnSpc>
                <a:spcPct val="80000"/>
              </a:lnSpc>
              <a:buFont typeface="Wingdings" pitchFamily="2" charset="2"/>
              <a:buNone/>
            </a:pPr>
            <a:r>
              <a:rPr lang="en-US" sz="2400" b="1">
                <a:solidFill>
                  <a:srgbClr val="3347AD"/>
                </a:solidFill>
                <a:latin typeface="VNI-Times" pitchFamily="2" charset="0"/>
              </a:rPr>
              <a:t>	      </a:t>
            </a:r>
            <a:r>
              <a:rPr lang="en-US" sz="2400" b="1">
                <a:solidFill>
                  <a:srgbClr val="3347AD"/>
                </a:solidFill>
                <a:latin typeface="Times New Roman" pitchFamily="18" charset="0"/>
              </a:rPr>
              <a:t>a</a:t>
            </a:r>
            <a:r>
              <a:rPr lang="en-US" sz="2400" b="1">
                <a:solidFill>
                  <a:srgbClr val="3347AD"/>
                </a:solidFill>
                <a:latin typeface="VNI-Times" pitchFamily="2" charset="0"/>
              </a:rPr>
              <a:t>[</a:t>
            </a:r>
            <a:r>
              <a:rPr lang="en-US" sz="2400" b="1">
                <a:solidFill>
                  <a:srgbClr val="3347AD"/>
                </a:solidFill>
                <a:latin typeface="Times New Roman" pitchFamily="18" charset="0"/>
              </a:rPr>
              <a:t>i</a:t>
            </a:r>
            <a:r>
              <a:rPr lang="en-US" sz="2400" b="1">
                <a:solidFill>
                  <a:srgbClr val="3347AD"/>
                </a:solidFill>
                <a:latin typeface="VNI-Times" pitchFamily="2" charset="0"/>
              </a:rPr>
              <a:t>]=</a:t>
            </a:r>
            <a:r>
              <a:rPr lang="en-US" sz="2400" b="1">
                <a:solidFill>
                  <a:srgbClr val="3347AD"/>
                </a:solidFill>
                <a:latin typeface="Times New Roman" pitchFamily="18" charset="0"/>
              </a:rPr>
              <a:t>NULL</a:t>
            </a:r>
            <a:r>
              <a:rPr lang="en-US" sz="2400" b="1">
                <a:solidFill>
                  <a:srgbClr val="3347AD"/>
                </a:solidFill>
                <a:latin typeface="VNI-Times" pitchFamily="2" charset="0"/>
              </a:rPr>
              <a:t>;</a:t>
            </a:r>
          </a:p>
          <a:p>
            <a:pPr>
              <a:lnSpc>
                <a:spcPct val="80000"/>
              </a:lnSpc>
              <a:buFont typeface="Wingdings" pitchFamily="2" charset="2"/>
              <a:buNone/>
            </a:pPr>
            <a:r>
              <a:rPr lang="en-US" sz="2400" b="1">
                <a:solidFill>
                  <a:srgbClr val="3347AD"/>
                </a:solidFill>
                <a:latin typeface="VNI-Times" pitchFamily="2" charset="0"/>
              </a:rPr>
              <a:t>	  </a:t>
            </a:r>
            <a:r>
              <a:rPr lang="en-US" sz="2400" b="1">
                <a:solidFill>
                  <a:srgbClr val="3347AD"/>
                </a:solidFill>
                <a:latin typeface="Times New Roman" pitchFamily="18" charset="0"/>
              </a:rPr>
              <a:t>for</a:t>
            </a:r>
            <a:r>
              <a:rPr lang="en-US" sz="2400" b="1">
                <a:solidFill>
                  <a:srgbClr val="3347AD"/>
                </a:solidFill>
                <a:latin typeface="VNI-Times" pitchFamily="2" charset="0"/>
              </a:rPr>
              <a:t>(</a:t>
            </a:r>
            <a:r>
              <a:rPr lang="en-US" sz="2400" b="1">
                <a:solidFill>
                  <a:srgbClr val="3347AD"/>
                </a:solidFill>
                <a:latin typeface="Times New Roman" pitchFamily="18" charset="0"/>
              </a:rPr>
              <a:t>i</a:t>
            </a:r>
            <a:r>
              <a:rPr lang="en-US" sz="2400" b="1">
                <a:solidFill>
                  <a:srgbClr val="3347AD"/>
                </a:solidFill>
                <a:latin typeface="VNI-Times" pitchFamily="2" charset="0"/>
              </a:rPr>
              <a:t>=0;</a:t>
            </a:r>
            <a:r>
              <a:rPr lang="en-US" sz="2400" b="1">
                <a:solidFill>
                  <a:srgbClr val="3347AD"/>
                </a:solidFill>
                <a:latin typeface="Times New Roman" pitchFamily="18" charset="0"/>
              </a:rPr>
              <a:t>i</a:t>
            </a:r>
            <a:r>
              <a:rPr lang="en-US" sz="2400" b="1">
                <a:solidFill>
                  <a:srgbClr val="3347AD"/>
                </a:solidFill>
                <a:latin typeface="VNI-Times" pitchFamily="2" charset="0"/>
              </a:rPr>
              <a:t>&lt;</a:t>
            </a:r>
            <a:r>
              <a:rPr lang="en-US" sz="2400" b="1">
                <a:solidFill>
                  <a:srgbClr val="3347AD"/>
                </a:solidFill>
                <a:latin typeface="Times New Roman" pitchFamily="18" charset="0"/>
              </a:rPr>
              <a:t>m</a:t>
            </a:r>
            <a:r>
              <a:rPr lang="en-US" sz="2400" b="1">
                <a:solidFill>
                  <a:srgbClr val="3347AD"/>
                </a:solidFill>
                <a:latin typeface="VNI-Times" pitchFamily="2" charset="0"/>
              </a:rPr>
              <a:t>;</a:t>
            </a:r>
            <a:r>
              <a:rPr lang="en-US" sz="2400" b="1">
                <a:solidFill>
                  <a:srgbClr val="3347AD"/>
                </a:solidFill>
                <a:latin typeface="Times New Roman" pitchFamily="18" charset="0"/>
              </a:rPr>
              <a:t>i</a:t>
            </a:r>
            <a:r>
              <a:rPr lang="en-US" sz="2400" b="1">
                <a:solidFill>
                  <a:srgbClr val="3347AD"/>
                </a:solidFill>
                <a:latin typeface="VNI-Times" pitchFamily="2" charset="0"/>
              </a:rPr>
              <a:t>++)</a:t>
            </a:r>
          </a:p>
          <a:p>
            <a:pPr>
              <a:lnSpc>
                <a:spcPct val="80000"/>
              </a:lnSpc>
              <a:buFont typeface="Wingdings" pitchFamily="2" charset="2"/>
              <a:buNone/>
            </a:pPr>
            <a:r>
              <a:rPr lang="en-US" sz="2400" b="1">
                <a:solidFill>
                  <a:srgbClr val="3347AD"/>
                </a:solidFill>
                <a:latin typeface="VNI-Times" pitchFamily="2" charset="0"/>
              </a:rPr>
              <a:t>	   { </a:t>
            </a:r>
            <a:r>
              <a:rPr lang="en-US" sz="2400" b="1">
                <a:solidFill>
                  <a:srgbClr val="3347AD"/>
                </a:solidFill>
                <a:latin typeface="Times New Roman" pitchFamily="18" charset="0"/>
              </a:rPr>
              <a:t>if</a:t>
            </a:r>
            <a:r>
              <a:rPr lang="en-US" sz="2400" b="1">
                <a:solidFill>
                  <a:srgbClr val="3347AD"/>
                </a:solidFill>
                <a:latin typeface="VNI-Times" pitchFamily="2" charset="0"/>
              </a:rPr>
              <a:t>(</a:t>
            </a:r>
            <a:r>
              <a:rPr lang="en-US" sz="2400" b="1">
                <a:solidFill>
                  <a:srgbClr val="3347AD"/>
                </a:solidFill>
                <a:latin typeface="Times New Roman" pitchFamily="18" charset="0"/>
              </a:rPr>
              <a:t>kt</a:t>
            </a:r>
            <a:r>
              <a:rPr lang="en-US" sz="2400" b="1">
                <a:solidFill>
                  <a:srgbClr val="3347AD"/>
                </a:solidFill>
                <a:latin typeface="VNI-Times" pitchFamily="2" charset="0"/>
              </a:rPr>
              <a:t>==1) </a:t>
            </a:r>
            <a:r>
              <a:rPr lang="en-US" sz="2400" b="1">
                <a:solidFill>
                  <a:srgbClr val="3347AD"/>
                </a:solidFill>
                <a:latin typeface="Times New Roman" pitchFamily="18" charset="0"/>
              </a:rPr>
              <a:t>break</a:t>
            </a:r>
            <a:r>
              <a:rPr lang="en-US" sz="2400" b="1">
                <a:solidFill>
                  <a:srgbClr val="3347AD"/>
                </a:solidFill>
                <a:latin typeface="VNI-Times" pitchFamily="2" charset="0"/>
              </a:rPr>
              <a:t>;</a:t>
            </a:r>
          </a:p>
          <a:p>
            <a:pPr>
              <a:lnSpc>
                <a:spcPct val="80000"/>
              </a:lnSpc>
              <a:buFont typeface="Wingdings" pitchFamily="2" charset="2"/>
              <a:buNone/>
            </a:pPr>
            <a:r>
              <a:rPr lang="en-US" sz="2400" b="1">
                <a:solidFill>
                  <a:srgbClr val="3347AD"/>
                </a:solidFill>
                <a:latin typeface="VNI-Times" pitchFamily="2" charset="0"/>
              </a:rPr>
              <a:t>	    </a:t>
            </a:r>
            <a:r>
              <a:rPr lang="en-US" sz="2400" b="1">
                <a:solidFill>
                  <a:srgbClr val="3347AD"/>
                </a:solidFill>
                <a:latin typeface="Times New Roman" pitchFamily="18" charset="0"/>
              </a:rPr>
              <a:t>a</a:t>
            </a:r>
            <a:r>
              <a:rPr lang="en-US" sz="2400" b="1">
                <a:solidFill>
                  <a:srgbClr val="3347AD"/>
                </a:solidFill>
                <a:latin typeface="VNI-Times" pitchFamily="2" charset="0"/>
              </a:rPr>
              <a:t>[</a:t>
            </a:r>
            <a:r>
              <a:rPr lang="en-US" sz="2400" b="1">
                <a:solidFill>
                  <a:srgbClr val="3347AD"/>
                </a:solidFill>
                <a:latin typeface="Times New Roman" pitchFamily="18" charset="0"/>
              </a:rPr>
              <a:t>i</a:t>
            </a:r>
            <a:r>
              <a:rPr lang="en-US" sz="2400" b="1">
                <a:solidFill>
                  <a:srgbClr val="3347AD"/>
                </a:solidFill>
                <a:latin typeface="VNI-Times" pitchFamily="2" charset="0"/>
              </a:rPr>
              <a:t>]=(</a:t>
            </a:r>
            <a:r>
              <a:rPr lang="en-US" sz="2400" b="1">
                <a:solidFill>
                  <a:srgbClr val="3347AD"/>
                </a:solidFill>
                <a:latin typeface="Times New Roman" pitchFamily="18" charset="0"/>
              </a:rPr>
              <a:t>int</a:t>
            </a:r>
            <a:r>
              <a:rPr lang="en-US" sz="2400" b="1">
                <a:solidFill>
                  <a:srgbClr val="3347AD"/>
                </a:solidFill>
                <a:latin typeface="VNI-Times" pitchFamily="2" charset="0"/>
              </a:rPr>
              <a:t> *)</a:t>
            </a:r>
            <a:r>
              <a:rPr lang="en-US" sz="2400" b="1">
                <a:solidFill>
                  <a:srgbClr val="3347AD"/>
                </a:solidFill>
                <a:latin typeface="Times New Roman" pitchFamily="18" charset="0"/>
              </a:rPr>
              <a:t>malloc</a:t>
            </a:r>
            <a:r>
              <a:rPr lang="en-US" sz="2400" b="1">
                <a:solidFill>
                  <a:srgbClr val="3347AD"/>
                </a:solidFill>
                <a:latin typeface="VNI-Times" pitchFamily="2" charset="0"/>
              </a:rPr>
              <a:t>(</a:t>
            </a:r>
            <a:r>
              <a:rPr lang="en-US" sz="2400" b="1">
                <a:solidFill>
                  <a:srgbClr val="3347AD"/>
                </a:solidFill>
                <a:latin typeface="Times New Roman" pitchFamily="18" charset="0"/>
              </a:rPr>
              <a:t>n</a:t>
            </a:r>
            <a:r>
              <a:rPr lang="en-US" sz="2400" b="1">
                <a:solidFill>
                  <a:srgbClr val="3347AD"/>
                </a:solidFill>
                <a:latin typeface="VNI-Times" pitchFamily="2" charset="0"/>
              </a:rPr>
              <a:t>*</a:t>
            </a:r>
            <a:r>
              <a:rPr lang="en-US" sz="2400" b="1">
                <a:solidFill>
                  <a:srgbClr val="3347AD"/>
                </a:solidFill>
                <a:latin typeface="Times New Roman" pitchFamily="18" charset="0"/>
              </a:rPr>
              <a:t>sizeof</a:t>
            </a:r>
            <a:r>
              <a:rPr lang="en-US" sz="2400" b="1">
                <a:solidFill>
                  <a:srgbClr val="3347AD"/>
                </a:solidFill>
                <a:latin typeface="VNI-Times" pitchFamily="2" charset="0"/>
              </a:rPr>
              <a:t>(</a:t>
            </a:r>
            <a:r>
              <a:rPr lang="en-US" sz="2400" b="1">
                <a:solidFill>
                  <a:srgbClr val="3347AD"/>
                </a:solidFill>
                <a:latin typeface="Times New Roman" pitchFamily="18" charset="0"/>
              </a:rPr>
              <a:t>int</a:t>
            </a:r>
            <a:r>
              <a:rPr lang="en-US" sz="2400" b="1">
                <a:solidFill>
                  <a:srgbClr val="3347AD"/>
                </a:solidFill>
                <a:latin typeface="VNI-Times" pitchFamily="2" charset="0"/>
              </a:rPr>
              <a:t>));</a:t>
            </a:r>
          </a:p>
          <a:p>
            <a:pPr>
              <a:lnSpc>
                <a:spcPct val="80000"/>
              </a:lnSpc>
              <a:buFont typeface="Wingdings" pitchFamily="2" charset="2"/>
              <a:buNone/>
            </a:pPr>
            <a:r>
              <a:rPr lang="en-US" sz="2400" b="1">
                <a:solidFill>
                  <a:srgbClr val="3347AD"/>
                </a:solidFill>
                <a:latin typeface="VNI-Times" pitchFamily="2" charset="0"/>
              </a:rPr>
              <a:t>		   </a:t>
            </a:r>
            <a:r>
              <a:rPr lang="en-US" sz="2400" b="1">
                <a:solidFill>
                  <a:srgbClr val="3347AD"/>
                </a:solidFill>
                <a:latin typeface="Times New Roman" pitchFamily="18" charset="0"/>
              </a:rPr>
              <a:t>if</a:t>
            </a:r>
            <a:r>
              <a:rPr lang="en-US" sz="2400" b="1">
                <a:solidFill>
                  <a:srgbClr val="3347AD"/>
                </a:solidFill>
                <a:latin typeface="VNI-Times" pitchFamily="2" charset="0"/>
              </a:rPr>
              <a:t>(</a:t>
            </a:r>
            <a:r>
              <a:rPr lang="en-US" sz="2400" b="1">
                <a:solidFill>
                  <a:srgbClr val="3347AD"/>
                </a:solidFill>
                <a:latin typeface="Times New Roman" pitchFamily="18" charset="0"/>
              </a:rPr>
              <a:t>a</a:t>
            </a:r>
            <a:r>
              <a:rPr lang="en-US" sz="2400" b="1">
                <a:solidFill>
                  <a:srgbClr val="3347AD"/>
                </a:solidFill>
                <a:latin typeface="VNI-Times" pitchFamily="2" charset="0"/>
              </a:rPr>
              <a:t>[</a:t>
            </a:r>
            <a:r>
              <a:rPr lang="en-US" sz="2400" b="1">
                <a:solidFill>
                  <a:srgbClr val="3347AD"/>
                </a:solidFill>
                <a:latin typeface="Times New Roman" pitchFamily="18" charset="0"/>
              </a:rPr>
              <a:t>i</a:t>
            </a:r>
            <a:r>
              <a:rPr lang="en-US" sz="2400" b="1">
                <a:solidFill>
                  <a:srgbClr val="3347AD"/>
                </a:solidFill>
                <a:latin typeface="VNI-Times" pitchFamily="2" charset="0"/>
              </a:rPr>
              <a:t>]==</a:t>
            </a:r>
            <a:r>
              <a:rPr lang="en-US" sz="2400" b="1">
                <a:solidFill>
                  <a:srgbClr val="3347AD"/>
                </a:solidFill>
                <a:latin typeface="Times New Roman" pitchFamily="18" charset="0"/>
              </a:rPr>
              <a:t>NULL</a:t>
            </a:r>
            <a:r>
              <a:rPr lang="en-US" sz="2400" b="1">
                <a:solidFill>
                  <a:srgbClr val="3347AD"/>
                </a:solidFill>
                <a:latin typeface="VNI-Times" pitchFamily="2" charset="0"/>
              </a:rPr>
              <a:t>) </a:t>
            </a:r>
            <a:r>
              <a:rPr lang="en-US" sz="2400" b="1">
                <a:solidFill>
                  <a:srgbClr val="3347AD"/>
                </a:solidFill>
                <a:latin typeface="Times New Roman" pitchFamily="18" charset="0"/>
              </a:rPr>
              <a:t>kt</a:t>
            </a:r>
            <a:r>
              <a:rPr lang="en-US" sz="2400" b="1">
                <a:solidFill>
                  <a:srgbClr val="3347AD"/>
                </a:solidFill>
                <a:latin typeface="VNI-Times" pitchFamily="2" charset="0"/>
              </a:rPr>
              <a:t>=1;</a:t>
            </a:r>
          </a:p>
          <a:p>
            <a:pPr>
              <a:lnSpc>
                <a:spcPct val="80000"/>
              </a:lnSpc>
              <a:buFont typeface="Wingdings" pitchFamily="2" charset="2"/>
              <a:buNone/>
            </a:pPr>
            <a:r>
              <a:rPr lang="en-US" sz="2400" b="1">
                <a:solidFill>
                  <a:srgbClr val="3347AD"/>
                </a:solidFill>
                <a:latin typeface="VNI-Times" pitchFamily="2" charset="0"/>
              </a:rPr>
              <a:t>		}</a:t>
            </a:r>
          </a:p>
          <a:p>
            <a:pPr>
              <a:lnSpc>
                <a:spcPct val="80000"/>
              </a:lnSpc>
              <a:buFont typeface="Wingdings" pitchFamily="2" charset="2"/>
              <a:buNone/>
            </a:pPr>
            <a:r>
              <a:rPr lang="en-US" sz="2400" b="1">
                <a:solidFill>
                  <a:srgbClr val="3347AD"/>
                </a:solidFill>
                <a:latin typeface="VNI-Times" pitchFamily="2" charset="0"/>
              </a:rPr>
              <a:t>	</a:t>
            </a:r>
          </a:p>
        </p:txBody>
      </p:sp>
      <p:sp>
        <p:nvSpPr>
          <p:cNvPr id="228356" name="Rectangle 4"/>
          <p:cNvSpPr>
            <a:spLocks noChangeArrowheads="1"/>
          </p:cNvSpPr>
          <p:nvPr/>
        </p:nvSpPr>
        <p:spPr bwMode="auto">
          <a:xfrm>
            <a:off x="5257800" y="2032000"/>
            <a:ext cx="3886200" cy="3554819"/>
          </a:xfrm>
          <a:prstGeom prst="rect">
            <a:avLst/>
          </a:prstGeom>
          <a:noFill/>
          <a:ln w="9525">
            <a:solidFill>
              <a:srgbClr val="FFFF00"/>
            </a:solidFill>
            <a:miter lim="800000"/>
            <a:headEnd/>
            <a:tailEnd/>
          </a:ln>
          <a:effectLst/>
        </p:spPr>
        <p:txBody>
          <a:bodyPr>
            <a:spAutoFit/>
          </a:bodyPr>
          <a:lstStyle/>
          <a:p>
            <a:r>
              <a:rPr lang="en-US" sz="2500" b="1">
                <a:effectLst>
                  <a:outerShdw blurRad="38100" dist="38100" dir="2700000" algn="tl">
                    <a:srgbClr val="C0C0C0"/>
                  </a:outerShdw>
                </a:effectLst>
                <a:latin typeface="Times New Roman" pitchFamily="18" charset="0"/>
                <a:cs typeface="Arial" charset="0"/>
              </a:rPr>
              <a:t>if</a:t>
            </a:r>
            <a:r>
              <a:rPr lang="en-US" sz="2500" b="1">
                <a:effectLst>
                  <a:outerShdw blurRad="38100" dist="38100" dir="2700000" algn="tl">
                    <a:srgbClr val="C0C0C0"/>
                  </a:outerShdw>
                </a:effectLst>
                <a:latin typeface="VNI-Times" pitchFamily="2" charset="0"/>
                <a:cs typeface="Arial" charset="0"/>
              </a:rPr>
              <a:t>(</a:t>
            </a:r>
            <a:r>
              <a:rPr lang="en-US" sz="2500" b="1">
                <a:effectLst>
                  <a:outerShdw blurRad="38100" dist="38100" dir="2700000" algn="tl">
                    <a:srgbClr val="C0C0C0"/>
                  </a:outerShdw>
                </a:effectLst>
                <a:latin typeface="Times New Roman" pitchFamily="18" charset="0"/>
                <a:cs typeface="Arial" charset="0"/>
              </a:rPr>
              <a:t>kt</a:t>
            </a:r>
            <a:r>
              <a:rPr lang="en-US" sz="2500" b="1">
                <a:effectLst>
                  <a:outerShdw blurRad="38100" dist="38100" dir="2700000" algn="tl">
                    <a:srgbClr val="C0C0C0"/>
                  </a:outerShdw>
                </a:effectLst>
                <a:latin typeface="VNI-Times" pitchFamily="2" charset="0"/>
                <a:cs typeface="Arial" charset="0"/>
              </a:rPr>
              <a:t>==0)</a:t>
            </a:r>
          </a:p>
          <a:p>
            <a:r>
              <a:rPr lang="en-US" sz="2500" b="1">
                <a:effectLst>
                  <a:outerShdw blurRad="38100" dist="38100" dir="2700000" algn="tl">
                    <a:srgbClr val="C0C0C0"/>
                  </a:outerShdw>
                </a:effectLst>
                <a:latin typeface="VNI-Times" pitchFamily="2" charset="0"/>
                <a:cs typeface="Arial" charset="0"/>
              </a:rPr>
              <a:t>  {  </a:t>
            </a:r>
            <a:r>
              <a:rPr lang="en-US" sz="2500" i="1">
                <a:solidFill>
                  <a:srgbClr val="3347AD"/>
                </a:solidFill>
                <a:effectLst>
                  <a:outerShdw blurRad="38100" dist="38100" dir="2700000" algn="tl">
                    <a:srgbClr val="C0C0C0"/>
                  </a:outerShdw>
                </a:effectLst>
                <a:latin typeface="VNI-Times" pitchFamily="2" charset="0"/>
                <a:cs typeface="Arial" charset="0"/>
              </a:rPr>
              <a:t>/* </a:t>
            </a:r>
            <a:r>
              <a:rPr lang="en-US" sz="2500" i="1">
                <a:solidFill>
                  <a:srgbClr val="3347AD"/>
                </a:solidFill>
                <a:effectLst>
                  <a:outerShdw blurRad="38100" dist="38100" dir="2700000" algn="tl">
                    <a:srgbClr val="C0C0C0"/>
                  </a:outerShdw>
                </a:effectLst>
                <a:latin typeface="Times New Roman" pitchFamily="18" charset="0"/>
                <a:cs typeface="Arial" charset="0"/>
              </a:rPr>
              <a:t>sử</a:t>
            </a:r>
            <a:r>
              <a:rPr lang="en-US" sz="2500" i="1">
                <a:solidFill>
                  <a:srgbClr val="3347AD"/>
                </a:solidFill>
                <a:effectLst>
                  <a:outerShdw blurRad="38100" dist="38100" dir="2700000" algn="tl">
                    <a:srgbClr val="C0C0C0"/>
                  </a:outerShdw>
                </a:effectLst>
                <a:latin typeface="VNI-Times" pitchFamily="2" charset="0"/>
                <a:cs typeface="Arial" charset="0"/>
              </a:rPr>
              <a:t> </a:t>
            </a:r>
            <a:r>
              <a:rPr lang="en-US" sz="2500" i="1">
                <a:solidFill>
                  <a:srgbClr val="3347AD"/>
                </a:solidFill>
                <a:effectLst>
                  <a:outerShdw blurRad="38100" dist="38100" dir="2700000" algn="tl">
                    <a:srgbClr val="C0C0C0"/>
                  </a:outerShdw>
                </a:effectLst>
                <a:latin typeface="Times New Roman" pitchFamily="18" charset="0"/>
                <a:cs typeface="Arial" charset="0"/>
              </a:rPr>
              <a:t>dụng</a:t>
            </a:r>
            <a:r>
              <a:rPr lang="en-US" sz="2500" i="1">
                <a:solidFill>
                  <a:srgbClr val="3347AD"/>
                </a:solidFill>
                <a:effectLst>
                  <a:outerShdw blurRad="38100" dist="38100" dir="2700000" algn="tl">
                    <a:srgbClr val="C0C0C0"/>
                  </a:outerShdw>
                </a:effectLst>
                <a:latin typeface="VNI-Times" pitchFamily="2" charset="0"/>
                <a:cs typeface="Arial" charset="0"/>
              </a:rPr>
              <a:t> </a:t>
            </a:r>
            <a:r>
              <a:rPr lang="en-US" sz="2500" i="1">
                <a:solidFill>
                  <a:srgbClr val="3347AD"/>
                </a:solidFill>
                <a:effectLst>
                  <a:outerShdw blurRad="38100" dist="38100" dir="2700000" algn="tl">
                    <a:srgbClr val="C0C0C0"/>
                  </a:outerShdw>
                </a:effectLst>
                <a:latin typeface="Times New Roman" pitchFamily="18" charset="0"/>
                <a:cs typeface="Arial" charset="0"/>
              </a:rPr>
              <a:t>được</a:t>
            </a:r>
            <a:r>
              <a:rPr lang="en-US" sz="2500" i="1">
                <a:solidFill>
                  <a:srgbClr val="3347AD"/>
                </a:solidFill>
                <a:effectLst>
                  <a:outerShdw blurRad="38100" dist="38100" dir="2700000" algn="tl">
                    <a:srgbClr val="C0C0C0"/>
                  </a:outerShdw>
                </a:effectLst>
                <a:latin typeface="VNI-Times" pitchFamily="2" charset="0"/>
                <a:cs typeface="Arial" charset="0"/>
              </a:rPr>
              <a:t> </a:t>
            </a:r>
            <a:r>
              <a:rPr lang="en-US" sz="2500" i="1">
                <a:solidFill>
                  <a:srgbClr val="3347AD"/>
                </a:solidFill>
                <a:effectLst>
                  <a:outerShdw blurRad="38100" dist="38100" dir="2700000" algn="tl">
                    <a:srgbClr val="C0C0C0"/>
                  </a:outerShdw>
                </a:effectLst>
                <a:latin typeface="Times New Roman" pitchFamily="18" charset="0"/>
                <a:cs typeface="Arial" charset="0"/>
              </a:rPr>
              <a:t>a</a:t>
            </a:r>
            <a:r>
              <a:rPr lang="en-US" sz="2500" i="1">
                <a:solidFill>
                  <a:srgbClr val="3347AD"/>
                </a:solidFill>
                <a:effectLst>
                  <a:outerShdw blurRad="38100" dist="38100" dir="2700000" algn="tl">
                    <a:srgbClr val="C0C0C0"/>
                  </a:outerShdw>
                </a:effectLst>
                <a:latin typeface="VNI-Times" pitchFamily="2" charset="0"/>
                <a:cs typeface="Arial" charset="0"/>
              </a:rPr>
              <a:t>[</a:t>
            </a:r>
            <a:r>
              <a:rPr lang="en-US" sz="2500" i="1">
                <a:solidFill>
                  <a:srgbClr val="3347AD"/>
                </a:solidFill>
                <a:effectLst>
                  <a:outerShdw blurRad="38100" dist="38100" dir="2700000" algn="tl">
                    <a:srgbClr val="C0C0C0"/>
                  </a:outerShdw>
                </a:effectLst>
                <a:latin typeface="Times New Roman" pitchFamily="18" charset="0"/>
                <a:cs typeface="Arial" charset="0"/>
              </a:rPr>
              <a:t>i</a:t>
            </a:r>
            <a:r>
              <a:rPr lang="en-US" sz="2500" i="1">
                <a:solidFill>
                  <a:srgbClr val="3347AD"/>
                </a:solidFill>
                <a:effectLst>
                  <a:outerShdw blurRad="38100" dist="38100" dir="2700000" algn="tl">
                    <a:srgbClr val="C0C0C0"/>
                  </a:outerShdw>
                </a:effectLst>
                <a:latin typeface="VNI-Times" pitchFamily="2" charset="0"/>
                <a:cs typeface="Arial" charset="0"/>
              </a:rPr>
              <a:t>][</a:t>
            </a:r>
            <a:r>
              <a:rPr lang="en-US" sz="2500" i="1">
                <a:solidFill>
                  <a:srgbClr val="3347AD"/>
                </a:solidFill>
                <a:effectLst>
                  <a:outerShdw blurRad="38100" dist="38100" dir="2700000" algn="tl">
                    <a:srgbClr val="C0C0C0"/>
                  </a:outerShdw>
                </a:effectLst>
                <a:latin typeface="Times New Roman" pitchFamily="18" charset="0"/>
                <a:cs typeface="Arial" charset="0"/>
              </a:rPr>
              <a:t>j</a:t>
            </a:r>
            <a:r>
              <a:rPr lang="en-US" sz="2500" i="1">
                <a:solidFill>
                  <a:srgbClr val="3347AD"/>
                </a:solidFill>
                <a:effectLst>
                  <a:outerShdw blurRad="38100" dist="38100" dir="2700000" algn="tl">
                    <a:srgbClr val="C0C0C0"/>
                  </a:outerShdw>
                </a:effectLst>
                <a:latin typeface="VNI-Times" pitchFamily="2" charset="0"/>
                <a:cs typeface="Arial" charset="0"/>
              </a:rPr>
              <a:t>] */</a:t>
            </a:r>
          </a:p>
          <a:p>
            <a:r>
              <a:rPr lang="en-US" sz="2500">
                <a:solidFill>
                  <a:srgbClr val="3399FF"/>
                </a:solidFill>
                <a:effectLst>
                  <a:outerShdw blurRad="38100" dist="38100" dir="2700000" algn="tl">
                    <a:srgbClr val="C0C0C0"/>
                  </a:outerShdw>
                </a:effectLst>
                <a:latin typeface="VNI-Times" pitchFamily="2" charset="0"/>
                <a:cs typeface="Arial" charset="0"/>
              </a:rPr>
              <a:t>   </a:t>
            </a:r>
            <a:r>
              <a:rPr lang="en-US" sz="2500">
                <a:solidFill>
                  <a:srgbClr val="3399FF"/>
                </a:solidFill>
                <a:effectLst>
                  <a:outerShdw blurRad="38100" dist="38100" dir="2700000" algn="tl">
                    <a:srgbClr val="C0C0C0"/>
                  </a:outerShdw>
                </a:effectLst>
                <a:latin typeface="Times New Roman" pitchFamily="18" charset="0"/>
                <a:cs typeface="Arial" charset="0"/>
              </a:rPr>
              <a:t>………</a:t>
            </a:r>
            <a:r>
              <a:rPr lang="en-US" sz="2500">
                <a:solidFill>
                  <a:srgbClr val="3399FF"/>
                </a:solidFill>
                <a:effectLst>
                  <a:outerShdw blurRad="38100" dist="38100" dir="2700000" algn="tl">
                    <a:srgbClr val="C0C0C0"/>
                  </a:outerShdw>
                </a:effectLst>
                <a:latin typeface="VNI-Times" pitchFamily="2" charset="0"/>
                <a:cs typeface="Arial" charset="0"/>
              </a:rPr>
              <a:t>.</a:t>
            </a:r>
          </a:p>
          <a:p>
            <a:r>
              <a:rPr lang="en-US" sz="2500">
                <a:effectLst>
                  <a:outerShdw blurRad="38100" dist="38100" dir="2700000" algn="tl">
                    <a:srgbClr val="C0C0C0"/>
                  </a:outerShdw>
                </a:effectLst>
                <a:latin typeface="VNI-Times" pitchFamily="2" charset="0"/>
                <a:cs typeface="Arial" charset="0"/>
              </a:rPr>
              <a:t>      </a:t>
            </a:r>
            <a:r>
              <a:rPr lang="en-US" sz="2500" b="1">
                <a:effectLst>
                  <a:outerShdw blurRad="38100" dist="38100" dir="2700000" algn="tl">
                    <a:srgbClr val="C0C0C0"/>
                  </a:outerShdw>
                </a:effectLst>
                <a:latin typeface="Times New Roman" pitchFamily="18" charset="0"/>
                <a:cs typeface="Arial" charset="0"/>
              </a:rPr>
              <a:t>for</a:t>
            </a:r>
            <a:r>
              <a:rPr lang="en-US" sz="2500" b="1">
                <a:effectLst>
                  <a:outerShdw blurRad="38100" dist="38100" dir="2700000" algn="tl">
                    <a:srgbClr val="C0C0C0"/>
                  </a:outerShdw>
                </a:effectLst>
                <a:latin typeface="VNI-Times" pitchFamily="2" charset="0"/>
                <a:cs typeface="Arial" charset="0"/>
              </a:rPr>
              <a:t>(</a:t>
            </a:r>
            <a:r>
              <a:rPr lang="en-US" sz="2500" b="1">
                <a:effectLst>
                  <a:outerShdw blurRad="38100" dist="38100" dir="2700000" algn="tl">
                    <a:srgbClr val="C0C0C0"/>
                  </a:outerShdw>
                </a:effectLst>
                <a:latin typeface="Times New Roman" pitchFamily="18" charset="0"/>
                <a:cs typeface="Arial" charset="0"/>
              </a:rPr>
              <a:t>i</a:t>
            </a:r>
            <a:r>
              <a:rPr lang="en-US" sz="2500" b="1">
                <a:effectLst>
                  <a:outerShdw blurRad="38100" dist="38100" dir="2700000" algn="tl">
                    <a:srgbClr val="C0C0C0"/>
                  </a:outerShdw>
                </a:effectLst>
                <a:latin typeface="VNI-Times" pitchFamily="2" charset="0"/>
                <a:cs typeface="Arial" charset="0"/>
              </a:rPr>
              <a:t>=0;</a:t>
            </a:r>
            <a:r>
              <a:rPr lang="en-US" sz="2500" b="1">
                <a:effectLst>
                  <a:outerShdw blurRad="38100" dist="38100" dir="2700000" algn="tl">
                    <a:srgbClr val="C0C0C0"/>
                  </a:outerShdw>
                </a:effectLst>
                <a:latin typeface="Times New Roman" pitchFamily="18" charset="0"/>
                <a:cs typeface="Arial" charset="0"/>
              </a:rPr>
              <a:t>i</a:t>
            </a:r>
            <a:r>
              <a:rPr lang="en-US" sz="2500" b="1">
                <a:effectLst>
                  <a:outerShdw blurRad="38100" dist="38100" dir="2700000" algn="tl">
                    <a:srgbClr val="C0C0C0"/>
                  </a:outerShdw>
                </a:effectLst>
                <a:latin typeface="VNI-Times" pitchFamily="2" charset="0"/>
                <a:cs typeface="Arial" charset="0"/>
              </a:rPr>
              <a:t>&lt;</a:t>
            </a:r>
            <a:r>
              <a:rPr lang="en-US" sz="2500" b="1">
                <a:effectLst>
                  <a:outerShdw blurRad="38100" dist="38100" dir="2700000" algn="tl">
                    <a:srgbClr val="C0C0C0"/>
                  </a:outerShdw>
                </a:effectLst>
                <a:latin typeface="Times New Roman" pitchFamily="18" charset="0"/>
                <a:cs typeface="Arial" charset="0"/>
              </a:rPr>
              <a:t>m</a:t>
            </a:r>
            <a:r>
              <a:rPr lang="en-US" sz="2500" b="1">
                <a:effectLst>
                  <a:outerShdw blurRad="38100" dist="38100" dir="2700000" algn="tl">
                    <a:srgbClr val="C0C0C0"/>
                  </a:outerShdw>
                </a:effectLst>
                <a:latin typeface="VNI-Times" pitchFamily="2" charset="0"/>
                <a:cs typeface="Arial" charset="0"/>
              </a:rPr>
              <a:t>;</a:t>
            </a:r>
            <a:r>
              <a:rPr lang="en-US" sz="2500" b="1">
                <a:effectLst>
                  <a:outerShdw blurRad="38100" dist="38100" dir="2700000" algn="tl">
                    <a:srgbClr val="C0C0C0"/>
                  </a:outerShdw>
                </a:effectLst>
                <a:latin typeface="Times New Roman" pitchFamily="18" charset="0"/>
                <a:cs typeface="Arial" charset="0"/>
              </a:rPr>
              <a:t>i</a:t>
            </a:r>
            <a:r>
              <a:rPr lang="en-US" sz="2500" b="1">
                <a:effectLst>
                  <a:outerShdw blurRad="38100" dist="38100" dir="2700000" algn="tl">
                    <a:srgbClr val="C0C0C0"/>
                  </a:outerShdw>
                </a:effectLst>
                <a:latin typeface="VNI-Times" pitchFamily="2" charset="0"/>
                <a:cs typeface="Arial" charset="0"/>
              </a:rPr>
              <a:t>++)</a:t>
            </a:r>
          </a:p>
          <a:p>
            <a:r>
              <a:rPr lang="en-US" sz="2500" b="1">
                <a:effectLst>
                  <a:outerShdw blurRad="38100" dist="38100" dir="2700000" algn="tl">
                    <a:srgbClr val="C0C0C0"/>
                  </a:outerShdw>
                </a:effectLst>
                <a:latin typeface="VNI-Times" pitchFamily="2" charset="0"/>
                <a:cs typeface="Arial" charset="0"/>
              </a:rPr>
              <a:t>	</a:t>
            </a:r>
            <a:r>
              <a:rPr lang="en-US" sz="2500" b="1">
                <a:effectLst>
                  <a:outerShdw blurRad="38100" dist="38100" dir="2700000" algn="tl">
                    <a:srgbClr val="C0C0C0"/>
                  </a:outerShdw>
                </a:effectLst>
                <a:latin typeface="Times New Roman" pitchFamily="18" charset="0"/>
                <a:cs typeface="Arial" charset="0"/>
              </a:rPr>
              <a:t>if</a:t>
            </a:r>
            <a:r>
              <a:rPr lang="en-US" sz="2500" b="1">
                <a:effectLst>
                  <a:outerShdw blurRad="38100" dist="38100" dir="2700000" algn="tl">
                    <a:srgbClr val="C0C0C0"/>
                  </a:outerShdw>
                </a:effectLst>
                <a:latin typeface="VNI-Times" pitchFamily="2" charset="0"/>
                <a:cs typeface="Arial" charset="0"/>
              </a:rPr>
              <a:t>(</a:t>
            </a:r>
            <a:r>
              <a:rPr lang="en-US" sz="2500" b="1">
                <a:effectLst>
                  <a:outerShdw blurRad="38100" dist="38100" dir="2700000" algn="tl">
                    <a:srgbClr val="C0C0C0"/>
                  </a:outerShdw>
                </a:effectLst>
                <a:latin typeface="Times New Roman" pitchFamily="18" charset="0"/>
                <a:cs typeface="Arial" charset="0"/>
              </a:rPr>
              <a:t>a</a:t>
            </a:r>
            <a:r>
              <a:rPr lang="en-US" sz="2500" b="1">
                <a:effectLst>
                  <a:outerShdw blurRad="38100" dist="38100" dir="2700000" algn="tl">
                    <a:srgbClr val="C0C0C0"/>
                  </a:outerShdw>
                </a:effectLst>
                <a:latin typeface="VNI-Times" pitchFamily="2" charset="0"/>
                <a:cs typeface="Arial" charset="0"/>
              </a:rPr>
              <a:t>[</a:t>
            </a:r>
            <a:r>
              <a:rPr lang="en-US" sz="2500" b="1">
                <a:effectLst>
                  <a:outerShdw blurRad="38100" dist="38100" dir="2700000" algn="tl">
                    <a:srgbClr val="C0C0C0"/>
                  </a:outerShdw>
                </a:effectLst>
                <a:latin typeface="Times New Roman" pitchFamily="18" charset="0"/>
                <a:cs typeface="Arial" charset="0"/>
              </a:rPr>
              <a:t>i</a:t>
            </a:r>
            <a:r>
              <a:rPr lang="en-US" sz="2500" b="1">
                <a:effectLst>
                  <a:outerShdw blurRad="38100" dist="38100" dir="2700000" algn="tl">
                    <a:srgbClr val="C0C0C0"/>
                  </a:outerShdw>
                </a:effectLst>
                <a:latin typeface="VNI-Times" pitchFamily="2" charset="0"/>
                <a:cs typeface="Arial" charset="0"/>
              </a:rPr>
              <a:t>]!=</a:t>
            </a:r>
            <a:r>
              <a:rPr lang="en-US" sz="2500" b="1">
                <a:effectLst>
                  <a:outerShdw blurRad="38100" dist="38100" dir="2700000" algn="tl">
                    <a:srgbClr val="C0C0C0"/>
                  </a:outerShdw>
                </a:effectLst>
                <a:latin typeface="Times New Roman" pitchFamily="18" charset="0"/>
                <a:cs typeface="Arial" charset="0"/>
              </a:rPr>
              <a:t>NULL</a:t>
            </a:r>
            <a:r>
              <a:rPr lang="en-US" sz="2500" b="1">
                <a:effectLst>
                  <a:outerShdw blurRad="38100" dist="38100" dir="2700000" algn="tl">
                    <a:srgbClr val="C0C0C0"/>
                  </a:outerShdw>
                </a:effectLst>
                <a:latin typeface="VNI-Times" pitchFamily="2" charset="0"/>
                <a:cs typeface="Arial" charset="0"/>
              </a:rPr>
              <a:t>)      </a:t>
            </a:r>
          </a:p>
          <a:p>
            <a:r>
              <a:rPr lang="en-US" sz="2500" b="1">
                <a:effectLst>
                  <a:outerShdw blurRad="38100" dist="38100" dir="2700000" algn="tl">
                    <a:srgbClr val="C0C0C0"/>
                  </a:outerShdw>
                </a:effectLst>
                <a:latin typeface="VNI-Times" pitchFamily="2" charset="0"/>
                <a:cs typeface="Arial" charset="0"/>
              </a:rPr>
              <a:t>                  </a:t>
            </a:r>
            <a:r>
              <a:rPr lang="en-US" sz="2500" b="1" smtClean="0">
                <a:effectLst>
                  <a:outerShdw blurRad="38100" dist="38100" dir="2700000" algn="tl">
                    <a:srgbClr val="C0C0C0"/>
                  </a:outerShdw>
                </a:effectLst>
                <a:latin typeface="Times New Roman" pitchFamily="18" charset="0"/>
                <a:cs typeface="Arial" charset="0"/>
              </a:rPr>
              <a:t>free</a:t>
            </a:r>
            <a:r>
              <a:rPr lang="en-US" sz="2500" b="1" smtClean="0">
                <a:effectLst>
                  <a:outerShdw blurRad="38100" dist="38100" dir="2700000" algn="tl">
                    <a:srgbClr val="C0C0C0"/>
                  </a:outerShdw>
                </a:effectLst>
                <a:latin typeface="VNI-Times" pitchFamily="2" charset="0"/>
                <a:cs typeface="Arial" charset="0"/>
              </a:rPr>
              <a:t>(</a:t>
            </a:r>
            <a:r>
              <a:rPr lang="en-US" sz="2500" b="1" smtClean="0">
                <a:effectLst>
                  <a:outerShdw blurRad="38100" dist="38100" dir="2700000" algn="tl">
                    <a:srgbClr val="C0C0C0"/>
                  </a:outerShdw>
                </a:effectLst>
                <a:latin typeface="Times New Roman" pitchFamily="18" charset="0"/>
                <a:cs typeface="Arial" charset="0"/>
              </a:rPr>
              <a:t>a</a:t>
            </a:r>
            <a:r>
              <a:rPr lang="en-US" sz="2500" b="1" smtClean="0">
                <a:effectLst>
                  <a:outerShdw blurRad="38100" dist="38100" dir="2700000" algn="tl">
                    <a:srgbClr val="C0C0C0"/>
                  </a:outerShdw>
                </a:effectLst>
                <a:latin typeface="VNI-Times" pitchFamily="2" charset="0"/>
                <a:cs typeface="Arial" charset="0"/>
              </a:rPr>
              <a:t>[</a:t>
            </a:r>
            <a:r>
              <a:rPr lang="en-US" sz="2500" b="1" smtClean="0">
                <a:effectLst>
                  <a:outerShdw blurRad="38100" dist="38100" dir="2700000" algn="tl">
                    <a:srgbClr val="C0C0C0"/>
                  </a:outerShdw>
                </a:effectLst>
                <a:latin typeface="Times New Roman" pitchFamily="18" charset="0"/>
                <a:cs typeface="Arial" charset="0"/>
              </a:rPr>
              <a:t>i</a:t>
            </a:r>
            <a:r>
              <a:rPr lang="en-US" sz="2500" b="1">
                <a:effectLst>
                  <a:outerShdw blurRad="38100" dist="38100" dir="2700000" algn="tl">
                    <a:srgbClr val="C0C0C0"/>
                  </a:outerShdw>
                </a:effectLst>
                <a:latin typeface="VNI-Times" pitchFamily="2" charset="0"/>
                <a:cs typeface="Arial" charset="0"/>
              </a:rPr>
              <a:t>];</a:t>
            </a:r>
          </a:p>
          <a:p>
            <a:r>
              <a:rPr lang="en-US" sz="2500" b="1">
                <a:effectLst>
                  <a:outerShdw blurRad="38100" dist="38100" dir="2700000" algn="tl">
                    <a:srgbClr val="C0C0C0"/>
                  </a:outerShdw>
                </a:effectLst>
                <a:latin typeface="VNI-Times" pitchFamily="2" charset="0"/>
                <a:cs typeface="Arial" charset="0"/>
              </a:rPr>
              <a:t>       </a:t>
            </a:r>
            <a:r>
              <a:rPr lang="en-US" sz="2500" b="1">
                <a:effectLst>
                  <a:outerShdw blurRad="38100" dist="38100" dir="2700000" algn="tl">
                    <a:srgbClr val="C0C0C0"/>
                  </a:outerShdw>
                </a:effectLst>
                <a:latin typeface="Times New Roman" pitchFamily="18" charset="0"/>
                <a:cs typeface="Arial" charset="0"/>
              </a:rPr>
              <a:t>free</a:t>
            </a:r>
            <a:r>
              <a:rPr lang="en-US" sz="2500" b="1">
                <a:effectLst>
                  <a:outerShdw blurRad="38100" dist="38100" dir="2700000" algn="tl">
                    <a:srgbClr val="C0C0C0"/>
                  </a:outerShdw>
                </a:effectLst>
                <a:latin typeface="VNI-Times" pitchFamily="2" charset="0"/>
                <a:cs typeface="Arial" charset="0"/>
              </a:rPr>
              <a:t>(</a:t>
            </a:r>
            <a:r>
              <a:rPr lang="en-US" sz="2500" b="1">
                <a:effectLst>
                  <a:outerShdw blurRad="38100" dist="38100" dir="2700000" algn="tl">
                    <a:srgbClr val="C0C0C0"/>
                  </a:outerShdw>
                </a:effectLst>
                <a:latin typeface="Times New Roman" pitchFamily="18" charset="0"/>
                <a:cs typeface="Arial" charset="0"/>
              </a:rPr>
              <a:t>a</a:t>
            </a:r>
            <a:r>
              <a:rPr lang="en-US" sz="2500" b="1">
                <a:effectLst>
                  <a:outerShdw blurRad="38100" dist="38100" dir="2700000" algn="tl">
                    <a:srgbClr val="C0C0C0"/>
                  </a:outerShdw>
                </a:effectLst>
                <a:latin typeface="VNI-Times" pitchFamily="2" charset="0"/>
                <a:cs typeface="Arial" charset="0"/>
              </a:rPr>
              <a:t>);</a:t>
            </a:r>
          </a:p>
          <a:p>
            <a:r>
              <a:rPr lang="en-US" sz="2500" b="1">
                <a:effectLst>
                  <a:outerShdw blurRad="38100" dist="38100" dir="2700000" algn="tl">
                    <a:srgbClr val="C0C0C0"/>
                  </a:outerShdw>
                </a:effectLst>
                <a:latin typeface="VNI-Times" pitchFamily="2" charset="0"/>
                <a:cs typeface="Arial" charset="0"/>
              </a:rPr>
              <a:t>  }</a:t>
            </a:r>
          </a:p>
        </p:txBody>
      </p:sp>
      <p:sp>
        <p:nvSpPr>
          <p:cNvPr id="228357" name="Rectangle 5"/>
          <p:cNvSpPr>
            <a:spLocks noChangeArrowheads="1"/>
          </p:cNvSpPr>
          <p:nvPr/>
        </p:nvSpPr>
        <p:spPr bwMode="auto">
          <a:xfrm>
            <a:off x="2286000" y="1325562"/>
            <a:ext cx="6219825" cy="579438"/>
          </a:xfrm>
          <a:prstGeom prst="rect">
            <a:avLst/>
          </a:prstGeom>
          <a:noFill/>
          <a:ln w="9525">
            <a:noFill/>
            <a:miter lim="800000"/>
            <a:headEnd/>
            <a:tailEnd/>
          </a:ln>
          <a:effectLst/>
        </p:spPr>
        <p:txBody>
          <a:bodyPr wrap="none">
            <a:spAutoFit/>
          </a:bodyPr>
          <a:lstStyle/>
          <a:p>
            <a:r>
              <a:rPr lang="en-US" sz="3200" b="1">
                <a:solidFill>
                  <a:srgbClr val="3347AD"/>
                </a:solidFill>
                <a:effectLst>
                  <a:outerShdw blurRad="38100" dist="38100" dir="2700000" algn="tl">
                    <a:srgbClr val="C0C0C0"/>
                  </a:outerShdw>
                </a:effectLst>
                <a:latin typeface="Times New Roman" pitchFamily="18" charset="0"/>
                <a:cs typeface="Arial" charset="0"/>
              </a:rPr>
              <a:t>a</a:t>
            </a:r>
            <a:r>
              <a:rPr lang="en-US" sz="3200" b="1">
                <a:solidFill>
                  <a:srgbClr val="3347AD"/>
                </a:solidFill>
                <a:effectLst>
                  <a:outerShdw blurRad="38100" dist="38100" dir="2700000" algn="tl">
                    <a:srgbClr val="C0C0C0"/>
                  </a:outerShdw>
                </a:effectLst>
                <a:latin typeface="VNI-Times" pitchFamily="2" charset="0"/>
                <a:cs typeface="Arial" charset="0"/>
              </a:rPr>
              <a:t> = (</a:t>
            </a:r>
            <a:r>
              <a:rPr lang="en-US" sz="3200" b="1">
                <a:solidFill>
                  <a:srgbClr val="3347AD"/>
                </a:solidFill>
                <a:effectLst>
                  <a:outerShdw blurRad="38100" dist="38100" dir="2700000" algn="tl">
                    <a:srgbClr val="C0C0C0"/>
                  </a:outerShdw>
                </a:effectLst>
                <a:latin typeface="Times New Roman" pitchFamily="18" charset="0"/>
                <a:cs typeface="Arial" charset="0"/>
              </a:rPr>
              <a:t>int</a:t>
            </a:r>
            <a:r>
              <a:rPr lang="en-US" sz="3200" b="1">
                <a:solidFill>
                  <a:srgbClr val="3347AD"/>
                </a:solidFill>
                <a:effectLst>
                  <a:outerShdw blurRad="38100" dist="38100" dir="2700000" algn="tl">
                    <a:srgbClr val="C0C0C0"/>
                  </a:outerShdw>
                </a:effectLst>
                <a:latin typeface="VNI-Times" pitchFamily="2" charset="0"/>
                <a:cs typeface="Arial" charset="0"/>
              </a:rPr>
              <a:t> **)</a:t>
            </a:r>
            <a:r>
              <a:rPr lang="en-US" sz="3200" b="1">
                <a:solidFill>
                  <a:srgbClr val="3347AD"/>
                </a:solidFill>
                <a:effectLst>
                  <a:outerShdw blurRad="38100" dist="38100" dir="2700000" algn="tl">
                    <a:srgbClr val="C0C0C0"/>
                  </a:outerShdw>
                </a:effectLst>
                <a:latin typeface="Times New Roman" pitchFamily="18" charset="0"/>
                <a:cs typeface="Arial" charset="0"/>
              </a:rPr>
              <a:t>malloc</a:t>
            </a:r>
            <a:r>
              <a:rPr lang="en-US" sz="3200" b="1">
                <a:solidFill>
                  <a:srgbClr val="3347AD"/>
                </a:solidFill>
                <a:effectLst>
                  <a:outerShdw blurRad="38100" dist="38100" dir="2700000" algn="tl">
                    <a:srgbClr val="C0C0C0"/>
                  </a:outerShdw>
                </a:effectLst>
                <a:latin typeface="VNI-Times" pitchFamily="2" charset="0"/>
                <a:cs typeface="Arial" charset="0"/>
              </a:rPr>
              <a:t>(</a:t>
            </a:r>
            <a:r>
              <a:rPr lang="en-US" sz="3200" b="1">
                <a:solidFill>
                  <a:srgbClr val="3347AD"/>
                </a:solidFill>
                <a:effectLst>
                  <a:outerShdw blurRad="38100" dist="38100" dir="2700000" algn="tl">
                    <a:srgbClr val="C0C0C0"/>
                  </a:outerShdw>
                </a:effectLst>
                <a:latin typeface="Times New Roman" pitchFamily="18" charset="0"/>
                <a:cs typeface="Arial" charset="0"/>
              </a:rPr>
              <a:t>m</a:t>
            </a:r>
            <a:r>
              <a:rPr lang="en-US" sz="3200" b="1">
                <a:solidFill>
                  <a:srgbClr val="3347AD"/>
                </a:solidFill>
                <a:effectLst>
                  <a:outerShdw blurRad="38100" dist="38100" dir="2700000" algn="tl">
                    <a:srgbClr val="C0C0C0"/>
                  </a:outerShdw>
                </a:effectLst>
                <a:latin typeface="VNI-Times" pitchFamily="2" charset="0"/>
                <a:cs typeface="Arial" charset="0"/>
              </a:rPr>
              <a:t>*</a:t>
            </a:r>
            <a:r>
              <a:rPr lang="en-US" sz="3200" b="1">
                <a:solidFill>
                  <a:srgbClr val="3347AD"/>
                </a:solidFill>
                <a:effectLst>
                  <a:outerShdw blurRad="38100" dist="38100" dir="2700000" algn="tl">
                    <a:srgbClr val="C0C0C0"/>
                  </a:outerShdw>
                </a:effectLst>
                <a:latin typeface="Times New Roman" pitchFamily="18" charset="0"/>
                <a:cs typeface="Arial" charset="0"/>
              </a:rPr>
              <a:t>sizeof</a:t>
            </a:r>
            <a:r>
              <a:rPr lang="en-US" sz="3200" b="1">
                <a:solidFill>
                  <a:srgbClr val="3347AD"/>
                </a:solidFill>
                <a:effectLst>
                  <a:outerShdw blurRad="38100" dist="38100" dir="2700000" algn="tl">
                    <a:srgbClr val="C0C0C0"/>
                  </a:outerShdw>
                </a:effectLst>
                <a:latin typeface="VNI-Times" pitchFamily="2" charset="0"/>
                <a:cs typeface="Arial" charset="0"/>
              </a:rPr>
              <a:t>(</a:t>
            </a:r>
            <a:r>
              <a:rPr lang="en-US" sz="3200" b="1">
                <a:solidFill>
                  <a:srgbClr val="3347AD"/>
                </a:solidFill>
                <a:effectLst>
                  <a:outerShdw blurRad="38100" dist="38100" dir="2700000" algn="tl">
                    <a:srgbClr val="C0C0C0"/>
                  </a:outerShdw>
                </a:effectLst>
                <a:latin typeface="Times New Roman" pitchFamily="18" charset="0"/>
                <a:cs typeface="Arial" charset="0"/>
              </a:rPr>
              <a:t>int</a:t>
            </a:r>
            <a:r>
              <a:rPr lang="en-US" sz="3200" b="1">
                <a:solidFill>
                  <a:srgbClr val="3347AD"/>
                </a:solidFill>
                <a:effectLst>
                  <a:outerShdw blurRad="38100" dist="38100" dir="2700000" algn="tl">
                    <a:srgbClr val="C0C0C0"/>
                  </a:outerShdw>
                </a:effectLst>
                <a:latin typeface="VNI-Times" pitchFamily="2" charset="0"/>
                <a:cs typeface="Arial" charset="0"/>
              </a:rPr>
              <a:t> *));</a:t>
            </a:r>
          </a:p>
        </p:txBody>
      </p:sp>
      <p:sp>
        <p:nvSpPr>
          <p:cNvPr id="2" name="Title 1"/>
          <p:cNvSpPr>
            <a:spLocks noGrp="1"/>
          </p:cNvSpPr>
          <p:nvPr>
            <p:ph type="title"/>
          </p:nvPr>
        </p:nvSpPr>
        <p:spPr/>
        <p:txBody>
          <a:bodyPr/>
          <a:lstStyle/>
          <a:p>
            <a:r>
              <a:rPr lang="en-US" smtClean="0"/>
              <a:t>Hàm free (C)-Mảng 2 chiều</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p:cNvSpPr>
            <a:spLocks noGrp="1"/>
          </p:cNvSpPr>
          <p:nvPr>
            <p:ph type="dt" sz="half" idx="11"/>
          </p:nvPr>
        </p:nvSpPr>
        <p:spPr/>
        <p:txBody>
          <a:bodyPr/>
          <a:lstStyle/>
          <a:p>
            <a:r>
              <a:rPr lang="en-US"/>
              <a:t>www.uit.edu.vn</a:t>
            </a:r>
          </a:p>
        </p:txBody>
      </p:sp>
      <p:sp>
        <p:nvSpPr>
          <p:cNvPr id="2" name="Title 1"/>
          <p:cNvSpPr>
            <a:spLocks noGrp="1"/>
          </p:cNvSpPr>
          <p:nvPr>
            <p:ph type="title"/>
          </p:nvPr>
        </p:nvSpPr>
        <p:spPr/>
        <p:txBody>
          <a:bodyPr/>
          <a:lstStyle/>
          <a:p>
            <a:r>
              <a:rPr lang="en-US" smtClean="0"/>
              <a:t>Bài tập 1</a:t>
            </a:r>
            <a:endParaRPr lang="en-US"/>
          </a:p>
        </p:txBody>
      </p:sp>
      <p:sp>
        <p:nvSpPr>
          <p:cNvPr id="3" name="Content Placeholder 2"/>
          <p:cNvSpPr>
            <a:spLocks noGrp="1"/>
          </p:cNvSpPr>
          <p:nvPr>
            <p:ph idx="1"/>
          </p:nvPr>
        </p:nvSpPr>
        <p:spPr/>
        <p:txBody>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299" y="1447800"/>
            <a:ext cx="5772150" cy="468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09845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p:cNvSpPr>
            <a:spLocks noGrp="1"/>
          </p:cNvSpPr>
          <p:nvPr>
            <p:ph type="dt" sz="half" idx="11"/>
          </p:nvPr>
        </p:nvSpPr>
        <p:spPr/>
        <p:txBody>
          <a:bodyPr/>
          <a:lstStyle/>
          <a:p>
            <a:r>
              <a:rPr lang="en-US"/>
              <a:t>www.uit.edu.vn</a:t>
            </a:r>
          </a:p>
        </p:txBody>
      </p:sp>
      <p:sp>
        <p:nvSpPr>
          <p:cNvPr id="2" name="Title 1"/>
          <p:cNvSpPr>
            <a:spLocks noGrp="1"/>
          </p:cNvSpPr>
          <p:nvPr>
            <p:ph type="title"/>
          </p:nvPr>
        </p:nvSpPr>
        <p:spPr/>
        <p:txBody>
          <a:bodyPr/>
          <a:lstStyle/>
          <a:p>
            <a:r>
              <a:rPr lang="en-US" smtClean="0"/>
              <a:t>Bài tập 1</a:t>
            </a:r>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762" y="1752600"/>
            <a:ext cx="608647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61980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p:cNvSpPr>
            <a:spLocks noGrp="1"/>
          </p:cNvSpPr>
          <p:nvPr>
            <p:ph type="dt" sz="half" idx="11"/>
          </p:nvPr>
        </p:nvSpPr>
        <p:spPr/>
        <p:txBody>
          <a:bodyPr/>
          <a:lstStyle/>
          <a:p>
            <a:r>
              <a:rPr lang="en-US"/>
              <a:t>www.uit.edu.vn</a:t>
            </a:r>
          </a:p>
        </p:txBody>
      </p:sp>
      <p:sp>
        <p:nvSpPr>
          <p:cNvPr id="2" name="Title 1"/>
          <p:cNvSpPr>
            <a:spLocks noGrp="1"/>
          </p:cNvSpPr>
          <p:nvPr>
            <p:ph type="title"/>
          </p:nvPr>
        </p:nvSpPr>
        <p:spPr/>
        <p:txBody>
          <a:bodyPr/>
          <a:lstStyle/>
          <a:p>
            <a:r>
              <a:rPr lang="en-US" smtClean="0"/>
              <a:t>Bài tập 1</a:t>
            </a:r>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362200"/>
            <a:ext cx="2133600"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55464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585</TotalTime>
  <Words>734</Words>
  <Application>Microsoft Office PowerPoint</Application>
  <PresentationFormat>On-screen Show (4:3)</PresentationFormat>
  <Paragraphs>182</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Nhập môn Lập trình – IT001</vt:lpstr>
      <vt:lpstr>NỘI DUNG CHÍNH</vt:lpstr>
      <vt:lpstr>Bộ nhớ động</vt:lpstr>
      <vt:lpstr>Bộ nhớ động</vt:lpstr>
      <vt:lpstr>Hàm new (C++)</vt:lpstr>
      <vt:lpstr>Hàm new (C++)</vt:lpstr>
      <vt:lpstr>Hàm new (C++)</vt:lpstr>
      <vt:lpstr>Hàm delete (C++)</vt:lpstr>
      <vt:lpstr>Hàm delete (C++)</vt:lpstr>
      <vt:lpstr>Hàm malloc (C)</vt:lpstr>
      <vt:lpstr>Hàm calloc (C)</vt:lpstr>
      <vt:lpstr>Hàm realloc (C)</vt:lpstr>
      <vt:lpstr>Hàm realloc (C)</vt:lpstr>
      <vt:lpstr>Hàm realloc (C)</vt:lpstr>
      <vt:lpstr>Hàm free (C)</vt:lpstr>
      <vt:lpstr>Hàm free (C) – Mảng 1 chiều</vt:lpstr>
      <vt:lpstr>Hàm free (C)-Mảng 2 chiều</vt:lpstr>
      <vt:lpstr>Bài tập 1</vt:lpstr>
      <vt:lpstr>Bài tập 1</vt:lpstr>
      <vt:lpstr>Bài tập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môn Lập trình</dc:title>
  <dc:creator>admin</dc:creator>
  <cp:lastModifiedBy>LongHo</cp:lastModifiedBy>
  <cp:revision>88</cp:revision>
  <dcterms:created xsi:type="dcterms:W3CDTF">2015-09-05T09:18:39Z</dcterms:created>
  <dcterms:modified xsi:type="dcterms:W3CDTF">2015-12-18T02:14:11Z</dcterms:modified>
</cp:coreProperties>
</file>