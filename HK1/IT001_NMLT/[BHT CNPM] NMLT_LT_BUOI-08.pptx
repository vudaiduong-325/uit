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89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9144000" cy="6858000" type="screen4x3"/>
  <p:notesSz cx="7315200" cy="9601200"/>
  <p:custDataLst>
    <p:tags r:id="rId3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66"/>
    <a:srgbClr val="5CADFF"/>
    <a:srgbClr val="FF99FF"/>
    <a:srgbClr val="FF66FF"/>
    <a:srgbClr val="FFCCFF"/>
    <a:srgbClr val="CC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7" autoAdjust="0"/>
    <p:restoredTop sz="94004" autoAdjust="0"/>
  </p:normalViewPr>
  <p:slideViewPr>
    <p:cSldViewPr>
      <p:cViewPr>
        <p:scale>
          <a:sx n="75" d="100"/>
          <a:sy n="75" d="100"/>
        </p:scale>
        <p:origin x="-1158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508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F604A0F1-3B8F-4F77-9C21-4A1D09C38E43}" type="datetimeFigureOut">
              <a:rPr lang="vi-VN"/>
              <a:pPr>
                <a:defRPr/>
              </a:pPr>
              <a:t>03/12/2015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A8239F57-652F-4839-998C-11C0A7AA2AC0}" type="slidenum">
              <a:rPr lang="vi-VN"/>
              <a:pPr>
                <a:defRPr/>
              </a:pPr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863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smtClean="0">
                <a:cs typeface="+mn-cs"/>
              </a:defRPr>
            </a:lvl1pPr>
          </a:lstStyle>
          <a:p>
            <a:pPr>
              <a:defRPr/>
            </a:pPr>
            <a:fld id="{7A7E2CE2-B5F0-45E3-B42B-ED314D7DE61C}" type="datetimeFigureOut">
              <a:rPr lang="en-US"/>
              <a:pPr>
                <a:defRPr/>
              </a:pPr>
              <a:t>12/3/2015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smtClean="0">
                <a:cs typeface="+mn-cs"/>
              </a:defRPr>
            </a:lvl1pPr>
          </a:lstStyle>
          <a:p>
            <a:pPr>
              <a:defRPr/>
            </a:pPr>
            <a:fld id="{820D211B-E45D-4969-BB8E-C7B851650F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854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27E5420-BBC3-477C-AC4C-A029A5EAA62C}" type="slidenum">
              <a:rPr lang="en-US"/>
              <a:pPr eaLnBrk="1" hangingPunct="1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69D231B-9C90-4317-8895-542C4B768923}" type="slidenum">
              <a:rPr lang="en-US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073A6C-0FB7-449A-8561-308B5994DA55}" type="slidenum">
              <a:rPr lang="en-US"/>
              <a:pPr eaLnBrk="1" hangingPunct="1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598A6DE-6F16-4CFC-9211-3234EEDF97BD}" type="slidenum">
              <a:rPr lang="en-US"/>
              <a:pPr eaLnBrk="1" hangingPunct="1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5F5B96-E29A-4150-B55D-87371A05DF74}" type="slidenum">
              <a:rPr lang="en-US"/>
              <a:pPr eaLnBrk="1" hangingPunct="1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0336AD2-DD59-4FC2-B481-CF2005473078}" type="slidenum">
              <a:rPr lang="en-US"/>
              <a:pPr eaLnBrk="1" hangingPunct="1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4AD323D-5D82-45D2-8ADF-21888B695F9D}" type="slidenum">
              <a:rPr lang="en-US"/>
              <a:pPr eaLnBrk="1" hangingPunct="1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C7180D8-8818-48E9-B193-8F5EFFB2F88E}" type="slidenum">
              <a:rPr lang="en-US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AD49262-4F9B-4E9A-8642-76E4E2D5D73C}" type="slidenum">
              <a:rPr lang="en-US"/>
              <a:pPr eaLnBrk="1" hangingPunct="1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DCBECD-5286-4647-886E-ABFB296783AB}" type="slidenum">
              <a:rPr lang="en-US"/>
              <a:pPr eaLnBrk="1" hangingPunct="1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DC247CC-22B9-4D20-856A-E173E39E644B}" type="slidenum">
              <a:rPr lang="en-US"/>
              <a:pPr eaLnBrk="1" hangingPunct="1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EB391E8-1884-4AD2-BC72-8BC44FF7A16A}" type="slidenum">
              <a:rPr lang="en-US"/>
              <a:pPr eaLnBrk="1" hangingPunct="1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19DF65B-CFCF-47F0-A18E-BC890A00F72F}" type="slidenum">
              <a:rPr lang="en-US"/>
              <a:pPr eaLnBrk="1" hangingPunct="1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6BF4D6-0471-48DD-8FB9-76F5A490A687}" type="slidenum">
              <a:rPr lang="en-US"/>
              <a:pPr eaLnBrk="1" hangingPunct="1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2546B68-9E03-48CE-9744-0BE083F57B31}" type="slidenum">
              <a:rPr lang="en-US"/>
              <a:pPr eaLnBrk="1" hangingPunct="1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20CCA3D-F282-4778-B038-6436719CA5EC}" type="slidenum">
              <a:rPr lang="en-US"/>
              <a:pPr eaLnBrk="1" hangingPunct="1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15C91D4-FC7E-4F9A-ABAA-52580F44966F}" type="slidenum">
              <a:rPr lang="en-US"/>
              <a:pPr eaLnBrk="1" hangingPunct="1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F2844D-E503-4A1C-9087-E9F02BCFF979}" type="slidenum">
              <a:rPr lang="en-US"/>
              <a:pPr eaLnBrk="1" hangingPunct="1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EA57A98-6869-49DF-8502-BA9502DA9BFD}" type="slidenum">
              <a:rPr lang="en-US"/>
              <a:pPr eaLnBrk="1" hangingPunct="1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84D5B9-B6A4-44AD-9E35-634CAECA517F}" type="slidenum">
              <a:rPr lang="en-US"/>
              <a:pPr eaLnBrk="1" hangingPunct="1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7457DD-9207-4FA8-86AA-18289FD37B9F}" type="slidenum">
              <a:rPr lang="en-US"/>
              <a:pPr eaLnBrk="1" hangingPunct="1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CCFB4B7-4E36-4B0B-857D-624B3DFCA6A9}" type="slidenum">
              <a:rPr lang="en-US"/>
              <a:pPr eaLnBrk="1" hangingPunct="1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DD30A61-2ADC-4C27-A144-BC84888984D1}" type="slidenum">
              <a:rPr lang="en-US"/>
              <a:pPr eaLnBrk="1" hangingPunct="1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AECEBA9-6DEA-434E-B0BD-2344FDBB713D}" type="slidenum">
              <a:rPr lang="en-US"/>
              <a:pPr eaLnBrk="1" hangingPunct="1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B51837A-D25A-4DF1-80CF-DA85F14160E1}" type="slidenum">
              <a:rPr lang="en-US"/>
              <a:pPr eaLnBrk="1" hangingPunct="1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A1486B7-4613-4484-B092-CE0D95C6DF07}" type="slidenum">
              <a:rPr lang="en-US"/>
              <a:pPr eaLnBrk="1" hangingPunct="1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9AD9780-79FF-48BF-9298-D056220DB85A}" type="slidenum">
              <a:rPr lang="en-US"/>
              <a:pPr eaLnBrk="1" hangingPunct="1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143E8A3-EB24-4544-8BAF-CF735BD65252}" type="slidenum">
              <a:rPr lang="en-US"/>
              <a:pPr eaLnBrk="1" hangingPunct="1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F8DD08B-D1E7-4F57-BB30-D3E365A8BC3C}" type="slidenum">
              <a:rPr lang="en-US"/>
              <a:pPr eaLnBrk="1" hangingPunct="1"/>
              <a:t>31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1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3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1143000" y="228600"/>
            <a:ext cx="67056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Tr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ườ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Đại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học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Tự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nhiên</a:t>
            </a:r>
            <a:endParaRPr lang="en-US" sz="1600">
              <a:solidFill>
                <a:schemeClr val="tx2"/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1600" err="1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nghệ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thông tin</a:t>
            </a:r>
          </a:p>
          <a:p>
            <a:pPr>
              <a:defRPr/>
            </a:pP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Bộ môn Tin học c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ơ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s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ở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 </a:t>
            </a:r>
          </a:p>
        </p:txBody>
      </p:sp>
      <p:sp>
        <p:nvSpPr>
          <p:cNvPr id="12" name="AutoShape 113" descr="gdd01"/>
          <p:cNvSpPr>
            <a:spLocks noChangeArrowheads="1"/>
          </p:cNvSpPr>
          <p:nvPr userDrawn="1"/>
        </p:nvSpPr>
        <p:spPr bwMode="gray">
          <a:xfrm>
            <a:off x="190500" y="3162300"/>
            <a:ext cx="1752600" cy="1600200"/>
          </a:xfrm>
          <a:prstGeom prst="hexagon">
            <a:avLst>
              <a:gd name="adj" fmla="val 27381"/>
              <a:gd name="vf" fmla="val 11547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3" name="AutoShape 114" descr="gdd04"/>
          <p:cNvSpPr>
            <a:spLocks noChangeArrowheads="1"/>
          </p:cNvSpPr>
          <p:nvPr userDrawn="1"/>
        </p:nvSpPr>
        <p:spPr bwMode="gray">
          <a:xfrm>
            <a:off x="1638300" y="23241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4" name="AutoShape 115" descr="gdd03"/>
          <p:cNvSpPr>
            <a:spLocks noChangeArrowheads="1"/>
          </p:cNvSpPr>
          <p:nvPr userDrawn="1"/>
        </p:nvSpPr>
        <p:spPr bwMode="gray">
          <a:xfrm>
            <a:off x="1600200" y="40386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endParaRPr lang="ko-KR" altLang="en-US">
              <a:latin typeface="Times New Roman" pitchFamily="18" charset="0"/>
              <a:ea typeface="Gulim" pitchFamily="34" charset="-127"/>
              <a:cs typeface="+mn-cs"/>
            </a:endParaRPr>
          </a:p>
        </p:txBody>
      </p:sp>
      <p:sp>
        <p:nvSpPr>
          <p:cNvPr id="1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D1CBA24E-081A-4758-97EB-DEC0752C1E91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 userDrawn="1"/>
        </p:nvSpPr>
        <p:spPr bwMode="white">
          <a:xfrm>
            <a:off x="3505200" y="1600200"/>
            <a:ext cx="434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0" indent="0" algn="r">
              <a:buFont typeface="Wingdings" pitchFamily="2" charset="2"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kern="0" smtClean="0">
                <a:solidFill>
                  <a:schemeClr val="tx1"/>
                </a:solidFill>
                <a:latin typeface="+mn-lt"/>
                <a:cs typeface="+mn-cs"/>
              </a:rPr>
              <a:t>Đặng Bình Ph</a:t>
            </a:r>
            <a:r>
              <a:rPr lang="vi-VN" kern="0" smtClean="0">
                <a:solidFill>
                  <a:schemeClr val="tx1"/>
                </a:solidFill>
                <a:latin typeface="+mn-lt"/>
                <a:cs typeface="+mn-cs"/>
              </a:rPr>
              <a:t>ươ</a:t>
            </a:r>
            <a:r>
              <a:rPr lang="en-US" kern="0" smtClean="0">
                <a:solidFill>
                  <a:schemeClr val="tx1"/>
                </a:solidFill>
                <a:latin typeface="+mn-lt"/>
                <a:cs typeface="+mn-cs"/>
              </a:rPr>
              <a:t>ng</a:t>
            </a:r>
          </a:p>
          <a:p>
            <a:pPr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1200" kern="0" smtClean="0">
                <a:solidFill>
                  <a:schemeClr val="tx1"/>
                </a:solidFill>
                <a:latin typeface="+mn-lt"/>
                <a:cs typeface="+mn-cs"/>
              </a:rPr>
              <a:t>dbphuong@fit.hcmuns.edu.vn</a:t>
            </a:r>
            <a:endParaRPr lang="en-US" sz="1200" kern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7" name="Rounded Rectangle 16"/>
          <p:cNvSpPr/>
          <p:nvPr userDrawn="1"/>
        </p:nvSpPr>
        <p:spPr>
          <a:xfrm>
            <a:off x="304800" y="152400"/>
            <a:ext cx="708025" cy="990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1143000"/>
            <a:ext cx="6705600" cy="533400"/>
          </a:xfrm>
        </p:spPr>
        <p:txBody>
          <a:bodyPr/>
          <a:lstStyle>
            <a:lvl1pPr algn="r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477000"/>
            <a:ext cx="2590800" cy="228600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1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309DADE-1311-4FA1-A160-954B0F7BA94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>
            <a:lvl1pPr>
              <a:defRPr b="0"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ED289A7-1EDC-4606-B067-9AAD1E5B283B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1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EBC3757A-5674-42CF-94DE-04157268E26D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7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55669BF-7B3B-4A00-B257-8A0B882BDAEA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24C69098-3D01-435E-B728-D267C574EEDB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5E3E044C-81B4-4E62-BBE7-6E041725B41E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82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54EF1350-52AF-4387-9D85-AF645758BF67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2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26817335-F6AA-44E6-8839-71F608DEF87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5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93EB3BD-85A1-45D5-8B11-1D41E38EB248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9CAE07C1-A8B8-40E6-85A9-445F5A9D1AEE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1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EB0B6E6F-D6E6-400D-9260-7B9C59DE5630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82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5453DBC3-AA03-4F31-8FCF-FE43CFEE8105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/>
          <p:cNvSpPr>
            <a:spLocks/>
          </p:cNvSpPr>
          <p:nvPr/>
        </p:nvSpPr>
        <p:spPr bwMode="gray">
          <a:xfrm>
            <a:off x="-9525" y="344488"/>
            <a:ext cx="8194675" cy="6334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049" y="2"/>
              </a:cxn>
              <a:cxn ang="0">
                <a:pos x="5048" y="1458"/>
              </a:cxn>
              <a:cxn ang="0">
                <a:pos x="0" y="1471"/>
              </a:cxn>
              <a:cxn ang="0">
                <a:pos x="0" y="0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027" name="Group 16"/>
          <p:cNvGrpSpPr>
            <a:grpSpLocks/>
          </p:cNvGrpSpPr>
          <p:nvPr/>
        </p:nvGrpSpPr>
        <p:grpSpPr bwMode="auto"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041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043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4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45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5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19863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477000"/>
            <a:ext cx="28956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7" name="AutoShape 23"/>
          <p:cNvSpPr>
            <a:spLocks noChangeArrowheads="1"/>
          </p:cNvSpPr>
          <p:nvPr userDrawn="1"/>
        </p:nvSpPr>
        <p:spPr bwMode="gray">
          <a:xfrm>
            <a:off x="169863" y="436563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chemeClr val="tx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VC</a:t>
            </a:r>
          </a:p>
        </p:txBody>
      </p:sp>
      <p:sp>
        <p:nvSpPr>
          <p:cNvPr id="1048" name="AutoShape 24"/>
          <p:cNvSpPr>
            <a:spLocks noChangeArrowheads="1"/>
          </p:cNvSpPr>
          <p:nvPr userDrawn="1"/>
        </p:nvSpPr>
        <p:spPr bwMode="gray">
          <a:xfrm>
            <a:off x="517525" y="228600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rgbClr val="FFC000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cs typeface="+mn-cs"/>
              </a:rPr>
              <a:t>&amp;</a:t>
            </a:r>
          </a:p>
        </p:txBody>
      </p:sp>
      <p:sp>
        <p:nvSpPr>
          <p:cNvPr id="1049" name="AutoShape 25"/>
          <p:cNvSpPr>
            <a:spLocks noChangeArrowheads="1"/>
          </p:cNvSpPr>
          <p:nvPr userDrawn="1"/>
        </p:nvSpPr>
        <p:spPr bwMode="gray">
          <a:xfrm>
            <a:off x="517525" y="647700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rgbClr val="FF99FF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cs typeface="+mn-cs"/>
              </a:rPr>
              <a:t>BB</a:t>
            </a:r>
            <a:endParaRPr lang="en-US" sz="1600" b="1" baseline="30000">
              <a:solidFill>
                <a:schemeClr val="bg1"/>
              </a:solidFill>
              <a:cs typeface="+mn-cs"/>
            </a:endParaRPr>
          </a:p>
        </p:txBody>
      </p:sp>
      <p:sp>
        <p:nvSpPr>
          <p:cNvPr id="103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1CF8F042-1ACD-4820-90AD-6C9FEDA1735F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Tahoma" pitchFamily="34" charset="0"/>
          <a:cs typeface="Tahoma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ahoma" pitchFamily="34" charset="0"/>
          <a:cs typeface="Tahoma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Nhập môn Lập trình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MẢNG </a:t>
            </a:r>
            <a:r>
              <a:rPr lang="en-US" sz="3200" smtClean="0">
                <a:latin typeface="Arial" charset="0"/>
                <a:cs typeface="Arial" charset="0"/>
              </a:rPr>
              <a:t>2 </a:t>
            </a:r>
            <a:r>
              <a:rPr lang="en-US" sz="3200" smtClean="0">
                <a:latin typeface="Arial" charset="0"/>
                <a:cs typeface="Arial" charset="0"/>
              </a:rPr>
              <a:t>CHIỀU</a:t>
            </a: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43967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grpSp>
        <p:nvGrpSpPr>
          <p:cNvPr id="16388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6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7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6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Khái niệm</a:t>
              </a:r>
            </a:p>
          </p:txBody>
        </p:sp>
        <p:sp>
          <p:nvSpPr>
            <p:cNvPr id="16407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6389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11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2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Khai báo</a:t>
              </a:r>
            </a:p>
          </p:txBody>
        </p:sp>
        <p:sp>
          <p:nvSpPr>
            <p:cNvPr id="1640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6390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16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7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8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Truy xuất dữ liệu kiểu mảng</a:t>
              </a:r>
            </a:p>
          </p:txBody>
        </p:sp>
        <p:sp>
          <p:nvSpPr>
            <p:cNvPr id="16399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6391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21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2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4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Một số bài toán trên mảng 2 chiều</a:t>
              </a:r>
            </a:p>
          </p:txBody>
        </p:sp>
        <p:sp>
          <p:nvSpPr>
            <p:cNvPr id="16395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 Trận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1066800" y="3352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 rot="5400000">
            <a:off x="1143000" y="38100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10668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m-1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15240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19812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24384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28956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15240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28956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15240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19812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24384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24384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28956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19812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15240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19812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24384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28956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533400" y="38100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 baseline="-25000">
                <a:solidFill>
                  <a:srgbClr val="FF0000"/>
                </a:solidFill>
              </a:rPr>
              <a:t>m,n</a:t>
            </a:r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4876800" y="3352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 rot="5400000">
            <a:off x="4953000" y="38100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…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4876800" y="4267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n-1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53340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57912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6248400" y="3352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53340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53340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57912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6248400" y="3810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62484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5791200" y="4267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4343400" y="38100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US" b="1" baseline="-2500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53340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57912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…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6248400" y="2895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n-1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biến mảng 2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lvl="1">
              <a:defRPr/>
            </a:pPr>
            <a:r>
              <a:rPr lang="en-US" smtClean="0"/>
              <a:t>T</a:t>
            </a:r>
            <a:r>
              <a:rPr lang="vi-VN" smtClean="0"/>
              <a:t>ườ</a:t>
            </a:r>
            <a:r>
              <a:rPr lang="en-US" smtClean="0"/>
              <a:t>ng minh</a:t>
            </a:r>
          </a:p>
          <a:p>
            <a:pPr>
              <a:defRPr/>
            </a:pPr>
            <a:endParaRPr lang="en-US" smtClean="0"/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Không t</a:t>
            </a:r>
            <a:r>
              <a:rPr lang="vi-VN" smtClean="0"/>
              <a:t>ườ</a:t>
            </a:r>
            <a:r>
              <a:rPr lang="en-US" smtClean="0"/>
              <a:t>ng minh (thông qua kiểu)</a:t>
            </a: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90800"/>
            <a:ext cx="152400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6670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&lt;tên biến&gt;[&lt;N1&gt;][&lt;N2&gt;];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14800"/>
            <a:ext cx="152400" cy="137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4191000"/>
            <a:ext cx="83058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&lt;kiểu c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sở&gt;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&lt;tên kiểu&gt;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[&lt;N1&gt;][&lt;N2&gt;];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&lt;tên kiểu&gt;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biến&gt;;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&lt;tên kiểu&gt;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1&gt;, &lt;tên biến 2&gt;;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Khai báo biến mảng 2 chiều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>
              <a:defRPr/>
            </a:pPr>
            <a:r>
              <a:rPr lang="en-US" smtClean="0"/>
              <a:t>T</a:t>
            </a:r>
            <a:r>
              <a:rPr lang="vi-VN" smtClean="0"/>
              <a:t>ườ</a:t>
            </a:r>
            <a:r>
              <a:rPr lang="en-US" smtClean="0"/>
              <a:t>ng minh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Không t</a:t>
            </a:r>
            <a:r>
              <a:rPr lang="vi-VN" smtClean="0"/>
              <a:t>ườ</a:t>
            </a:r>
            <a:r>
              <a:rPr lang="en-US" smtClean="0"/>
              <a:t>ng minh (thông qua kiểu)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152400" cy="106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590800"/>
            <a:ext cx="7315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a[10][20], b[10][20];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c[5][10];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d[10][20];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91000"/>
            <a:ext cx="152400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4267200"/>
            <a:ext cx="8305800" cy="1938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MaTran10x20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[10][20];</a:t>
            </a:r>
          </a:p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MaTran5x10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[5][10];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MaTran10x20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a, b;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MaTran11x11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c;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MaTran10x20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d;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667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971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276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10" grpId="0"/>
      <p:bldP spid="11" grpId="0" animBg="1"/>
      <p:bldP spid="11" grpId="1" animBg="1"/>
      <p:bldP spid="12" grpId="0" animBg="1"/>
      <p:bldP spid="13" grpId="0" animBg="1"/>
      <p:bldP spid="13" grpId="1" animBg="1"/>
      <p:bldP spid="14" grpId="0" animBg="1"/>
      <p:bldP spid="15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xuất </a:t>
            </a:r>
            <a:r>
              <a:rPr lang="vi-VN" smtClean="0"/>
              <a:t>đế</a:t>
            </a:r>
            <a:r>
              <a:rPr lang="en-US" smtClean="0"/>
              <a:t>n một phần tử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Thông qua chỉ số</a:t>
            </a:r>
          </a:p>
          <a:p>
            <a:pPr lvl="1"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>
              <a:defRPr/>
            </a:pPr>
            <a:r>
              <a:rPr lang="en-US" smtClean="0"/>
              <a:t>Cho mảng 2 chiều nh</a:t>
            </a:r>
            <a:r>
              <a:rPr lang="vi-VN" smtClean="0"/>
              <a:t>ư</a:t>
            </a:r>
            <a:r>
              <a:rPr lang="en-US" smtClean="0"/>
              <a:t> sau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Các truy xuất</a:t>
            </a:r>
          </a:p>
          <a:p>
            <a:pPr lvl="2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Hợp lệ</a:t>
            </a:r>
            <a:r>
              <a:rPr lang="en-US" smtClean="0"/>
              <a:t>: a[0][0],  a[0][1], …, a[2][2], a[2][3]</a:t>
            </a:r>
          </a:p>
          <a:p>
            <a:pPr lvl="2">
              <a:defRPr/>
            </a:pPr>
            <a:r>
              <a:rPr lang="en-US" smtClean="0">
                <a:solidFill>
                  <a:srgbClr val="FF0000"/>
                </a:solidFill>
              </a:rPr>
              <a:t>Không hợp lệ</a:t>
            </a:r>
            <a:r>
              <a:rPr lang="en-US" smtClean="0"/>
              <a:t>: a[-1][0], a[2][4], a[3][3]</a:t>
            </a:r>
            <a:endParaRPr lang="en-US"/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812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0574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&lt;tên biến mảng&gt;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&lt;giá trị cs1&gt;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&lt;giá trị cs2&gt;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152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3733800"/>
            <a:ext cx="731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a[3][4];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5867400" y="29718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0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5867400" y="34290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1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5867400" y="38862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2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63246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67818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72390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7696200" y="29718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63246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76962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63246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67818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7239000" y="34290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72390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76962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6781800" y="3886200"/>
            <a:ext cx="457200" cy="4572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63246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67818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72390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7696200" y="2514600"/>
            <a:ext cx="457200" cy="457200"/>
          </a:xfrm>
          <a:prstGeom prst="roundRect">
            <a:avLst>
              <a:gd name="adj" fmla="val 16667"/>
            </a:avLst>
          </a:prstGeom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3</a:t>
            </a:r>
            <a:endParaRPr lang="en-US" baseline="300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Gán dữ liệu kiểu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FF0000"/>
                </a:solidFill>
              </a:rPr>
              <a:t>Không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đượ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 sử dụng phép gán thông 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mà phải gán trực tiếp giữa các phần tử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152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8200" y="2514602"/>
            <a:ext cx="7315200" cy="1015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 strike="sngStrike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ch&gt; = &lt;biến mảng nguồn&gt;;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//sai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&lt;biến mảng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đí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ch&gt;[&lt;giá trị cs1&gt;][giá trị cs2] =</a:t>
            </a:r>
          </a:p>
          <a:p>
            <a:pPr algn="r"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&lt;giá trị&gt;;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4038600"/>
            <a:ext cx="152400" cy="2286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4038600"/>
            <a:ext cx="73152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a[5][10], b[5][10];</a:t>
            </a:r>
          </a:p>
          <a:p>
            <a:pPr eaLnBrk="1" hangingPunct="1"/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 = a;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	// Sai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i, j;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5;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(j = 0; j &lt; 10;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b[i][j] = a[i][j];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mảng cho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mảng cho hàm</a:t>
            </a:r>
          </a:p>
          <a:p>
            <a:pPr lvl="1">
              <a:defRPr/>
            </a:pPr>
            <a:r>
              <a:rPr lang="en-US" smtClean="0"/>
              <a:t>Tham số kiểu mảng trong khai báo hàm </a:t>
            </a:r>
            <a:r>
              <a:rPr lang="en-US" smtClean="0">
                <a:solidFill>
                  <a:srgbClr val="FF0000"/>
                </a:solidFill>
              </a:rPr>
              <a:t>giống nh</a:t>
            </a:r>
            <a:r>
              <a:rPr lang="vi-VN" smtClean="0">
                <a:solidFill>
                  <a:srgbClr val="FF0000"/>
                </a:solidFill>
              </a:rPr>
              <a:t>ư</a:t>
            </a:r>
            <a:r>
              <a:rPr lang="en-US" smtClean="0">
                <a:solidFill>
                  <a:srgbClr val="FF0000"/>
                </a:solidFill>
              </a:rPr>
              <a:t> khai báo biến</a:t>
            </a:r>
            <a:r>
              <a:rPr lang="en-US" smtClean="0"/>
              <a:t> mảng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r>
              <a:rPr lang="en-US" smtClean="0"/>
              <a:t>Tham số kiểu mảng truyền cho hàm chính là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a chỉ của phần tử </a:t>
            </a:r>
            <a:r>
              <a:rPr lang="vi-VN" smtClean="0">
                <a:solidFill>
                  <a:srgbClr val="FF0000"/>
                </a:solidFill>
              </a:rPr>
              <a:t>đầ</a:t>
            </a:r>
            <a:r>
              <a:rPr lang="en-US" smtClean="0">
                <a:solidFill>
                  <a:srgbClr val="FF0000"/>
                </a:solidFill>
              </a:rPr>
              <a:t>u tiên của mảng</a:t>
            </a:r>
          </a:p>
          <a:p>
            <a:pPr lvl="2">
              <a:defRPr/>
            </a:pPr>
            <a:r>
              <a:rPr lang="en-US" smtClean="0"/>
              <a:t>Có thể bỏ số l</a:t>
            </a:r>
            <a:r>
              <a:rPr lang="vi-VN" smtClean="0"/>
              <a:t>ượ</a:t>
            </a:r>
            <a:r>
              <a:rPr lang="en-US" smtClean="0"/>
              <a:t>ng phần tử chiều thứ 2 hoặc con trỏ.</a:t>
            </a:r>
          </a:p>
          <a:p>
            <a:pPr lvl="2">
              <a:defRPr/>
            </a:pPr>
            <a:r>
              <a:rPr lang="en-US" smtClean="0"/>
              <a:t>Mảng có thể thay </a:t>
            </a:r>
            <a:r>
              <a:rPr lang="vi-VN" smtClean="0"/>
              <a:t>đổ</a:t>
            </a:r>
            <a:r>
              <a:rPr lang="en-US" smtClean="0"/>
              <a:t>i nội dung sau khi thực hiện hàm.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971800"/>
            <a:ext cx="1524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0480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a[50][100]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334000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5410200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a[][100]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(*a)[100]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Truyền mảng cho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Truyền mảng cho hàm</a:t>
            </a:r>
          </a:p>
          <a:p>
            <a:pPr lvl="1">
              <a:defRPr/>
            </a:pPr>
            <a:r>
              <a:rPr lang="en-US" smtClean="0"/>
              <a:t>Số l</a:t>
            </a:r>
            <a:r>
              <a:rPr lang="vi-VN" smtClean="0"/>
              <a:t>ượ</a:t>
            </a:r>
            <a:r>
              <a:rPr lang="en-US" smtClean="0"/>
              <a:t>ng phần tử thực sự truyền qua biến khác</a:t>
            </a:r>
          </a:p>
          <a:p>
            <a:pPr lvl="1">
              <a:defRPr/>
            </a:pPr>
            <a:endParaRPr lang="en-US" smtClean="0"/>
          </a:p>
          <a:p>
            <a:pPr lvl="1">
              <a:defRPr/>
            </a:pPr>
            <a:endParaRPr lang="en-US" smtClean="0"/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Lời gọi hàm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90800"/>
            <a:ext cx="152400" cy="990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38200" y="2565400"/>
            <a:ext cx="8305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a[50][100],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a[][100],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(*a)[100],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91000"/>
            <a:ext cx="152400" cy="2438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838200" y="4165600"/>
            <a:ext cx="8305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NhapMaTran(int a[][100], int &amp;m, int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XuatMaTran(int a[][100], int m, int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a[50][100], m,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NhapMaTran(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m,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XuatMaTran(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m,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bài toán c</a:t>
            </a:r>
            <a:r>
              <a:rPr lang="vi-VN" smtClean="0"/>
              <a:t>ơ</a:t>
            </a:r>
            <a:r>
              <a:rPr lang="en-US" smtClean="0"/>
              <a:t>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Viết ch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ươ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trình con thực hiện các yêu cầu sau</a:t>
            </a:r>
          </a:p>
          <a:p>
            <a:pPr lvl="1">
              <a:defRPr/>
            </a:pPr>
            <a:r>
              <a:rPr lang="en-US" smtClean="0"/>
              <a:t>Nhập mảng</a:t>
            </a:r>
          </a:p>
          <a:p>
            <a:pPr lvl="1">
              <a:defRPr/>
            </a:pPr>
            <a:r>
              <a:rPr lang="en-US" smtClean="0"/>
              <a:t>Xuất mảng</a:t>
            </a:r>
          </a:p>
          <a:p>
            <a:pPr lvl="1">
              <a:defRPr/>
            </a:pPr>
            <a:r>
              <a:rPr lang="en-US" smtClean="0"/>
              <a:t>Tìm kiếm một phần tử trong mảng</a:t>
            </a:r>
          </a:p>
          <a:p>
            <a:pPr lvl="1">
              <a:defRPr/>
            </a:pPr>
            <a:r>
              <a:rPr lang="en-US" smtClean="0"/>
              <a:t>Kiểm tra tính chất của mảng</a:t>
            </a:r>
          </a:p>
          <a:p>
            <a:pPr lvl="1">
              <a:defRPr/>
            </a:pPr>
            <a:r>
              <a:rPr lang="en-US" smtClean="0"/>
              <a:t>Tính tổng các phần tử trên dòng/cột/toàn ma trận/</a:t>
            </a:r>
            <a:r>
              <a:rPr lang="vi-VN" smtClean="0"/>
              <a:t>đườ</a:t>
            </a:r>
            <a:r>
              <a:rPr lang="en-US" smtClean="0"/>
              <a:t>ng chéo chính/nửa trên/nửa d</a:t>
            </a:r>
            <a:r>
              <a:rPr lang="vi-VN" smtClean="0"/>
              <a:t>ướ</a:t>
            </a:r>
            <a:r>
              <a:rPr lang="en-US" smtClean="0"/>
              <a:t>i</a:t>
            </a:r>
          </a:p>
          <a:p>
            <a:pPr lvl="1">
              <a:defRPr/>
            </a:pPr>
            <a:r>
              <a:rPr lang="en-US" smtClean="0"/>
              <a:t>Tìm giá trị nhỏ nhất/lớn nhất của mảng</a:t>
            </a:r>
          </a:p>
          <a:p>
            <a:pPr lvl="1">
              <a:defRPr/>
            </a:pPr>
            <a:r>
              <a:rPr lang="en-US" smtClean="0"/>
              <a:t>…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Một số quy </a:t>
            </a:r>
            <a:r>
              <a:rPr lang="vi-VN" smtClean="0"/>
              <a:t>ướ</a:t>
            </a:r>
            <a:r>
              <a:rPr lang="en-US" smtClean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Kiểu dữ liệu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ch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ươ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 trình con</a:t>
            </a:r>
          </a:p>
          <a:p>
            <a:pPr lvl="1">
              <a:defRPr/>
            </a:pPr>
            <a:r>
              <a:rPr lang="en-US" smtClean="0"/>
              <a:t>Hàm </a:t>
            </a:r>
            <a:r>
              <a:rPr lang="en-US" smtClean="0">
                <a:solidFill>
                  <a:srgbClr val="FF0000"/>
                </a:solidFill>
              </a:rPr>
              <a:t>void HoanVi(int x, int y)</a:t>
            </a:r>
            <a:r>
              <a:rPr lang="en-US" smtClean="0"/>
              <a:t>: hoán vị giá trị của hai số nguyên.</a:t>
            </a:r>
          </a:p>
          <a:p>
            <a:pPr lvl="1">
              <a:defRPr/>
            </a:pPr>
            <a:r>
              <a:rPr lang="en-US" smtClean="0"/>
              <a:t>Hàm </a:t>
            </a:r>
            <a:r>
              <a:rPr lang="en-US" smtClean="0">
                <a:solidFill>
                  <a:srgbClr val="FF0000"/>
                </a:solidFill>
              </a:rPr>
              <a:t>int LaSNT(int n)</a:t>
            </a:r>
            <a:r>
              <a:rPr lang="en-US" smtClean="0"/>
              <a:t>: kiểm tra một số có phải là số nguyên tố. Trả về 1 nếu n là số nguyên tố, ng</a:t>
            </a:r>
            <a:r>
              <a:rPr lang="vi-VN" smtClean="0"/>
              <a:t>ượ</a:t>
            </a:r>
            <a:r>
              <a:rPr lang="en-US" smtClean="0"/>
              <a:t>c lại trả về 0.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87575"/>
            <a:ext cx="152400" cy="685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87575"/>
            <a:ext cx="830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MAXD 50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MAXC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Thủ tục HoanVi &amp; Hàm LaSNT</a:t>
            </a:r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524000"/>
            <a:ext cx="7010400" cy="501675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HoanVi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&amp;x, int &amp;y)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tam = x; x = y; y = tam;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LaSNT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n)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i, dem = 0;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if (n%i == 0)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dem++;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if (dem == 2)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strike="sngStrike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return 0;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Nhập Ma Trận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z="2400" smtClean="0"/>
              <a:t>Cho phép nhập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</a:t>
            </a:r>
            <a:r>
              <a:rPr lang="en-US" sz="2400" smtClean="0">
                <a:solidFill>
                  <a:srgbClr val="FF0000"/>
                </a:solidFill>
              </a:rPr>
              <a:t>m </a:t>
            </a:r>
            <a:r>
              <a:rPr lang="en-US" sz="2400" smtClean="0"/>
              <a:t>dòng, </a:t>
            </a:r>
            <a:r>
              <a:rPr lang="en-US" sz="2400" smtClean="0">
                <a:solidFill>
                  <a:srgbClr val="FF0000"/>
                </a:solidFill>
              </a:rPr>
              <a:t>n </a:t>
            </a:r>
            <a:r>
              <a:rPr lang="en-US" sz="2400" smtClean="0"/>
              <a:t>cột</a:t>
            </a:r>
            <a:endParaRPr lang="en-US" sz="240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một mảng 2 chiều có dòng tối </a:t>
            </a:r>
            <a:r>
              <a:rPr lang="vi-VN" sz="2400" smtClean="0"/>
              <a:t>đ</a:t>
            </a:r>
            <a:r>
              <a:rPr lang="en-US" sz="2400" smtClean="0"/>
              <a:t>a là MAXD, số cột tối </a:t>
            </a:r>
            <a:r>
              <a:rPr lang="vi-VN" sz="2400" smtClean="0"/>
              <a:t>đ</a:t>
            </a:r>
            <a:r>
              <a:rPr lang="en-US" sz="2400" smtClean="0"/>
              <a:t>a là MAXC.</a:t>
            </a:r>
          </a:p>
          <a:p>
            <a:pPr lvl="1">
              <a:defRPr/>
            </a:pPr>
            <a:r>
              <a:rPr lang="en-US" sz="2400" smtClean="0"/>
              <a:t>Nhập </a:t>
            </a:r>
            <a:r>
              <a:rPr lang="en-US" sz="2400" smtClean="0">
                <a:solidFill>
                  <a:srgbClr val="FF0000"/>
                </a:solidFill>
              </a:rPr>
              <a:t>số l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ng phần tử thực sự m, n</a:t>
            </a:r>
            <a:r>
              <a:rPr lang="en-US" sz="2400" smtClean="0"/>
              <a:t> của mỗi chiều.</a:t>
            </a:r>
          </a:p>
          <a:p>
            <a:pPr lvl="1">
              <a:defRPr/>
            </a:pPr>
            <a:r>
              <a:rPr lang="en-US" sz="2400" smtClean="0"/>
              <a:t>Nhập từng phần tử từ [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][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] </a:t>
            </a:r>
            <a:r>
              <a:rPr lang="vi-VN" sz="2400" smtClean="0"/>
              <a:t>đế</a:t>
            </a:r>
            <a:r>
              <a:rPr lang="en-US" sz="2400" smtClean="0"/>
              <a:t>n [</a:t>
            </a:r>
            <a:r>
              <a:rPr lang="en-US" sz="2400" smtClean="0">
                <a:solidFill>
                  <a:srgbClr val="FF0000"/>
                </a:solidFill>
              </a:rPr>
              <a:t>m-1</a:t>
            </a:r>
            <a:r>
              <a:rPr lang="en-US" sz="2400" smtClean="0"/>
              <a:t>][</a:t>
            </a:r>
            <a:r>
              <a:rPr lang="en-US" sz="2400" smtClean="0">
                <a:solidFill>
                  <a:srgbClr val="FF0000"/>
                </a:solidFill>
              </a:rPr>
              <a:t>n-1</a:t>
            </a:r>
            <a:r>
              <a:rPr lang="en-US" sz="2400" smtClean="0"/>
              <a:t>].</a:t>
            </a:r>
            <a:endParaRPr lang="en-US" sz="2400"/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Nhập Ma Trận</a:t>
            </a:r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NhapMaTran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m, 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so dong, so cot cua ma tran: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&amp;m,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printf(“Nhap a[%d][%d]: ”,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scanf(“%d”, &amp;a[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2209800"/>
            <a:ext cx="9128125" cy="533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15875" y="3429000"/>
            <a:ext cx="9128125" cy="533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4343400"/>
            <a:ext cx="9128125" cy="533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Xuất Ma Trận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z="2400" smtClean="0"/>
              <a:t>Cho phép nhập mảng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</a:t>
            </a:r>
            <a:r>
              <a:rPr lang="en-US" sz="2400" smtClean="0">
                <a:solidFill>
                  <a:srgbClr val="FF0000"/>
                </a:solidFill>
              </a:rPr>
              <a:t>m </a:t>
            </a:r>
            <a:r>
              <a:rPr lang="en-US" sz="2400" smtClean="0"/>
              <a:t>dòng, </a:t>
            </a:r>
            <a:r>
              <a:rPr lang="en-US" sz="2400" smtClean="0">
                <a:solidFill>
                  <a:srgbClr val="FF0000"/>
                </a:solidFill>
              </a:rPr>
              <a:t>n </a:t>
            </a:r>
            <a:r>
              <a:rPr lang="en-US" sz="2400" smtClean="0"/>
              <a:t>cột</a:t>
            </a:r>
            <a:endParaRPr lang="en-US" sz="240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>
              <a:defRPr/>
            </a:pPr>
            <a:r>
              <a:rPr lang="en-US" sz="2400" smtClean="0"/>
              <a:t>Xuất giá trị từng phần tử của mảng 2 chiều từ dòng có 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 </a:t>
            </a:r>
            <a:r>
              <a:rPr lang="vi-VN" sz="2400" smtClean="0"/>
              <a:t>đế</a:t>
            </a:r>
            <a:r>
              <a:rPr lang="en-US" sz="2400" smtClean="0"/>
              <a:t>n dòng </a:t>
            </a:r>
            <a:r>
              <a:rPr lang="en-US" sz="2400" smtClean="0">
                <a:solidFill>
                  <a:srgbClr val="FF0000"/>
                </a:solidFill>
              </a:rPr>
              <a:t>m-1</a:t>
            </a:r>
            <a:r>
              <a:rPr lang="en-US" sz="2400" smtClean="0"/>
              <a:t>, mỗi dòng xuất giá giá trị của cột </a:t>
            </a:r>
            <a:r>
              <a:rPr lang="en-US" sz="2400" smtClean="0">
                <a:solidFill>
                  <a:srgbClr val="FF0000"/>
                </a:solidFill>
              </a:rPr>
              <a:t>0</a:t>
            </a:r>
            <a:r>
              <a:rPr lang="en-US" sz="2400" smtClean="0"/>
              <a:t> </a:t>
            </a:r>
            <a:r>
              <a:rPr lang="vi-VN" sz="2400" smtClean="0"/>
              <a:t>đế</a:t>
            </a:r>
            <a:r>
              <a:rPr lang="en-US" sz="2400" smtClean="0"/>
              <a:t>n cột </a:t>
            </a:r>
            <a:r>
              <a:rPr lang="en-US" sz="2400" smtClean="0">
                <a:solidFill>
                  <a:srgbClr val="FF0000"/>
                </a:solidFill>
              </a:rPr>
              <a:t>n-1</a:t>
            </a:r>
            <a:r>
              <a:rPr lang="en-US" sz="2400" smtClean="0"/>
              <a:t> trên dòng </a:t>
            </a:r>
            <a:r>
              <a:rPr lang="vi-VN" sz="2400" smtClean="0"/>
              <a:t>đó</a:t>
            </a:r>
            <a:r>
              <a:rPr lang="en-US" sz="2400" smtClean="0"/>
              <a:t>.</a:t>
            </a: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Xuất Ma Trận</a:t>
            </a:r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XuatMaTran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printf(“%d ”, a[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][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Tìm kiếm một phần tử trong Ma Trận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z="2400" smtClean="0"/>
              <a:t>Tìm xem phần tử </a:t>
            </a:r>
            <a:r>
              <a:rPr lang="en-US" sz="2400" smtClean="0">
                <a:solidFill>
                  <a:srgbClr val="FF0000"/>
                </a:solidFill>
              </a:rPr>
              <a:t>x</a:t>
            </a:r>
            <a:r>
              <a:rPr lang="en-US" sz="2400" smtClean="0"/>
              <a:t> có nằm trong ma trận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m</a:t>
            </a:r>
            <a:r>
              <a:rPr lang="en-US" sz="2400" smtClean="0"/>
              <a:t>x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 hay không?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>
              <a:defRPr/>
            </a:pPr>
            <a:r>
              <a:rPr lang="en-US" sz="2400" smtClean="0"/>
              <a:t>Duyệt từng phần của ma trận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. Nếu phần tử </a:t>
            </a:r>
            <a:r>
              <a:rPr lang="vi-VN" sz="2400" smtClean="0"/>
              <a:t>đ</a:t>
            </a:r>
            <a:r>
              <a:rPr lang="en-US" sz="2400" smtClean="0"/>
              <a:t>ang xét bằng </a:t>
            </a:r>
            <a:r>
              <a:rPr lang="en-US" sz="2400" smtClean="0">
                <a:solidFill>
                  <a:srgbClr val="FF0000"/>
                </a:solidFill>
              </a:rPr>
              <a:t>x</a:t>
            </a:r>
            <a:r>
              <a:rPr lang="en-US" sz="2400" smtClean="0"/>
              <a:t> thì trả về có (1), ng</a:t>
            </a:r>
            <a:r>
              <a:rPr lang="vi-VN" sz="2400" smtClean="0"/>
              <a:t>ượ</a:t>
            </a:r>
            <a:r>
              <a:rPr lang="en-US" sz="2400" smtClean="0"/>
              <a:t>c lại trả về không có (0).</a:t>
            </a: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Tìm Kiếm</a:t>
            </a:r>
          </a:p>
        </p:txBody>
      </p:sp>
      <p:sp>
        <p:nvSpPr>
          <p:cNvPr id="3481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2819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82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TimKiem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n, int x)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&lt;m;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(a[i][j] == x)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2514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Kiểm tra tính chất của mảng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ma trận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m</a:t>
            </a:r>
            <a:r>
              <a:rPr lang="en-US" sz="2400" smtClean="0"/>
              <a:t>x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. Ma trận a có phải là ma trậntoàn các số nguyên tố hay không?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 1: </a:t>
            </a:r>
            <a:r>
              <a:rPr lang="en-US" sz="2400" smtClean="0">
                <a:solidFill>
                  <a:srgbClr val="FF0000"/>
                </a:solidFill>
              </a:rPr>
              <a:t>Đếm số l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ng số ngtố của ma trận</a:t>
            </a:r>
            <a:r>
              <a:rPr lang="en-US" sz="2400" smtClean="0"/>
              <a:t>. Nếu số l</a:t>
            </a:r>
            <a:r>
              <a:rPr lang="vi-VN" sz="2400" smtClean="0"/>
              <a:t>ượ</a:t>
            </a:r>
            <a:r>
              <a:rPr lang="en-US" sz="2400" smtClean="0"/>
              <a:t>ng này </a:t>
            </a:r>
            <a:r>
              <a:rPr lang="en-US" sz="2400" smtClean="0">
                <a:solidFill>
                  <a:srgbClr val="FF0000"/>
                </a:solidFill>
              </a:rPr>
              <a:t>bằng </a:t>
            </a:r>
            <a:r>
              <a:rPr lang="vi-VN" sz="2400" smtClean="0">
                <a:solidFill>
                  <a:srgbClr val="FF0000"/>
                </a:solidFill>
              </a:rPr>
              <a:t>đú</a:t>
            </a:r>
            <a:r>
              <a:rPr lang="en-US" sz="2400" smtClean="0">
                <a:solidFill>
                  <a:srgbClr val="FF0000"/>
                </a:solidFill>
              </a:rPr>
              <a:t>ng mxn</a:t>
            </a:r>
            <a:r>
              <a:rPr lang="en-US" sz="2400" smtClean="0"/>
              <a:t> thì ma trận toàn ngtố.</a:t>
            </a:r>
          </a:p>
          <a:p>
            <a:pPr lvl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 2: </a:t>
            </a:r>
            <a:r>
              <a:rPr lang="en-US" sz="2400" smtClean="0">
                <a:solidFill>
                  <a:srgbClr val="FF0000"/>
                </a:solidFill>
              </a:rPr>
              <a:t>Đếm số l</a:t>
            </a:r>
            <a:r>
              <a:rPr lang="vi-VN" sz="2400" smtClean="0">
                <a:solidFill>
                  <a:srgbClr val="FF0000"/>
                </a:solidFill>
              </a:rPr>
              <a:t>ượ</a:t>
            </a:r>
            <a:r>
              <a:rPr lang="en-US" sz="2400" smtClean="0">
                <a:solidFill>
                  <a:srgbClr val="FF0000"/>
                </a:solidFill>
              </a:rPr>
              <a:t>ng số không phải ngtố của ma trận</a:t>
            </a:r>
            <a:r>
              <a:rPr lang="en-US" sz="2400" smtClean="0"/>
              <a:t>. Nếu số l</a:t>
            </a:r>
            <a:r>
              <a:rPr lang="vi-VN" sz="2400" smtClean="0"/>
              <a:t>ượ</a:t>
            </a:r>
            <a:r>
              <a:rPr lang="en-US" sz="2400" smtClean="0"/>
              <a:t>ng này </a:t>
            </a:r>
            <a:r>
              <a:rPr lang="en-US" sz="2400" smtClean="0">
                <a:solidFill>
                  <a:srgbClr val="FF0000"/>
                </a:solidFill>
              </a:rPr>
              <a:t>bằng 0</a:t>
            </a:r>
            <a:r>
              <a:rPr lang="en-US" sz="2400" smtClean="0"/>
              <a:t> thì ma trận toàn ngtố.</a:t>
            </a:r>
          </a:p>
          <a:p>
            <a:pPr lvl="1"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 3: </a:t>
            </a:r>
            <a:r>
              <a:rPr lang="en-US" sz="2400" smtClean="0">
                <a:solidFill>
                  <a:srgbClr val="FF0000"/>
                </a:solidFill>
              </a:rPr>
              <a:t>Tìm</a:t>
            </a:r>
            <a:r>
              <a:rPr lang="en-US" sz="2400" smtClean="0"/>
              <a:t> xem có </a:t>
            </a:r>
            <a:r>
              <a:rPr lang="en-US" sz="2400" smtClean="0">
                <a:solidFill>
                  <a:srgbClr val="FF0000"/>
                </a:solidFill>
              </a:rPr>
              <a:t>phần tử nào không phải số ngtố</a:t>
            </a:r>
            <a:r>
              <a:rPr lang="en-US" sz="2400" smtClean="0"/>
              <a:t> không. Nếu có thì ma trận không toàn số ngtố.</a:t>
            </a: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Kiểm Tra (Cách 1)</a:t>
            </a:r>
          </a:p>
        </p:txBody>
      </p:sp>
      <p:sp>
        <p:nvSpPr>
          <p:cNvPr id="368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114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6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KiemTra_C1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j, dem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i&lt;m;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(j=0; j&lt;n;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(LaSNT(a[i][j]==1)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dem++;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(dem == m*n)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1600200"/>
            <a:ext cx="9128125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4343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15875" y="4953000"/>
            <a:ext cx="9128125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Kiểm Tra (Cách 2)</a:t>
            </a:r>
          </a:p>
        </p:txBody>
      </p:sp>
      <p:sp>
        <p:nvSpPr>
          <p:cNvPr id="3789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114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KiemTra_C2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j, dem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i&lt;m;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(j=0; j&lt;n;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(LaSNT(a[i][j]==0)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dem++;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(dem == 0)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1600200"/>
            <a:ext cx="9128125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343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953000"/>
            <a:ext cx="9128125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Kiểm Tra (Cách 2)</a:t>
            </a:r>
          </a:p>
        </p:txBody>
      </p:sp>
      <p:sp>
        <p:nvSpPr>
          <p:cNvPr id="3891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7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KiemTra_C3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j, dem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i&lt;m;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(j=0; j&lt;n;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LaSNT(a[i][j]==0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return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600200"/>
            <a:ext cx="9128125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267200"/>
            <a:ext cx="9128125" cy="381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Tính tổng các phần tử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ma trận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m</a:t>
            </a:r>
            <a:r>
              <a:rPr lang="en-US" sz="2400" smtClean="0"/>
              <a:t>x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. Tính tổng các phần tử trên:</a:t>
            </a:r>
          </a:p>
          <a:p>
            <a:pPr lvl="2">
              <a:defRPr/>
            </a:pPr>
            <a:r>
              <a:rPr lang="en-US" sz="2000" smtClean="0"/>
              <a:t>Dòng d, cột c</a:t>
            </a:r>
          </a:p>
          <a:p>
            <a:pPr lvl="2">
              <a:defRPr/>
            </a:pPr>
            <a:r>
              <a:rPr lang="vi-VN" sz="2000" smtClean="0"/>
              <a:t>Đườ</a:t>
            </a:r>
            <a:r>
              <a:rPr lang="en-US" sz="2000" smtClean="0"/>
              <a:t>ng chéo chính, </a:t>
            </a:r>
            <a:r>
              <a:rPr lang="vi-VN" sz="2000" smtClean="0"/>
              <a:t>đườ</a:t>
            </a:r>
            <a:r>
              <a:rPr lang="en-US" sz="2000" smtClean="0"/>
              <a:t>ng chéo phụ (ma trận vuông)</a:t>
            </a:r>
          </a:p>
          <a:p>
            <a:pPr lvl="2">
              <a:defRPr/>
            </a:pPr>
            <a:r>
              <a:rPr lang="en-US" sz="2000" smtClean="0"/>
              <a:t>Nửa trên/d</a:t>
            </a:r>
            <a:r>
              <a:rPr lang="vi-VN" sz="2000" smtClean="0"/>
              <a:t>ướ</a:t>
            </a:r>
            <a:r>
              <a:rPr lang="en-US" sz="2000" smtClean="0"/>
              <a:t>i </a:t>
            </a:r>
            <a:r>
              <a:rPr lang="vi-VN" sz="2000" smtClean="0"/>
              <a:t>đườ</a:t>
            </a:r>
            <a:r>
              <a:rPr lang="en-US" sz="2000" smtClean="0"/>
              <a:t>ng chéo chính (ma trận vuông)</a:t>
            </a:r>
          </a:p>
          <a:p>
            <a:pPr lvl="2">
              <a:defRPr/>
            </a:pPr>
            <a:r>
              <a:rPr lang="en-US" sz="2000" smtClean="0"/>
              <a:t>Nửa trên/d</a:t>
            </a:r>
            <a:r>
              <a:rPr lang="vi-VN" sz="2000" smtClean="0"/>
              <a:t>ướ</a:t>
            </a:r>
            <a:r>
              <a:rPr lang="en-US" sz="2000" smtClean="0"/>
              <a:t>i </a:t>
            </a:r>
            <a:r>
              <a:rPr lang="vi-VN" sz="2000" smtClean="0"/>
              <a:t>đườ</a:t>
            </a:r>
            <a:r>
              <a:rPr lang="en-US" sz="2000" smtClean="0"/>
              <a:t>ng chéo phụ (ma trận vuông)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>
              <a:defRPr/>
            </a:pPr>
            <a:r>
              <a:rPr lang="en-US" sz="2400" smtClean="0"/>
              <a:t>Duyệt ma trận và cộng dồn các phần tử có tọa </a:t>
            </a:r>
            <a:r>
              <a:rPr lang="vi-VN" sz="2400" smtClean="0"/>
              <a:t>độ</a:t>
            </a:r>
            <a:r>
              <a:rPr lang="en-US" sz="2400" smtClean="0"/>
              <a:t> (dòng, cột) thỏa yêu cầu.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tính tổng trên dòng</a:t>
            </a:r>
          </a:p>
        </p:txBody>
      </p:sp>
      <p:sp>
        <p:nvSpPr>
          <p:cNvPr id="409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TongDong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n, int d)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j, tong;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(j=0; j&lt;n; j++)	// Duyệt các cột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tong = tong + a[d][j];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tính tổng trên cột</a:t>
            </a:r>
          </a:p>
        </p:txBody>
      </p:sp>
      <p:sp>
        <p:nvSpPr>
          <p:cNvPr id="419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98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TongCot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c)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tong;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	// Duyệt các dòng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tong = tong + a[i][c];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Hàm tính tổng </a:t>
            </a:r>
            <a:r>
              <a:rPr lang="vi-VN" smtClean="0"/>
              <a:t>đườ</a:t>
            </a:r>
            <a:r>
              <a:rPr lang="en-US" smtClean="0"/>
              <a:t>ng chéo chính</a:t>
            </a:r>
          </a:p>
        </p:txBody>
      </p:sp>
      <p:sp>
        <p:nvSpPr>
          <p:cNvPr id="430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01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TongDCChinh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tong;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tong = tong + a[i][i];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Hàm tính tổng trên </a:t>
            </a:r>
            <a:r>
              <a:rPr lang="vi-VN" smtClean="0"/>
              <a:t>đườ</a:t>
            </a:r>
            <a:r>
              <a:rPr lang="en-US" smtClean="0"/>
              <a:t>ng chéo chính</a:t>
            </a:r>
          </a:p>
        </p:txBody>
      </p:sp>
      <p:sp>
        <p:nvSpPr>
          <p:cNvPr id="440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TongTrenDCChinh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j, tong;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(j=0; j&lt;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tong = tong + a[i][j];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0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Hàm tính tổng d</a:t>
            </a:r>
            <a:r>
              <a:rPr lang="vi-VN" smtClean="0"/>
              <a:t>ướ</a:t>
            </a:r>
            <a:r>
              <a:rPr lang="en-US" smtClean="0"/>
              <a:t>i </a:t>
            </a:r>
            <a:r>
              <a:rPr lang="vi-VN" smtClean="0"/>
              <a:t>đườ</a:t>
            </a:r>
            <a:r>
              <a:rPr lang="en-US" smtClean="0"/>
              <a:t>ng chéo chính</a:t>
            </a:r>
          </a:p>
        </p:txBody>
      </p:sp>
      <p:sp>
        <p:nvSpPr>
          <p:cNvPr id="4505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6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TongTrenDCChinh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j, tong;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(j=0; j&lt;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&gt; j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tong = tong + a[i][j];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0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Hàm tính tổng trên </a:t>
            </a:r>
            <a:r>
              <a:rPr lang="vi-VN" smtClean="0"/>
              <a:t>đườ</a:t>
            </a:r>
            <a:r>
              <a:rPr lang="en-US" smtClean="0"/>
              <a:t>ng chéo phụ</a:t>
            </a:r>
          </a:p>
        </p:txBody>
      </p:sp>
      <p:sp>
        <p:nvSpPr>
          <p:cNvPr id="460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8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TongDCPhu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tong;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tong = tong + a[i][n-i-1];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tong;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/>
          <a:lstStyle/>
          <a:p>
            <a:r>
              <a:rPr lang="en-US" smtClean="0"/>
              <a:t>Tìm giá trị lớn nhất của Ma Trận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00600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Yêu cầu</a:t>
            </a:r>
          </a:p>
          <a:p>
            <a:pPr lvl="1">
              <a:defRPr/>
            </a:pPr>
            <a:r>
              <a:rPr lang="en-US" sz="2400" smtClean="0"/>
              <a:t>Cho tr</a:t>
            </a:r>
            <a:r>
              <a:rPr lang="vi-VN" sz="2400" smtClean="0"/>
              <a:t>ướ</a:t>
            </a:r>
            <a:r>
              <a:rPr lang="en-US" sz="2400" smtClean="0"/>
              <a:t>c ma trận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, kích th</a:t>
            </a:r>
            <a:r>
              <a:rPr lang="vi-VN" sz="2400" smtClean="0"/>
              <a:t>ướ</a:t>
            </a:r>
            <a:r>
              <a:rPr lang="en-US" sz="2400" smtClean="0"/>
              <a:t>c </a:t>
            </a:r>
            <a:r>
              <a:rPr lang="en-US" sz="2400" smtClean="0">
                <a:solidFill>
                  <a:srgbClr val="FF0000"/>
                </a:solidFill>
              </a:rPr>
              <a:t>m</a:t>
            </a:r>
            <a:r>
              <a:rPr lang="en-US" sz="2400" smtClean="0"/>
              <a:t>x</a:t>
            </a:r>
            <a:r>
              <a:rPr lang="en-US" sz="2400" smtClean="0">
                <a:solidFill>
                  <a:srgbClr val="FF0000"/>
                </a:solidFill>
              </a:rPr>
              <a:t>n</a:t>
            </a:r>
            <a:r>
              <a:rPr lang="en-US" sz="2400" smtClean="0"/>
              <a:t>. Tìm giá trị lớn nhất trong ma trận </a:t>
            </a:r>
            <a:r>
              <a:rPr lang="en-US" sz="2400" smtClean="0">
                <a:solidFill>
                  <a:srgbClr val="FF0000"/>
                </a:solidFill>
              </a:rPr>
              <a:t>a</a:t>
            </a:r>
            <a:r>
              <a:rPr lang="en-US" sz="2400" smtClean="0"/>
              <a:t> (gọi là </a:t>
            </a:r>
            <a:r>
              <a:rPr lang="en-US" sz="2400" smtClean="0">
                <a:solidFill>
                  <a:srgbClr val="FF0000"/>
                </a:solidFill>
              </a:rPr>
              <a:t>max</a:t>
            </a:r>
            <a:r>
              <a:rPr lang="en-US" sz="2400" smtClean="0"/>
              <a:t>)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Ý t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ưở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</a:t>
            </a:r>
          </a:p>
          <a:p>
            <a:pPr lvl="1">
              <a:defRPr/>
            </a:pPr>
            <a:r>
              <a:rPr lang="en-US" sz="2400" smtClean="0"/>
              <a:t>Giả sử giá trị </a:t>
            </a:r>
            <a:r>
              <a:rPr lang="en-US" sz="2400" smtClean="0">
                <a:solidFill>
                  <a:srgbClr val="FF0000"/>
                </a:solidFill>
              </a:rPr>
              <a:t>max hiện tại</a:t>
            </a:r>
            <a:r>
              <a:rPr lang="en-US" sz="2400" smtClean="0"/>
              <a:t> là giá trị phần tử </a:t>
            </a:r>
            <a:r>
              <a:rPr lang="vi-VN" sz="2400" smtClean="0"/>
              <a:t>đầ</a:t>
            </a:r>
            <a:r>
              <a:rPr lang="en-US" sz="2400" smtClean="0"/>
              <a:t>u tiên </a:t>
            </a:r>
            <a:r>
              <a:rPr lang="en-US" sz="2400" smtClean="0">
                <a:solidFill>
                  <a:srgbClr val="FF0000"/>
                </a:solidFill>
              </a:rPr>
              <a:t>a[0][0]</a:t>
            </a:r>
          </a:p>
          <a:p>
            <a:pPr lvl="1">
              <a:defRPr/>
            </a:pPr>
            <a:r>
              <a:rPr lang="en-US" sz="2400" smtClean="0"/>
              <a:t>Lần l</a:t>
            </a:r>
            <a:r>
              <a:rPr lang="vi-VN" sz="2400" smtClean="0"/>
              <a:t>ượ</a:t>
            </a:r>
            <a:r>
              <a:rPr lang="en-US" sz="2400" smtClean="0"/>
              <a:t>t kiểm tra các phần tử còn lại </a:t>
            </a:r>
            <a:r>
              <a:rPr lang="vi-VN" sz="2400" smtClean="0"/>
              <a:t>để</a:t>
            </a:r>
            <a:r>
              <a:rPr lang="en-US" sz="2400" smtClean="0"/>
              <a:t> cập nhật </a:t>
            </a:r>
            <a:r>
              <a:rPr lang="en-US" sz="2400" smtClean="0">
                <a:solidFill>
                  <a:srgbClr val="FF0000"/>
                </a:solidFill>
              </a:rPr>
              <a:t>max</a:t>
            </a:r>
            <a:r>
              <a:rPr lang="en-US" sz="2400" smtClean="0"/>
              <a:t>.</a:t>
            </a: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tìm Max</a:t>
            </a:r>
          </a:p>
        </p:txBody>
      </p:sp>
      <p:sp>
        <p:nvSpPr>
          <p:cNvPr id="4813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mtClean="0">
                <a:latin typeface="Tahoma" pitchFamily="34" charset="0"/>
              </a:rPr>
              <a:t>NMLT - Mảng hai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3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TimMax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(int a[][MAXC], int m, int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i, j, max;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max = a[0][0];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(i=0; i&lt;m;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(j=0; j&lt;n;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if (a[i][j] &gt; max)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	max = a[i][j];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return max;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15875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6" grpId="0" animBg="1"/>
      <p:bldP spid="1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NHẬP MÔN LẬP TRÌNH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Giới thiệu chung&amp;quot;&quot;/&gt;&lt;property id=&quot;20307&quot; value=&quot;259&quot;/&gt;&lt;/object&gt;&lt;object type=&quot;3&quot; unique_id=&quot;10006&quot;&gt;&lt;property id=&quot;20148&quot; value=&quot;5&quot;/&gt;&lt;property id=&quot;20300&quot; value=&quot;Slide 3 - &amp;quot;Nội dung môn học&amp;quot;&quot;/&gt;&lt;property id=&quot;20307&quot; value=&quot;260&quot;/&gt;&lt;/object&gt;&lt;object type=&quot;3&quot; unique_id=&quot;10037&quot;&gt;&lt;property id=&quot;20148&quot; value=&quot;5&quot;/&gt;&lt;property id=&quot;20300&quot; value=&quot;Slide 4 - &amp;quot;Nội dung môn học&amp;quot;&quot;/&gt;&lt;property id=&quot;20307&quot; value=&quot;263&quot;/&gt;&lt;/object&gt;&lt;object type=&quot;3&quot; unique_id=&quot;10088&quot;&gt;&lt;property id=&quot;20148&quot; value=&quot;5&quot;/&gt;&lt;property id=&quot;20300&quot; value=&quot;Slide 5 - &amp;quot;Nội dung môn học&amp;quot;&quot;/&gt;&lt;property id=&quot;20307&quot; value=&quot;264&quot;/&gt;&lt;/object&gt;&lt;object type=&quot;3&quot; unique_id=&quot;10089&quot;&gt;&lt;property id=&quot;20148&quot; value=&quot;5&quot;/&gt;&lt;property id=&quot;20300&quot; value=&quot;Slide 6 - &amp;quot;Nội dung môn học&amp;quot;&quot;/&gt;&lt;property id=&quot;20307&quot; value=&quot;266&quot;/&gt;&lt;/object&gt;&lt;object type=&quot;3&quot; unique_id=&quot;10090&quot;&gt;&lt;property id=&quot;20148&quot; value=&quot;5&quot;/&gt;&lt;property id=&quot;20300&quot; value=&quot;Slide 7 - &amp;quot;Nội dung môn học&amp;quot;&quot;/&gt;&lt;property id=&quot;20307&quot; value=&quot;265&quot;/&gt;&lt;/object&gt;&lt;object type=&quot;3&quot; unique_id=&quot;10091&quot;&gt;&lt;property id=&quot;20148&quot; value=&quot;5&quot;/&gt;&lt;property id=&quot;20300&quot; value=&quot;Slide 8 - &amp;quot;Nội dung môn học&amp;quot;&quot;/&gt;&lt;property id=&quot;20307&quot; value=&quot;26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</TotalTime>
  <Words>1599</Words>
  <Application>Microsoft Office PowerPoint</Application>
  <PresentationFormat>On-screen Show (4:3)</PresentationFormat>
  <Paragraphs>414</Paragraphs>
  <Slides>31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VCBB</vt:lpstr>
      <vt:lpstr>PowerPoint Presentation</vt:lpstr>
      <vt:lpstr>Nội dung</vt:lpstr>
      <vt:lpstr>Ma Trận</vt:lpstr>
      <vt:lpstr>Khai báo biến mảng 2 chiều</vt:lpstr>
      <vt:lpstr>Khai báo biến mảng 2 chiều</vt:lpstr>
      <vt:lpstr>Truy xuất đến một phần tử</vt:lpstr>
      <vt:lpstr>Gán dữ liệu kiểu mảng</vt:lpstr>
      <vt:lpstr>Truyền mảng cho hàm</vt:lpstr>
      <vt:lpstr>Truyền mảng cho hàm</vt:lpstr>
      <vt:lpstr>Một số bài toán cơ bản</vt:lpstr>
      <vt:lpstr>Một số quy ước</vt:lpstr>
      <vt:lpstr>Thủ tục HoanVi &amp; Hàm LaSNT</vt:lpstr>
      <vt:lpstr>Nhập Ma Trận</vt:lpstr>
      <vt:lpstr>Hàm Nhập Ma Trận</vt:lpstr>
      <vt:lpstr>Xuất Ma Trận</vt:lpstr>
      <vt:lpstr>Hàm Xuất Ma Trận</vt:lpstr>
      <vt:lpstr>Tìm kiếm một phần tử trong Ma Trận</vt:lpstr>
      <vt:lpstr>Hàm Tìm Kiếm</vt:lpstr>
      <vt:lpstr>Kiểm tra tính chất của mảng</vt:lpstr>
      <vt:lpstr>Hàm Kiểm Tra (Cách 1)</vt:lpstr>
      <vt:lpstr>Hàm Kiểm Tra (Cách 2)</vt:lpstr>
      <vt:lpstr>Hàm Kiểm Tra (Cách 2)</vt:lpstr>
      <vt:lpstr>Tính tổng các phần tử</vt:lpstr>
      <vt:lpstr>Hàm tính tổng trên dòng</vt:lpstr>
      <vt:lpstr>Hàm tính tổng trên cột</vt:lpstr>
      <vt:lpstr>Hàm tính tổng đường chéo chính</vt:lpstr>
      <vt:lpstr>Hàm tính tổng trên đường chéo chính</vt:lpstr>
      <vt:lpstr>Hàm tính tổng dưới đường chéo chính</vt:lpstr>
      <vt:lpstr>Hàm tính tổng trên đường chéo phụ</vt:lpstr>
      <vt:lpstr>Tìm giá trị lớn nhất của Ma Trận</vt:lpstr>
      <vt:lpstr>Hàm tìm Max</vt:lpstr>
    </vt:vector>
  </TitlesOfParts>
  <Company>BABYDUCK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DANG BINH PHUONG</dc:creator>
  <cp:lastModifiedBy>LongHo</cp:lastModifiedBy>
  <cp:revision>283</cp:revision>
  <dcterms:created xsi:type="dcterms:W3CDTF">2007-09-05T08:24:33Z</dcterms:created>
  <dcterms:modified xsi:type="dcterms:W3CDTF">2015-12-03T09:18:26Z</dcterms:modified>
</cp:coreProperties>
</file>