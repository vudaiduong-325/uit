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22"/>
  </p:notesMasterIdLst>
  <p:handoutMasterIdLst>
    <p:handoutMasterId r:id="rId23"/>
  </p:handoutMasterIdLst>
  <p:sldIdLst>
    <p:sldId id="345" r:id="rId2"/>
    <p:sldId id="376" r:id="rId3"/>
    <p:sldId id="402" r:id="rId4"/>
    <p:sldId id="420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34" r:id="rId19"/>
    <p:sldId id="435" r:id="rId20"/>
    <p:sldId id="419" r:id="rId21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0211" autoAdjust="0"/>
  </p:normalViewPr>
  <p:slideViewPr>
    <p:cSldViewPr snapToObjects="1">
      <p:cViewPr varScale="1">
        <p:scale>
          <a:sx n="114" d="100"/>
          <a:sy n="114" d="100"/>
        </p:scale>
        <p:origin x="1290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‹#›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9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thuật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hài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Sin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rgbClr val="FFC000"/>
              </a:buClr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sóng</a:t>
            </a:r>
            <a:r>
              <a:rPr lang="en-US" dirty="0"/>
              <a:t> sin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  <a:endParaRPr lang="en-US" b="1" dirty="0"/>
          </a:p>
        </p:txBody>
      </p:sp>
      <p:pic>
        <p:nvPicPr>
          <p:cNvPr id="3074" name="Picture 2" descr="Image result for i want you washingt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138" y="3300643"/>
            <a:ext cx="4857960" cy="294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(</a:t>
            </a:r>
            <a:r>
              <a:rPr lang="en-US" dirty="0" err="1"/>
              <a:t>multivibrator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song </a:t>
            </a:r>
            <a:r>
              <a:rPr lang="en-US" dirty="0" err="1"/>
              <a:t>vuông</a:t>
            </a:r>
            <a:r>
              <a:rPr lang="en-US" dirty="0"/>
              <a:t>.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: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bão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547" y="4017287"/>
            <a:ext cx="5337485" cy="223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54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688759" cy="456176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bền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b="1" dirty="0"/>
              <a:t>saturation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saturation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,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b="1" dirty="0" err="1"/>
              <a:t>tốt</a:t>
            </a:r>
            <a:r>
              <a:rPr lang="en-US" b="1" dirty="0"/>
              <a:t> </a:t>
            </a:r>
            <a:r>
              <a:rPr lang="en-US" b="1" dirty="0" err="1"/>
              <a:t>hơn</a:t>
            </a:r>
            <a:r>
              <a:rPr lang="en-US" b="1" dirty="0"/>
              <a:t> </a:t>
            </a:r>
            <a:r>
              <a:rPr lang="en-US" dirty="0"/>
              <a:t>Q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V</a:t>
            </a:r>
            <a:r>
              <a:rPr lang="en-US" baseline="-25000" dirty="0"/>
              <a:t>CE1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giảm</a:t>
            </a:r>
            <a:r>
              <a:rPr lang="en-US" dirty="0"/>
              <a:t>, do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B </a:t>
            </a:r>
            <a:r>
              <a:rPr lang="en-US" dirty="0" err="1"/>
              <a:t>của</a:t>
            </a:r>
            <a:r>
              <a:rPr lang="en-US" dirty="0"/>
              <a:t>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I</a:t>
            </a:r>
            <a:r>
              <a:rPr lang="en-US" baseline="-25000" dirty="0"/>
              <a:t>B2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giảm</a:t>
            </a:r>
            <a:r>
              <a:rPr lang="en-US" dirty="0"/>
              <a:t>.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I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b="1" dirty="0" err="1"/>
              <a:t>giảm</a:t>
            </a:r>
            <a:r>
              <a:rPr lang="en-US" dirty="0"/>
              <a:t> do I</a:t>
            </a:r>
            <a:r>
              <a:rPr lang="en-US" baseline="-25000" dirty="0"/>
              <a:t>B2</a:t>
            </a:r>
            <a:r>
              <a:rPr lang="en-US" dirty="0"/>
              <a:t> </a:t>
            </a:r>
            <a:r>
              <a:rPr lang="en-US" b="1" dirty="0" err="1"/>
              <a:t>giảm</a:t>
            </a:r>
            <a:r>
              <a:rPr lang="en-US" dirty="0"/>
              <a:t>, do </a:t>
            </a:r>
            <a:r>
              <a:rPr lang="en-US" dirty="0" err="1"/>
              <a:t>đó</a:t>
            </a:r>
            <a:r>
              <a:rPr lang="en-US" dirty="0"/>
              <a:t> V</a:t>
            </a:r>
            <a:r>
              <a:rPr lang="en-US" baseline="-25000" dirty="0"/>
              <a:t>CE2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saturation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off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b="1" dirty="0"/>
              <a:t>sat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sat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Input 1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Input 2</a:t>
            </a:r>
          </a:p>
        </p:txBody>
      </p:sp>
      <p:grpSp>
        <p:nvGrpSpPr>
          <p:cNvPr id="9" name="Groupe 8"/>
          <p:cNvGrpSpPr/>
          <p:nvPr/>
        </p:nvGrpSpPr>
        <p:grpSpPr>
          <a:xfrm>
            <a:off x="5853100" y="1988840"/>
            <a:ext cx="4095455" cy="2779839"/>
            <a:chOff x="5622854" y="2079780"/>
            <a:chExt cx="4325701" cy="2779839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2854" y="2079780"/>
              <a:ext cx="4325701" cy="2779839"/>
            </a:xfrm>
            <a:prstGeom prst="rect">
              <a:avLst/>
            </a:prstGeom>
          </p:spPr>
        </p:pic>
        <p:sp>
          <p:nvSpPr>
            <p:cNvPr id="6" name="ZoneTexte 5"/>
            <p:cNvSpPr txBox="1"/>
            <p:nvPr/>
          </p:nvSpPr>
          <p:spPr>
            <a:xfrm>
              <a:off x="6775544" y="2388077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1</a:t>
              </a:r>
            </a:p>
          </p:txBody>
        </p:sp>
        <p:cxnSp>
          <p:nvCxnSpPr>
            <p:cNvPr id="8" name="Connecteur droit avec flèche 7"/>
            <p:cNvCxnSpPr/>
            <p:nvPr/>
          </p:nvCxnSpPr>
          <p:spPr>
            <a:xfrm>
              <a:off x="7165394" y="2388077"/>
              <a:ext cx="0" cy="6808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/>
            <p:cNvSpPr txBox="1"/>
            <p:nvPr/>
          </p:nvSpPr>
          <p:spPr>
            <a:xfrm>
              <a:off x="8318084" y="2388077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2</a:t>
              </a:r>
            </a:p>
          </p:txBody>
        </p:sp>
        <p:cxnSp>
          <p:nvCxnSpPr>
            <p:cNvPr id="13" name="Connecteur droit avec flèche 12"/>
            <p:cNvCxnSpPr/>
            <p:nvPr/>
          </p:nvCxnSpPr>
          <p:spPr>
            <a:xfrm>
              <a:off x="8283370" y="2388077"/>
              <a:ext cx="0" cy="6808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/>
          <p:cNvSpPr txBox="1"/>
          <p:nvPr/>
        </p:nvSpPr>
        <p:spPr>
          <a:xfrm>
            <a:off x="7442229" y="257390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B2</a:t>
            </a:r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7442229" y="3068960"/>
            <a:ext cx="5261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 flipH="1">
            <a:off x="7380012" y="3338990"/>
            <a:ext cx="6641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7456368" y="3238866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B1</a:t>
            </a:r>
          </a:p>
        </p:txBody>
      </p:sp>
      <p:sp>
        <p:nvSpPr>
          <p:cNvPr id="22" name="Content Placeholder 11"/>
          <p:cNvSpPr txBox="1">
            <a:spLocks/>
          </p:cNvSpPr>
          <p:nvPr/>
        </p:nvSpPr>
        <p:spPr>
          <a:xfrm>
            <a:off x="5763090" y="4950557"/>
            <a:ext cx="4052900" cy="13587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khóa</a:t>
            </a:r>
            <a:r>
              <a:rPr lang="en-US" b="1" dirty="0"/>
              <a:t> </a:t>
            </a:r>
            <a:r>
              <a:rPr lang="en-US" dirty="0"/>
              <a:t>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b="1" dirty="0" err="1"/>
              <a:t>ngược</a:t>
            </a:r>
            <a:r>
              <a:rPr lang="en-US" b="1" dirty="0"/>
              <a:t> </a:t>
            </a:r>
            <a:r>
              <a:rPr lang="en-US" b="1" dirty="0" err="1"/>
              <a:t>lại</a:t>
            </a:r>
            <a:r>
              <a:rPr lang="en-US" dirty="0"/>
              <a:t>,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thay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dirty="0" err="1"/>
              <a:t>nếu</a:t>
            </a:r>
            <a:r>
              <a:rPr lang="en-US" dirty="0"/>
              <a:t> ta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kích</a:t>
            </a:r>
            <a:r>
              <a:rPr lang="en-US" b="1" dirty="0"/>
              <a:t> </a:t>
            </a:r>
            <a:r>
              <a:rPr lang="en-US" b="1" dirty="0" err="1"/>
              <a:t>thích</a:t>
            </a:r>
            <a:r>
              <a:rPr lang="en-US" b="1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b="1" dirty="0" err="1"/>
              <a:t>thay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b="1" dirty="0"/>
              <a:t>Input 1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b="1" dirty="0"/>
              <a:t>Input 2</a:t>
            </a:r>
          </a:p>
        </p:txBody>
      </p:sp>
    </p:spTree>
    <p:extLst>
      <p:ext uri="{BB962C8B-B14F-4D97-AF65-F5344CB8AC3E}">
        <p14:creationId xmlns:p14="http://schemas.microsoft.com/office/powerpoint/2010/main" val="3057785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688759" cy="456176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bền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transistor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Q1 </a:t>
            </a:r>
            <a:r>
              <a:rPr lang="en-US" b="1" dirty="0"/>
              <a:t>off</a:t>
            </a:r>
            <a:r>
              <a:rPr lang="en-US" dirty="0"/>
              <a:t>, Q2 </a:t>
            </a:r>
            <a:r>
              <a:rPr lang="en-US" b="1" dirty="0"/>
              <a:t>Sat</a:t>
            </a:r>
            <a:r>
              <a:rPr lang="en-US" dirty="0"/>
              <a:t> sang Q1 </a:t>
            </a:r>
            <a:r>
              <a:rPr lang="en-US" b="1" dirty="0"/>
              <a:t>Sat</a:t>
            </a:r>
            <a:r>
              <a:rPr lang="en-US" dirty="0"/>
              <a:t>, Q2 </a:t>
            </a:r>
            <a:r>
              <a:rPr lang="en-US" b="1" dirty="0"/>
              <a:t>off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,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b="1" dirty="0"/>
              <a:t> </a:t>
            </a:r>
            <a:r>
              <a:rPr lang="en-US" dirty="0"/>
              <a:t>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Sat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b="1" dirty="0"/>
              <a:t>Q</a:t>
            </a:r>
            <a:r>
              <a:rPr lang="en-US" b="1" baseline="-25000" dirty="0"/>
              <a:t>1</a:t>
            </a:r>
            <a:r>
              <a:rPr lang="en-US" b="1" dirty="0"/>
              <a:t> off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b="1" baseline="-25000" dirty="0"/>
              <a:t>1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b="1" dirty="0"/>
              <a:t>0V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b="1" dirty="0" err="1"/>
              <a:t>ngắt</a:t>
            </a:r>
            <a:r>
              <a:rPr lang="en-US" dirty="0"/>
              <a:t>.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b="1" baseline="-25000" dirty="0"/>
              <a:t>1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nối</a:t>
            </a:r>
            <a:r>
              <a:rPr lang="en-US" b="1" dirty="0"/>
              <a:t> </a:t>
            </a:r>
            <a:r>
              <a:rPr lang="en-US" b="1" dirty="0" err="1"/>
              <a:t>trực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r>
              <a:rPr lang="en-US" b="1" dirty="0"/>
              <a:t> </a:t>
            </a:r>
            <a:r>
              <a:rPr lang="en-US" b="1" dirty="0" err="1"/>
              <a:t>lên</a:t>
            </a:r>
            <a:r>
              <a:rPr lang="en-US" b="1" dirty="0"/>
              <a:t>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dirty="0" err="1"/>
              <a:t>và</a:t>
            </a:r>
            <a:r>
              <a:rPr lang="en-US" b="1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b="1" dirty="0"/>
              <a:t>6V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b="1" dirty="0"/>
              <a:t>Q</a:t>
            </a:r>
            <a:r>
              <a:rPr lang="en-US" b="1" baseline="-25000" dirty="0"/>
              <a:t>2</a:t>
            </a:r>
            <a:r>
              <a:rPr lang="en-US" b="1" dirty="0"/>
              <a:t> sat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b="1" dirty="0"/>
              <a:t>B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b="1" dirty="0"/>
              <a:t>Q</a:t>
            </a:r>
            <a:r>
              <a:rPr lang="en-US" b="1" baseline="-25000" dirty="0"/>
              <a:t>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lớn</a:t>
            </a:r>
            <a:r>
              <a:rPr lang="en-US" b="1" dirty="0"/>
              <a:t> </a:t>
            </a:r>
            <a:r>
              <a:rPr lang="en-US" b="1" dirty="0" err="1"/>
              <a:t>hơn</a:t>
            </a:r>
            <a:r>
              <a:rPr lang="en-US" b="1" dirty="0"/>
              <a:t> 0.7V</a:t>
            </a:r>
            <a:r>
              <a:rPr lang="en-US" dirty="0"/>
              <a:t>. Do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b="1" dirty="0"/>
              <a:t>B1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lớn</a:t>
            </a:r>
            <a:r>
              <a:rPr lang="en-US" b="1" dirty="0"/>
              <a:t> </a:t>
            </a:r>
            <a:r>
              <a:rPr lang="en-US" b="1" dirty="0" err="1"/>
              <a:t>hơn</a:t>
            </a:r>
            <a:r>
              <a:rPr lang="en-US" b="1" dirty="0"/>
              <a:t> 0.7V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b="1" dirty="0"/>
              <a:t>C1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b="1" dirty="0" err="1"/>
              <a:t>sạc</a:t>
            </a:r>
            <a:r>
              <a:rPr lang="en-US" dirty="0"/>
              <a:t>.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b="1" dirty="0" err="1"/>
              <a:t>hai</a:t>
            </a:r>
            <a:r>
              <a:rPr lang="en-US" b="1" dirty="0"/>
              <a:t> </a:t>
            </a:r>
            <a:r>
              <a:rPr lang="en-US" b="1" dirty="0" err="1"/>
              <a:t>đầu</a:t>
            </a:r>
            <a:r>
              <a:rPr lang="en-US" b="1" dirty="0"/>
              <a:t> A</a:t>
            </a:r>
            <a:r>
              <a:rPr lang="en-US" b="1" baseline="-25000" dirty="0"/>
              <a:t>1</a:t>
            </a:r>
            <a:r>
              <a:rPr lang="en-US" b="1" dirty="0"/>
              <a:t>B</a:t>
            </a:r>
            <a:r>
              <a:rPr lang="en-US" b="1" baseline="-25000" dirty="0"/>
              <a:t>1</a:t>
            </a:r>
            <a:r>
              <a:rPr lang="en-US" dirty="0"/>
              <a:t>, </a:t>
            </a:r>
            <a:r>
              <a:rPr lang="en-US" b="1" dirty="0"/>
              <a:t>U</a:t>
            </a:r>
            <a:r>
              <a:rPr lang="en-US" b="1" baseline="-25000" dirty="0"/>
              <a:t>A1B1</a:t>
            </a:r>
            <a:r>
              <a:rPr lang="en-US" dirty="0"/>
              <a:t> </a:t>
            </a:r>
            <a:r>
              <a:rPr lang="en-US" b="1" dirty="0"/>
              <a:t>#</a:t>
            </a:r>
            <a:r>
              <a:rPr lang="en-US" dirty="0"/>
              <a:t> </a:t>
            </a:r>
            <a:r>
              <a:rPr lang="en-US" b="1" dirty="0"/>
              <a:t>6V-0.7V=5.3V</a:t>
            </a:r>
          </a:p>
        </p:txBody>
      </p:sp>
      <p:pic>
        <p:nvPicPr>
          <p:cNvPr id="1026" name="Picture 2" descr="Image result for multivibrator bjt as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04" y="2168860"/>
            <a:ext cx="3493706" cy="282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207111" y="4104075"/>
            <a:ext cx="538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off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340590" y="4104075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2047" y="340722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6V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9241" y="3019265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&gt;0.7V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8105" y="2135322"/>
            <a:ext cx="46679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6V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8073" y="3413885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0.6V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7659241" y="3293985"/>
            <a:ext cx="219084" cy="288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68783" y="3253438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0.7V&gt;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8257173" y="3575396"/>
            <a:ext cx="161105" cy="87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28175" y="3609020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  <a:r>
              <a:rPr lang="en-US" sz="1600" baseline="-25000" dirty="0"/>
              <a:t>1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7488474" y="3641486"/>
            <a:ext cx="3898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  <a:r>
              <a:rPr lang="en-US" sz="1600" baseline="-25000" dirty="0"/>
              <a:t>1</a:t>
            </a:r>
            <a:endParaRPr 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9206252" y="3609020"/>
            <a:ext cx="401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  <a:r>
              <a:rPr lang="en-US" sz="1600" baseline="-25000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4078" y="368083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  <a:r>
              <a:rPr lang="en-US" sz="1600" baseline="-25000" dirty="0"/>
              <a:t>2</a:t>
            </a:r>
          </a:p>
        </p:txBody>
      </p:sp>
      <p:cxnSp>
        <p:nvCxnSpPr>
          <p:cNvPr id="7" name="Connecteur droit avec flèche 6"/>
          <p:cNvCxnSpPr/>
          <p:nvPr/>
        </p:nvCxnSpPr>
        <p:spPr>
          <a:xfrm flipH="1">
            <a:off x="6888215" y="4019393"/>
            <a:ext cx="7432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11"/>
          <p:cNvSpPr txBox="1"/>
          <p:nvPr/>
        </p:nvSpPr>
        <p:spPr>
          <a:xfrm>
            <a:off x="7148396" y="4013578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5.3V</a:t>
            </a:r>
          </a:p>
        </p:txBody>
      </p:sp>
    </p:spTree>
    <p:extLst>
      <p:ext uri="{BB962C8B-B14F-4D97-AF65-F5344CB8AC3E}">
        <p14:creationId xmlns:p14="http://schemas.microsoft.com/office/powerpoint/2010/main" val="48804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6" grpId="0"/>
      <p:bldP spid="19" grpId="0"/>
      <p:bldP spid="24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688759" cy="456176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b="1" dirty="0"/>
              <a:t> </a:t>
            </a:r>
            <a:r>
              <a:rPr lang="en-US" dirty="0"/>
              <a:t>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Sat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b="1" dirty="0"/>
              <a:t>Q</a:t>
            </a:r>
            <a:r>
              <a:rPr lang="en-US" b="1" baseline="-25000" dirty="0"/>
              <a:t>2</a:t>
            </a:r>
            <a:r>
              <a:rPr lang="en-US" b="1" dirty="0"/>
              <a:t> sat</a:t>
            </a:r>
            <a:r>
              <a:rPr lang="en-US" dirty="0"/>
              <a:t>,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b="1" dirty="0"/>
              <a:t>A2 </a:t>
            </a:r>
            <a:r>
              <a:rPr lang="en-US" b="1" dirty="0" err="1"/>
              <a:t>sẽ</a:t>
            </a:r>
            <a:r>
              <a:rPr lang="en-US" b="1" dirty="0"/>
              <a:t> </a:t>
            </a:r>
            <a:r>
              <a:rPr lang="en-US" b="1" dirty="0" err="1"/>
              <a:t>nối</a:t>
            </a:r>
            <a:r>
              <a:rPr lang="en-US" b="1" dirty="0"/>
              <a:t> </a:t>
            </a:r>
            <a:r>
              <a:rPr lang="en-US" b="1" dirty="0" err="1"/>
              <a:t>đất</a:t>
            </a:r>
            <a:r>
              <a:rPr lang="en-US" b="1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b="1" dirty="0"/>
              <a:t>0V</a:t>
            </a:r>
            <a:r>
              <a:rPr lang="en-US" dirty="0"/>
              <a:t>.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b="1" dirty="0"/>
              <a:t>C2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b="1" dirty="0" err="1"/>
              <a:t>sạc</a:t>
            </a:r>
            <a:r>
              <a:rPr lang="en-US" dirty="0"/>
              <a:t> </a:t>
            </a:r>
            <a:r>
              <a:rPr lang="en-US" b="1" dirty="0" err="1"/>
              <a:t>thông</a:t>
            </a:r>
            <a:r>
              <a:rPr lang="en-US" b="1" dirty="0"/>
              <a:t> qua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trở</a:t>
            </a:r>
            <a:r>
              <a:rPr lang="en-US" b="1" dirty="0"/>
              <a:t> R3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b="1" dirty="0"/>
              <a:t>C2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b="1" dirty="0" err="1"/>
              <a:t>sạc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b="1" dirty="0"/>
              <a:t>0.7V</a:t>
            </a:r>
            <a:r>
              <a:rPr lang="en-US" dirty="0"/>
              <a:t>,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b="1" dirty="0"/>
              <a:t>B2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b="1" dirty="0"/>
              <a:t>0.7V</a:t>
            </a:r>
            <a:r>
              <a:rPr lang="en-US" dirty="0"/>
              <a:t>, </a:t>
            </a:r>
            <a:r>
              <a:rPr lang="en-US" b="1" dirty="0"/>
              <a:t>Q</a:t>
            </a:r>
            <a:r>
              <a:rPr lang="en-US" b="1" baseline="-25000" dirty="0"/>
              <a:t>1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cực</a:t>
            </a:r>
            <a:r>
              <a:rPr lang="en-US" b="1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b="1" dirty="0"/>
              <a:t>sat</a:t>
            </a:r>
            <a:r>
              <a:rPr lang="en-US" dirty="0"/>
              <a:t>.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b="1" dirty="0"/>
              <a:t>A1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nối</a:t>
            </a:r>
            <a:r>
              <a:rPr lang="en-US" b="1" dirty="0"/>
              <a:t> </a:t>
            </a:r>
            <a:r>
              <a:rPr lang="en-US" b="1" dirty="0" err="1"/>
              <a:t>đất</a:t>
            </a:r>
            <a:r>
              <a:rPr lang="en-US" dirty="0"/>
              <a:t>, </a:t>
            </a:r>
            <a:r>
              <a:rPr lang="en-US" b="1" dirty="0"/>
              <a:t>V</a:t>
            </a:r>
            <a:r>
              <a:rPr lang="en-US" b="1" baseline="-25000" dirty="0"/>
              <a:t>A1</a:t>
            </a:r>
            <a:r>
              <a:rPr lang="en-US" b="1" dirty="0"/>
              <a:t>=0V</a:t>
            </a:r>
            <a:r>
              <a:rPr lang="en-US" dirty="0"/>
              <a:t>.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b="1" dirty="0"/>
              <a:t>U</a:t>
            </a:r>
            <a:r>
              <a:rPr lang="en-US" b="1" baseline="-25000" dirty="0"/>
              <a:t>A1B1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5.3V</a:t>
            </a:r>
            <a:r>
              <a:rPr lang="en-US" dirty="0"/>
              <a:t>, do </a:t>
            </a:r>
            <a:r>
              <a:rPr lang="en-US" dirty="0" err="1"/>
              <a:t>vậy</a:t>
            </a:r>
            <a:r>
              <a:rPr lang="en-US" dirty="0"/>
              <a:t>, </a:t>
            </a:r>
            <a:r>
              <a:rPr lang="en-US" b="1" dirty="0"/>
              <a:t>V</a:t>
            </a:r>
            <a:r>
              <a:rPr lang="en-US" b="1" baseline="-25000" dirty="0"/>
              <a:t>B1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-</a:t>
            </a:r>
            <a:r>
              <a:rPr lang="en-US" b="1" dirty="0"/>
              <a:t>5.3V</a:t>
            </a:r>
            <a:r>
              <a:rPr lang="en-US" dirty="0"/>
              <a:t>.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b="1" dirty="0" err="1"/>
              <a:t>cực</a:t>
            </a:r>
            <a:r>
              <a:rPr lang="en-US" b="1" dirty="0"/>
              <a:t> B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b="1" dirty="0"/>
              <a:t>Q</a:t>
            </a:r>
            <a:r>
              <a:rPr lang="en-US" b="1" baseline="-25000" dirty="0"/>
              <a:t>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-</a:t>
            </a:r>
            <a:r>
              <a:rPr lang="en-US" b="1" dirty="0"/>
              <a:t>5.3V</a:t>
            </a:r>
            <a:r>
              <a:rPr lang="en-US" dirty="0"/>
              <a:t>, </a:t>
            </a:r>
            <a:r>
              <a:rPr lang="en-US" b="1" dirty="0"/>
              <a:t>Q</a:t>
            </a:r>
            <a:r>
              <a:rPr lang="en-US" b="1" baseline="-25000" dirty="0"/>
              <a:t>2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sat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.</a:t>
            </a:r>
          </a:p>
        </p:txBody>
      </p:sp>
      <p:pic>
        <p:nvPicPr>
          <p:cNvPr id="1026" name="Picture 2" descr="Image result for multivibrator bjt as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04" y="2168860"/>
            <a:ext cx="3493706" cy="282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207111" y="4104075"/>
            <a:ext cx="538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0590" y="4104075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2047" y="340722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6V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9241" y="3019265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&gt;0.7V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8105" y="2135322"/>
            <a:ext cx="46679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6V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4635" y="341388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0V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7659241" y="3293985"/>
            <a:ext cx="219084" cy="288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68783" y="3253438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0.7V&gt;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8257173" y="3575396"/>
            <a:ext cx="161105" cy="87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28175" y="3609020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  <a:r>
              <a:rPr lang="en-US" sz="1600" baseline="-25000" dirty="0"/>
              <a:t>1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7488474" y="3641486"/>
            <a:ext cx="3898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  <a:r>
              <a:rPr lang="en-US" sz="1600" baseline="-25000" dirty="0"/>
              <a:t>1</a:t>
            </a:r>
            <a:endParaRPr 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9206252" y="3609020"/>
            <a:ext cx="401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  <a:r>
              <a:rPr lang="en-US" sz="1600" baseline="-25000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4078" y="368083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  <a:r>
              <a:rPr lang="en-US" sz="1600" baseline="-25000" dirty="0"/>
              <a:t>2</a:t>
            </a:r>
          </a:p>
        </p:txBody>
      </p:sp>
      <p:cxnSp>
        <p:nvCxnSpPr>
          <p:cNvPr id="7" name="Connecteur droit avec flèche 6"/>
          <p:cNvCxnSpPr/>
          <p:nvPr/>
        </p:nvCxnSpPr>
        <p:spPr>
          <a:xfrm flipH="1" flipV="1">
            <a:off x="6207111" y="3980040"/>
            <a:ext cx="157789" cy="214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5"/>
          <p:cNvSpPr txBox="1"/>
          <p:nvPr/>
        </p:nvSpPr>
        <p:spPr>
          <a:xfrm>
            <a:off x="5784265" y="3533459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Sat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 flipH="1">
            <a:off x="9490000" y="4471067"/>
            <a:ext cx="98515" cy="398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5"/>
          <p:cNvSpPr txBox="1"/>
          <p:nvPr/>
        </p:nvSpPr>
        <p:spPr>
          <a:xfrm>
            <a:off x="9219103" y="4797409"/>
            <a:ext cx="538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</a:t>
            </a:r>
          </a:p>
        </p:txBody>
      </p:sp>
    </p:spTree>
    <p:extLst>
      <p:ext uri="{BB962C8B-B14F-4D97-AF65-F5344CB8AC3E}">
        <p14:creationId xmlns:p14="http://schemas.microsoft.com/office/powerpoint/2010/main" val="71061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6" grpId="0"/>
      <p:bldP spid="19" grpId="0"/>
      <p:bldP spid="24" grpId="0"/>
      <p:bldP spid="22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Picture 2" descr="Image result for multivibrator bjt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770" y="2197208"/>
            <a:ext cx="3829050" cy="37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536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chu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.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,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Feedback oscillator (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Relaxation oscillator (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thoát</a:t>
            </a:r>
            <a:r>
              <a:rPr lang="en-US" dirty="0"/>
              <a:t>)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7896" y="4368943"/>
            <a:ext cx="5519737" cy="1670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24688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</a:t>
            </a: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65418" y="3416542"/>
            <a:ext cx="2757760" cy="2822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5614" y="3415028"/>
            <a:ext cx="2827336" cy="26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7497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feedback Oscillator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 err="1"/>
              <a:t>Tín</a:t>
            </a:r>
            <a:r>
              <a:rPr lang="en-US" b="1" dirty="0"/>
              <a:t> </a:t>
            </a:r>
            <a:r>
              <a:rPr lang="en-US" b="1" dirty="0" err="1"/>
              <a:t>hiệu</a:t>
            </a:r>
            <a:r>
              <a:rPr lang="en-US" b="1" dirty="0"/>
              <a:t> </a:t>
            </a:r>
            <a:r>
              <a:rPr lang="en-US" b="1" dirty="0" err="1"/>
              <a:t>hồi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r>
              <a:rPr lang="en-US" b="1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qua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b="1" dirty="0" err="1"/>
              <a:t>phải</a:t>
            </a:r>
            <a:r>
              <a:rPr lang="en-US" b="1" dirty="0"/>
              <a:t> </a:t>
            </a:r>
            <a:r>
              <a:rPr lang="en-US" b="1" dirty="0" err="1"/>
              <a:t>giữ</a:t>
            </a:r>
            <a:r>
              <a:rPr lang="en-US" b="1" dirty="0"/>
              <a:t> </a:t>
            </a:r>
            <a:r>
              <a:rPr lang="en-US" b="1" dirty="0" err="1"/>
              <a:t>nguyên</a:t>
            </a:r>
            <a:r>
              <a:rPr lang="en-US" b="1" dirty="0"/>
              <a:t> </a:t>
            </a:r>
            <a:r>
              <a:rPr lang="en-US" b="1" dirty="0" err="1"/>
              <a:t>pha</a:t>
            </a:r>
            <a:endParaRPr lang="en-US" b="1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khuếch</a:t>
            </a:r>
            <a:r>
              <a:rPr lang="en-US" b="1" dirty="0"/>
              <a:t> </a:t>
            </a:r>
            <a:r>
              <a:rPr lang="en-US" b="1" dirty="0" err="1"/>
              <a:t>đại</a:t>
            </a:r>
            <a:r>
              <a:rPr lang="en-US" b="1" dirty="0"/>
              <a:t> </a:t>
            </a:r>
            <a:r>
              <a:rPr lang="en-US" b="1" dirty="0" err="1"/>
              <a:t>vòng</a:t>
            </a:r>
            <a:r>
              <a:rPr lang="en-US" b="1" dirty="0"/>
              <a:t> </a:t>
            </a:r>
            <a:r>
              <a:rPr lang="en-US" b="1" dirty="0" err="1"/>
              <a:t>kín</a:t>
            </a:r>
            <a:r>
              <a:rPr lang="en-US" b="1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b="1" dirty="0" err="1"/>
              <a:t>bằng</a:t>
            </a:r>
            <a:r>
              <a:rPr lang="en-US" b="1" dirty="0"/>
              <a:t> 1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65418" y="3416542"/>
            <a:ext cx="2757760" cy="2822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5614" y="3415028"/>
            <a:ext cx="2827336" cy="26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054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298" y="2573905"/>
            <a:ext cx="4682727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1589" y="2573905"/>
            <a:ext cx="4658297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3238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53825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800" dirty="0">
                <a:latin typeface="Calibri (Corps)"/>
                <a:cs typeface="Calibri" panose="020F0502020204030204" pitchFamily="34" charset="0"/>
              </a:rPr>
              <a:t>Điều kiện khởi động mạch dao động hồi tiếp: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vi-VN" dirty="0">
                <a:latin typeface="Calibri (Corps)"/>
                <a:cs typeface="Calibri" panose="020F0502020204030204" pitchFamily="34" charset="0"/>
              </a:rPr>
              <a:t> Mạch dao động hồi tiếp cần một tín hiệu nhỏ để khởi động (thông thường là tín hiệu nhiễu sinh ra bởi nhiệt độ khi khởi động mạch)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vi-VN" dirty="0">
                <a:latin typeface="Calibri (Corps)"/>
                <a:cs typeface="Calibri" panose="020F0502020204030204" pitchFamily="34" charset="0"/>
              </a:rPr>
              <a:t> Điện thế tạo ra bởi nhiễu sẽ khởi động tiến trình hoạt động của mạch dao động hồi tiếp</a:t>
            </a:r>
            <a:r>
              <a:rPr lang="en-US" dirty="0">
                <a:latin typeface="Calibri (Corps)"/>
                <a:cs typeface="Calibri" panose="020F0502020204030204" pitchFamily="34" charset="0"/>
              </a:rPr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,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kín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tinh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1.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muôn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kín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1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  <a:endParaRPr lang="vi-VN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vi-V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37765" y="3293985"/>
            <a:ext cx="5062537" cy="187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0432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br>
              <a:rPr lang="en-US" dirty="0"/>
            </a:br>
            <a:r>
              <a:rPr lang="en-US" dirty="0"/>
              <a:t>(Wien-Bridge 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.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sin ở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(</a:t>
            </a:r>
            <a:r>
              <a:rPr lang="en-US" dirty="0" err="1"/>
              <a:t>dưới</a:t>
            </a:r>
            <a:r>
              <a:rPr lang="en-US" dirty="0"/>
              <a:t> 1MHz).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RC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Lead-Lag.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hao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1/3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0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f</a:t>
            </a:r>
            <a:r>
              <a:rPr lang="en-US" baseline="-25000" dirty="0" err="1"/>
              <a:t>r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.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4766" y="4233784"/>
            <a:ext cx="3678953" cy="196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8026" y="4255249"/>
            <a:ext cx="3645412" cy="2054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41017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br>
              <a:rPr lang="en-US" dirty="0"/>
            </a:br>
            <a:r>
              <a:rPr lang="en-US" dirty="0"/>
              <a:t>(Wien-Bridge 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lead-lag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.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ra.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Op-Amp.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3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kín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1.</a:t>
            </a:r>
          </a:p>
        </p:txBody>
      </p:sp>
      <p:grpSp>
        <p:nvGrpSpPr>
          <p:cNvPr id="6" name="Groupe 5"/>
          <p:cNvGrpSpPr/>
          <p:nvPr/>
        </p:nvGrpSpPr>
        <p:grpSpPr>
          <a:xfrm>
            <a:off x="5154292" y="3605807"/>
            <a:ext cx="4569238" cy="2703513"/>
            <a:chOff x="4007895" y="3605807"/>
            <a:chExt cx="4569238" cy="2703513"/>
          </a:xfrm>
        </p:grpSpPr>
        <p:graphicFrame>
          <p:nvGraphicFramePr>
            <p:cNvPr id="8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4081079"/>
                </p:ext>
              </p:extLst>
            </p:nvPr>
          </p:nvGraphicFramePr>
          <p:xfrm>
            <a:off x="5082510" y="3605807"/>
            <a:ext cx="2895600" cy="2703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" name="CorelDRAW" r:id="rId3" imgW="2223720" imgH="2076480" progId="">
                    <p:embed/>
                  </p:oleObj>
                </mc:Choice>
                <mc:Fallback>
                  <p:oleObj name="CorelDRAW" r:id="rId3" imgW="2223720" imgH="207648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2510" y="3605807"/>
                          <a:ext cx="2895600" cy="2703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7281733" y="5560417"/>
              <a:ext cx="1295400" cy="58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solidFill>
                    <a:srgbClr val="FF0000"/>
                  </a:solidFill>
                </a:rPr>
                <a:t>Lead-lag network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4007895" y="4149080"/>
              <a:ext cx="1295400" cy="58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solidFill>
                    <a:srgbClr val="FF0000"/>
                  </a:solidFill>
                </a:rPr>
                <a:t>Voltage-divider</a:t>
              </a:r>
            </a:p>
          </p:txBody>
        </p:sp>
      </p:grpSp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909" y="4100313"/>
            <a:ext cx="4076700" cy="85725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1284" y="5499230"/>
            <a:ext cx="1524000" cy="75247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7855" y="5565658"/>
            <a:ext cx="12858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25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br>
              <a:rPr lang="en-US" dirty="0"/>
            </a:br>
            <a:r>
              <a:rPr lang="en-US" dirty="0"/>
              <a:t>(Wien-Bridge 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6906" y="2348880"/>
            <a:ext cx="6534768" cy="3900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39674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br>
              <a:rPr lang="en-US" dirty="0"/>
            </a:br>
            <a:r>
              <a:rPr lang="en-US" dirty="0"/>
              <a:t>(Wien-Bridge 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96" y="2453462"/>
            <a:ext cx="8087737" cy="34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br>
              <a:rPr lang="en-US" dirty="0"/>
            </a:br>
            <a:r>
              <a:rPr lang="en-US" dirty="0"/>
              <a:t>(Wien-Bridge 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Wien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diode </a:t>
            </a:r>
            <a:r>
              <a:rPr lang="en-US" dirty="0" err="1"/>
              <a:t>Zener</a:t>
            </a:r>
            <a:r>
              <a:rPr lang="en-US" dirty="0"/>
              <a:t>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40" y="2393885"/>
            <a:ext cx="4114800" cy="3914775"/>
          </a:xfrm>
          <a:prstGeom prst="rect">
            <a:avLst/>
          </a:prstGeom>
        </p:spPr>
      </p:pic>
      <p:sp>
        <p:nvSpPr>
          <p:cNvPr id="8" name="Content Placeholder 11"/>
          <p:cNvSpPr txBox="1">
            <a:spLocks/>
          </p:cNvSpPr>
          <p:nvPr/>
        </p:nvSpPr>
        <p:spPr>
          <a:xfrm>
            <a:off x="4910481" y="2422320"/>
            <a:ext cx="4543019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bé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hở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Vzener</a:t>
            </a:r>
            <a:r>
              <a:rPr lang="en-US" dirty="0"/>
              <a:t>,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diode </a:t>
            </a:r>
            <a:r>
              <a:rPr lang="en-US" dirty="0" err="1"/>
              <a:t>Zener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R</a:t>
            </a:r>
            <a:r>
              <a:rPr lang="en-US" baseline="-25000" dirty="0"/>
              <a:t>3</a:t>
            </a:r>
            <a:r>
              <a:rPr lang="en-US" dirty="0"/>
              <a:t>. Do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cl</a:t>
            </a:r>
            <a:r>
              <a:rPr lang="en-US" baseline="-25000" dirty="0"/>
              <a:t> </a:t>
            </a:r>
            <a:r>
              <a:rPr lang="en-US" dirty="0"/>
              <a:t>= 3</a:t>
            </a:r>
            <a:endParaRPr lang="en-US" baseline="-250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60" y="2843935"/>
            <a:ext cx="1104900" cy="31432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481" y="3154969"/>
            <a:ext cx="497205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07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thoát</a:t>
            </a:r>
            <a:br>
              <a:rPr lang="en-US" dirty="0"/>
            </a:br>
            <a:r>
              <a:rPr lang="en-US" dirty="0"/>
              <a:t>(Relaxation 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tam </a:t>
            </a:r>
            <a:r>
              <a:rPr lang="en-US" dirty="0" err="1"/>
              <a:t>giác</a:t>
            </a:r>
            <a:r>
              <a:rPr lang="en-US" dirty="0"/>
              <a:t>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60" y="2272998"/>
            <a:ext cx="4433920" cy="245735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100" y="3988798"/>
            <a:ext cx="702945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849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thoát</a:t>
            </a:r>
            <a:br>
              <a:rPr lang="en-US" dirty="0"/>
            </a:br>
            <a:r>
              <a:rPr lang="en-US" dirty="0"/>
              <a:t>(Relaxation Oscillator)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tam </a:t>
            </a:r>
            <a:r>
              <a:rPr lang="en-US" dirty="0" err="1"/>
              <a:t>giác</a:t>
            </a:r>
            <a:r>
              <a:rPr lang="en-US" dirty="0"/>
              <a:t>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37" y="2522652"/>
            <a:ext cx="5385673" cy="2301503"/>
          </a:xfrm>
          <a:prstGeom prst="rect">
            <a:avLst/>
          </a:prstGeom>
        </p:spPr>
      </p:pic>
      <p:grpSp>
        <p:nvGrpSpPr>
          <p:cNvPr id="23" name="Groupe 22"/>
          <p:cNvGrpSpPr/>
          <p:nvPr/>
        </p:nvGrpSpPr>
        <p:grpSpPr>
          <a:xfrm>
            <a:off x="497505" y="2528900"/>
            <a:ext cx="2925325" cy="2603901"/>
            <a:chOff x="1982670" y="2528900"/>
            <a:chExt cx="2925325" cy="2603901"/>
          </a:xfrm>
        </p:grpSpPr>
        <p:cxnSp>
          <p:nvCxnSpPr>
            <p:cNvPr id="8" name="Connecteur droit 7"/>
            <p:cNvCxnSpPr/>
            <p:nvPr/>
          </p:nvCxnSpPr>
          <p:spPr>
            <a:xfrm>
              <a:off x="1982670" y="2528900"/>
              <a:ext cx="238526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necteur droit 11"/>
            <p:cNvCxnSpPr/>
            <p:nvPr/>
          </p:nvCxnSpPr>
          <p:spPr>
            <a:xfrm>
              <a:off x="4367935" y="2528900"/>
              <a:ext cx="0" cy="153017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>
              <a:off x="1982670" y="2528900"/>
              <a:ext cx="0" cy="26039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 flipV="1">
              <a:off x="1982670" y="5132800"/>
              <a:ext cx="2925325" cy="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eur droit 19"/>
            <p:cNvCxnSpPr/>
            <p:nvPr/>
          </p:nvCxnSpPr>
          <p:spPr>
            <a:xfrm flipV="1">
              <a:off x="4907995" y="4059070"/>
              <a:ext cx="0" cy="107373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/>
            <p:cNvCxnSpPr/>
            <p:nvPr/>
          </p:nvCxnSpPr>
          <p:spPr>
            <a:xfrm>
              <a:off x="4367935" y="4059070"/>
              <a:ext cx="54006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4" name="Imag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75" y="2522652"/>
            <a:ext cx="4039440" cy="2186251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519" y="4708903"/>
            <a:ext cx="2333625" cy="1571625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924" y="5062500"/>
            <a:ext cx="20955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54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20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295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59516</TotalTime>
  <Words>1431</Words>
  <Application>Microsoft Office PowerPoint</Application>
  <PresentationFormat>A4 Paper (210x297 mm)</PresentationFormat>
  <Paragraphs>159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(Corps)</vt:lpstr>
      <vt:lpstr>Calibri Light</vt:lpstr>
      <vt:lpstr>Times</vt:lpstr>
      <vt:lpstr>Times New Roman</vt:lpstr>
      <vt:lpstr>Wingdings</vt:lpstr>
      <vt:lpstr>Retrospect</vt:lpstr>
      <vt:lpstr>CorelDRAW</vt:lpstr>
      <vt:lpstr>Chương 9</vt:lpstr>
      <vt:lpstr>Mục tiêu</vt:lpstr>
      <vt:lpstr>Mạch đa hài</vt:lpstr>
      <vt:lpstr>Mạch đa hài ổn định</vt:lpstr>
      <vt:lpstr>Mạch đa hài không ổn định</vt:lpstr>
      <vt:lpstr>Mạch đa hài không ổn định</vt:lpstr>
      <vt:lpstr>Mạch đa hài không ổn định</vt:lpstr>
      <vt:lpstr>Mạch dao động (Oscillator)</vt:lpstr>
      <vt:lpstr>Mạch dao động (Oscillator)</vt:lpstr>
      <vt:lpstr>Mạch dao động (Oscillator)</vt:lpstr>
      <vt:lpstr>Mạch dao động (Oscillator)</vt:lpstr>
      <vt:lpstr>Mạch dao động (Oscillator)</vt:lpstr>
      <vt:lpstr>Mạch dao động cầu Wien  (Wien-Bridge Oscillator)</vt:lpstr>
      <vt:lpstr>Mạch dao động cầu Wien  (Wien-Bridge Oscillator)</vt:lpstr>
      <vt:lpstr>Mạch dao động cầu Wien  (Wien-Bridge Oscillator)</vt:lpstr>
      <vt:lpstr>Mạch dao động cầu Wien  (Wien-Bridge Oscillator)</vt:lpstr>
      <vt:lpstr>Mạch dao động cầu Wien  (Wien-Bridge Oscillator)</vt:lpstr>
      <vt:lpstr>Mạch dao động tích thoát (Relaxation Oscillator)</vt:lpstr>
      <vt:lpstr>Mạch dao động tích thoát (Relaxation Oscillator)</vt:lpstr>
      <vt:lpstr>Thank you!</vt:lpstr>
    </vt:vector>
  </TitlesOfParts>
  <Company>Mid Sweden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huytl</cp:lastModifiedBy>
  <cp:revision>1064</cp:revision>
  <cp:lastPrinted>2004-10-20T11:26:57Z</cp:lastPrinted>
  <dcterms:created xsi:type="dcterms:W3CDTF">2005-06-07T08:25:50Z</dcterms:created>
  <dcterms:modified xsi:type="dcterms:W3CDTF">2018-12-10T02:56:02Z</dcterms:modified>
</cp:coreProperties>
</file>