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75" r:id="rId1"/>
  </p:sldMasterIdLst>
  <p:notesMasterIdLst>
    <p:notesMasterId r:id="rId18"/>
  </p:notesMasterIdLst>
  <p:handoutMasterIdLst>
    <p:handoutMasterId r:id="rId19"/>
  </p:handoutMasterIdLst>
  <p:sldIdLst>
    <p:sldId id="345" r:id="rId2"/>
    <p:sldId id="376" r:id="rId3"/>
    <p:sldId id="402" r:id="rId4"/>
    <p:sldId id="436" r:id="rId5"/>
    <p:sldId id="437" r:id="rId6"/>
    <p:sldId id="438" r:id="rId7"/>
    <p:sldId id="439" r:id="rId8"/>
    <p:sldId id="440" r:id="rId9"/>
    <p:sldId id="441" r:id="rId10"/>
    <p:sldId id="442" r:id="rId11"/>
    <p:sldId id="444" r:id="rId12"/>
    <p:sldId id="445" r:id="rId13"/>
    <p:sldId id="446" r:id="rId14"/>
    <p:sldId id="447" r:id="rId15"/>
    <p:sldId id="448" r:id="rId16"/>
    <p:sldId id="419" r:id="rId17"/>
  </p:sldIdLst>
  <p:sldSz cx="9906000" cy="6858000" type="A4"/>
  <p:notesSz cx="6858000" cy="9144000"/>
  <p:defaultTextStyle>
    <a:defPPr>
      <a:defRPr lang="sv-SE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14F0"/>
    <a:srgbClr val="FFFF99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80211" autoAdjust="0"/>
  </p:normalViewPr>
  <p:slideViewPr>
    <p:cSldViewPr snapToObjects="1">
      <p:cViewPr varScale="1">
        <p:scale>
          <a:sx n="74" d="100"/>
          <a:sy n="74" d="100"/>
        </p:scale>
        <p:origin x="1110" y="7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Objects="1">
      <p:cViewPr varScale="1">
        <p:scale>
          <a:sx n="88" d="100"/>
          <a:sy n="88" d="100"/>
        </p:scale>
        <p:origin x="3822" y="66"/>
      </p:cViewPr>
      <p:guideLst/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sv-SE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1AC2784-202A-43B4-8BBE-F1C2E4013BCD}" type="slidenum">
              <a:rPr lang="sv-SE"/>
              <a:pPr/>
              <a:t>‹N°›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84149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sv-SE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2500" y="685800"/>
            <a:ext cx="4953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B3A6057-268F-4F30-9FDB-4F3BD4328747}" type="slidenum">
              <a:rPr lang="sv-SE"/>
              <a:pPr/>
              <a:t>‹N°›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05230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vi-VN" sz="1200" kern="1200" dirty="0">
                <a:solidFill>
                  <a:schemeClr val="tx1"/>
                </a:solidFill>
                <a:effectLst/>
                <a:latin typeface="Times" pitchFamily="1" charset="0"/>
                <a:ea typeface="+mn-ea"/>
                <a:cs typeface="+mn-cs"/>
              </a:rPr>
              <a:t>Các thông số kỹ thuật và mạch tương đương </a:t>
            </a:r>
            <a:endParaRPr lang="en-US" sz="1100" kern="1200" dirty="0">
              <a:solidFill>
                <a:schemeClr val="tx1"/>
              </a:solidFill>
              <a:effectLst/>
              <a:latin typeface="Times" pitchFamily="1" charset="0"/>
              <a:ea typeface="+mn-ea"/>
              <a:cs typeface="+mn-cs"/>
            </a:endParaRPr>
          </a:p>
          <a:p>
            <a:pPr lvl="1"/>
            <a:r>
              <a:rPr lang="vi-VN" sz="1200" kern="1200" dirty="0">
                <a:solidFill>
                  <a:schemeClr val="tx1"/>
                </a:solidFill>
                <a:effectLst/>
                <a:latin typeface="Times" pitchFamily="1" charset="0"/>
                <a:ea typeface="+mn-ea"/>
                <a:cs typeface="+mn-cs"/>
              </a:rPr>
              <a:t>Mạch khuếch đại CS</a:t>
            </a:r>
            <a:endParaRPr lang="en-US" sz="1100" kern="1200" dirty="0">
              <a:solidFill>
                <a:schemeClr val="tx1"/>
              </a:solidFill>
              <a:effectLst/>
              <a:latin typeface="Times" pitchFamily="1" charset="0"/>
              <a:ea typeface="+mn-ea"/>
              <a:cs typeface="+mn-cs"/>
            </a:endParaRPr>
          </a:p>
          <a:p>
            <a:r>
              <a:rPr lang="vi-VN" sz="1200" kern="1200" dirty="0">
                <a:solidFill>
                  <a:schemeClr val="tx1"/>
                </a:solidFill>
                <a:effectLst/>
                <a:latin typeface="Times" pitchFamily="1" charset="0"/>
                <a:ea typeface="+mn-ea"/>
                <a:cs typeface="+mn-cs"/>
              </a:rPr>
              <a:t>Bài tập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3A6057-268F-4F30-9FDB-4F3BD4328747}" type="slidenum">
              <a:rPr lang="sv-SE" smtClean="0"/>
              <a:pPr/>
              <a:t>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70238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1540" y="758952"/>
            <a:ext cx="817245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3791" y="4455621"/>
            <a:ext cx="817245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6CE6A-4F36-49F2-9B13-8DEAF960F767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81223" y="4343400"/>
            <a:ext cx="80238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61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ABAE-A3C1-4AF6-9B4A-B8A593CBFB77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156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540" y="758952"/>
            <a:ext cx="817245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40" y="4453128"/>
            <a:ext cx="817245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03C9-52B0-430A-AEB2-F6AD00D0027A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81223" y="4343400"/>
            <a:ext cx="80238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168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1540" y="1845734"/>
            <a:ext cx="401193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2060" y="1845735"/>
            <a:ext cx="401193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9FBD9-45E0-447C-8C83-56BDF85B5FD9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866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40" y="1846052"/>
            <a:ext cx="401193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1540" y="2582334"/>
            <a:ext cx="401193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52060" y="1846052"/>
            <a:ext cx="401193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52060" y="2582334"/>
            <a:ext cx="401193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9C9A-188C-42DE-97CB-2E31ACB1EA45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952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053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14CD8-DB15-496A-A859-82D24A1AF52A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754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" y="0"/>
            <a:ext cx="329126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282557" y="0"/>
            <a:ext cx="5200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5" y="594359"/>
            <a:ext cx="2600325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0488" y="731520"/>
            <a:ext cx="5274945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1475" y="2926080"/>
            <a:ext cx="2600325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00487" y="6459787"/>
            <a:ext cx="3776663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1D136CB-44A3-4A56-9571-5AC9E7D220FF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204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903421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3" y="491507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540" y="5074920"/>
            <a:ext cx="8217337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" y="0"/>
            <a:ext cx="9905988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1540" y="5907024"/>
            <a:ext cx="822198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B1C77-4CB1-498D-9F07-B554D165B420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17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D9B1D-FDCB-443F-93C0-5F97D675AD51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70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412302"/>
            <a:ext cx="2135981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412302"/>
            <a:ext cx="6284119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071D-A73F-4BA5-9F02-094D29CF2789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195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9906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9906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39" y="1845734"/>
            <a:ext cx="817245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95026" y="6459787"/>
            <a:ext cx="39185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4123" y="6459787"/>
            <a:ext cx="10660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6F0065D-453A-49D6-B09C-0939AFFF0617}" type="slidenum">
              <a:rPr lang="sv-SE" smtClean="0"/>
              <a:pPr/>
              <a:t>‹N°›</a:t>
            </a:fld>
            <a:endParaRPr lang="sv-SE" sz="1400"/>
          </a:p>
        </p:txBody>
      </p:sp>
      <p:cxnSp>
        <p:nvCxnSpPr>
          <p:cNvPr id="10" name="Straight Connector 9"/>
          <p:cNvCxnSpPr/>
          <p:nvPr/>
        </p:nvCxnSpPr>
        <p:spPr>
          <a:xfrm>
            <a:off x="969745" y="1737845"/>
            <a:ext cx="809815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47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Chương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332820" y="731520"/>
            <a:ext cx="6573180" cy="525780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CÁC THIẾT BỊ VÀ MẠCH ĐIỆN TỬ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>
              <a:buClr>
                <a:srgbClr val="FFC000"/>
              </a:buClr>
            </a:pP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khuếch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đại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thuật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toán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Op-Amp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so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sánh</a:t>
            </a:r>
            <a:endPara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Cộng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trừ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tích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phân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vi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phân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Clr>
                <a:srgbClr val="FFC000"/>
              </a:buClr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</a:t>
            </a:fld>
            <a:endParaRPr lang="sv-SE" sz="1400">
              <a:latin typeface="Times" pitchFamily="1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4783455" y="2951780"/>
            <a:ext cx="3509010" cy="1737360"/>
            <a:chOff x="5141976" y="2438890"/>
            <a:chExt cx="3509010" cy="1737360"/>
          </a:xfrm>
        </p:grpSpPr>
        <p:pic>
          <p:nvPicPr>
            <p:cNvPr id="1026" name="Picture 2" descr="http://portal.uit.edu.vn/Styles/profi/images/logo186x150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1976" y="2646045"/>
              <a:ext cx="1771650" cy="142875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3626" y="2438890"/>
              <a:ext cx="1737360" cy="17373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0908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Hiểu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vận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so </a:t>
            </a:r>
            <a:r>
              <a:rPr lang="en-US" dirty="0" err="1" smtClean="0"/>
              <a:t>sánh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Op-Amp</a:t>
            </a:r>
            <a:endParaRPr lang="en-US" b="1" dirty="0"/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Hiểu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vận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cộng</a:t>
            </a:r>
            <a:r>
              <a:rPr lang="en-US" dirty="0" smtClean="0"/>
              <a:t>/</a:t>
            </a:r>
            <a:r>
              <a:rPr lang="en-US" dirty="0" err="1" smtClean="0"/>
              <a:t>trừ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Op-Amp</a:t>
            </a:r>
            <a:endParaRPr lang="en-US" b="1" dirty="0"/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Hiểu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vận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vi </a:t>
            </a:r>
            <a:r>
              <a:rPr lang="en-US" dirty="0" err="1" smtClean="0"/>
              <a:t>phân</a:t>
            </a:r>
            <a:r>
              <a:rPr lang="en-US" dirty="0" smtClean="0"/>
              <a:t>/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ụng</a:t>
            </a:r>
            <a:r>
              <a:rPr lang="en-US" dirty="0" smtClean="0"/>
              <a:t> Op-Amp</a:t>
            </a:r>
            <a:endParaRPr lang="en-US" b="1" dirty="0"/>
          </a:p>
        </p:txBody>
      </p:sp>
      <p:pic>
        <p:nvPicPr>
          <p:cNvPr id="3074" name="Picture 2" descr="Image result for i want you washingt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4138" y="3300643"/>
            <a:ext cx="4857960" cy="2948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9441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Mạch</a:t>
            </a:r>
            <a:r>
              <a:rPr lang="en-US" dirty="0" smtClean="0"/>
              <a:t> so </a:t>
            </a:r>
            <a:r>
              <a:rPr lang="en-US" dirty="0" err="1" smtClean="0"/>
              <a:t>sánh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Op-Amp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3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so </a:t>
            </a:r>
            <a:r>
              <a:rPr lang="en-US" dirty="0" err="1" smtClean="0"/>
              <a:t>sánh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so </a:t>
            </a:r>
            <a:r>
              <a:rPr lang="en-US" dirty="0" err="1" smtClean="0"/>
              <a:t>sánh</a:t>
            </a:r>
            <a:r>
              <a:rPr lang="en-US" dirty="0" smtClean="0"/>
              <a:t> </a:t>
            </a:r>
            <a:r>
              <a:rPr lang="en-US" dirty="0" err="1" smtClean="0"/>
              <a:t>hai</a:t>
            </a:r>
            <a:r>
              <a:rPr lang="en-US" dirty="0" smtClean="0"/>
              <a:t>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.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diễn</a:t>
            </a:r>
            <a:r>
              <a:rPr lang="en-US" dirty="0" smtClean="0"/>
              <a:t> 2 </a:t>
            </a:r>
            <a:r>
              <a:rPr lang="en-US" dirty="0" err="1" smtClean="0"/>
              <a:t>trạng</a:t>
            </a:r>
            <a:r>
              <a:rPr lang="en-US" dirty="0" smtClean="0"/>
              <a:t> </a:t>
            </a:r>
            <a:r>
              <a:rPr lang="en-US" dirty="0" err="1" smtClean="0"/>
              <a:t>thái</a:t>
            </a:r>
            <a:r>
              <a:rPr lang="en-US" dirty="0" smtClean="0"/>
              <a:t>, </a:t>
            </a:r>
            <a:r>
              <a:rPr lang="en-US" dirty="0" err="1" smtClean="0"/>
              <a:t>lớn</a:t>
            </a:r>
            <a:r>
              <a:rPr lang="en-US" dirty="0" smtClean="0"/>
              <a:t> </a:t>
            </a:r>
            <a:r>
              <a:rPr lang="en-US" dirty="0" err="1" smtClean="0"/>
              <a:t>hơn</a:t>
            </a:r>
            <a:r>
              <a:rPr lang="en-US" dirty="0" smtClean="0"/>
              <a:t> </a:t>
            </a: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 err="1" smtClean="0"/>
              <a:t>bé</a:t>
            </a:r>
            <a:r>
              <a:rPr lang="en-US" dirty="0" smtClean="0"/>
              <a:t> </a:t>
            </a:r>
            <a:r>
              <a:rPr lang="en-US" dirty="0" err="1" smtClean="0"/>
              <a:t>hơn</a:t>
            </a:r>
            <a:r>
              <a:rPr lang="en-US" dirty="0" smtClean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Nhờ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khuếch</a:t>
            </a:r>
            <a:r>
              <a:rPr lang="en-US" dirty="0" smtClean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 </a:t>
            </a:r>
            <a:r>
              <a:rPr lang="en-US" dirty="0" err="1" smtClean="0"/>
              <a:t>vòng</a:t>
            </a:r>
            <a:r>
              <a:rPr lang="en-US" dirty="0" smtClean="0"/>
              <a:t> </a:t>
            </a:r>
            <a:r>
              <a:rPr lang="en-US" dirty="0" err="1" smtClean="0"/>
              <a:t>hở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Op-Amp </a:t>
            </a:r>
            <a:r>
              <a:rPr lang="en-US" dirty="0" err="1" smtClean="0"/>
              <a:t>rất</a:t>
            </a:r>
            <a:r>
              <a:rPr lang="en-US" dirty="0" smtClean="0"/>
              <a:t> </a:t>
            </a:r>
            <a:r>
              <a:rPr lang="en-US" dirty="0" err="1" smtClean="0"/>
              <a:t>cao</a:t>
            </a:r>
            <a:r>
              <a:rPr lang="en-US" dirty="0" smtClean="0"/>
              <a:t>,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1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khác</a:t>
            </a:r>
            <a:r>
              <a:rPr lang="en-US" dirty="0" smtClean="0"/>
              <a:t> </a:t>
            </a:r>
            <a:r>
              <a:rPr lang="en-US" dirty="0" err="1" smtClean="0"/>
              <a:t>biệt</a:t>
            </a:r>
            <a:r>
              <a:rPr lang="en-US" dirty="0" smtClean="0"/>
              <a:t> </a:t>
            </a:r>
            <a:r>
              <a:rPr lang="en-US" dirty="0" err="1" smtClean="0"/>
              <a:t>rất</a:t>
            </a:r>
            <a:r>
              <a:rPr lang="en-US" dirty="0" smtClean="0"/>
              <a:t> </a:t>
            </a:r>
            <a:r>
              <a:rPr lang="en-US" dirty="0" err="1" smtClean="0"/>
              <a:t>nhỏ</a:t>
            </a:r>
            <a:r>
              <a:rPr lang="en-US" dirty="0" smtClean="0"/>
              <a:t> </a:t>
            </a:r>
            <a:r>
              <a:rPr lang="en-US" dirty="0" err="1" smtClean="0"/>
              <a:t>giữa</a:t>
            </a:r>
            <a:r>
              <a:rPr lang="en-US" dirty="0" smtClean="0"/>
              <a:t> </a:t>
            </a:r>
            <a:r>
              <a:rPr lang="en-US" dirty="0" err="1" smtClean="0"/>
              <a:t>hai</a:t>
            </a:r>
            <a:r>
              <a:rPr lang="en-US" dirty="0" smtClean="0"/>
              <a:t> </a:t>
            </a:r>
            <a:r>
              <a:rPr lang="en-US" dirty="0" err="1" smtClean="0"/>
              <a:t>cổng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,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thế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khuếch</a:t>
            </a:r>
            <a:r>
              <a:rPr lang="en-US" dirty="0" smtClean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bão</a:t>
            </a:r>
            <a:r>
              <a:rPr lang="en-US" dirty="0" smtClean="0"/>
              <a:t> </a:t>
            </a:r>
            <a:r>
              <a:rPr lang="en-US" dirty="0" err="1" smtClean="0"/>
              <a:t>hòa</a:t>
            </a:r>
            <a:r>
              <a:rPr lang="en-US" dirty="0" smtClean="0"/>
              <a:t> (</a:t>
            </a:r>
            <a:r>
              <a:rPr lang="en-US" dirty="0" smtClean="0">
                <a:sym typeface="Symbol" panose="05050102010706020507" pitchFamily="18" charset="2"/>
              </a:rPr>
              <a:t> </a:t>
            </a:r>
            <a:r>
              <a:rPr lang="en-US" dirty="0" smtClean="0"/>
              <a:t>V</a:t>
            </a:r>
            <a:r>
              <a:rPr lang="en-US" baseline="-25000" dirty="0" smtClean="0"/>
              <a:t>MAX</a:t>
            </a:r>
            <a:r>
              <a:rPr lang="en-US" dirty="0" smtClean="0"/>
              <a:t>).</a:t>
            </a:r>
          </a:p>
          <a:p>
            <a:pPr marL="0" indent="0" algn="ctr" fontAlgn="auto">
              <a:buNone/>
            </a:pPr>
            <a:r>
              <a:rPr lang="en-US" b="1" dirty="0" smtClean="0"/>
              <a:t>Zero level Detector</a:t>
            </a:r>
            <a:endParaRPr lang="en-US" b="1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385" y="4159330"/>
            <a:ext cx="5810250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548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Mạch</a:t>
            </a:r>
            <a:r>
              <a:rPr lang="en-US" dirty="0" smtClean="0"/>
              <a:t> so </a:t>
            </a:r>
            <a:r>
              <a:rPr lang="en-US" dirty="0" err="1" smtClean="0"/>
              <a:t>sánh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Op-Amp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4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so </a:t>
            </a:r>
            <a:r>
              <a:rPr lang="en-US" dirty="0" err="1" smtClean="0"/>
              <a:t>sánh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khác</a:t>
            </a:r>
            <a:r>
              <a:rPr lang="en-US" dirty="0"/>
              <a:t> </a:t>
            </a:r>
            <a:r>
              <a:rPr lang="en-US" dirty="0" smtClean="0"/>
              <a:t>0</a:t>
            </a:r>
          </a:p>
          <a:p>
            <a:pPr marL="0" indent="0" algn="ctr" fontAlgn="auto">
              <a:buNone/>
            </a:pPr>
            <a:r>
              <a:rPr lang="en-US" b="1" dirty="0" smtClean="0"/>
              <a:t>Non Zero level Detector</a:t>
            </a:r>
            <a:endParaRPr lang="en-US" b="1" dirty="0"/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9634" y="2623216"/>
            <a:ext cx="4086225" cy="2990850"/>
          </a:xfrm>
          <a:prstGeom prst="rect">
            <a:avLst/>
          </a:prstGeom>
        </p:spPr>
      </p:pic>
      <p:pic>
        <p:nvPicPr>
          <p:cNvPr id="13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58970"/>
            <a:ext cx="5791200" cy="191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88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Mạch</a:t>
            </a:r>
            <a:r>
              <a:rPr lang="en-US" dirty="0" smtClean="0"/>
              <a:t> so </a:t>
            </a:r>
            <a:r>
              <a:rPr lang="en-US" dirty="0" err="1" smtClean="0"/>
              <a:t>sánh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Op-Amp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5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Xuất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nhiễu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?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062" y="2213865"/>
            <a:ext cx="8143875" cy="181927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00" y="4029332"/>
            <a:ext cx="4949385" cy="2837475"/>
          </a:xfrm>
          <a:prstGeom prst="rect">
            <a:avLst/>
          </a:prstGeom>
        </p:spPr>
      </p:pic>
      <p:sp>
        <p:nvSpPr>
          <p:cNvPr id="10" name="Content Placeholder 11"/>
          <p:cNvSpPr txBox="1">
            <a:spLocks/>
          </p:cNvSpPr>
          <p:nvPr/>
        </p:nvSpPr>
        <p:spPr>
          <a:xfrm>
            <a:off x="5358045" y="5087363"/>
            <a:ext cx="4476244" cy="72522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ổn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xuất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lỗi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8070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Mạch</a:t>
            </a:r>
            <a:r>
              <a:rPr lang="en-US" dirty="0" smtClean="0"/>
              <a:t> so </a:t>
            </a:r>
            <a:r>
              <a:rPr lang="en-US" dirty="0" err="1" smtClean="0"/>
              <a:t>sánh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Op-Amp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6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giảm</a:t>
            </a:r>
            <a:r>
              <a:rPr lang="en-US" dirty="0" smtClean="0"/>
              <a:t> </a:t>
            </a:r>
            <a:r>
              <a:rPr lang="en-US" dirty="0" err="1" smtClean="0"/>
              <a:t>thiểu</a:t>
            </a:r>
            <a:r>
              <a:rPr lang="en-US" dirty="0" smtClean="0"/>
              <a:t> </a:t>
            </a:r>
            <a:r>
              <a:rPr lang="en-US" dirty="0" err="1" smtClean="0"/>
              <a:t>ảnh</a:t>
            </a:r>
            <a:r>
              <a:rPr lang="en-US" dirty="0" smtClean="0"/>
              <a:t> </a:t>
            </a:r>
            <a:r>
              <a:rPr lang="en-US" dirty="0" err="1" smtClean="0"/>
              <a:t>hưởng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nhiễu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, </a:t>
            </a:r>
            <a:r>
              <a:rPr lang="en-US" dirty="0" err="1" smtClean="0"/>
              <a:t>người</a:t>
            </a:r>
            <a:r>
              <a:rPr lang="en-US" dirty="0" smtClean="0"/>
              <a:t> ta </a:t>
            </a:r>
            <a:r>
              <a:rPr lang="en-US" dirty="0" err="1" smtClean="0"/>
              <a:t>thường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hồi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</a:t>
            </a:r>
            <a:r>
              <a:rPr lang="en-US" dirty="0" err="1" smtClean="0"/>
              <a:t>dương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trễ</a:t>
            </a:r>
            <a:r>
              <a:rPr lang="en-US" dirty="0" smtClean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trễ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2 </a:t>
            </a:r>
            <a:r>
              <a:rPr lang="en-US" dirty="0" err="1" smtClean="0"/>
              <a:t>ngưỡng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thế</a:t>
            </a:r>
            <a:r>
              <a:rPr lang="en-US" dirty="0"/>
              <a:t> </a:t>
            </a:r>
            <a:r>
              <a:rPr lang="en-US" dirty="0" smtClean="0"/>
              <a:t>UTP (upper trigger point) </a:t>
            </a:r>
            <a:r>
              <a:rPr lang="en-US" dirty="0" err="1" smtClean="0"/>
              <a:t>và</a:t>
            </a:r>
            <a:r>
              <a:rPr lang="en-US" dirty="0" smtClean="0"/>
              <a:t> LTP (lower trigger point).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hai</a:t>
            </a:r>
            <a:r>
              <a:rPr lang="en-US" dirty="0" smtClean="0"/>
              <a:t> </a:t>
            </a:r>
            <a:r>
              <a:rPr lang="en-US" dirty="0" err="1" smtClean="0"/>
              <a:t>ngưỡng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,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chuyển</a:t>
            </a:r>
            <a:r>
              <a:rPr lang="en-US" dirty="0" smtClean="0"/>
              <a:t> </a:t>
            </a:r>
            <a:r>
              <a:rPr lang="en-US" dirty="0" err="1" smtClean="0"/>
              <a:t>trạng</a:t>
            </a:r>
            <a:r>
              <a:rPr lang="en-US" dirty="0" smtClean="0"/>
              <a:t> </a:t>
            </a:r>
            <a:r>
              <a:rPr lang="en-US" dirty="0" err="1" smtClean="0"/>
              <a:t>thái</a:t>
            </a:r>
            <a:r>
              <a:rPr lang="en-US" dirty="0" smtClean="0"/>
              <a:t>.</a:t>
            </a:r>
          </a:p>
          <a:p>
            <a:pPr marL="0" indent="0" algn="just" fontAlgn="auto">
              <a:buNone/>
            </a:pPr>
            <a:endParaRPr lang="en-US" dirty="0" smtClean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630" y="3779395"/>
            <a:ext cx="4666505" cy="2529925"/>
          </a:xfrm>
          <a:prstGeom prst="rect">
            <a:avLst/>
          </a:prstGeom>
        </p:spPr>
      </p:pic>
      <p:pic>
        <p:nvPicPr>
          <p:cNvPr id="4098" name="Picture 2" descr="Image result for how it work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4451" y="3886757"/>
            <a:ext cx="3086932" cy="2315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1844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Mạch</a:t>
            </a:r>
            <a:r>
              <a:rPr lang="en-US" dirty="0" smtClean="0"/>
              <a:t> so </a:t>
            </a:r>
            <a:r>
              <a:rPr lang="en-US" dirty="0" err="1" smtClean="0"/>
              <a:t>sánh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Op-Amp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7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hồi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</a:t>
            </a:r>
            <a:r>
              <a:rPr lang="en-US" dirty="0" err="1" smtClean="0"/>
              <a:t>dương</a:t>
            </a:r>
            <a:r>
              <a:rPr lang="en-US" dirty="0"/>
              <a:t> </a:t>
            </a:r>
            <a:r>
              <a:rPr lang="en-US" dirty="0" err="1" smtClean="0"/>
              <a:t>vs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hồi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</a:t>
            </a:r>
            <a:r>
              <a:rPr lang="en-US" dirty="0" err="1" smtClean="0"/>
              <a:t>âm</a:t>
            </a:r>
            <a:r>
              <a:rPr lang="en-US" dirty="0" smtClean="0"/>
              <a:t>?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trễ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hồi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</a:t>
            </a:r>
            <a:r>
              <a:rPr lang="en-US" dirty="0" err="1" smtClean="0"/>
              <a:t>dương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dựa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2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trở</a:t>
            </a:r>
            <a:r>
              <a:rPr lang="en-US" dirty="0" smtClean="0"/>
              <a:t> R1 </a:t>
            </a:r>
            <a:r>
              <a:rPr lang="en-US" dirty="0" err="1" smtClean="0"/>
              <a:t>và</a:t>
            </a:r>
            <a:r>
              <a:rPr lang="en-US" dirty="0" smtClean="0"/>
              <a:t> R2</a:t>
            </a:r>
          </a:p>
          <a:p>
            <a:pPr marL="0" indent="0" algn="just" fontAlgn="auto">
              <a:buNone/>
            </a:pPr>
            <a:endParaRPr lang="en-US" dirty="0" smtClean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097" y="3248980"/>
            <a:ext cx="8210550" cy="240982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28" y="4991798"/>
            <a:ext cx="2314575" cy="5715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7765" y="5010848"/>
            <a:ext cx="2276475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653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Mạch</a:t>
            </a:r>
            <a:r>
              <a:rPr lang="en-US" dirty="0" smtClean="0"/>
              <a:t> so </a:t>
            </a:r>
            <a:r>
              <a:rPr lang="en-US" dirty="0" err="1" smtClean="0"/>
              <a:t>sánh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Op-Amp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8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chặn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: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, </a:t>
            </a:r>
            <a:r>
              <a:rPr lang="en-US" dirty="0" err="1" smtClean="0"/>
              <a:t>người</a:t>
            </a:r>
            <a:r>
              <a:rPr lang="en-US" dirty="0" smtClean="0"/>
              <a:t> ta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hạn</a:t>
            </a:r>
            <a:r>
              <a:rPr lang="en-US" dirty="0" smtClean="0"/>
              <a:t> </a:t>
            </a:r>
            <a:r>
              <a:rPr lang="en-US" dirty="0" err="1" smtClean="0"/>
              <a:t>chế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so </a:t>
            </a:r>
            <a:r>
              <a:rPr lang="en-US" dirty="0" err="1" smtClean="0"/>
              <a:t>sánh</a:t>
            </a:r>
            <a:r>
              <a:rPr lang="en-US" dirty="0" smtClean="0"/>
              <a:t> (</a:t>
            </a:r>
            <a:r>
              <a:rPr lang="en-US" dirty="0" err="1" smtClean="0"/>
              <a:t>đặc</a:t>
            </a:r>
            <a:r>
              <a:rPr lang="en-US" dirty="0" smtClean="0"/>
              <a:t> </a:t>
            </a:r>
            <a:r>
              <a:rPr lang="en-US" dirty="0" err="1" smtClean="0"/>
              <a:t>biệt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những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thế</a:t>
            </a:r>
            <a:r>
              <a:rPr lang="en-US" dirty="0"/>
              <a:t> </a:t>
            </a:r>
            <a:r>
              <a:rPr lang="en-US" dirty="0" err="1" smtClean="0"/>
              <a:t>tối</a:t>
            </a:r>
            <a:r>
              <a:rPr lang="en-US" dirty="0" smtClean="0"/>
              <a:t> </a:t>
            </a:r>
            <a:r>
              <a:rPr lang="en-US" dirty="0" err="1" smtClean="0"/>
              <a:t>đa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5V).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hạn</a:t>
            </a:r>
            <a:r>
              <a:rPr lang="en-US" dirty="0" smtClean="0"/>
              <a:t> </a:t>
            </a:r>
            <a:r>
              <a:rPr lang="en-US" dirty="0" err="1" smtClean="0"/>
              <a:t>chế</a:t>
            </a:r>
            <a:r>
              <a:rPr lang="en-US" dirty="0" smtClean="0"/>
              <a:t> </a:t>
            </a:r>
            <a:r>
              <a:rPr lang="en-US" dirty="0" err="1" smtClean="0"/>
              <a:t>nhờ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1 </a:t>
            </a:r>
            <a:r>
              <a:rPr lang="en-US" dirty="0" err="1" smtClean="0"/>
              <a:t>hoặc</a:t>
            </a:r>
            <a:r>
              <a:rPr lang="en-US" dirty="0" smtClean="0"/>
              <a:t> 2 diode </a:t>
            </a:r>
            <a:r>
              <a:rPr lang="en-US" dirty="0" err="1" smtClean="0"/>
              <a:t>zener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hồi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</a:t>
            </a:r>
            <a:r>
              <a:rPr lang="en-US" dirty="0" err="1" smtClean="0"/>
              <a:t>âm</a:t>
            </a:r>
            <a:r>
              <a:rPr lang="en-US" dirty="0" smtClean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smtClean="0"/>
              <a:t>Diode </a:t>
            </a:r>
            <a:r>
              <a:rPr lang="en-US" dirty="0" err="1" smtClean="0"/>
              <a:t>Zener</a:t>
            </a:r>
            <a:r>
              <a:rPr lang="en-US" dirty="0" smtClean="0"/>
              <a:t>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thế</a:t>
            </a:r>
            <a:r>
              <a:rPr lang="en-US" dirty="0" smtClean="0"/>
              <a:t> </a:t>
            </a:r>
            <a:r>
              <a:rPr lang="en-US" dirty="0" err="1" smtClean="0"/>
              <a:t>nào</a:t>
            </a:r>
            <a:r>
              <a:rPr lang="en-US" dirty="0" smtClean="0"/>
              <a:t>?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cực</a:t>
            </a:r>
            <a:r>
              <a:rPr lang="en-US" dirty="0" smtClean="0"/>
              <a:t> </a:t>
            </a:r>
            <a:r>
              <a:rPr lang="en-US" dirty="0" err="1" smtClean="0"/>
              <a:t>thuân</a:t>
            </a:r>
            <a:r>
              <a:rPr lang="en-US" dirty="0" smtClean="0"/>
              <a:t>,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thế</a:t>
            </a:r>
            <a:r>
              <a:rPr lang="en-US" dirty="0" smtClean="0"/>
              <a:t> </a:t>
            </a:r>
            <a:r>
              <a:rPr lang="en-US" dirty="0" err="1" smtClean="0"/>
              <a:t>giữa</a:t>
            </a:r>
            <a:r>
              <a:rPr lang="en-US" dirty="0" smtClean="0"/>
              <a:t> 2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Zener</a:t>
            </a:r>
            <a:r>
              <a:rPr lang="en-US" dirty="0" smtClean="0"/>
              <a:t> </a:t>
            </a:r>
            <a:r>
              <a:rPr lang="en-US" dirty="0" err="1" smtClean="0"/>
              <a:t>bằng</a:t>
            </a:r>
            <a:r>
              <a:rPr lang="en-US" dirty="0" smtClean="0"/>
              <a:t> </a:t>
            </a:r>
            <a:r>
              <a:rPr lang="en-US" dirty="0" err="1" smtClean="0"/>
              <a:t>bao</a:t>
            </a:r>
            <a:r>
              <a:rPr lang="en-US" dirty="0" smtClean="0"/>
              <a:t> </a:t>
            </a:r>
            <a:r>
              <a:rPr lang="en-US" dirty="0" err="1" smtClean="0"/>
              <a:t>nhiêu</a:t>
            </a:r>
            <a:r>
              <a:rPr lang="en-US" dirty="0" smtClean="0"/>
              <a:t>?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cực</a:t>
            </a:r>
            <a:r>
              <a:rPr lang="en-US" dirty="0" smtClean="0"/>
              <a:t> </a:t>
            </a:r>
            <a:r>
              <a:rPr lang="en-US" dirty="0" err="1" smtClean="0"/>
              <a:t>nghịch</a:t>
            </a:r>
            <a:r>
              <a:rPr lang="en-US" dirty="0" smtClean="0"/>
              <a:t>,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thế</a:t>
            </a:r>
            <a:r>
              <a:rPr lang="en-US" dirty="0" smtClean="0"/>
              <a:t> </a:t>
            </a:r>
            <a:r>
              <a:rPr lang="en-US" dirty="0" err="1" smtClean="0"/>
              <a:t>giữa</a:t>
            </a:r>
            <a:r>
              <a:rPr lang="en-US" dirty="0" smtClean="0"/>
              <a:t> 2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Zener</a:t>
            </a:r>
            <a:r>
              <a:rPr lang="en-US" dirty="0" smtClean="0"/>
              <a:t> </a:t>
            </a:r>
            <a:r>
              <a:rPr lang="en-US" dirty="0" err="1" smtClean="0"/>
              <a:t>bằng</a:t>
            </a:r>
            <a:r>
              <a:rPr lang="en-US" dirty="0" smtClean="0"/>
              <a:t> </a:t>
            </a:r>
            <a:r>
              <a:rPr lang="en-US" dirty="0" err="1" smtClean="0"/>
              <a:t>bao</a:t>
            </a:r>
            <a:r>
              <a:rPr lang="en-US" dirty="0" smtClean="0"/>
              <a:t> </a:t>
            </a:r>
            <a:r>
              <a:rPr lang="en-US" dirty="0" err="1" smtClean="0"/>
              <a:t>nhiêu</a:t>
            </a:r>
            <a:r>
              <a:rPr lang="en-US" dirty="0"/>
              <a:t>?</a:t>
            </a:r>
            <a:endParaRPr lang="en-US" dirty="0" smtClean="0"/>
          </a:p>
          <a:p>
            <a:pPr marL="0" indent="0" algn="just" fontAlgn="auto">
              <a:buNone/>
            </a:pPr>
            <a:endParaRPr lang="en-US" dirty="0" smtClean="0"/>
          </a:p>
        </p:txBody>
      </p:sp>
      <p:grpSp>
        <p:nvGrpSpPr>
          <p:cNvPr id="16" name="Groupe 15"/>
          <p:cNvGrpSpPr/>
          <p:nvPr/>
        </p:nvGrpSpPr>
        <p:grpSpPr>
          <a:xfrm>
            <a:off x="3197044" y="4524840"/>
            <a:ext cx="2774497" cy="956720"/>
            <a:chOff x="3197044" y="4524840"/>
            <a:chExt cx="2774497" cy="956720"/>
          </a:xfrm>
        </p:grpSpPr>
        <p:pic>
          <p:nvPicPr>
            <p:cNvPr id="7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25615" y="4524840"/>
              <a:ext cx="828675" cy="285750"/>
            </a:xfrm>
            <a:prstGeom prst="rect">
              <a:avLst/>
            </a:prstGeom>
          </p:spPr>
        </p:pic>
        <p:sp>
          <p:nvSpPr>
            <p:cNvPr id="12" name="ZoneTexte 11"/>
            <p:cNvSpPr txBox="1"/>
            <p:nvPr/>
          </p:nvSpPr>
          <p:spPr>
            <a:xfrm>
              <a:off x="5107202" y="4723586"/>
              <a:ext cx="8643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V</a:t>
              </a:r>
              <a:r>
                <a:rPr lang="en-US" baseline="-25000" dirty="0" err="1" smtClean="0"/>
                <a:t>diode</a:t>
              </a:r>
              <a:endParaRPr lang="en-US" baseline="-25000" dirty="0"/>
            </a:p>
          </p:txBody>
        </p:sp>
        <p:cxnSp>
          <p:nvCxnSpPr>
            <p:cNvPr id="13" name="Connecteur droit avec flèche 12"/>
            <p:cNvCxnSpPr/>
            <p:nvPr/>
          </p:nvCxnSpPr>
          <p:spPr>
            <a:xfrm>
              <a:off x="4125615" y="5019895"/>
              <a:ext cx="8286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avec flèche 13"/>
            <p:cNvCxnSpPr/>
            <p:nvPr/>
          </p:nvCxnSpPr>
          <p:spPr>
            <a:xfrm>
              <a:off x="4125615" y="5277707"/>
              <a:ext cx="828675" cy="0"/>
            </a:xfrm>
            <a:prstGeom prst="straightConnector1">
              <a:avLst/>
            </a:prstGeom>
            <a:ln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ZoneTexte 14"/>
            <p:cNvSpPr txBox="1"/>
            <p:nvPr/>
          </p:nvSpPr>
          <p:spPr>
            <a:xfrm>
              <a:off x="3197044" y="5019895"/>
              <a:ext cx="8867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V</a:t>
              </a:r>
              <a:r>
                <a:rPr lang="en-US" baseline="-25000" dirty="0" err="1" smtClean="0"/>
                <a:t>Zener</a:t>
              </a:r>
              <a:endParaRPr lang="en-US" baseline="-25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73998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Mạch</a:t>
            </a:r>
            <a:r>
              <a:rPr lang="en-US" dirty="0" smtClean="0"/>
              <a:t> so </a:t>
            </a:r>
            <a:r>
              <a:rPr lang="en-US" dirty="0" err="1" smtClean="0"/>
              <a:t>sánh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Op-Amp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9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chặn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: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76" y="2618910"/>
            <a:ext cx="4457700" cy="325755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3280897"/>
            <a:ext cx="4552950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1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 smtClean="0"/>
              <a:t>Mạch</a:t>
            </a:r>
            <a:r>
              <a:rPr lang="en-US" dirty="0" smtClean="0"/>
              <a:t> so </a:t>
            </a:r>
            <a:r>
              <a:rPr lang="en-US" dirty="0" err="1" smtClean="0"/>
              <a:t>sánh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Op-Amp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10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chuyển</a:t>
            </a:r>
            <a:r>
              <a:rPr lang="en-US" dirty="0" smtClean="0"/>
              <a:t> </a:t>
            </a:r>
            <a:r>
              <a:rPr lang="en-US" dirty="0" err="1" smtClean="0"/>
              <a:t>đổi</a:t>
            </a:r>
            <a:r>
              <a:rPr lang="en-US" dirty="0" smtClean="0"/>
              <a:t> Analog sang Digital: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739" y="2326652"/>
            <a:ext cx="3483800" cy="429768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8583" y="2483895"/>
            <a:ext cx="4351561" cy="375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061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3002" y="3744035"/>
            <a:ext cx="3584444" cy="2044411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cộng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Op-Amp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11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4916555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cộng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Op-Amp </a:t>
            </a:r>
            <a:r>
              <a:rPr lang="en-US" dirty="0" err="1" smtClean="0"/>
              <a:t>có</a:t>
            </a:r>
            <a:r>
              <a:rPr lang="en-US" dirty="0" smtClean="0"/>
              <a:t> 2 </a:t>
            </a: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 err="1" smtClean="0"/>
              <a:t>nhiều</a:t>
            </a:r>
            <a:r>
              <a:rPr lang="en-US" dirty="0" smtClean="0"/>
              <a:t> </a:t>
            </a:r>
            <a:r>
              <a:rPr lang="en-US" dirty="0" err="1" smtClean="0"/>
              <a:t>cổng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,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thường</a:t>
            </a:r>
            <a:r>
              <a:rPr lang="en-US" dirty="0" smtClean="0"/>
              <a:t> </a:t>
            </a:r>
            <a:r>
              <a:rPr lang="en-US" dirty="0" err="1" smtClean="0"/>
              <a:t>những</a:t>
            </a:r>
            <a:r>
              <a:rPr lang="en-US" dirty="0" smtClean="0"/>
              <a:t> </a:t>
            </a:r>
            <a:r>
              <a:rPr lang="en-US" dirty="0" err="1" smtClean="0"/>
              <a:t>cổng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cộng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.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bằng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thế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nhưng</a:t>
            </a:r>
            <a:r>
              <a:rPr lang="en-US" dirty="0" smtClean="0"/>
              <a:t> </a:t>
            </a:r>
            <a:r>
              <a:rPr lang="en-US" dirty="0" err="1" smtClean="0"/>
              <a:t>mang</a:t>
            </a:r>
            <a:r>
              <a:rPr lang="en-US" dirty="0" smtClean="0"/>
              <a:t> </a:t>
            </a:r>
            <a:r>
              <a:rPr lang="en-US" dirty="0" err="1" smtClean="0"/>
              <a:t>dấu</a:t>
            </a:r>
            <a:r>
              <a:rPr lang="en-US" dirty="0" smtClean="0"/>
              <a:t> </a:t>
            </a:r>
            <a:r>
              <a:rPr lang="en-US" dirty="0" err="1" smtClean="0"/>
              <a:t>âm</a:t>
            </a:r>
            <a:r>
              <a:rPr lang="en-US" dirty="0" smtClean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R1=R2=</a:t>
            </a:r>
            <a:r>
              <a:rPr lang="en-US" dirty="0" err="1" smtClean="0"/>
              <a:t>Rf</a:t>
            </a:r>
            <a:r>
              <a:rPr lang="en-US" dirty="0" smtClean="0"/>
              <a:t> </a:t>
            </a:r>
            <a:r>
              <a:rPr lang="en-US" dirty="0" err="1" smtClean="0"/>
              <a:t>thì</a:t>
            </a:r>
            <a:r>
              <a:rPr lang="en-US" dirty="0" smtClean="0"/>
              <a:t> ta </a:t>
            </a:r>
            <a:r>
              <a:rPr lang="en-US" dirty="0" err="1" smtClean="0"/>
              <a:t>có</a:t>
            </a:r>
            <a:r>
              <a:rPr lang="en-US" dirty="0" smtClean="0"/>
              <a:t>: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0" indent="0" algn="just" fontAlgn="auto">
              <a:buNone/>
            </a:pPr>
            <a:endParaRPr lang="en-US" dirty="0" smtClean="0"/>
          </a:p>
        </p:txBody>
      </p:sp>
      <p:pic>
        <p:nvPicPr>
          <p:cNvPr id="9" name="Picture 1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10799" y="1808820"/>
            <a:ext cx="3666647" cy="1970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963" y="3474005"/>
            <a:ext cx="4914900" cy="79057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349" y="4905180"/>
            <a:ext cx="5124450" cy="666750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565" y="5724255"/>
            <a:ext cx="5743575" cy="5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707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cộng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Op-Amp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12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218604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chuyển</a:t>
            </a:r>
            <a:r>
              <a:rPr lang="en-US" dirty="0" smtClean="0"/>
              <a:t> </a:t>
            </a:r>
            <a:r>
              <a:rPr lang="en-US" dirty="0" err="1" smtClean="0"/>
              <a:t>đổi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sang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tương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/>
              <a:t> </a:t>
            </a:r>
            <a:r>
              <a:rPr lang="en-US" dirty="0" smtClean="0"/>
              <a:t>(DAC)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0" indent="0" algn="just" fontAlgn="auto">
              <a:buNone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0" indent="0" algn="just" fontAlgn="auto">
              <a:buNone/>
            </a:pPr>
            <a:endParaRPr lang="en-US" dirty="0" smtClean="0"/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465" y="2798930"/>
            <a:ext cx="4875204" cy="2939461"/>
          </a:xfrm>
          <a:prstGeom prst="rect">
            <a:avLst/>
          </a:prstGeom>
        </p:spPr>
      </p:pic>
      <p:pic>
        <p:nvPicPr>
          <p:cNvPr id="5122" name="Picture 2" descr="Image result for DAC examp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510" y="3282822"/>
            <a:ext cx="3971925" cy="1971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3690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cộng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Op-Amp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13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218604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chuyển</a:t>
            </a:r>
            <a:r>
              <a:rPr lang="en-US" dirty="0" smtClean="0"/>
              <a:t> </a:t>
            </a:r>
            <a:r>
              <a:rPr lang="en-US" dirty="0" err="1" smtClean="0"/>
              <a:t>đổi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sang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tương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/>
              <a:t> </a:t>
            </a:r>
            <a:r>
              <a:rPr lang="en-US" dirty="0" smtClean="0"/>
              <a:t>(</a:t>
            </a:r>
            <a:r>
              <a:rPr lang="en-US" smtClean="0"/>
              <a:t>DAC) 4-bit</a:t>
            </a:r>
            <a:endParaRPr lang="en-US" dirty="0" smtClean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0" indent="0" algn="just" fontAlgn="auto">
              <a:buNone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0" indent="0" algn="just" fontAlgn="auto">
              <a:buNone/>
            </a:pPr>
            <a:endParaRPr lang="en-US" dirty="0" smtClean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685" y="2636468"/>
            <a:ext cx="4981575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002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25" y="3590550"/>
            <a:ext cx="6333822" cy="274320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Op-Amp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14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218604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. </a:t>
            </a:r>
            <a:r>
              <a:rPr lang="en-US" dirty="0" err="1" smtClean="0"/>
              <a:t>Nó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diện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khu</a:t>
            </a:r>
            <a:r>
              <a:rPr lang="en-US" dirty="0" smtClean="0"/>
              <a:t> </a:t>
            </a:r>
            <a:r>
              <a:rPr lang="en-US" dirty="0" err="1" smtClean="0"/>
              <a:t>vực</a:t>
            </a:r>
            <a:r>
              <a:rPr lang="en-US" dirty="0" smtClean="0"/>
              <a:t> </a:t>
            </a:r>
            <a:r>
              <a:rPr lang="en-US" dirty="0" err="1" smtClean="0"/>
              <a:t>giới</a:t>
            </a:r>
            <a:r>
              <a:rPr lang="en-US" dirty="0" smtClean="0"/>
              <a:t> </a:t>
            </a:r>
            <a:r>
              <a:rPr lang="en-US" dirty="0" err="1" smtClean="0"/>
              <a:t>hạn</a:t>
            </a:r>
            <a:r>
              <a:rPr lang="en-US" dirty="0" smtClean="0"/>
              <a:t> </a:t>
            </a:r>
            <a:r>
              <a:rPr lang="en-US" dirty="0" err="1" smtClean="0"/>
              <a:t>ngay</a:t>
            </a:r>
            <a:r>
              <a:rPr lang="en-US" dirty="0" smtClean="0"/>
              <a:t> </a:t>
            </a:r>
            <a:r>
              <a:rPr lang="en-US" dirty="0" err="1" smtClean="0"/>
              <a:t>dưới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diễn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bao</a:t>
            </a:r>
            <a:r>
              <a:rPr lang="en-US" dirty="0" smtClean="0"/>
              <a:t> </a:t>
            </a:r>
            <a:r>
              <a:rPr lang="en-US" dirty="0" err="1" smtClean="0"/>
              <a:t>gồm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trở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cổng</a:t>
            </a:r>
            <a:r>
              <a:rPr lang="en-US" dirty="0" smtClean="0"/>
              <a:t> </a:t>
            </a:r>
            <a:r>
              <a:rPr lang="en-US" dirty="0" err="1" smtClean="0"/>
              <a:t>đảo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hồi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cổng</a:t>
            </a:r>
            <a:r>
              <a:rPr lang="en-US" dirty="0" smtClean="0"/>
              <a:t> </a:t>
            </a:r>
            <a:r>
              <a:rPr lang="en-US" dirty="0" err="1" smtClean="0"/>
              <a:t>đảo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qua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tụ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.</a:t>
            </a:r>
            <a:endParaRPr lang="en-US" dirty="0" smtClean="0"/>
          </a:p>
          <a:p>
            <a:pPr marL="0" indent="0" algn="just" fontAlgn="auto">
              <a:buNone/>
            </a:pPr>
            <a:r>
              <a:rPr lang="en-US" dirty="0" smtClean="0"/>
              <a:t>							</a:t>
            </a:r>
            <a:r>
              <a:rPr lang="en-US" dirty="0" err="1" smtClean="0"/>
              <a:t>Tỉ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thay</a:t>
            </a:r>
            <a:r>
              <a:rPr lang="en-US" dirty="0" smtClean="0"/>
              <a:t> </a:t>
            </a:r>
            <a:r>
              <a:rPr lang="en-US" dirty="0" err="1" smtClean="0"/>
              <a:t>đổi</a:t>
            </a: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0" indent="0" algn="just" fontAlgn="auto">
              <a:buNone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0" indent="0" algn="just" fontAlgn="auto">
              <a:buNone/>
            </a:pPr>
            <a:endParaRPr lang="en-US" dirty="0" smtClean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800" y="4135546"/>
            <a:ext cx="2552700" cy="13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80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smtClean="0"/>
              <a:t>vi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Op-Amp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15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218604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vi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phép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vi </a:t>
            </a:r>
            <a:r>
              <a:rPr lang="en-US" dirty="0" err="1" smtClean="0"/>
              <a:t>phân</a:t>
            </a:r>
            <a:r>
              <a:rPr lang="en-US" dirty="0" smtClean="0"/>
              <a:t>. </a:t>
            </a:r>
            <a:r>
              <a:rPr lang="en-US" dirty="0" err="1" smtClean="0"/>
              <a:t>Về</a:t>
            </a:r>
            <a:r>
              <a:rPr lang="en-US" dirty="0" smtClean="0"/>
              <a:t> </a:t>
            </a:r>
            <a:r>
              <a:rPr lang="en-US" dirty="0" err="1" smtClean="0"/>
              <a:t>cơ</a:t>
            </a:r>
            <a:r>
              <a:rPr lang="en-US" dirty="0" smtClean="0"/>
              <a:t> </a:t>
            </a:r>
            <a:r>
              <a:rPr lang="en-US" dirty="0" err="1" smtClean="0"/>
              <a:t>bản</a:t>
            </a:r>
            <a:r>
              <a:rPr lang="en-US" dirty="0" smtClean="0"/>
              <a:t>,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vi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ngược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 so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vi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bao</a:t>
            </a:r>
            <a:r>
              <a:rPr lang="en-US" dirty="0" smtClean="0"/>
              <a:t> </a:t>
            </a:r>
            <a:r>
              <a:rPr lang="en-US" dirty="0" err="1" smtClean="0"/>
              <a:t>gồm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tụ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cổng</a:t>
            </a:r>
            <a:r>
              <a:rPr lang="en-US" dirty="0" smtClean="0"/>
              <a:t> </a:t>
            </a:r>
            <a:r>
              <a:rPr lang="en-US" dirty="0" err="1" smtClean="0"/>
              <a:t>đảo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hồi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cổng</a:t>
            </a:r>
            <a:r>
              <a:rPr lang="en-US" dirty="0" smtClean="0"/>
              <a:t> </a:t>
            </a:r>
            <a:r>
              <a:rPr lang="en-US" dirty="0" err="1" smtClean="0"/>
              <a:t>đảo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qua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trở</a:t>
            </a:r>
            <a:r>
              <a:rPr lang="en-US" dirty="0" smtClean="0"/>
              <a:t>.</a:t>
            </a: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0" indent="0" algn="just" fontAlgn="auto">
              <a:buNone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0" indent="0" algn="just" fontAlgn="auto">
              <a:buNone/>
            </a:pPr>
            <a:endParaRPr lang="en-US" dirty="0" smtClean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306" y="3375823"/>
            <a:ext cx="8122918" cy="287371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160" y="3149263"/>
            <a:ext cx="236220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400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ABAE-A3C1-4AF6-9B4A-B8A593CBFB77}" type="slidenum">
              <a:rPr lang="sv-SE" smtClean="0"/>
              <a:pPr/>
              <a:t>16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029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49708</TotalTime>
  <Words>763</Words>
  <Application>Microsoft Office PowerPoint</Application>
  <PresentationFormat>Format A4 (210 x 297 mm)</PresentationFormat>
  <Paragraphs>100</Paragraphs>
  <Slides>16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3" baseType="lpstr">
      <vt:lpstr>Calibri</vt:lpstr>
      <vt:lpstr>Calibri Light</vt:lpstr>
      <vt:lpstr>Symbol</vt:lpstr>
      <vt:lpstr>Times</vt:lpstr>
      <vt:lpstr>Times New Roman</vt:lpstr>
      <vt:lpstr>Wingdings</vt:lpstr>
      <vt:lpstr>Retrospect</vt:lpstr>
      <vt:lpstr>Chương 8</vt:lpstr>
      <vt:lpstr>Mục tiêu</vt:lpstr>
      <vt:lpstr>Mạch so sánh sử dụng Op-Amp</vt:lpstr>
      <vt:lpstr>Mạch so sánh sử dụng Op-Amp</vt:lpstr>
      <vt:lpstr>Mạch so sánh sử dụng Op-Amp</vt:lpstr>
      <vt:lpstr>Mạch so sánh sử dụng Op-Amp</vt:lpstr>
      <vt:lpstr>Mạch so sánh sử dụng Op-Amp</vt:lpstr>
      <vt:lpstr>Mạch so sánh sử dụng Op-Amp</vt:lpstr>
      <vt:lpstr>Mạch so sánh sử dụng Op-Amp</vt:lpstr>
      <vt:lpstr>Các ứng dụng của Mạch so sánh sử dụng Op-Amp</vt:lpstr>
      <vt:lpstr>Mạch cộng sử dụng Op-Amp</vt:lpstr>
      <vt:lpstr>Ứng dụng của Mạch cộng sử dụng Op-Amp</vt:lpstr>
      <vt:lpstr>Ứng dụng của Mạch cộng sử dụng Op-Amp</vt:lpstr>
      <vt:lpstr> Mạch tích phân sử dụng Op-Amp</vt:lpstr>
      <vt:lpstr> Mạch vi phân sử dụng Op-Amp</vt:lpstr>
      <vt:lpstr>Thank you!</vt:lpstr>
    </vt:vector>
  </TitlesOfParts>
  <Company>Mid Sweden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Kent Bertilsson</dc:creator>
  <cp:lastModifiedBy>Le Huy Trinh</cp:lastModifiedBy>
  <cp:revision>1009</cp:revision>
  <cp:lastPrinted>2004-10-20T11:26:57Z</cp:lastPrinted>
  <dcterms:created xsi:type="dcterms:W3CDTF">2005-06-07T08:25:50Z</dcterms:created>
  <dcterms:modified xsi:type="dcterms:W3CDTF">2016-11-22T00:39:45Z</dcterms:modified>
</cp:coreProperties>
</file>