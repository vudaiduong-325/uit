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75" r:id="rId1"/>
  </p:sldMasterIdLst>
  <p:notesMasterIdLst>
    <p:notesMasterId r:id="rId15"/>
  </p:notesMasterIdLst>
  <p:handoutMasterIdLst>
    <p:handoutMasterId r:id="rId16"/>
  </p:handoutMasterIdLst>
  <p:sldIdLst>
    <p:sldId id="345" r:id="rId2"/>
    <p:sldId id="376" r:id="rId3"/>
    <p:sldId id="435" r:id="rId4"/>
    <p:sldId id="436" r:id="rId5"/>
    <p:sldId id="437" r:id="rId6"/>
    <p:sldId id="441" r:id="rId7"/>
    <p:sldId id="438" r:id="rId8"/>
    <p:sldId id="442" r:id="rId9"/>
    <p:sldId id="439" r:id="rId10"/>
    <p:sldId id="444" r:id="rId11"/>
    <p:sldId id="440" r:id="rId12"/>
    <p:sldId id="443" r:id="rId13"/>
    <p:sldId id="419" r:id="rId14"/>
  </p:sldIdLst>
  <p:sldSz cx="9906000" cy="6858000" type="A4"/>
  <p:notesSz cx="6858000" cy="9144000"/>
  <p:defaultTextStyle>
    <a:defPPr>
      <a:defRPr lang="sv-SE"/>
    </a:defPPr>
    <a:lvl1pPr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14F0"/>
    <a:srgbClr val="FFFF99"/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80211" autoAdjust="0"/>
  </p:normalViewPr>
  <p:slideViewPr>
    <p:cSldViewPr snapToObjects="1">
      <p:cViewPr varScale="1">
        <p:scale>
          <a:sx n="86" d="100"/>
          <a:sy n="86" d="100"/>
        </p:scale>
        <p:origin x="490" y="58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Objects="1">
      <p:cViewPr varScale="1">
        <p:scale>
          <a:sx n="88" d="100"/>
          <a:sy n="88" d="100"/>
        </p:scale>
        <p:origin x="3822" y="66"/>
      </p:cViewPr>
      <p:guideLst/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sv-SE"/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102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1AC2784-202A-43B4-8BBE-F1C2E4013BCD}" type="slidenum">
              <a:rPr lang="sv-SE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84149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sv-SE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52500" y="685800"/>
            <a:ext cx="4953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B3A6057-268F-4F30-9FDB-4F3BD4328747}" type="slidenum">
              <a:rPr lang="sv-SE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4052302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vi-VN" sz="1200" kern="1200" dirty="0">
                <a:solidFill>
                  <a:schemeClr val="tx1"/>
                </a:solidFill>
                <a:effectLst/>
                <a:latin typeface="Times" pitchFamily="1" charset="0"/>
                <a:ea typeface="+mn-ea"/>
                <a:cs typeface="+mn-cs"/>
              </a:rPr>
              <a:t>Các thông số kỹ thuật và mạch tương đương </a:t>
            </a:r>
            <a:endParaRPr lang="en-US" sz="1100" kern="1200" dirty="0">
              <a:solidFill>
                <a:schemeClr val="tx1"/>
              </a:solidFill>
              <a:effectLst/>
              <a:latin typeface="Times" pitchFamily="1" charset="0"/>
              <a:ea typeface="+mn-ea"/>
              <a:cs typeface="+mn-cs"/>
            </a:endParaRPr>
          </a:p>
          <a:p>
            <a:pPr lvl="1"/>
            <a:r>
              <a:rPr lang="vi-VN" sz="1200" kern="1200" dirty="0">
                <a:solidFill>
                  <a:schemeClr val="tx1"/>
                </a:solidFill>
                <a:effectLst/>
                <a:latin typeface="Times" pitchFamily="1" charset="0"/>
                <a:ea typeface="+mn-ea"/>
                <a:cs typeface="+mn-cs"/>
              </a:rPr>
              <a:t>Mạch khuếch đại CS</a:t>
            </a:r>
            <a:endParaRPr lang="en-US" sz="1100" kern="1200" dirty="0">
              <a:solidFill>
                <a:schemeClr val="tx1"/>
              </a:solidFill>
              <a:effectLst/>
              <a:latin typeface="Times" pitchFamily="1" charset="0"/>
              <a:ea typeface="+mn-ea"/>
              <a:cs typeface="+mn-cs"/>
            </a:endParaRPr>
          </a:p>
          <a:p>
            <a:r>
              <a:rPr lang="vi-VN" sz="1200" kern="1200" dirty="0">
                <a:solidFill>
                  <a:schemeClr val="tx1"/>
                </a:solidFill>
                <a:effectLst/>
                <a:latin typeface="Times" pitchFamily="1" charset="0"/>
                <a:ea typeface="+mn-ea"/>
                <a:cs typeface="+mn-cs"/>
              </a:rPr>
              <a:t>Bài tập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3A6057-268F-4F30-9FDB-4F3BD4328747}" type="slidenum">
              <a:rPr lang="sv-SE" smtClean="0"/>
              <a:pPr/>
              <a:t>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702382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581" y="6400800"/>
            <a:ext cx="99034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3" y="6334316"/>
            <a:ext cx="99034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1540" y="758952"/>
            <a:ext cx="817245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3791" y="4455621"/>
            <a:ext cx="817245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6CE6A-4F36-49F2-9B13-8DEAF960F767}" type="slidenum">
              <a:rPr lang="sv-SE" smtClean="0"/>
              <a:pPr/>
              <a:t>‹#›</a:t>
            </a:fld>
            <a:endParaRPr lang="sv-SE" sz="1400">
              <a:latin typeface="Times" pitchFamily="1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981223" y="4343400"/>
            <a:ext cx="80238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4614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5ABAE-A3C1-4AF6-9B4A-B8A593CBFB77}" type="slidenum">
              <a:rPr lang="sv-SE" smtClean="0"/>
              <a:pPr/>
              <a:t>‹#›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3156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581" y="6400800"/>
            <a:ext cx="99034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3" y="6334316"/>
            <a:ext cx="99034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540" y="758952"/>
            <a:ext cx="817245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1540" y="4453128"/>
            <a:ext cx="817245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303C9-52B0-430A-AEB2-F6AD00D0027A}" type="slidenum">
              <a:rPr lang="sv-SE" smtClean="0"/>
              <a:pPr/>
              <a:t>‹#›</a:t>
            </a:fld>
            <a:endParaRPr lang="sv-SE" sz="1400">
              <a:latin typeface="Times" pitchFamily="1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981223" y="4343400"/>
            <a:ext cx="80238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3168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91540" y="286605"/>
            <a:ext cx="817245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91540" y="1845734"/>
            <a:ext cx="401193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2060" y="1845735"/>
            <a:ext cx="401193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9FBD9-45E0-447C-8C83-56BDF85B5FD9}" type="slidenum">
              <a:rPr lang="sv-SE" smtClean="0"/>
              <a:pPr/>
              <a:t>‹#›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3866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91540" y="286605"/>
            <a:ext cx="817245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1540" y="1846052"/>
            <a:ext cx="401193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91540" y="2582334"/>
            <a:ext cx="401193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52060" y="1846052"/>
            <a:ext cx="401193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52060" y="2582334"/>
            <a:ext cx="401193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99C9A-188C-42DE-97CB-2E31ACB1EA45}" type="slidenum">
              <a:rPr lang="sv-SE" smtClean="0"/>
              <a:pPr/>
              <a:t>‹#›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4952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‹#›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9053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581" y="6400800"/>
            <a:ext cx="99034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3" y="6334316"/>
            <a:ext cx="99034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sv-SE"/>
              <a:t>Trịnh Lê Huy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14CD8-DB15-496A-A859-82D24A1AF52A}" type="slidenum">
              <a:rPr lang="sv-SE" smtClean="0"/>
              <a:pPr/>
              <a:t>‹#›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6754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5" y="0"/>
            <a:ext cx="3291267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282557" y="0"/>
            <a:ext cx="5200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475" y="594359"/>
            <a:ext cx="2600325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00488" y="731520"/>
            <a:ext cx="5274945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1475" y="2926080"/>
            <a:ext cx="2600325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900487" y="6459787"/>
            <a:ext cx="3776663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sv-SE"/>
              <a:t>Trịnh Lê Huy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1D136CB-44A3-4A56-9571-5AC9E7D220FF}" type="slidenum">
              <a:rPr lang="sv-SE" smtClean="0"/>
              <a:pPr/>
              <a:t>‹#›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3204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903421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3" y="4915076"/>
            <a:ext cx="99034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540" y="5074920"/>
            <a:ext cx="8217337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4" y="0"/>
            <a:ext cx="9905988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1540" y="5907024"/>
            <a:ext cx="822198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B1C77-4CB1-498D-9F07-B554D165B420}" type="slidenum">
              <a:rPr lang="sv-SE" smtClean="0"/>
              <a:pPr/>
              <a:t>‹#›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17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D9B1D-FDCB-443F-93C0-5F97D675AD51}" type="slidenum">
              <a:rPr lang="sv-SE" smtClean="0"/>
              <a:pPr/>
              <a:t>‹#›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0705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81" y="6400800"/>
            <a:ext cx="99034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3" y="6334316"/>
            <a:ext cx="99034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412302"/>
            <a:ext cx="2135981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412302"/>
            <a:ext cx="6284119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7071D-A73F-4BA5-9F02-094D29CF2789}" type="slidenum">
              <a:rPr lang="sv-SE" smtClean="0"/>
              <a:pPr/>
              <a:t>‹#›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4195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9906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" y="6334316"/>
            <a:ext cx="9906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540" y="286605"/>
            <a:ext cx="817245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1539" y="1845734"/>
            <a:ext cx="817245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95026" y="6459787"/>
            <a:ext cx="39185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sv-SE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44123" y="6459787"/>
            <a:ext cx="10660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6F0065D-453A-49D6-B09C-0939AFFF0617}" type="slidenum">
              <a:rPr lang="sv-SE" smtClean="0"/>
              <a:pPr/>
              <a:t>‹#›</a:t>
            </a:fld>
            <a:endParaRPr lang="sv-SE" sz="1400"/>
          </a:p>
        </p:txBody>
      </p:sp>
      <p:cxnSp>
        <p:nvCxnSpPr>
          <p:cNvPr id="10" name="Straight Connector 9"/>
          <p:cNvCxnSpPr/>
          <p:nvPr/>
        </p:nvCxnSpPr>
        <p:spPr>
          <a:xfrm>
            <a:off x="969745" y="1737845"/>
            <a:ext cx="8098155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247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  <p:sldLayoutId id="2147483777" r:id="rId2"/>
    <p:sldLayoutId id="2147483778" r:id="rId3"/>
    <p:sldLayoutId id="2147483779" r:id="rId4"/>
    <p:sldLayoutId id="2147483780" r:id="rId5"/>
    <p:sldLayoutId id="2147483781" r:id="rId6"/>
    <p:sldLayoutId id="2147483782" r:id="rId7"/>
    <p:sldLayoutId id="2147483783" r:id="rId8"/>
    <p:sldLayoutId id="2147483784" r:id="rId9"/>
    <p:sldLayoutId id="2147483785" r:id="rId10"/>
    <p:sldLayoutId id="2147483786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Chương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10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332820" y="731520"/>
            <a:ext cx="6573180" cy="5257800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CÁC THIẾT BỊ VÀ MẠCH ĐIỆN TỬ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>
              <a:buClr>
                <a:srgbClr val="FFC000"/>
              </a:buClr>
            </a:pPr>
            <a:r>
              <a:rPr lang="en-US" sz="1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Mạch</a:t>
            </a:r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lọc</a:t>
            </a:r>
            <a:endParaRPr lang="en-US" sz="1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q"/>
            </a:pP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Khái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niệm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và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phân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loại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mạch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lọc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q"/>
            </a:pP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Đáp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ứng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tần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số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của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mạch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lọc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q"/>
            </a:pP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Mạch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lọc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thụ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động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sử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dụng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RC</a:t>
            </a:r>
          </a:p>
          <a:p>
            <a:pPr>
              <a:buClr>
                <a:srgbClr val="FFC000"/>
              </a:buClr>
            </a:pP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q"/>
            </a:pP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</a:t>
            </a:fld>
            <a:endParaRPr lang="sv-SE" sz="1400">
              <a:latin typeface="Times" pitchFamily="1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4783455" y="2951780"/>
            <a:ext cx="3509010" cy="1737360"/>
            <a:chOff x="5141976" y="2438890"/>
            <a:chExt cx="3509010" cy="1737360"/>
          </a:xfrm>
        </p:grpSpPr>
        <p:pic>
          <p:nvPicPr>
            <p:cNvPr id="1026" name="Picture 2" descr="http://portal.uit.edu.vn/Styles/profi/images/logo186x150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1976" y="2646045"/>
              <a:ext cx="1771650" cy="14287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13626" y="2438890"/>
              <a:ext cx="1737360" cy="17373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20908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tiêu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2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Hiểu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endParaRPr lang="en-US" b="1" dirty="0"/>
          </a:p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Hiểu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đáp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tần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endParaRPr lang="en-US" b="1" dirty="0"/>
          </a:p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Hiểu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vận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nhau</a:t>
            </a:r>
            <a:endParaRPr lang="en-US" b="1" dirty="0"/>
          </a:p>
        </p:txBody>
      </p:sp>
      <p:pic>
        <p:nvPicPr>
          <p:cNvPr id="3074" name="Picture 2" descr="Image result for i want you washingt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4138" y="3300643"/>
            <a:ext cx="4857960" cy="2948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9441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Khái</a:t>
            </a:r>
            <a:r>
              <a:rPr lang="en-US" dirty="0"/>
              <a:t> </a:t>
            </a:r>
            <a:r>
              <a:rPr lang="en-US" dirty="0" err="1"/>
              <a:t>niệm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3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chặn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yếu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tần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mong</a:t>
            </a:r>
            <a:r>
              <a:rPr lang="en-US" dirty="0"/>
              <a:t> </a:t>
            </a:r>
            <a:r>
              <a:rPr lang="en-US" dirty="0" err="1"/>
              <a:t>muốn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tần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mong</a:t>
            </a:r>
            <a:r>
              <a:rPr lang="en-US" dirty="0"/>
              <a:t> </a:t>
            </a:r>
            <a:r>
              <a:rPr lang="en-US" dirty="0" err="1"/>
              <a:t>muốn</a:t>
            </a:r>
            <a:r>
              <a:rPr lang="en-US" dirty="0"/>
              <a:t> </a:t>
            </a:r>
            <a:r>
              <a:rPr lang="en-US" dirty="0" err="1"/>
              <a:t>đi</a:t>
            </a:r>
            <a:r>
              <a:rPr lang="en-US" dirty="0"/>
              <a:t> qua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suy</a:t>
            </a:r>
            <a:r>
              <a:rPr lang="en-US" dirty="0"/>
              <a:t> </a:t>
            </a:r>
            <a:r>
              <a:rPr lang="en-US" dirty="0" err="1"/>
              <a:t>hao</a:t>
            </a:r>
            <a:r>
              <a:rPr lang="en-US" dirty="0"/>
              <a:t> </a:t>
            </a:r>
            <a:r>
              <a:rPr lang="en-US" dirty="0" err="1"/>
              <a:t>thấp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.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: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hạ</a:t>
            </a:r>
            <a:r>
              <a:rPr lang="en-US" dirty="0"/>
              <a:t> </a:t>
            </a:r>
            <a:r>
              <a:rPr lang="en-US" dirty="0" err="1"/>
              <a:t>thông</a:t>
            </a:r>
            <a:endParaRPr lang="en-US" dirty="0"/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thượng</a:t>
            </a:r>
            <a:r>
              <a:rPr lang="en-US" dirty="0"/>
              <a:t> </a:t>
            </a:r>
            <a:r>
              <a:rPr lang="en-US" dirty="0" err="1"/>
              <a:t>thông</a:t>
            </a:r>
            <a:endParaRPr lang="en-US" dirty="0"/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dải</a:t>
            </a:r>
            <a:r>
              <a:rPr lang="en-US" dirty="0"/>
              <a:t> </a:t>
            </a:r>
            <a:r>
              <a:rPr lang="en-US" dirty="0" err="1"/>
              <a:t>thông</a:t>
            </a:r>
            <a:endParaRPr lang="en-US" dirty="0"/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loc</a:t>
            </a:r>
            <a:r>
              <a:rPr lang="en-US" dirty="0"/>
              <a:t> </a:t>
            </a:r>
            <a:r>
              <a:rPr lang="en-US" dirty="0" err="1"/>
              <a:t>triệt</a:t>
            </a:r>
            <a:r>
              <a:rPr lang="en-US" dirty="0"/>
              <a:t> </a:t>
            </a:r>
            <a:r>
              <a:rPr lang="en-US" dirty="0" err="1"/>
              <a:t>thông</a:t>
            </a:r>
            <a:endParaRPr lang="en-US" dirty="0"/>
          </a:p>
        </p:txBody>
      </p:sp>
      <p:graphicFrame>
        <p:nvGraphicFramePr>
          <p:cNvPr id="17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641690"/>
              </p:ext>
            </p:extLst>
          </p:nvPr>
        </p:nvGraphicFramePr>
        <p:xfrm>
          <a:off x="274748" y="4488845"/>
          <a:ext cx="9406033" cy="15504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CorelDRAW" r:id="rId3" imgW="5884200" imgH="971640" progId="">
                  <p:embed/>
                </p:oleObj>
              </mc:Choice>
              <mc:Fallback>
                <p:oleObj name="CorelDRAW" r:id="rId3" imgW="5884200" imgH="97164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748" y="4488845"/>
                        <a:ext cx="9406033" cy="15504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04954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Đáp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tần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4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Đáp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tần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khảo</a:t>
            </a:r>
            <a:r>
              <a:rPr lang="en-US" dirty="0"/>
              <a:t> </a:t>
            </a:r>
            <a:r>
              <a:rPr lang="en-US" dirty="0" err="1"/>
              <a:t>sát</a:t>
            </a:r>
            <a:r>
              <a:rPr lang="en-US" dirty="0"/>
              <a:t> </a:t>
            </a:r>
            <a:r>
              <a:rPr lang="en-US" dirty="0" err="1"/>
              <a:t>khả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,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linh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tần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.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Nhờ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khảo</a:t>
            </a:r>
            <a:r>
              <a:rPr lang="en-US" dirty="0"/>
              <a:t> </a:t>
            </a:r>
            <a:r>
              <a:rPr lang="en-US" dirty="0" err="1"/>
              <a:t>sát</a:t>
            </a:r>
            <a:r>
              <a:rPr lang="en-US" dirty="0"/>
              <a:t> </a:t>
            </a:r>
            <a:r>
              <a:rPr lang="en-US" dirty="0" err="1"/>
              <a:t>đáp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tần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ta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.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495" y="3383994"/>
            <a:ext cx="4419995" cy="2655295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1592" y="3387530"/>
            <a:ext cx="4686831" cy="2651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794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linh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 RC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5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hạ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:</a:t>
            </a: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535" y="2888940"/>
            <a:ext cx="3420380" cy="2070230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8510" y="5043576"/>
            <a:ext cx="1095375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68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linh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 RC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6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hạ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: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0854" y="2586126"/>
            <a:ext cx="5105400" cy="3067050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535" y="2888940"/>
            <a:ext cx="3420380" cy="2070230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8510" y="5043576"/>
            <a:ext cx="1095375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651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linh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 RC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7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thượng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:</a:t>
            </a: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80" y="2618910"/>
            <a:ext cx="3241997" cy="1890210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7635" y="4734145"/>
            <a:ext cx="1095375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76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linh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 RC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8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thượng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:</a:t>
            </a: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80" y="2618910"/>
            <a:ext cx="3241997" cy="1890210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2470" y="2430366"/>
            <a:ext cx="5153025" cy="3076575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7635" y="4734145"/>
            <a:ext cx="1095375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2692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linh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 RC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9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dải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:</a:t>
            </a:r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6719" y="2668491"/>
            <a:ext cx="4543425" cy="260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8795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linh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 RC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10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dải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:</a:t>
            </a:r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6719" y="2668491"/>
            <a:ext cx="4543425" cy="2600325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844" y="3050665"/>
            <a:ext cx="433387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8195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linh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 RC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11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triệt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:</a:t>
            </a: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7635" y="4734145"/>
            <a:ext cx="1095375" cy="609600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787" y="1773141"/>
            <a:ext cx="2771775" cy="439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6079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linh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 RC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12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triệt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: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787" y="1773141"/>
            <a:ext cx="2771775" cy="4391025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426" y="2492674"/>
            <a:ext cx="3829050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745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5ABAE-A3C1-4AF6-9B4A-B8A593CBFB77}" type="slidenum">
              <a:rPr lang="sv-SE" smtClean="0"/>
              <a:pPr/>
              <a:t>13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902958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59682</TotalTime>
  <Words>367</Words>
  <Application>Microsoft Office PowerPoint</Application>
  <PresentationFormat>A4 Paper (210x297 mm)</PresentationFormat>
  <Paragraphs>67</Paragraphs>
  <Slides>13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Calibri</vt:lpstr>
      <vt:lpstr>Calibri Light</vt:lpstr>
      <vt:lpstr>Times</vt:lpstr>
      <vt:lpstr>Times New Roman</vt:lpstr>
      <vt:lpstr>Wingdings</vt:lpstr>
      <vt:lpstr>Retrospect</vt:lpstr>
      <vt:lpstr>CorelDRAW</vt:lpstr>
      <vt:lpstr>Chương 10</vt:lpstr>
      <vt:lpstr>Mục tiêu</vt:lpstr>
      <vt:lpstr>Khái niệm và phân loại mạch lọc</vt:lpstr>
      <vt:lpstr>Đáp ứng tần số của mạch lọc</vt:lpstr>
      <vt:lpstr>Mạch lọc sử dụng linh kiện RC</vt:lpstr>
      <vt:lpstr>Mạch lọc sử dụng linh kiện RC</vt:lpstr>
      <vt:lpstr>Mạch lọc sử dụng linh kiện RC</vt:lpstr>
      <vt:lpstr>Mạch lọc sử dụng linh kiện RC</vt:lpstr>
      <vt:lpstr>Mạch lọc sử dụng linh kiện RC</vt:lpstr>
      <vt:lpstr>Mạch lọc sử dụng linh kiện RC</vt:lpstr>
      <vt:lpstr>Mạch lọc sử dụng linh kiện RC</vt:lpstr>
      <vt:lpstr>Mạch lọc sử dụng linh kiện RC</vt:lpstr>
      <vt:lpstr>Thank you!</vt:lpstr>
    </vt:vector>
  </TitlesOfParts>
  <Company>Mid Sweden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PowerPoint-presentation</dc:title>
  <dc:creator>Kent Bertilsson</dc:creator>
  <cp:lastModifiedBy>Trịnh Lê Huy</cp:lastModifiedBy>
  <cp:revision>1077</cp:revision>
  <cp:lastPrinted>2004-10-20T11:26:57Z</cp:lastPrinted>
  <dcterms:created xsi:type="dcterms:W3CDTF">2005-06-07T08:25:50Z</dcterms:created>
  <dcterms:modified xsi:type="dcterms:W3CDTF">2019-12-11T06:21:27Z</dcterms:modified>
</cp:coreProperties>
</file>