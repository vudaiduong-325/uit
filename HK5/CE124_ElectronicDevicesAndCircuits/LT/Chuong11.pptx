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75" r:id="rId1"/>
  </p:sldMasterIdLst>
  <p:notesMasterIdLst>
    <p:notesMasterId r:id="rId25"/>
  </p:notesMasterIdLst>
  <p:handoutMasterIdLst>
    <p:handoutMasterId r:id="rId26"/>
  </p:handoutMasterIdLst>
  <p:sldIdLst>
    <p:sldId id="345" r:id="rId2"/>
    <p:sldId id="376" r:id="rId3"/>
    <p:sldId id="435" r:id="rId4"/>
    <p:sldId id="441" r:id="rId5"/>
    <p:sldId id="442" r:id="rId6"/>
    <p:sldId id="443" r:id="rId7"/>
    <p:sldId id="444" r:id="rId8"/>
    <p:sldId id="437" r:id="rId9"/>
    <p:sldId id="438" r:id="rId10"/>
    <p:sldId id="439" r:id="rId11"/>
    <p:sldId id="445" r:id="rId12"/>
    <p:sldId id="440" r:id="rId13"/>
    <p:sldId id="446" r:id="rId14"/>
    <p:sldId id="447" r:id="rId15"/>
    <p:sldId id="449" r:id="rId16"/>
    <p:sldId id="450" r:id="rId17"/>
    <p:sldId id="451" r:id="rId18"/>
    <p:sldId id="452" r:id="rId19"/>
    <p:sldId id="453" r:id="rId20"/>
    <p:sldId id="454" r:id="rId21"/>
    <p:sldId id="455" r:id="rId22"/>
    <p:sldId id="456" r:id="rId23"/>
    <p:sldId id="419" r:id="rId24"/>
  </p:sldIdLst>
  <p:sldSz cx="9906000" cy="6858000" type="A4"/>
  <p:notesSz cx="6858000" cy="9144000"/>
  <p:defaultTextStyle>
    <a:defPPr>
      <a:defRPr lang="sv-SE"/>
    </a:defPPr>
    <a:lvl1pPr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" pitchFamily="1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014F0"/>
    <a:srgbClr val="FFFF99"/>
    <a:srgbClr val="808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80211" autoAdjust="0"/>
  </p:normalViewPr>
  <p:slideViewPr>
    <p:cSldViewPr snapToObjects="1">
      <p:cViewPr varScale="1">
        <p:scale>
          <a:sx n="86" d="100"/>
          <a:sy n="86" d="100"/>
        </p:scale>
        <p:origin x="1176" y="58"/>
      </p:cViewPr>
      <p:guideLst>
        <p:guide orient="horz" pos="2160"/>
        <p:guide pos="312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Objects="1">
      <p:cViewPr varScale="1">
        <p:scale>
          <a:sx n="88" d="100"/>
          <a:sy n="88" d="100"/>
        </p:scale>
        <p:origin x="3822" y="66"/>
      </p:cViewPr>
      <p:guideLst/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sv-SE"/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1024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F1AC2784-202A-43B4-8BBE-F1C2E4013BCD}" type="slidenum">
              <a:rPr lang="sv-SE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841499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sv-SE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52500" y="685800"/>
            <a:ext cx="4953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sv-SE"/>
              <a:t>Klicka här för att ändra format på bakgrundstexten</a:t>
            </a:r>
          </a:p>
          <a:p>
            <a:pPr lvl="1"/>
            <a:r>
              <a:rPr lang="sv-SE"/>
              <a:t>Nivå två</a:t>
            </a:r>
          </a:p>
          <a:p>
            <a:pPr lvl="2"/>
            <a:r>
              <a:rPr lang="sv-SE"/>
              <a:t>Nivå tre</a:t>
            </a:r>
          </a:p>
          <a:p>
            <a:pPr lvl="3"/>
            <a:r>
              <a:rPr lang="sv-SE"/>
              <a:t>Nivå fyra</a:t>
            </a:r>
          </a:p>
          <a:p>
            <a:pPr lvl="4"/>
            <a:r>
              <a:rPr lang="sv-SE"/>
              <a:t>Nivå fem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9B3A6057-268F-4F30-9FDB-4F3BD4328747}" type="slidenum">
              <a:rPr lang="sv-SE"/>
              <a:pPr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74052302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" pitchFamily="1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vi-VN" sz="1200" kern="1200" dirty="0">
                <a:solidFill>
                  <a:schemeClr val="tx1"/>
                </a:solidFill>
                <a:effectLst/>
                <a:latin typeface="Times" pitchFamily="1" charset="0"/>
                <a:ea typeface="+mn-ea"/>
                <a:cs typeface="+mn-cs"/>
              </a:rPr>
              <a:t>Các thông số kỹ thuật và mạch tương đương </a:t>
            </a:r>
            <a:endParaRPr lang="en-US" sz="1100" kern="1200" dirty="0">
              <a:solidFill>
                <a:schemeClr val="tx1"/>
              </a:solidFill>
              <a:effectLst/>
              <a:latin typeface="Times" pitchFamily="1" charset="0"/>
              <a:ea typeface="+mn-ea"/>
              <a:cs typeface="+mn-cs"/>
            </a:endParaRPr>
          </a:p>
          <a:p>
            <a:pPr lvl="1"/>
            <a:r>
              <a:rPr lang="vi-VN" sz="1200" kern="1200" dirty="0">
                <a:solidFill>
                  <a:schemeClr val="tx1"/>
                </a:solidFill>
                <a:effectLst/>
                <a:latin typeface="Times" pitchFamily="1" charset="0"/>
                <a:ea typeface="+mn-ea"/>
                <a:cs typeface="+mn-cs"/>
              </a:rPr>
              <a:t>Mạch khuếch đại CS</a:t>
            </a:r>
            <a:endParaRPr lang="en-US" sz="1100" kern="1200" dirty="0">
              <a:solidFill>
                <a:schemeClr val="tx1"/>
              </a:solidFill>
              <a:effectLst/>
              <a:latin typeface="Times" pitchFamily="1" charset="0"/>
              <a:ea typeface="+mn-ea"/>
              <a:cs typeface="+mn-cs"/>
            </a:endParaRPr>
          </a:p>
          <a:p>
            <a:r>
              <a:rPr lang="vi-VN" sz="1200" kern="1200" dirty="0">
                <a:solidFill>
                  <a:schemeClr val="tx1"/>
                </a:solidFill>
                <a:effectLst/>
                <a:latin typeface="Times" pitchFamily="1" charset="0"/>
                <a:ea typeface="+mn-ea"/>
                <a:cs typeface="+mn-cs"/>
              </a:rPr>
              <a:t>Bài tập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B3A6057-268F-4F30-9FDB-4F3BD4328747}" type="slidenum">
              <a:rPr lang="sv-SE" smtClean="0"/>
              <a:pPr/>
              <a:t>1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702382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581" y="6400800"/>
            <a:ext cx="99034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3" y="6334316"/>
            <a:ext cx="99034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91540" y="758952"/>
            <a:ext cx="817245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3791" y="4455621"/>
            <a:ext cx="817245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6CE6A-4F36-49F2-9B13-8DEAF960F767}" type="slidenum">
              <a:rPr lang="sv-SE" smtClean="0"/>
              <a:pPr/>
              <a:t>‹#›</a:t>
            </a:fld>
            <a:endParaRPr lang="sv-SE" sz="1400">
              <a:latin typeface="Times" pitchFamily="1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981223" y="4343400"/>
            <a:ext cx="80238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64614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5ABAE-A3C1-4AF6-9B4A-B8A593CBFB77}" type="slidenum">
              <a:rPr lang="sv-SE" smtClean="0"/>
              <a:pPr/>
              <a:t>‹#›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63156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581" y="6400800"/>
            <a:ext cx="99034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3" y="6334316"/>
            <a:ext cx="99034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540" y="758952"/>
            <a:ext cx="817245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1540" y="4453128"/>
            <a:ext cx="817245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5303C9-52B0-430A-AEB2-F6AD00D0027A}" type="slidenum">
              <a:rPr lang="sv-SE" smtClean="0"/>
              <a:pPr/>
              <a:t>‹#›</a:t>
            </a:fld>
            <a:endParaRPr lang="sv-SE" sz="1400">
              <a:latin typeface="Times" pitchFamily="1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981223" y="4343400"/>
            <a:ext cx="80238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31684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91540" y="286605"/>
            <a:ext cx="817245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91540" y="1845734"/>
            <a:ext cx="401193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2060" y="1845735"/>
            <a:ext cx="401193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19FBD9-45E0-447C-8C83-56BDF85B5FD9}" type="slidenum">
              <a:rPr lang="sv-SE" smtClean="0"/>
              <a:pPr/>
              <a:t>‹#›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3866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91540" y="286605"/>
            <a:ext cx="817245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1540" y="1846052"/>
            <a:ext cx="401193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91540" y="2582334"/>
            <a:ext cx="401193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52060" y="1846052"/>
            <a:ext cx="401193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52060" y="2582334"/>
            <a:ext cx="401193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499C9A-188C-42DE-97CB-2E31ACB1EA45}" type="slidenum">
              <a:rPr lang="sv-SE" smtClean="0"/>
              <a:pPr/>
              <a:t>‹#›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49522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‹#›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90537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581" y="6400800"/>
            <a:ext cx="99034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3" y="6334316"/>
            <a:ext cx="99034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sv-SE"/>
              <a:t>Trịnh Lê Huy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14CD8-DB15-496A-A859-82D24A1AF52A}" type="slidenum">
              <a:rPr lang="sv-SE" smtClean="0"/>
              <a:pPr/>
              <a:t>‹#›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67544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5" y="0"/>
            <a:ext cx="3291267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282557" y="0"/>
            <a:ext cx="52007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1475" y="594359"/>
            <a:ext cx="2600325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00488" y="731520"/>
            <a:ext cx="5274945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1475" y="2926080"/>
            <a:ext cx="2600325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900487" y="6459787"/>
            <a:ext cx="3776663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sv-SE"/>
              <a:t>Trịnh Lê Huy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1D136CB-44A3-4A56-9571-5AC9E7D220FF}" type="slidenum">
              <a:rPr lang="sv-SE" smtClean="0"/>
              <a:pPr/>
              <a:t>‹#›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3204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903421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3" y="4915076"/>
            <a:ext cx="99034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91540" y="5074920"/>
            <a:ext cx="8217337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4" y="0"/>
            <a:ext cx="9905988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91540" y="5907024"/>
            <a:ext cx="8221980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B1C77-4CB1-498D-9F07-B554D165B420}" type="slidenum">
              <a:rPr lang="sv-SE" smtClean="0"/>
              <a:pPr/>
              <a:t>‹#›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217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7D9B1D-FDCB-443F-93C0-5F97D675AD51}" type="slidenum">
              <a:rPr lang="sv-SE" smtClean="0"/>
              <a:pPr/>
              <a:t>‹#›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0705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2581" y="6400800"/>
            <a:ext cx="990342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3" y="6334316"/>
            <a:ext cx="9903421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412302"/>
            <a:ext cx="2135981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412302"/>
            <a:ext cx="6284119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D7071D-A73F-4BA5-9F02-094D29CF2789}" type="slidenum">
              <a:rPr lang="sv-SE" smtClean="0"/>
              <a:pPr/>
              <a:t>‹#›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41958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9906001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" y="6334316"/>
            <a:ext cx="9906001" cy="6599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91540" y="286605"/>
            <a:ext cx="817245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91539" y="1845734"/>
            <a:ext cx="8172451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95026" y="6459787"/>
            <a:ext cx="39185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sv-SE"/>
              <a:t>Trịnh Lê Huy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44123" y="6459787"/>
            <a:ext cx="10660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6F0065D-453A-49D6-B09C-0939AFFF0617}" type="slidenum">
              <a:rPr lang="sv-SE" smtClean="0"/>
              <a:pPr/>
              <a:t>‹#›</a:t>
            </a:fld>
            <a:endParaRPr lang="sv-SE" sz="1400"/>
          </a:p>
        </p:txBody>
      </p:sp>
      <p:cxnSp>
        <p:nvCxnSpPr>
          <p:cNvPr id="10" name="Straight Connector 9"/>
          <p:cNvCxnSpPr/>
          <p:nvPr/>
        </p:nvCxnSpPr>
        <p:spPr>
          <a:xfrm>
            <a:off x="969745" y="1737845"/>
            <a:ext cx="8098155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2478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6" r:id="rId1"/>
    <p:sldLayoutId id="2147483777" r:id="rId2"/>
    <p:sldLayoutId id="2147483778" r:id="rId3"/>
    <p:sldLayoutId id="2147483779" r:id="rId4"/>
    <p:sldLayoutId id="2147483780" r:id="rId5"/>
    <p:sldLayoutId id="2147483781" r:id="rId6"/>
    <p:sldLayoutId id="2147483782" r:id="rId7"/>
    <p:sldLayoutId id="2147483783" r:id="rId8"/>
    <p:sldLayoutId id="2147483784" r:id="rId9"/>
    <p:sldLayoutId id="2147483785" r:id="rId10"/>
    <p:sldLayoutId id="2147483786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Chương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11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3332820" y="731520"/>
            <a:ext cx="6573180" cy="5257800"/>
          </a:xfrm>
        </p:spPr>
        <p:txBody>
          <a:bodyPr>
            <a:normAutofit/>
          </a:bodyPr>
          <a:lstStyle/>
          <a:p>
            <a:pPr algn="ctr"/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CÁC THIẾT BỊ VÀ MẠCH ĐIỆN TỬ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half" idx="2"/>
          </p:nvPr>
        </p:nvSpPr>
        <p:spPr>
          <a:xfrm>
            <a:off x="371475" y="2926080"/>
            <a:ext cx="2961345" cy="3379124"/>
          </a:xfrm>
        </p:spPr>
        <p:txBody>
          <a:bodyPr>
            <a:normAutofit/>
          </a:bodyPr>
          <a:lstStyle/>
          <a:p>
            <a:pPr>
              <a:buClr>
                <a:srgbClr val="FFC000"/>
              </a:buClr>
            </a:pPr>
            <a:r>
              <a:rPr lang="en-US" sz="1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Mạch</a:t>
            </a:r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lọc</a:t>
            </a:r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tích</a:t>
            </a:r>
            <a:r>
              <a:rPr lang="en-US" sz="1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18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cực</a:t>
            </a:r>
            <a:endParaRPr lang="en-US" sz="18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q"/>
            </a:pP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Khái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niệm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mạch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lọc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tích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cực</a:t>
            </a: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q"/>
            </a:pP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Mạch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lọc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tích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cực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thông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thấp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q"/>
            </a:pP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Mạch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lọc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tích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cực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thông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cao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q"/>
            </a:pP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Mạch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lọc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tích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cực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thông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dải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q"/>
            </a:pP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Mạch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lọc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tích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cực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triệt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thông</a:t>
            </a: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</a:p>
          <a:p>
            <a:pPr>
              <a:buClr>
                <a:srgbClr val="FFC000"/>
              </a:buClr>
            </a:pP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buClr>
                <a:srgbClr val="FFC000"/>
              </a:buClr>
              <a:buFont typeface="Wingdings" panose="05000000000000000000" pitchFamily="2" charset="2"/>
              <a:buChar char="q"/>
            </a:pPr>
            <a:endParaRPr 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</a:t>
            </a:fld>
            <a:endParaRPr lang="sv-SE" sz="1400">
              <a:latin typeface="Times" pitchFamily="1" charset="0"/>
            </a:endParaRPr>
          </a:p>
        </p:txBody>
      </p:sp>
      <p:grpSp>
        <p:nvGrpSpPr>
          <p:cNvPr id="9" name="Group 8"/>
          <p:cNvGrpSpPr/>
          <p:nvPr/>
        </p:nvGrpSpPr>
        <p:grpSpPr>
          <a:xfrm>
            <a:off x="4783455" y="2951780"/>
            <a:ext cx="3509010" cy="1737360"/>
            <a:chOff x="5141976" y="2438890"/>
            <a:chExt cx="3509010" cy="1737360"/>
          </a:xfrm>
        </p:grpSpPr>
        <p:pic>
          <p:nvPicPr>
            <p:cNvPr id="1026" name="Picture 2" descr="http://portal.uit.edu.vn/Styles/profi/images/logo186x150.png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41976" y="2646045"/>
              <a:ext cx="1771650" cy="1428750"/>
            </a:xfrm>
            <a:prstGeom prst="rect">
              <a:avLst/>
            </a:prstGeom>
            <a:noFill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13626" y="2438890"/>
              <a:ext cx="1737360" cy="173736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20908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tiêu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2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Hiểu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chất</a:t>
            </a:r>
            <a:r>
              <a:rPr lang="en-US" dirty="0"/>
              <a:t> </a:t>
            </a:r>
            <a:r>
              <a:rPr lang="en-US" dirty="0" err="1"/>
              <a:t>cơ</a:t>
            </a:r>
            <a:r>
              <a:rPr lang="en-US" dirty="0"/>
              <a:t> </a:t>
            </a:r>
            <a:r>
              <a:rPr lang="en-US" dirty="0" err="1"/>
              <a:t>bản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cực</a:t>
            </a:r>
            <a:endParaRPr lang="en-US" b="1" dirty="0"/>
          </a:p>
          <a:p>
            <a:pPr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Hiểu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vận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nhau</a:t>
            </a:r>
            <a:endParaRPr lang="en-US" b="1" dirty="0"/>
          </a:p>
        </p:txBody>
      </p:sp>
      <p:pic>
        <p:nvPicPr>
          <p:cNvPr id="3074" name="Picture 2" descr="Image result for i want you washingt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4138" y="3300643"/>
            <a:ext cx="4857960" cy="29488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9441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Khái</a:t>
            </a:r>
            <a:r>
              <a:rPr lang="en-US" dirty="0"/>
              <a:t> </a:t>
            </a:r>
            <a:r>
              <a:rPr lang="en-US" dirty="0" err="1"/>
              <a:t>niệm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cực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3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8381940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thêm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linh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(</a:t>
            </a: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Op-Amp)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tiến</a:t>
            </a:r>
            <a:r>
              <a:rPr lang="en-US" dirty="0"/>
              <a:t> </a:t>
            </a:r>
            <a:r>
              <a:rPr lang="en-US" dirty="0" err="1"/>
              <a:t>hành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.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ưu</a:t>
            </a:r>
            <a:r>
              <a:rPr lang="en-US" dirty="0"/>
              <a:t> </a:t>
            </a:r>
            <a:r>
              <a:rPr lang="en-US" dirty="0" err="1"/>
              <a:t>điểm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so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thụ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:</a:t>
            </a:r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thường</a:t>
            </a:r>
            <a:r>
              <a:rPr lang="en-US" dirty="0"/>
              <a:t>,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thụ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luôn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suy</a:t>
            </a:r>
            <a:r>
              <a:rPr lang="en-US" dirty="0"/>
              <a:t> </a:t>
            </a:r>
            <a:r>
              <a:rPr lang="en-US" dirty="0" err="1"/>
              <a:t>hao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. </a:t>
            </a:r>
            <a:r>
              <a:rPr lang="en-US" dirty="0" err="1"/>
              <a:t>Nhờ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việc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Op-Amp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đích</a:t>
            </a:r>
            <a:r>
              <a:rPr lang="en-US" dirty="0"/>
              <a:t> </a:t>
            </a:r>
            <a:r>
              <a:rPr lang="en-US" dirty="0" err="1"/>
              <a:t>bù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suy</a:t>
            </a:r>
            <a:r>
              <a:rPr lang="en-US" dirty="0"/>
              <a:t> </a:t>
            </a:r>
            <a:r>
              <a:rPr lang="en-US" dirty="0" err="1"/>
              <a:t>hao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.</a:t>
            </a:r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Nhờ</a:t>
            </a:r>
            <a:r>
              <a:rPr lang="en-US" dirty="0"/>
              <a:t> </a:t>
            </a:r>
            <a:r>
              <a:rPr lang="en-US" dirty="0" err="1"/>
              <a:t>trở</a:t>
            </a:r>
            <a:r>
              <a:rPr lang="en-US" dirty="0"/>
              <a:t> </a:t>
            </a:r>
            <a:r>
              <a:rPr lang="en-US" dirty="0" err="1"/>
              <a:t>kháng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Op-Amp </a:t>
            </a:r>
            <a:r>
              <a:rPr lang="en-US" dirty="0" err="1"/>
              <a:t>lớn</a:t>
            </a:r>
            <a:r>
              <a:rPr lang="en-US" dirty="0"/>
              <a:t>,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hưởng</a:t>
            </a:r>
            <a:r>
              <a:rPr lang="en-US" dirty="0"/>
              <a:t> </a:t>
            </a:r>
            <a:r>
              <a:rPr lang="en-US" dirty="0" err="1"/>
              <a:t>bởi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trở</a:t>
            </a:r>
            <a:r>
              <a:rPr lang="en-US" dirty="0"/>
              <a:t> </a:t>
            </a:r>
            <a:r>
              <a:rPr lang="en-US" dirty="0" err="1"/>
              <a:t>nội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nguồn</a:t>
            </a:r>
            <a:r>
              <a:rPr lang="en-US" dirty="0"/>
              <a:t>.</a:t>
            </a:r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Nhờ</a:t>
            </a:r>
            <a:r>
              <a:rPr lang="en-US" dirty="0"/>
              <a:t> </a:t>
            </a:r>
            <a:r>
              <a:rPr lang="en-US" dirty="0" err="1"/>
              <a:t>trở</a:t>
            </a:r>
            <a:r>
              <a:rPr lang="en-US" dirty="0"/>
              <a:t> </a:t>
            </a:r>
            <a:r>
              <a:rPr lang="en-US" dirty="0" err="1"/>
              <a:t>kháng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Op-Amp </a:t>
            </a:r>
            <a:r>
              <a:rPr lang="en-US" dirty="0" err="1"/>
              <a:t>bé</a:t>
            </a:r>
            <a:r>
              <a:rPr lang="en-US" dirty="0"/>
              <a:t>,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ảnh</a:t>
            </a:r>
            <a:r>
              <a:rPr lang="en-US" dirty="0"/>
              <a:t> </a:t>
            </a:r>
            <a:r>
              <a:rPr lang="en-US" dirty="0" err="1"/>
              <a:t>hưởng</a:t>
            </a:r>
            <a:r>
              <a:rPr lang="en-US" dirty="0"/>
              <a:t> </a:t>
            </a:r>
            <a:r>
              <a:rPr lang="en-US" dirty="0" err="1"/>
              <a:t>bởi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điện</a:t>
            </a:r>
            <a:r>
              <a:rPr lang="en-US" dirty="0"/>
              <a:t> </a:t>
            </a:r>
            <a:r>
              <a:rPr lang="en-US" dirty="0" err="1"/>
              <a:t>trở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tải</a:t>
            </a:r>
            <a:r>
              <a:rPr lang="en-US" dirty="0"/>
              <a:t>.</a:t>
            </a:r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tần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dễ</a:t>
            </a:r>
            <a:r>
              <a:rPr lang="en-US" dirty="0"/>
              <a:t> </a:t>
            </a:r>
            <a:r>
              <a:rPr lang="en-US" dirty="0" err="1"/>
              <a:t>dàng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so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bị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049544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Đáp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tần</a:t>
            </a:r>
            <a:r>
              <a:rPr lang="en-US" dirty="0"/>
              <a:t> </a:t>
            </a:r>
            <a:r>
              <a:rPr lang="en-US" dirty="0" err="1"/>
              <a:t>số</a:t>
            </a:r>
            <a:br>
              <a:rPr lang="en-US" dirty="0"/>
            </a:b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cực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4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4569314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3 </a:t>
            </a:r>
            <a:r>
              <a:rPr lang="en-US" dirty="0" err="1"/>
              <a:t>loại</a:t>
            </a:r>
            <a:r>
              <a:rPr lang="en-US" dirty="0"/>
              <a:t> </a:t>
            </a:r>
            <a:r>
              <a:rPr lang="en-US" dirty="0" err="1"/>
              <a:t>đáp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tần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phổ</a:t>
            </a:r>
            <a:r>
              <a:rPr lang="en-US" dirty="0"/>
              <a:t> </a:t>
            </a:r>
            <a:r>
              <a:rPr lang="en-US" dirty="0" err="1"/>
              <a:t>biến</a:t>
            </a:r>
            <a:r>
              <a:rPr lang="en-US" dirty="0"/>
              <a:t>:</a:t>
            </a:r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Butterworth: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băng</a:t>
            </a:r>
            <a:r>
              <a:rPr lang="en-US" dirty="0"/>
              <a:t> </a:t>
            </a:r>
            <a:r>
              <a:rPr lang="en-US" dirty="0" err="1"/>
              <a:t>tần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,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tương</a:t>
            </a:r>
            <a:r>
              <a:rPr lang="en-US" dirty="0"/>
              <a:t> </a:t>
            </a:r>
            <a:r>
              <a:rPr lang="en-US" dirty="0" err="1"/>
              <a:t>đối</a:t>
            </a:r>
            <a:r>
              <a:rPr lang="en-US" dirty="0"/>
              <a:t> </a:t>
            </a:r>
            <a:r>
              <a:rPr lang="en-US" dirty="0" err="1"/>
              <a:t>ổn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.</a:t>
            </a:r>
          </a:p>
          <a:p>
            <a:pPr lvl="1" algn="just"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Chebyshev</a:t>
            </a:r>
            <a:r>
              <a:rPr lang="en-US" dirty="0"/>
              <a:t>: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dốc</a:t>
            </a:r>
            <a:r>
              <a:rPr lang="en-US" dirty="0"/>
              <a:t> roll-off </a:t>
            </a:r>
            <a:r>
              <a:rPr lang="en-US" dirty="0" err="1"/>
              <a:t>lớn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, do </a:t>
            </a:r>
            <a:r>
              <a:rPr lang="en-US" dirty="0" err="1"/>
              <a:t>đó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triệt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tối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mong</a:t>
            </a:r>
            <a:r>
              <a:rPr lang="en-US" dirty="0"/>
              <a:t> </a:t>
            </a:r>
            <a:r>
              <a:rPr lang="en-US" dirty="0" err="1"/>
              <a:t>muốn</a:t>
            </a:r>
            <a:r>
              <a:rPr lang="en-US" dirty="0"/>
              <a:t>. </a:t>
            </a:r>
            <a:r>
              <a:rPr lang="en-US" dirty="0" err="1"/>
              <a:t>Tuy</a:t>
            </a:r>
            <a:r>
              <a:rPr lang="en-US" dirty="0"/>
              <a:t> </a:t>
            </a:r>
            <a:r>
              <a:rPr lang="en-US" dirty="0" err="1"/>
              <a:t>nhiên</a:t>
            </a:r>
            <a:r>
              <a:rPr lang="en-US" dirty="0"/>
              <a:t>,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ra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ổn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băng</a:t>
            </a:r>
            <a:r>
              <a:rPr lang="en-US" dirty="0"/>
              <a:t> </a:t>
            </a:r>
            <a:r>
              <a:rPr lang="en-US" dirty="0" err="1"/>
              <a:t>tần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.</a:t>
            </a:r>
          </a:p>
          <a:p>
            <a:pPr lvl="1" algn="just"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Bessel: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đôc</a:t>
            </a:r>
            <a:r>
              <a:rPr lang="en-US" dirty="0"/>
              <a:t> roll-off </a:t>
            </a:r>
            <a:r>
              <a:rPr lang="en-US" dirty="0" err="1"/>
              <a:t>bé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.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0854" y="2033845"/>
            <a:ext cx="4442169" cy="3495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42811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Đáp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tần</a:t>
            </a:r>
            <a:r>
              <a:rPr lang="en-US" dirty="0"/>
              <a:t> </a:t>
            </a:r>
            <a:r>
              <a:rPr lang="en-US" dirty="0" err="1"/>
              <a:t>số</a:t>
            </a:r>
            <a:br>
              <a:rPr lang="en-US" dirty="0"/>
            </a:b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cực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5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4826545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b="1" dirty="0" err="1"/>
              <a:t>Hệ</a:t>
            </a:r>
            <a:r>
              <a:rPr lang="en-US" b="1" dirty="0"/>
              <a:t> </a:t>
            </a:r>
            <a:r>
              <a:rPr lang="en-US" b="1" dirty="0" err="1"/>
              <a:t>số</a:t>
            </a:r>
            <a:r>
              <a:rPr lang="en-US" b="1" dirty="0"/>
              <a:t> </a:t>
            </a:r>
            <a:r>
              <a:rPr lang="en-US" b="1" dirty="0" err="1"/>
              <a:t>hãm</a:t>
            </a:r>
            <a:r>
              <a:rPr lang="en-US" b="1" dirty="0"/>
              <a:t> Damping Factor</a:t>
            </a:r>
            <a:r>
              <a:rPr lang="en-US" dirty="0"/>
              <a:t>: </a:t>
            </a:r>
            <a:r>
              <a:rPr lang="en-US" dirty="0" err="1"/>
              <a:t>Đây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hệ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quan</a:t>
            </a:r>
            <a:r>
              <a:rPr lang="en-US" dirty="0"/>
              <a:t> </a:t>
            </a:r>
            <a:r>
              <a:rPr lang="en-US" dirty="0" err="1"/>
              <a:t>trọng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hiện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ổn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. </a:t>
            </a:r>
            <a:r>
              <a:rPr lang="en-US" dirty="0" err="1"/>
              <a:t>Nó</a:t>
            </a:r>
            <a:r>
              <a:rPr lang="en-US" dirty="0"/>
              <a:t> </a:t>
            </a:r>
            <a:r>
              <a:rPr lang="en-US" dirty="0" err="1"/>
              <a:t>phụ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R1 </a:t>
            </a:r>
            <a:r>
              <a:rPr lang="en-US" dirty="0" err="1"/>
              <a:t>và</a:t>
            </a:r>
            <a:r>
              <a:rPr lang="en-US" dirty="0"/>
              <a:t> R2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hồi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âm</a:t>
            </a:r>
            <a:r>
              <a:rPr lang="en-US" dirty="0"/>
              <a:t>.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Tùy</a:t>
            </a:r>
            <a:r>
              <a:rPr lang="en-US" dirty="0"/>
              <a:t> </a:t>
            </a:r>
            <a:r>
              <a:rPr lang="en-US" dirty="0" err="1"/>
              <a:t>thuộc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chất</a:t>
            </a:r>
            <a:r>
              <a:rPr lang="en-US" dirty="0"/>
              <a:t> </a:t>
            </a:r>
            <a:r>
              <a:rPr lang="en-US" dirty="0" err="1"/>
              <a:t>đáp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tần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 (Butterworth, Bessel, </a:t>
            </a:r>
            <a:r>
              <a:rPr lang="en-US" dirty="0" err="1"/>
              <a:t>Chebyshev</a:t>
            </a:r>
            <a:r>
              <a:rPr lang="en-US" dirty="0"/>
              <a:t>)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DF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. </a:t>
            </a:r>
            <a:r>
              <a:rPr lang="en-US" dirty="0" err="1"/>
              <a:t>Từ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DF </a:t>
            </a:r>
            <a:r>
              <a:rPr lang="en-US" dirty="0" err="1"/>
              <a:t>này</a:t>
            </a:r>
            <a:r>
              <a:rPr lang="en-US" dirty="0"/>
              <a:t> </a:t>
            </a:r>
            <a:r>
              <a:rPr lang="en-US" dirty="0" err="1"/>
              <a:t>mà</a:t>
            </a:r>
            <a:r>
              <a:rPr lang="en-US" dirty="0"/>
              <a:t> ta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toán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lựa</a:t>
            </a:r>
            <a:r>
              <a:rPr lang="en-US" dirty="0"/>
              <a:t> </a:t>
            </a: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R1, R2 </a:t>
            </a:r>
            <a:r>
              <a:rPr lang="en-US" dirty="0" err="1"/>
              <a:t>phù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,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ổn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.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9642" y="2010215"/>
            <a:ext cx="3893898" cy="3038965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2660" y="3244754"/>
            <a:ext cx="1857375" cy="723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809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Tần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cắt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dốc</a:t>
            </a:r>
            <a:r>
              <a:rPr lang="en-US" dirty="0"/>
              <a:t> roll-off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6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8248286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Tần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cắt</a:t>
            </a:r>
            <a:r>
              <a:rPr lang="en-US" dirty="0"/>
              <a:t> fc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tần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, </a:t>
            </a:r>
            <a:r>
              <a:rPr lang="en-US" dirty="0" err="1"/>
              <a:t>mà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 Av(dB)= -3dB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dốc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sự</a:t>
            </a:r>
            <a:r>
              <a:rPr lang="en-US" dirty="0"/>
              <a:t> </a:t>
            </a:r>
            <a:r>
              <a:rPr lang="en-US" dirty="0" err="1"/>
              <a:t>thay</a:t>
            </a:r>
            <a:r>
              <a:rPr lang="en-US" dirty="0"/>
              <a:t> </a:t>
            </a:r>
            <a:r>
              <a:rPr lang="en-US" dirty="0" err="1"/>
              <a:t>đổi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Av(dB) </a:t>
            </a:r>
            <a:r>
              <a:rPr lang="en-US" dirty="0" err="1"/>
              <a:t>ngay</a:t>
            </a:r>
            <a:r>
              <a:rPr lang="en-US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tần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cắt</a:t>
            </a:r>
            <a:r>
              <a:rPr lang="en-US" dirty="0"/>
              <a:t>. </a:t>
            </a:r>
          </a:p>
          <a:p>
            <a:pPr marL="0" indent="0" algn="just" fontAlgn="auto">
              <a:buNone/>
            </a:pP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dốc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-20dB/</a:t>
            </a:r>
            <a:r>
              <a:rPr lang="en-US" dirty="0" err="1"/>
              <a:t>dec</a:t>
            </a:r>
            <a:r>
              <a:rPr lang="en-US" dirty="0"/>
              <a:t> </a:t>
            </a:r>
            <a:r>
              <a:rPr lang="en-US" dirty="0" err="1"/>
              <a:t>tức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, Av(dB)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giảm</a:t>
            </a:r>
            <a:r>
              <a:rPr lang="en-US" dirty="0"/>
              <a:t> 20dB </a:t>
            </a:r>
            <a:r>
              <a:rPr lang="en-US" dirty="0" err="1"/>
              <a:t>mỗi</a:t>
            </a:r>
            <a:r>
              <a:rPr lang="en-US" dirty="0"/>
              <a:t> </a:t>
            </a:r>
            <a:r>
              <a:rPr lang="en-US" dirty="0" err="1"/>
              <a:t>khi</a:t>
            </a:r>
            <a:r>
              <a:rPr lang="en-US" dirty="0"/>
              <a:t> </a:t>
            </a:r>
            <a:r>
              <a:rPr lang="en-US" dirty="0" err="1"/>
              <a:t>tần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tăng</a:t>
            </a:r>
            <a:r>
              <a:rPr lang="en-US" dirty="0"/>
              <a:t> </a:t>
            </a:r>
            <a:r>
              <a:rPr lang="en-US" dirty="0" err="1"/>
              <a:t>lên</a:t>
            </a:r>
            <a:r>
              <a:rPr lang="en-US" dirty="0"/>
              <a:t> 10 </a:t>
            </a:r>
            <a:r>
              <a:rPr lang="en-US" dirty="0" err="1"/>
              <a:t>lần</a:t>
            </a:r>
            <a:r>
              <a:rPr lang="en-US" dirty="0"/>
              <a:t>.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tăng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dốc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, ta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tăng</a:t>
            </a:r>
            <a:r>
              <a:rPr lang="en-US" dirty="0"/>
              <a:t> </a:t>
            </a:r>
            <a:r>
              <a:rPr lang="en-US" dirty="0" err="1"/>
              <a:t>bậc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hoặc</a:t>
            </a:r>
            <a:r>
              <a:rPr lang="en-US" dirty="0"/>
              <a:t> </a:t>
            </a:r>
            <a:r>
              <a:rPr lang="en-US" dirty="0" err="1"/>
              <a:t>mắc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.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2760" y="3749000"/>
            <a:ext cx="4258492" cy="2560320"/>
          </a:xfrm>
          <a:prstGeom prst="rect">
            <a:avLst/>
          </a:prstGeom>
        </p:spPr>
      </p:pic>
      <p:cxnSp>
        <p:nvCxnSpPr>
          <p:cNvPr id="9" name="Connecteur droit 8"/>
          <p:cNvCxnSpPr/>
          <p:nvPr/>
        </p:nvCxnSpPr>
        <p:spPr>
          <a:xfrm>
            <a:off x="5268035" y="4604880"/>
            <a:ext cx="0" cy="1389405"/>
          </a:xfrm>
          <a:prstGeom prst="line">
            <a:avLst/>
          </a:prstGeom>
          <a:ln w="1905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necteur droit 12"/>
          <p:cNvCxnSpPr/>
          <p:nvPr/>
        </p:nvCxnSpPr>
        <p:spPr>
          <a:xfrm>
            <a:off x="3422830" y="5364215"/>
            <a:ext cx="2160240" cy="0"/>
          </a:xfrm>
          <a:prstGeom prst="line">
            <a:avLst/>
          </a:prstGeom>
          <a:ln w="1905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necteur droit 13"/>
          <p:cNvCxnSpPr/>
          <p:nvPr/>
        </p:nvCxnSpPr>
        <p:spPr>
          <a:xfrm>
            <a:off x="3377825" y="4734145"/>
            <a:ext cx="2160240" cy="0"/>
          </a:xfrm>
          <a:prstGeom prst="line">
            <a:avLst/>
          </a:prstGeom>
          <a:ln w="19050">
            <a:solidFill>
              <a:schemeClr val="tx1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44177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Tần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cắt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dốc</a:t>
            </a:r>
            <a:r>
              <a:rPr lang="en-US" dirty="0"/>
              <a:t> roll-off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7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11" name="Content Placeholder 11"/>
          <p:cNvSpPr txBox="1">
            <a:spLocks/>
          </p:cNvSpPr>
          <p:nvPr/>
        </p:nvSpPr>
        <p:spPr>
          <a:xfrm>
            <a:off x="891540" y="1898018"/>
            <a:ext cx="8248286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tiếp</a:t>
            </a: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Butterworth</a:t>
            </a: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7060" y="1837342"/>
            <a:ext cx="6351003" cy="2013441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0870" y="3911459"/>
            <a:ext cx="8616542" cy="2373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02629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thấp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8</a:t>
            </a:fld>
            <a:endParaRPr lang="sv-SE" sz="1400">
              <a:latin typeface="Times" pitchFamily="1" charset="0"/>
            </a:endParaRP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3722" y="1808820"/>
            <a:ext cx="4444833" cy="2702414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7835" y="4235515"/>
            <a:ext cx="1209675" cy="228600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6871" y="3825431"/>
            <a:ext cx="3681574" cy="2481806"/>
          </a:xfrm>
          <a:prstGeom prst="rect">
            <a:avLst/>
          </a:prstGeom>
        </p:spPr>
      </p:pic>
      <p:sp>
        <p:nvSpPr>
          <p:cNvPr id="9" name="Content Placeholder 11"/>
          <p:cNvSpPr txBox="1">
            <a:spLocks/>
          </p:cNvSpPr>
          <p:nvPr/>
        </p:nvSpPr>
        <p:spPr>
          <a:xfrm>
            <a:off x="891540" y="1898018"/>
            <a:ext cx="4554908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bậc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:</a:t>
            </a:r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bởi</a:t>
            </a:r>
            <a:r>
              <a:rPr lang="en-US" dirty="0"/>
              <a:t> </a:t>
            </a:r>
            <a:r>
              <a:rPr lang="en-US" b="1" dirty="0" err="1"/>
              <a:t>một</a:t>
            </a:r>
            <a:r>
              <a:rPr lang="en-US" b="1" dirty="0"/>
              <a:t> </a:t>
            </a:r>
            <a:r>
              <a:rPr lang="en-US" b="1" dirty="0" err="1"/>
              <a:t>mạch</a:t>
            </a:r>
            <a:r>
              <a:rPr lang="en-US" b="1" dirty="0"/>
              <a:t> </a:t>
            </a:r>
            <a:r>
              <a:rPr lang="en-US" b="1" dirty="0" err="1"/>
              <a:t>khuếch</a:t>
            </a:r>
            <a:r>
              <a:rPr lang="en-US" b="1" dirty="0"/>
              <a:t> </a:t>
            </a:r>
            <a:r>
              <a:rPr lang="en-US" b="1" dirty="0" err="1"/>
              <a:t>đại</a:t>
            </a:r>
            <a:r>
              <a:rPr lang="en-US" b="1" dirty="0"/>
              <a:t> </a:t>
            </a:r>
            <a:r>
              <a:rPr lang="en-US" b="1" dirty="0" err="1"/>
              <a:t>hồi</a:t>
            </a:r>
            <a:r>
              <a:rPr lang="en-US" b="1" dirty="0"/>
              <a:t> </a:t>
            </a:r>
            <a:r>
              <a:rPr lang="en-US" b="1" dirty="0" err="1"/>
              <a:t>tiếp</a:t>
            </a:r>
            <a:r>
              <a:rPr lang="en-US" b="1" dirty="0"/>
              <a:t> </a:t>
            </a:r>
            <a:r>
              <a:rPr lang="en-US" b="1" dirty="0" err="1"/>
              <a:t>âm</a:t>
            </a:r>
            <a:r>
              <a:rPr lang="en-US" b="1" dirty="0"/>
              <a:t> </a:t>
            </a:r>
            <a:r>
              <a:rPr lang="en-US" b="1" dirty="0" err="1"/>
              <a:t>không</a:t>
            </a:r>
            <a:r>
              <a:rPr lang="en-US" b="1" dirty="0"/>
              <a:t> </a:t>
            </a:r>
            <a:r>
              <a:rPr lang="en-US" b="1" dirty="0" err="1"/>
              <a:t>đảo</a:t>
            </a:r>
            <a:r>
              <a:rPr lang="en-US" b="1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b="1" dirty="0" err="1"/>
              <a:t>một</a:t>
            </a:r>
            <a:r>
              <a:rPr lang="en-US" b="1" dirty="0"/>
              <a:t> </a:t>
            </a:r>
            <a:r>
              <a:rPr lang="en-US" b="1" dirty="0" err="1"/>
              <a:t>bộ</a:t>
            </a:r>
            <a:r>
              <a:rPr lang="en-US" b="1" dirty="0"/>
              <a:t> </a:t>
            </a:r>
            <a:r>
              <a:rPr lang="en-US" b="1" dirty="0" err="1"/>
              <a:t>lọc</a:t>
            </a:r>
            <a:r>
              <a:rPr lang="en-US" b="1" dirty="0"/>
              <a:t> </a:t>
            </a:r>
            <a:r>
              <a:rPr lang="en-US" b="1" dirty="0" err="1"/>
              <a:t>thông</a:t>
            </a:r>
            <a:r>
              <a:rPr lang="en-US" b="1" dirty="0"/>
              <a:t> </a:t>
            </a:r>
            <a:r>
              <a:rPr lang="en-US" b="1" dirty="0" err="1"/>
              <a:t>thấp</a:t>
            </a:r>
            <a:r>
              <a:rPr lang="en-US" b="1" dirty="0"/>
              <a:t> RC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cổng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đảo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Op-Amp.</a:t>
            </a:r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gọi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“</a:t>
            </a:r>
            <a:r>
              <a:rPr lang="en-US" b="1" dirty="0" err="1"/>
              <a:t>bậc</a:t>
            </a:r>
            <a:r>
              <a:rPr lang="en-US" b="1" dirty="0"/>
              <a:t> </a:t>
            </a:r>
            <a:r>
              <a:rPr lang="en-US" b="1" dirty="0" err="1"/>
              <a:t>nhất</a:t>
            </a:r>
            <a:r>
              <a:rPr lang="en-US" dirty="0"/>
              <a:t>” </a:t>
            </a:r>
            <a:r>
              <a:rPr lang="en-US" dirty="0" err="1"/>
              <a:t>bởi</a:t>
            </a:r>
            <a:r>
              <a:rPr lang="en-US" dirty="0"/>
              <a:t> </a:t>
            </a:r>
            <a:r>
              <a:rPr lang="en-US" dirty="0" err="1"/>
              <a:t>vì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duy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b="1" dirty="0"/>
              <a:t>1 </a:t>
            </a:r>
            <a:r>
              <a:rPr lang="en-US" b="1" dirty="0" err="1"/>
              <a:t>tổ</a:t>
            </a:r>
            <a:r>
              <a:rPr lang="en-US" b="1" dirty="0"/>
              <a:t> </a:t>
            </a:r>
            <a:r>
              <a:rPr lang="en-US" b="1" dirty="0" err="1"/>
              <a:t>hợp</a:t>
            </a:r>
            <a:r>
              <a:rPr lang="en-US" b="1" dirty="0"/>
              <a:t> RC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.</a:t>
            </a:r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b="1" dirty="0" err="1"/>
              <a:t>hệ</a:t>
            </a:r>
            <a:r>
              <a:rPr lang="en-US" b="1" dirty="0"/>
              <a:t> </a:t>
            </a:r>
            <a:r>
              <a:rPr lang="en-US" b="1" dirty="0" err="1"/>
              <a:t>số</a:t>
            </a:r>
            <a:r>
              <a:rPr lang="en-US" b="1" dirty="0"/>
              <a:t> </a:t>
            </a:r>
            <a:r>
              <a:rPr lang="en-US" b="1" dirty="0" err="1"/>
              <a:t>dốc</a:t>
            </a:r>
            <a:r>
              <a:rPr lang="en-US" b="1" dirty="0"/>
              <a:t> </a:t>
            </a:r>
            <a:r>
              <a:rPr lang="en-US" dirty="0"/>
              <a:t>(roll-off) </a:t>
            </a:r>
            <a:r>
              <a:rPr lang="en-US" dirty="0" err="1"/>
              <a:t>là</a:t>
            </a:r>
            <a:r>
              <a:rPr lang="en-US" dirty="0"/>
              <a:t> -20dB/</a:t>
            </a:r>
            <a:r>
              <a:rPr lang="en-US" dirty="0" err="1"/>
              <a:t>dec.</a:t>
            </a:r>
            <a:endParaRPr lang="en-US" dirty="0"/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b="1" dirty="0" err="1"/>
              <a:t>tần</a:t>
            </a:r>
            <a:r>
              <a:rPr lang="en-US" b="1" dirty="0"/>
              <a:t> </a:t>
            </a:r>
            <a:r>
              <a:rPr lang="en-US" b="1" dirty="0" err="1"/>
              <a:t>số</a:t>
            </a:r>
            <a:r>
              <a:rPr lang="en-US" b="1" dirty="0"/>
              <a:t> </a:t>
            </a:r>
            <a:r>
              <a:rPr lang="en-US" b="1" dirty="0" err="1"/>
              <a:t>cắt</a:t>
            </a:r>
            <a:r>
              <a:rPr lang="en-US" b="1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b="1" dirty="0" err="1"/>
              <a:t>hệ</a:t>
            </a:r>
            <a:r>
              <a:rPr lang="en-US" b="1" dirty="0"/>
              <a:t> </a:t>
            </a:r>
            <a:r>
              <a:rPr lang="en-US" b="1" dirty="0" err="1"/>
              <a:t>số</a:t>
            </a:r>
            <a:r>
              <a:rPr lang="en-US" b="1" dirty="0"/>
              <a:t> </a:t>
            </a:r>
            <a:r>
              <a:rPr lang="en-US" b="1" dirty="0" err="1"/>
              <a:t>khuếch</a:t>
            </a:r>
            <a:r>
              <a:rPr lang="en-US" b="1" dirty="0"/>
              <a:t> </a:t>
            </a:r>
            <a:r>
              <a:rPr lang="en-US" b="1" dirty="0" err="1"/>
              <a:t>đại</a:t>
            </a:r>
            <a:r>
              <a:rPr lang="en-US" b="1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>
                <a:solidFill>
                  <a:schemeClr val="accent1"/>
                </a:solidFill>
              </a:rPr>
              <a:t>băng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 err="1">
                <a:solidFill>
                  <a:schemeClr val="accent1"/>
                </a:solidFill>
              </a:rPr>
              <a:t>tần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 err="1">
                <a:solidFill>
                  <a:schemeClr val="accent1"/>
                </a:solidFill>
              </a:rPr>
              <a:t>hoạt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 err="1">
                <a:solidFill>
                  <a:schemeClr val="accent1"/>
                </a:solidFill>
              </a:rPr>
              <a:t>động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13674" y="5066334"/>
            <a:ext cx="2162175" cy="781050"/>
          </a:xfrm>
          <a:prstGeom prst="rect">
            <a:avLst/>
          </a:prstGeom>
        </p:spPr>
      </p:pic>
      <p:grpSp>
        <p:nvGrpSpPr>
          <p:cNvPr id="36" name="Groupe 35"/>
          <p:cNvGrpSpPr/>
          <p:nvPr/>
        </p:nvGrpSpPr>
        <p:grpSpPr>
          <a:xfrm>
            <a:off x="5824204" y="4511084"/>
            <a:ext cx="1178556" cy="1430767"/>
            <a:chOff x="5824204" y="4511084"/>
            <a:chExt cx="1178556" cy="1430767"/>
          </a:xfrm>
        </p:grpSpPr>
        <p:cxnSp>
          <p:nvCxnSpPr>
            <p:cNvPr id="12" name="Connecteur droit 11"/>
            <p:cNvCxnSpPr/>
            <p:nvPr/>
          </p:nvCxnSpPr>
          <p:spPr>
            <a:xfrm flipH="1">
              <a:off x="5826588" y="4511084"/>
              <a:ext cx="566718" cy="5825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Connecteur droit 12"/>
            <p:cNvCxnSpPr/>
            <p:nvPr/>
          </p:nvCxnSpPr>
          <p:spPr>
            <a:xfrm flipH="1">
              <a:off x="5834972" y="4545397"/>
              <a:ext cx="825621" cy="84861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Connecteur droit 13"/>
            <p:cNvCxnSpPr/>
            <p:nvPr/>
          </p:nvCxnSpPr>
          <p:spPr>
            <a:xfrm flipH="1">
              <a:off x="5824204" y="4594436"/>
              <a:ext cx="1089350" cy="111968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Connecteur droit 14"/>
            <p:cNvCxnSpPr/>
            <p:nvPr/>
          </p:nvCxnSpPr>
          <p:spPr>
            <a:xfrm flipH="1">
              <a:off x="5925806" y="4822164"/>
              <a:ext cx="1066862" cy="10965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Connecteur droit 15"/>
            <p:cNvCxnSpPr/>
            <p:nvPr/>
          </p:nvCxnSpPr>
          <p:spPr>
            <a:xfrm flipH="1">
              <a:off x="6228429" y="5120834"/>
              <a:ext cx="774331" cy="79589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eur droit 16"/>
            <p:cNvCxnSpPr/>
            <p:nvPr/>
          </p:nvCxnSpPr>
          <p:spPr>
            <a:xfrm flipH="1">
              <a:off x="6504659" y="5443051"/>
              <a:ext cx="485285" cy="498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Connecteur droit 17"/>
            <p:cNvCxnSpPr/>
            <p:nvPr/>
          </p:nvCxnSpPr>
          <p:spPr>
            <a:xfrm flipH="1">
              <a:off x="6808907" y="5741373"/>
              <a:ext cx="191469" cy="1968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eur droit 18"/>
            <p:cNvCxnSpPr/>
            <p:nvPr/>
          </p:nvCxnSpPr>
          <p:spPr>
            <a:xfrm flipH="1">
              <a:off x="5834971" y="4511084"/>
              <a:ext cx="272176" cy="27975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1455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thấp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9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9" name="Content Placeholder 11"/>
          <p:cNvSpPr txBox="1">
            <a:spLocks/>
          </p:cNvSpPr>
          <p:nvPr/>
        </p:nvSpPr>
        <p:spPr>
          <a:xfrm>
            <a:off x="891540" y="1898018"/>
            <a:ext cx="4554908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bậc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:</a:t>
            </a:r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Mục</a:t>
            </a:r>
            <a:r>
              <a:rPr lang="en-US" dirty="0"/>
              <a:t> </a:t>
            </a:r>
            <a:r>
              <a:rPr lang="en-US" dirty="0" err="1"/>
              <a:t>đích</a:t>
            </a:r>
            <a:r>
              <a:rPr lang="en-US" dirty="0"/>
              <a:t>: </a:t>
            </a:r>
            <a:r>
              <a:rPr lang="en-US" dirty="0" err="1"/>
              <a:t>Tăng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dốc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đường</a:t>
            </a:r>
            <a:r>
              <a:rPr lang="en-US" dirty="0"/>
              <a:t> </a:t>
            </a:r>
            <a:r>
              <a:rPr lang="en-US" dirty="0" err="1"/>
              <a:t>đáp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tần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từ</a:t>
            </a:r>
            <a:r>
              <a:rPr lang="en-US" dirty="0"/>
              <a:t> -20dB/</a:t>
            </a:r>
            <a:r>
              <a:rPr lang="en-US" dirty="0" err="1"/>
              <a:t>dec</a:t>
            </a:r>
            <a:r>
              <a:rPr lang="en-US" dirty="0"/>
              <a:t> </a:t>
            </a:r>
            <a:r>
              <a:rPr lang="en-US" dirty="0" err="1"/>
              <a:t>lên</a:t>
            </a:r>
            <a:r>
              <a:rPr lang="en-US" dirty="0"/>
              <a:t> -40dB/</a:t>
            </a:r>
            <a:r>
              <a:rPr lang="en-US" dirty="0" err="1"/>
              <a:t>dec.</a:t>
            </a:r>
            <a:r>
              <a:rPr lang="en-US" dirty="0"/>
              <a:t> </a:t>
            </a:r>
            <a:r>
              <a:rPr lang="en-US" dirty="0" err="1"/>
              <a:t>Nhờ</a:t>
            </a:r>
            <a:r>
              <a:rPr lang="en-US" dirty="0"/>
              <a:t> </a:t>
            </a:r>
            <a:r>
              <a:rPr lang="en-US" dirty="0" err="1"/>
              <a:t>đó</a:t>
            </a:r>
            <a:r>
              <a:rPr lang="en-US" dirty="0"/>
              <a:t>,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tần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lớn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–fc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triệt</a:t>
            </a:r>
            <a:r>
              <a:rPr lang="en-US" dirty="0"/>
              <a:t> </a:t>
            </a:r>
            <a:r>
              <a:rPr lang="en-US" dirty="0" err="1"/>
              <a:t>tiêu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. </a:t>
            </a:r>
            <a:r>
              <a:rPr lang="en-US" dirty="0" err="1"/>
              <a:t>Bộ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sẽ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chất</a:t>
            </a:r>
            <a:r>
              <a:rPr lang="en-US" dirty="0"/>
              <a:t> </a:t>
            </a: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(selective)</a:t>
            </a:r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những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bậc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hay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</a:t>
            </a:r>
            <a:r>
              <a:rPr lang="en-US" dirty="0" err="1"/>
              <a:t>nhiều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thấp</a:t>
            </a:r>
            <a:r>
              <a:rPr lang="en-US" dirty="0"/>
              <a:t> </a:t>
            </a:r>
            <a:r>
              <a:rPr lang="en-US" dirty="0" err="1"/>
              <a:t>Sallen</a:t>
            </a:r>
            <a:r>
              <a:rPr lang="en-US" dirty="0"/>
              <a:t>-Key.</a:t>
            </a:r>
          </a:p>
        </p:txBody>
      </p:sp>
      <p:grpSp>
        <p:nvGrpSpPr>
          <p:cNvPr id="47" name="Groupe 46"/>
          <p:cNvGrpSpPr/>
          <p:nvPr/>
        </p:nvGrpSpPr>
        <p:grpSpPr>
          <a:xfrm>
            <a:off x="5898105" y="2159291"/>
            <a:ext cx="3681574" cy="3706948"/>
            <a:chOff x="5898105" y="2159291"/>
            <a:chExt cx="3681574" cy="3706948"/>
          </a:xfrm>
        </p:grpSpPr>
        <p:grpSp>
          <p:nvGrpSpPr>
            <p:cNvPr id="32" name="Groupe 31"/>
            <p:cNvGrpSpPr/>
            <p:nvPr/>
          </p:nvGrpSpPr>
          <p:grpSpPr>
            <a:xfrm>
              <a:off x="5898105" y="2159291"/>
              <a:ext cx="3681574" cy="2481806"/>
              <a:chOff x="5925806" y="2159291"/>
              <a:chExt cx="3681574" cy="2481806"/>
            </a:xfrm>
          </p:grpSpPr>
          <p:pic>
            <p:nvPicPr>
              <p:cNvPr id="20" name="Image 19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925806" y="2159291"/>
                <a:ext cx="3681574" cy="2481806"/>
              </a:xfrm>
              <a:prstGeom prst="rect">
                <a:avLst/>
              </a:prstGeom>
            </p:spPr>
          </p:pic>
          <p:grpSp>
            <p:nvGrpSpPr>
              <p:cNvPr id="21" name="Groupe 20"/>
              <p:cNvGrpSpPr/>
              <p:nvPr/>
            </p:nvGrpSpPr>
            <p:grpSpPr>
              <a:xfrm>
                <a:off x="6473139" y="2844944"/>
                <a:ext cx="1178556" cy="1430767"/>
                <a:chOff x="5824204" y="4511084"/>
                <a:chExt cx="1178556" cy="1430767"/>
              </a:xfrm>
            </p:grpSpPr>
            <p:cxnSp>
              <p:nvCxnSpPr>
                <p:cNvPr id="22" name="Connecteur droit 21"/>
                <p:cNvCxnSpPr/>
                <p:nvPr/>
              </p:nvCxnSpPr>
              <p:spPr>
                <a:xfrm flipH="1">
                  <a:off x="5826588" y="4511084"/>
                  <a:ext cx="566718" cy="5825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Connecteur droit 22"/>
                <p:cNvCxnSpPr/>
                <p:nvPr/>
              </p:nvCxnSpPr>
              <p:spPr>
                <a:xfrm flipH="1">
                  <a:off x="5834972" y="4545397"/>
                  <a:ext cx="825621" cy="848615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Connecteur droit 23"/>
                <p:cNvCxnSpPr/>
                <p:nvPr/>
              </p:nvCxnSpPr>
              <p:spPr>
                <a:xfrm flipH="1">
                  <a:off x="5824204" y="4594436"/>
                  <a:ext cx="1089350" cy="1119687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" name="Connecteur droit 24"/>
                <p:cNvCxnSpPr/>
                <p:nvPr/>
              </p:nvCxnSpPr>
              <p:spPr>
                <a:xfrm flipH="1">
                  <a:off x="5925806" y="4822164"/>
                  <a:ext cx="1066862" cy="1096572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Connecteur droit 25"/>
                <p:cNvCxnSpPr/>
                <p:nvPr/>
              </p:nvCxnSpPr>
              <p:spPr>
                <a:xfrm flipH="1">
                  <a:off x="6228429" y="5120834"/>
                  <a:ext cx="774331" cy="795895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" name="Connecteur droit 26"/>
                <p:cNvCxnSpPr/>
                <p:nvPr/>
              </p:nvCxnSpPr>
              <p:spPr>
                <a:xfrm flipH="1">
                  <a:off x="6504659" y="5443051"/>
                  <a:ext cx="485285" cy="4988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Connecteur droit 27"/>
                <p:cNvCxnSpPr/>
                <p:nvPr/>
              </p:nvCxnSpPr>
              <p:spPr>
                <a:xfrm flipH="1">
                  <a:off x="6808907" y="5741373"/>
                  <a:ext cx="191469" cy="196801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Connecteur droit 28"/>
                <p:cNvCxnSpPr/>
                <p:nvPr/>
              </p:nvCxnSpPr>
              <p:spPr>
                <a:xfrm flipH="1">
                  <a:off x="5834971" y="4511084"/>
                  <a:ext cx="272176" cy="279755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11" name="Connecteur droit 10"/>
            <p:cNvCxnSpPr/>
            <p:nvPr/>
          </p:nvCxnSpPr>
          <p:spPr>
            <a:xfrm>
              <a:off x="7608295" y="2928296"/>
              <a:ext cx="1204703" cy="2795959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eur droit 30"/>
            <p:cNvCxnSpPr/>
            <p:nvPr/>
          </p:nvCxnSpPr>
          <p:spPr>
            <a:xfrm>
              <a:off x="6438165" y="4261215"/>
              <a:ext cx="0" cy="1463040"/>
            </a:xfrm>
            <a:prstGeom prst="line">
              <a:avLst/>
            </a:prstGeom>
            <a:ln w="222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7" name="Groupe 36"/>
            <p:cNvGrpSpPr/>
            <p:nvPr/>
          </p:nvGrpSpPr>
          <p:grpSpPr>
            <a:xfrm>
              <a:off x="6348155" y="4275711"/>
              <a:ext cx="2475275" cy="1448544"/>
              <a:chOff x="6348155" y="4275711"/>
              <a:chExt cx="2475275" cy="1448544"/>
            </a:xfrm>
          </p:grpSpPr>
          <p:cxnSp>
            <p:nvCxnSpPr>
              <p:cNvPr id="34" name="Connecteur droit 33"/>
              <p:cNvCxnSpPr/>
              <p:nvPr/>
            </p:nvCxnSpPr>
            <p:spPr>
              <a:xfrm>
                <a:off x="8823430" y="4275711"/>
                <a:ext cx="0" cy="1448544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Connecteur droit 35"/>
              <p:cNvCxnSpPr/>
              <p:nvPr/>
            </p:nvCxnSpPr>
            <p:spPr>
              <a:xfrm>
                <a:off x="6348155" y="5724255"/>
                <a:ext cx="2468880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0" name="ZoneTexte 39"/>
            <p:cNvSpPr txBox="1"/>
            <p:nvPr/>
          </p:nvSpPr>
          <p:spPr>
            <a:xfrm>
              <a:off x="6025364" y="5589240"/>
              <a:ext cx="38985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-40</a:t>
              </a:r>
            </a:p>
          </p:txBody>
        </p:sp>
        <p:cxnSp>
          <p:nvCxnSpPr>
            <p:cNvPr id="44" name="Connecteur droit avec flèche 43"/>
            <p:cNvCxnSpPr/>
            <p:nvPr/>
          </p:nvCxnSpPr>
          <p:spPr>
            <a:xfrm flipV="1">
              <a:off x="7923330" y="3156024"/>
              <a:ext cx="0" cy="1119687"/>
            </a:xfrm>
            <a:prstGeom prst="straightConnector1">
              <a:avLst/>
            </a:prstGeom>
            <a:ln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cteur droit avec flèche 45"/>
            <p:cNvCxnSpPr/>
            <p:nvPr/>
          </p:nvCxnSpPr>
          <p:spPr>
            <a:xfrm flipV="1">
              <a:off x="7923330" y="3654025"/>
              <a:ext cx="0" cy="64008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8930306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thấp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10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9" name="Content Placeholder 11"/>
          <p:cNvSpPr txBox="1">
            <a:spLocks/>
          </p:cNvSpPr>
          <p:nvPr/>
        </p:nvSpPr>
        <p:spPr>
          <a:xfrm>
            <a:off x="891540" y="1898018"/>
            <a:ext cx="4554908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bậc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:</a:t>
            </a:r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thấp</a:t>
            </a:r>
            <a:r>
              <a:rPr lang="en-US" dirty="0"/>
              <a:t> </a:t>
            </a:r>
            <a:r>
              <a:rPr lang="en-US" dirty="0" err="1"/>
              <a:t>Sallen</a:t>
            </a:r>
            <a:r>
              <a:rPr lang="en-US" dirty="0"/>
              <a:t>-Key:</a:t>
            </a:r>
          </a:p>
        </p:txBody>
      </p:sp>
      <p:grpSp>
        <p:nvGrpSpPr>
          <p:cNvPr id="30" name="Groupe 29"/>
          <p:cNvGrpSpPr/>
          <p:nvPr/>
        </p:nvGrpSpPr>
        <p:grpSpPr>
          <a:xfrm>
            <a:off x="5898105" y="2159291"/>
            <a:ext cx="3681574" cy="3706948"/>
            <a:chOff x="5898105" y="2159291"/>
            <a:chExt cx="3681574" cy="3706948"/>
          </a:xfrm>
        </p:grpSpPr>
        <p:grpSp>
          <p:nvGrpSpPr>
            <p:cNvPr id="33" name="Groupe 32"/>
            <p:cNvGrpSpPr/>
            <p:nvPr/>
          </p:nvGrpSpPr>
          <p:grpSpPr>
            <a:xfrm>
              <a:off x="5898105" y="2159291"/>
              <a:ext cx="3681574" cy="2481806"/>
              <a:chOff x="5925806" y="2159291"/>
              <a:chExt cx="3681574" cy="2481806"/>
            </a:xfrm>
          </p:grpSpPr>
          <p:pic>
            <p:nvPicPr>
              <p:cNvPr id="48" name="Image 47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925806" y="2159291"/>
                <a:ext cx="3681574" cy="2481806"/>
              </a:xfrm>
              <a:prstGeom prst="rect">
                <a:avLst/>
              </a:prstGeom>
            </p:spPr>
          </p:pic>
          <p:grpSp>
            <p:nvGrpSpPr>
              <p:cNvPr id="49" name="Groupe 48"/>
              <p:cNvGrpSpPr/>
              <p:nvPr/>
            </p:nvGrpSpPr>
            <p:grpSpPr>
              <a:xfrm>
                <a:off x="6473139" y="2844944"/>
                <a:ext cx="1178556" cy="1430767"/>
                <a:chOff x="5824204" y="4511084"/>
                <a:chExt cx="1178556" cy="1430767"/>
              </a:xfrm>
            </p:grpSpPr>
            <p:cxnSp>
              <p:nvCxnSpPr>
                <p:cNvPr id="50" name="Connecteur droit 49"/>
                <p:cNvCxnSpPr/>
                <p:nvPr/>
              </p:nvCxnSpPr>
              <p:spPr>
                <a:xfrm flipH="1">
                  <a:off x="5826588" y="4511084"/>
                  <a:ext cx="566718" cy="5825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Connecteur droit 50"/>
                <p:cNvCxnSpPr/>
                <p:nvPr/>
              </p:nvCxnSpPr>
              <p:spPr>
                <a:xfrm flipH="1">
                  <a:off x="5834972" y="4545397"/>
                  <a:ext cx="825621" cy="848615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Connecteur droit 51"/>
                <p:cNvCxnSpPr/>
                <p:nvPr/>
              </p:nvCxnSpPr>
              <p:spPr>
                <a:xfrm flipH="1">
                  <a:off x="5824204" y="4594436"/>
                  <a:ext cx="1089350" cy="1119687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Connecteur droit 52"/>
                <p:cNvCxnSpPr/>
                <p:nvPr/>
              </p:nvCxnSpPr>
              <p:spPr>
                <a:xfrm flipH="1">
                  <a:off x="5925806" y="4822164"/>
                  <a:ext cx="1066862" cy="1096572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Connecteur droit 53"/>
                <p:cNvCxnSpPr/>
                <p:nvPr/>
              </p:nvCxnSpPr>
              <p:spPr>
                <a:xfrm flipH="1">
                  <a:off x="6228429" y="5120834"/>
                  <a:ext cx="774331" cy="795895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Connecteur droit 54"/>
                <p:cNvCxnSpPr/>
                <p:nvPr/>
              </p:nvCxnSpPr>
              <p:spPr>
                <a:xfrm flipH="1">
                  <a:off x="6504659" y="5443051"/>
                  <a:ext cx="485285" cy="4988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Connecteur droit 55"/>
                <p:cNvCxnSpPr/>
                <p:nvPr/>
              </p:nvCxnSpPr>
              <p:spPr>
                <a:xfrm flipH="1">
                  <a:off x="6808907" y="5741373"/>
                  <a:ext cx="191469" cy="196801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Connecteur droit 56"/>
                <p:cNvCxnSpPr/>
                <p:nvPr/>
              </p:nvCxnSpPr>
              <p:spPr>
                <a:xfrm flipH="1">
                  <a:off x="5834971" y="4511084"/>
                  <a:ext cx="272176" cy="279755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35" name="Connecteur droit 34"/>
            <p:cNvCxnSpPr/>
            <p:nvPr/>
          </p:nvCxnSpPr>
          <p:spPr>
            <a:xfrm>
              <a:off x="7608295" y="2928296"/>
              <a:ext cx="1204703" cy="2795959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cteur droit 37"/>
            <p:cNvCxnSpPr/>
            <p:nvPr/>
          </p:nvCxnSpPr>
          <p:spPr>
            <a:xfrm>
              <a:off x="6438165" y="4261215"/>
              <a:ext cx="0" cy="1463040"/>
            </a:xfrm>
            <a:prstGeom prst="line">
              <a:avLst/>
            </a:prstGeom>
            <a:ln w="222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9" name="Groupe 38"/>
            <p:cNvGrpSpPr/>
            <p:nvPr/>
          </p:nvGrpSpPr>
          <p:grpSpPr>
            <a:xfrm>
              <a:off x="6348155" y="4275711"/>
              <a:ext cx="2475275" cy="1448544"/>
              <a:chOff x="6348155" y="4275711"/>
              <a:chExt cx="2475275" cy="1448544"/>
            </a:xfrm>
          </p:grpSpPr>
          <p:cxnSp>
            <p:nvCxnSpPr>
              <p:cNvPr id="45" name="Connecteur droit 44"/>
              <p:cNvCxnSpPr/>
              <p:nvPr/>
            </p:nvCxnSpPr>
            <p:spPr>
              <a:xfrm>
                <a:off x="8823430" y="4275711"/>
                <a:ext cx="0" cy="1448544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Connecteur droit 46"/>
              <p:cNvCxnSpPr/>
              <p:nvPr/>
            </p:nvCxnSpPr>
            <p:spPr>
              <a:xfrm>
                <a:off x="6348155" y="5724255"/>
                <a:ext cx="2468880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1" name="ZoneTexte 40"/>
            <p:cNvSpPr txBox="1"/>
            <p:nvPr/>
          </p:nvSpPr>
          <p:spPr>
            <a:xfrm>
              <a:off x="6025364" y="5589240"/>
              <a:ext cx="38985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-40</a:t>
              </a:r>
            </a:p>
          </p:txBody>
        </p:sp>
        <p:cxnSp>
          <p:nvCxnSpPr>
            <p:cNvPr id="42" name="Connecteur droit avec flèche 41"/>
            <p:cNvCxnSpPr/>
            <p:nvPr/>
          </p:nvCxnSpPr>
          <p:spPr>
            <a:xfrm flipV="1">
              <a:off x="7923330" y="3156024"/>
              <a:ext cx="0" cy="1119687"/>
            </a:xfrm>
            <a:prstGeom prst="straightConnector1">
              <a:avLst/>
            </a:prstGeom>
            <a:ln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cteur droit avec flèche 42"/>
            <p:cNvCxnSpPr/>
            <p:nvPr/>
          </p:nvCxnSpPr>
          <p:spPr>
            <a:xfrm flipV="1">
              <a:off x="7923330" y="3654025"/>
              <a:ext cx="0" cy="64008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038" y="2618910"/>
            <a:ext cx="5058106" cy="3155444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7585" y="4992735"/>
            <a:ext cx="2695575" cy="866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26510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thấp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11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9" name="Content Placeholder 11"/>
          <p:cNvSpPr txBox="1">
            <a:spLocks/>
          </p:cNvSpPr>
          <p:nvPr/>
        </p:nvSpPr>
        <p:spPr>
          <a:xfrm>
            <a:off x="891540" y="1898018"/>
            <a:ext cx="4554908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tần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cắt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bên</a:t>
            </a:r>
            <a:r>
              <a:rPr lang="en-US" dirty="0"/>
              <a:t>. </a:t>
            </a:r>
            <a:r>
              <a:rPr lang="en-US" dirty="0" err="1"/>
              <a:t>Đồng</a:t>
            </a:r>
            <a:r>
              <a:rPr lang="en-US" dirty="0"/>
              <a:t> </a:t>
            </a:r>
            <a:r>
              <a:rPr lang="en-US" dirty="0" err="1"/>
              <a:t>thời</a:t>
            </a:r>
            <a:r>
              <a:rPr lang="en-US" dirty="0"/>
              <a:t> </a:t>
            </a:r>
            <a:r>
              <a:rPr lang="en-US" dirty="0" err="1"/>
              <a:t>xác</a:t>
            </a:r>
            <a:r>
              <a:rPr lang="en-US" dirty="0"/>
              <a:t> </a:t>
            </a:r>
            <a:r>
              <a:rPr lang="en-US" dirty="0" err="1"/>
              <a:t>định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R1 </a:t>
            </a:r>
            <a:r>
              <a:rPr lang="en-US" dirty="0" err="1"/>
              <a:t>để</a:t>
            </a:r>
            <a:r>
              <a:rPr lang="en-US" dirty="0"/>
              <a:t> </a:t>
            </a:r>
            <a:r>
              <a:rPr lang="en-US" dirty="0" err="1"/>
              <a:t>đáp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tần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Butterworth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marL="0" indent="0" algn="just" fontAlgn="auto">
              <a:buNone/>
            </a:pPr>
            <a:endParaRPr lang="en-US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9675" y="2465285"/>
            <a:ext cx="4333875" cy="2628900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606" y="3047234"/>
            <a:ext cx="4676775" cy="13716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127575" y="4149080"/>
            <a:ext cx="4318873" cy="224749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827420" y="5728706"/>
            <a:ext cx="34916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ĐS: 7.23KHz, 586Ohm</a:t>
            </a:r>
          </a:p>
        </p:txBody>
      </p:sp>
    </p:spTree>
    <p:extLst>
      <p:ext uri="{BB962C8B-B14F-4D97-AF65-F5344CB8AC3E}">
        <p14:creationId xmlns:p14="http://schemas.microsoft.com/office/powerpoint/2010/main" val="3265305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thấp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12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9" name="Content Placeholder 11"/>
          <p:cNvSpPr txBox="1">
            <a:spLocks/>
          </p:cNvSpPr>
          <p:nvPr/>
        </p:nvSpPr>
        <p:spPr>
          <a:xfrm>
            <a:off x="891540" y="1898018"/>
            <a:ext cx="4554908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bậc</a:t>
            </a:r>
            <a:r>
              <a:rPr lang="en-US" dirty="0"/>
              <a:t>:</a:t>
            </a:r>
          </a:p>
        </p:txBody>
      </p:sp>
      <p:grpSp>
        <p:nvGrpSpPr>
          <p:cNvPr id="30" name="Groupe 29"/>
          <p:cNvGrpSpPr/>
          <p:nvPr/>
        </p:nvGrpSpPr>
        <p:grpSpPr>
          <a:xfrm>
            <a:off x="5898105" y="2159291"/>
            <a:ext cx="3681574" cy="3706948"/>
            <a:chOff x="5898105" y="2159291"/>
            <a:chExt cx="3681574" cy="3706948"/>
          </a:xfrm>
        </p:grpSpPr>
        <p:grpSp>
          <p:nvGrpSpPr>
            <p:cNvPr id="33" name="Groupe 32"/>
            <p:cNvGrpSpPr/>
            <p:nvPr/>
          </p:nvGrpSpPr>
          <p:grpSpPr>
            <a:xfrm>
              <a:off x="5898105" y="2159291"/>
              <a:ext cx="3681574" cy="2481806"/>
              <a:chOff x="5925806" y="2159291"/>
              <a:chExt cx="3681574" cy="2481806"/>
            </a:xfrm>
          </p:grpSpPr>
          <p:pic>
            <p:nvPicPr>
              <p:cNvPr id="48" name="Image 47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5925806" y="2159291"/>
                <a:ext cx="3681574" cy="2481806"/>
              </a:xfrm>
              <a:prstGeom prst="rect">
                <a:avLst/>
              </a:prstGeom>
            </p:spPr>
          </p:pic>
          <p:grpSp>
            <p:nvGrpSpPr>
              <p:cNvPr id="49" name="Groupe 48"/>
              <p:cNvGrpSpPr/>
              <p:nvPr/>
            </p:nvGrpSpPr>
            <p:grpSpPr>
              <a:xfrm>
                <a:off x="6473139" y="2844944"/>
                <a:ext cx="1178556" cy="1430767"/>
                <a:chOff x="5824204" y="4511084"/>
                <a:chExt cx="1178556" cy="1430767"/>
              </a:xfrm>
            </p:grpSpPr>
            <p:cxnSp>
              <p:nvCxnSpPr>
                <p:cNvPr id="50" name="Connecteur droit 49"/>
                <p:cNvCxnSpPr/>
                <p:nvPr/>
              </p:nvCxnSpPr>
              <p:spPr>
                <a:xfrm flipH="1">
                  <a:off x="5826588" y="4511084"/>
                  <a:ext cx="566718" cy="5825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" name="Connecteur droit 50"/>
                <p:cNvCxnSpPr/>
                <p:nvPr/>
              </p:nvCxnSpPr>
              <p:spPr>
                <a:xfrm flipH="1">
                  <a:off x="5834972" y="4545397"/>
                  <a:ext cx="825621" cy="848615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" name="Connecteur droit 51"/>
                <p:cNvCxnSpPr/>
                <p:nvPr/>
              </p:nvCxnSpPr>
              <p:spPr>
                <a:xfrm flipH="1">
                  <a:off x="5824204" y="4594436"/>
                  <a:ext cx="1089350" cy="1119687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Connecteur droit 52"/>
                <p:cNvCxnSpPr/>
                <p:nvPr/>
              </p:nvCxnSpPr>
              <p:spPr>
                <a:xfrm flipH="1">
                  <a:off x="5925806" y="4822164"/>
                  <a:ext cx="1066862" cy="1096572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Connecteur droit 53"/>
                <p:cNvCxnSpPr/>
                <p:nvPr/>
              </p:nvCxnSpPr>
              <p:spPr>
                <a:xfrm flipH="1">
                  <a:off x="6228429" y="5120834"/>
                  <a:ext cx="774331" cy="795895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Connecteur droit 54"/>
                <p:cNvCxnSpPr/>
                <p:nvPr/>
              </p:nvCxnSpPr>
              <p:spPr>
                <a:xfrm flipH="1">
                  <a:off x="6504659" y="5443051"/>
                  <a:ext cx="485285" cy="498800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Connecteur droit 55"/>
                <p:cNvCxnSpPr/>
                <p:nvPr/>
              </p:nvCxnSpPr>
              <p:spPr>
                <a:xfrm flipH="1">
                  <a:off x="6808907" y="5741373"/>
                  <a:ext cx="191469" cy="196801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" name="Connecteur droit 56"/>
                <p:cNvCxnSpPr/>
                <p:nvPr/>
              </p:nvCxnSpPr>
              <p:spPr>
                <a:xfrm flipH="1">
                  <a:off x="5834971" y="4511084"/>
                  <a:ext cx="272176" cy="279755"/>
                </a:xfrm>
                <a:prstGeom prst="line">
                  <a:avLst/>
                </a:prstGeom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35" name="Connecteur droit 34"/>
            <p:cNvCxnSpPr/>
            <p:nvPr/>
          </p:nvCxnSpPr>
          <p:spPr>
            <a:xfrm>
              <a:off x="7608295" y="2928296"/>
              <a:ext cx="1204703" cy="2795959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Connecteur droit 37"/>
            <p:cNvCxnSpPr/>
            <p:nvPr/>
          </p:nvCxnSpPr>
          <p:spPr>
            <a:xfrm>
              <a:off x="6438165" y="4261215"/>
              <a:ext cx="0" cy="1463040"/>
            </a:xfrm>
            <a:prstGeom prst="line">
              <a:avLst/>
            </a:prstGeom>
            <a:ln w="22225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9" name="Groupe 38"/>
            <p:cNvGrpSpPr/>
            <p:nvPr/>
          </p:nvGrpSpPr>
          <p:grpSpPr>
            <a:xfrm>
              <a:off x="6348155" y="4275711"/>
              <a:ext cx="2475275" cy="1448544"/>
              <a:chOff x="6348155" y="4275711"/>
              <a:chExt cx="2475275" cy="1448544"/>
            </a:xfrm>
          </p:grpSpPr>
          <p:cxnSp>
            <p:nvCxnSpPr>
              <p:cNvPr id="45" name="Connecteur droit 44"/>
              <p:cNvCxnSpPr/>
              <p:nvPr/>
            </p:nvCxnSpPr>
            <p:spPr>
              <a:xfrm>
                <a:off x="8823430" y="4275711"/>
                <a:ext cx="0" cy="1448544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Connecteur droit 46"/>
              <p:cNvCxnSpPr/>
              <p:nvPr/>
            </p:nvCxnSpPr>
            <p:spPr>
              <a:xfrm>
                <a:off x="6348155" y="5724255"/>
                <a:ext cx="2468880" cy="0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lg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1" name="ZoneTexte 40"/>
            <p:cNvSpPr txBox="1"/>
            <p:nvPr/>
          </p:nvSpPr>
          <p:spPr>
            <a:xfrm>
              <a:off x="6025364" y="5589240"/>
              <a:ext cx="38985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/>
                <a:t>-40</a:t>
              </a:r>
            </a:p>
          </p:txBody>
        </p:sp>
        <p:cxnSp>
          <p:nvCxnSpPr>
            <p:cNvPr id="42" name="Connecteur droit avec flèche 41"/>
            <p:cNvCxnSpPr/>
            <p:nvPr/>
          </p:nvCxnSpPr>
          <p:spPr>
            <a:xfrm flipV="1">
              <a:off x="7923330" y="3156024"/>
              <a:ext cx="0" cy="1119687"/>
            </a:xfrm>
            <a:prstGeom prst="straightConnector1">
              <a:avLst/>
            </a:prstGeom>
            <a:ln>
              <a:solidFill>
                <a:srgbClr val="0070C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Connecteur droit avec flèche 42"/>
            <p:cNvCxnSpPr/>
            <p:nvPr/>
          </p:nvCxnSpPr>
          <p:spPr>
            <a:xfrm flipV="1">
              <a:off x="7923330" y="3654025"/>
              <a:ext cx="0" cy="640080"/>
            </a:xfrm>
            <a:prstGeom prst="straightConnector1">
              <a:avLst/>
            </a:prstGeom>
            <a:ln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0233" y="2330910"/>
            <a:ext cx="4389120" cy="1939517"/>
          </a:xfrm>
          <a:prstGeom prst="rect">
            <a:avLst/>
          </a:prstGeom>
          <a:ln>
            <a:solidFill>
              <a:srgbClr val="FFC000"/>
            </a:solidFill>
          </a:ln>
        </p:spPr>
      </p:pic>
      <p:cxnSp>
        <p:nvCxnSpPr>
          <p:cNvPr id="29" name="Connecteur droit 28"/>
          <p:cNvCxnSpPr/>
          <p:nvPr/>
        </p:nvCxnSpPr>
        <p:spPr>
          <a:xfrm>
            <a:off x="7623994" y="2984821"/>
            <a:ext cx="827962" cy="2739434"/>
          </a:xfrm>
          <a:prstGeom prst="line">
            <a:avLst/>
          </a:prstGeom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avec flèche 31"/>
          <p:cNvCxnSpPr/>
          <p:nvPr/>
        </p:nvCxnSpPr>
        <p:spPr>
          <a:xfrm flipV="1">
            <a:off x="7923330" y="3968654"/>
            <a:ext cx="0" cy="360447"/>
          </a:xfrm>
          <a:prstGeom prst="straightConnector1">
            <a:avLst/>
          </a:prstGeom>
          <a:ln>
            <a:solidFill>
              <a:srgbClr val="FFC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Imag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5482" y="4411027"/>
            <a:ext cx="4389120" cy="1808990"/>
          </a:xfrm>
          <a:prstGeom prst="rect">
            <a:avLst/>
          </a:prstGeom>
          <a:ln>
            <a:solidFill>
              <a:srgbClr val="00B050"/>
            </a:solidFill>
          </a:ln>
        </p:spPr>
      </p:pic>
      <p:cxnSp>
        <p:nvCxnSpPr>
          <p:cNvPr id="36" name="Connecteur droit 35"/>
          <p:cNvCxnSpPr/>
          <p:nvPr/>
        </p:nvCxnSpPr>
        <p:spPr>
          <a:xfrm>
            <a:off x="7611178" y="2928296"/>
            <a:ext cx="611337" cy="2795959"/>
          </a:xfrm>
          <a:prstGeom prst="line">
            <a:avLst/>
          </a:prstGeom>
          <a:ln>
            <a:solidFill>
              <a:srgbClr val="00B05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58744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thấp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13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9" name="Content Placeholder 11"/>
          <p:cNvSpPr txBox="1">
            <a:spLocks/>
          </p:cNvSpPr>
          <p:nvPr/>
        </p:nvSpPr>
        <p:spPr>
          <a:xfrm>
            <a:off x="891540" y="1898018"/>
            <a:ext cx="8218604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Cho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khuếch</a:t>
            </a:r>
            <a:r>
              <a:rPr lang="en-US" dirty="0"/>
              <a:t> </a:t>
            </a:r>
            <a:r>
              <a:rPr lang="en-US" dirty="0" err="1"/>
              <a:t>đại</a:t>
            </a:r>
            <a:r>
              <a:rPr lang="en-US" dirty="0"/>
              <a:t> 2 </a:t>
            </a:r>
            <a:r>
              <a:rPr lang="en-US" dirty="0" err="1"/>
              <a:t>tầng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hình</a:t>
            </a:r>
            <a:r>
              <a:rPr lang="en-US" dirty="0"/>
              <a:t> </a:t>
            </a:r>
            <a:r>
              <a:rPr lang="en-US" dirty="0" err="1"/>
              <a:t>dưới</a:t>
            </a:r>
            <a:r>
              <a:rPr lang="en-US" dirty="0"/>
              <a:t>, </a:t>
            </a:r>
            <a:r>
              <a:rPr lang="en-US" dirty="0" err="1"/>
              <a:t>biết</a:t>
            </a:r>
            <a:r>
              <a:rPr lang="en-US" dirty="0"/>
              <a:t> R</a:t>
            </a:r>
            <a:r>
              <a:rPr lang="en-US" baseline="-25000" dirty="0"/>
              <a:t>A1</a:t>
            </a:r>
            <a:r>
              <a:rPr lang="en-US" dirty="0"/>
              <a:t>=R</a:t>
            </a:r>
            <a:r>
              <a:rPr lang="en-US" baseline="-25000" dirty="0"/>
              <a:t>A2</a:t>
            </a:r>
            <a:r>
              <a:rPr lang="en-US" dirty="0"/>
              <a:t>=R</a:t>
            </a:r>
            <a:r>
              <a:rPr lang="en-US" baseline="-25000" dirty="0"/>
              <a:t>B1</a:t>
            </a:r>
            <a:r>
              <a:rPr lang="en-US" dirty="0"/>
              <a:t>=R</a:t>
            </a:r>
            <a:r>
              <a:rPr lang="en-US" baseline="-25000" dirty="0"/>
              <a:t>B2</a:t>
            </a:r>
            <a:r>
              <a:rPr lang="en-US" dirty="0"/>
              <a:t>= R</a:t>
            </a:r>
            <a:r>
              <a:rPr lang="en-US" baseline="-25000" dirty="0"/>
              <a:t>2</a:t>
            </a:r>
            <a:r>
              <a:rPr lang="en-US" dirty="0"/>
              <a:t>=R</a:t>
            </a:r>
            <a:r>
              <a:rPr lang="en-US" baseline="-25000" dirty="0"/>
              <a:t>4</a:t>
            </a:r>
            <a:r>
              <a:rPr lang="en-US" dirty="0"/>
              <a:t>=1.8K</a:t>
            </a:r>
            <a:r>
              <a:rPr lang="en-US" dirty="0">
                <a:sym typeface="Symbol" panose="05050102010706020507" pitchFamily="18" charset="2"/>
              </a:rPr>
              <a:t>, </a:t>
            </a:r>
            <a:r>
              <a:rPr lang="en-US" dirty="0" err="1">
                <a:sym typeface="Symbol" panose="05050102010706020507" pitchFamily="18" charset="2"/>
              </a:rPr>
              <a:t>các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giá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trị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của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tụ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điện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bằng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nhau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và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bằng</a:t>
            </a:r>
            <a:r>
              <a:rPr lang="en-US" dirty="0">
                <a:sym typeface="Symbol" panose="05050102010706020507" pitchFamily="18" charset="2"/>
              </a:rPr>
              <a:t> C. </a:t>
            </a:r>
            <a:r>
              <a:rPr lang="en-US" dirty="0" err="1">
                <a:sym typeface="Symbol" panose="05050102010706020507" pitchFamily="18" charset="2"/>
              </a:rPr>
              <a:t>Tính</a:t>
            </a:r>
            <a:r>
              <a:rPr lang="en-US" dirty="0">
                <a:sym typeface="Symbol" panose="05050102010706020507" pitchFamily="18" charset="2"/>
              </a:rPr>
              <a:t> C </a:t>
            </a:r>
            <a:r>
              <a:rPr lang="en-US" dirty="0" err="1">
                <a:sym typeface="Symbol" panose="05050102010706020507" pitchFamily="18" charset="2"/>
              </a:rPr>
              <a:t>để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mạch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có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tần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số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cắt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là</a:t>
            </a:r>
            <a:r>
              <a:rPr lang="en-US" dirty="0">
                <a:sym typeface="Symbol" panose="05050102010706020507" pitchFamily="18" charset="2"/>
              </a:rPr>
              <a:t> 2.68kHz. </a:t>
            </a:r>
            <a:r>
              <a:rPr lang="en-US" dirty="0" err="1">
                <a:sym typeface="Symbol" panose="05050102010706020507" pitchFamily="18" charset="2"/>
              </a:rPr>
              <a:t>Tính</a:t>
            </a:r>
            <a:r>
              <a:rPr lang="en-US" dirty="0">
                <a:sym typeface="Symbol" panose="05050102010706020507" pitchFamily="18" charset="2"/>
              </a:rPr>
              <a:t> R</a:t>
            </a:r>
            <a:r>
              <a:rPr lang="en-US" baseline="-25000" dirty="0">
                <a:sym typeface="Symbol" panose="05050102010706020507" pitchFamily="18" charset="2"/>
              </a:rPr>
              <a:t>1</a:t>
            </a:r>
            <a:r>
              <a:rPr lang="en-US" dirty="0">
                <a:sym typeface="Symbol" panose="05050102010706020507" pitchFamily="18" charset="2"/>
              </a:rPr>
              <a:t>, R</a:t>
            </a:r>
            <a:r>
              <a:rPr lang="en-US" baseline="-25000" dirty="0">
                <a:sym typeface="Symbol" panose="05050102010706020507" pitchFamily="18" charset="2"/>
              </a:rPr>
              <a:t>3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để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mạch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có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đáp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ứng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tần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số</a:t>
            </a:r>
            <a:r>
              <a:rPr lang="en-US" dirty="0">
                <a:sym typeface="Symbol" panose="05050102010706020507" pitchFamily="18" charset="2"/>
              </a:rPr>
              <a:t> </a:t>
            </a:r>
            <a:r>
              <a:rPr lang="en-US" dirty="0" err="1">
                <a:sym typeface="Symbol" panose="05050102010706020507" pitchFamily="18" charset="2"/>
              </a:rPr>
              <a:t>theo</a:t>
            </a:r>
            <a:r>
              <a:rPr lang="en-US" dirty="0">
                <a:sym typeface="Symbol" panose="05050102010706020507" pitchFamily="18" charset="2"/>
              </a:rPr>
              <a:t> Butterworth.</a:t>
            </a:r>
            <a:endParaRPr lang="en-US" dirty="0"/>
          </a:p>
        </p:txBody>
      </p:sp>
      <p:pic>
        <p:nvPicPr>
          <p:cNvPr id="12" name="Imag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7565" y="3068960"/>
            <a:ext cx="7886885" cy="3250604"/>
          </a:xfrm>
          <a:prstGeom prst="rect">
            <a:avLst/>
          </a:prstGeom>
          <a:ln>
            <a:solidFill>
              <a:srgbClr val="00B050"/>
            </a:solidFill>
          </a:ln>
        </p:spPr>
      </p:pic>
      <p:sp>
        <p:nvSpPr>
          <p:cNvPr id="31" name="Rectangle 30"/>
          <p:cNvSpPr/>
          <p:nvPr/>
        </p:nvSpPr>
        <p:spPr>
          <a:xfrm>
            <a:off x="137465" y="5741213"/>
            <a:ext cx="436472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 fontAlgn="auto">
              <a:buFont typeface="Wingdings" panose="05000000000000000000" pitchFamily="2" charset="2"/>
              <a:buChar char="Ø"/>
            </a:pPr>
            <a:r>
              <a:rPr lang="en-US" dirty="0"/>
              <a:t> ĐS: 33pF, 274Ohm, 2.22kOhm</a:t>
            </a:r>
          </a:p>
        </p:txBody>
      </p:sp>
    </p:spTree>
    <p:extLst>
      <p:ext uri="{BB962C8B-B14F-4D97-AF65-F5344CB8AC3E}">
        <p14:creationId xmlns:p14="http://schemas.microsoft.com/office/powerpoint/2010/main" val="3930916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cao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14</a:t>
            </a:fld>
            <a:endParaRPr lang="sv-SE" sz="1400">
              <a:latin typeface="Times" pitchFamily="1" charset="0"/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7835" y="4055495"/>
            <a:ext cx="1209675" cy="228600"/>
          </a:xfrm>
          <a:prstGeom prst="rect">
            <a:avLst/>
          </a:prstGeom>
        </p:spPr>
      </p:pic>
      <p:sp>
        <p:nvSpPr>
          <p:cNvPr id="9" name="Content Placeholder 11"/>
          <p:cNvSpPr txBox="1">
            <a:spLocks/>
          </p:cNvSpPr>
          <p:nvPr/>
        </p:nvSpPr>
        <p:spPr>
          <a:xfrm>
            <a:off x="891540" y="1898018"/>
            <a:ext cx="4554908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bậc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:</a:t>
            </a:r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cấu</a:t>
            </a:r>
            <a:r>
              <a:rPr lang="en-US" dirty="0"/>
              <a:t> </a:t>
            </a:r>
            <a:r>
              <a:rPr lang="en-US" dirty="0" err="1"/>
              <a:t>tạo</a:t>
            </a:r>
            <a:r>
              <a:rPr lang="en-US" dirty="0"/>
              <a:t> </a:t>
            </a:r>
            <a:r>
              <a:rPr lang="en-US" dirty="0" err="1"/>
              <a:t>bởi</a:t>
            </a:r>
            <a:r>
              <a:rPr lang="en-US" dirty="0"/>
              <a:t> </a:t>
            </a:r>
            <a:r>
              <a:rPr lang="en-US" b="1" dirty="0" err="1"/>
              <a:t>một</a:t>
            </a:r>
            <a:r>
              <a:rPr lang="en-US" b="1" dirty="0"/>
              <a:t> </a:t>
            </a:r>
            <a:r>
              <a:rPr lang="en-US" b="1" dirty="0" err="1"/>
              <a:t>mạch</a:t>
            </a:r>
            <a:r>
              <a:rPr lang="en-US" b="1" dirty="0"/>
              <a:t> </a:t>
            </a:r>
            <a:r>
              <a:rPr lang="en-US" b="1" dirty="0" err="1"/>
              <a:t>khuếch</a:t>
            </a:r>
            <a:r>
              <a:rPr lang="en-US" b="1" dirty="0"/>
              <a:t> </a:t>
            </a:r>
            <a:r>
              <a:rPr lang="en-US" b="1" dirty="0" err="1"/>
              <a:t>đại</a:t>
            </a:r>
            <a:r>
              <a:rPr lang="en-US" b="1" dirty="0"/>
              <a:t> </a:t>
            </a:r>
            <a:r>
              <a:rPr lang="en-US" b="1" dirty="0" err="1"/>
              <a:t>hồi</a:t>
            </a:r>
            <a:r>
              <a:rPr lang="en-US" b="1" dirty="0"/>
              <a:t> </a:t>
            </a:r>
            <a:r>
              <a:rPr lang="en-US" b="1" dirty="0" err="1"/>
              <a:t>tiếp</a:t>
            </a:r>
            <a:r>
              <a:rPr lang="en-US" b="1" dirty="0"/>
              <a:t> </a:t>
            </a:r>
            <a:r>
              <a:rPr lang="en-US" b="1" dirty="0" err="1"/>
              <a:t>âm</a:t>
            </a:r>
            <a:r>
              <a:rPr lang="en-US" b="1" dirty="0"/>
              <a:t> </a:t>
            </a:r>
            <a:r>
              <a:rPr lang="en-US" b="1" dirty="0" err="1"/>
              <a:t>không</a:t>
            </a:r>
            <a:r>
              <a:rPr lang="en-US" b="1" dirty="0"/>
              <a:t> </a:t>
            </a:r>
            <a:r>
              <a:rPr lang="en-US" b="1" dirty="0" err="1"/>
              <a:t>đảo</a:t>
            </a:r>
            <a:r>
              <a:rPr lang="en-US" b="1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b="1" dirty="0" err="1"/>
              <a:t>một</a:t>
            </a:r>
            <a:r>
              <a:rPr lang="en-US" b="1" dirty="0"/>
              <a:t> </a:t>
            </a:r>
            <a:r>
              <a:rPr lang="en-US" b="1" dirty="0" err="1"/>
              <a:t>bộ</a:t>
            </a:r>
            <a:r>
              <a:rPr lang="en-US" b="1" dirty="0"/>
              <a:t> </a:t>
            </a:r>
            <a:r>
              <a:rPr lang="en-US" b="1" dirty="0" err="1"/>
              <a:t>lọc</a:t>
            </a:r>
            <a:r>
              <a:rPr lang="en-US" b="1" dirty="0"/>
              <a:t> </a:t>
            </a:r>
            <a:r>
              <a:rPr lang="en-US" b="1" dirty="0" err="1"/>
              <a:t>thông</a:t>
            </a:r>
            <a:r>
              <a:rPr lang="en-US" b="1" dirty="0"/>
              <a:t> </a:t>
            </a:r>
            <a:r>
              <a:rPr lang="en-US" b="1" dirty="0" err="1"/>
              <a:t>cao</a:t>
            </a:r>
            <a:r>
              <a:rPr lang="en-US" b="1" dirty="0"/>
              <a:t> RC </a:t>
            </a:r>
            <a:r>
              <a:rPr lang="en-US" dirty="0" err="1"/>
              <a:t>nối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cổng</a:t>
            </a:r>
            <a:r>
              <a:rPr lang="en-US" dirty="0"/>
              <a:t> </a:t>
            </a:r>
            <a:r>
              <a:rPr lang="en-US" dirty="0" err="1"/>
              <a:t>không</a:t>
            </a:r>
            <a:r>
              <a:rPr lang="en-US" dirty="0"/>
              <a:t> </a:t>
            </a:r>
            <a:r>
              <a:rPr lang="en-US" dirty="0" err="1"/>
              <a:t>đảo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Op-Amp.</a:t>
            </a:r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được</a:t>
            </a:r>
            <a:r>
              <a:rPr lang="en-US" dirty="0"/>
              <a:t> </a:t>
            </a:r>
            <a:r>
              <a:rPr lang="en-US" dirty="0" err="1"/>
              <a:t>gọi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“</a:t>
            </a:r>
            <a:r>
              <a:rPr lang="en-US" b="1" dirty="0" err="1"/>
              <a:t>bậc</a:t>
            </a:r>
            <a:r>
              <a:rPr lang="en-US" b="1" dirty="0"/>
              <a:t> </a:t>
            </a:r>
            <a:r>
              <a:rPr lang="en-US" b="1" dirty="0" err="1"/>
              <a:t>nhất</a:t>
            </a:r>
            <a:r>
              <a:rPr lang="en-US" dirty="0"/>
              <a:t>” </a:t>
            </a:r>
            <a:r>
              <a:rPr lang="en-US" dirty="0" err="1"/>
              <a:t>bởi</a:t>
            </a:r>
            <a:r>
              <a:rPr lang="en-US" dirty="0"/>
              <a:t> </a:t>
            </a:r>
            <a:r>
              <a:rPr lang="en-US" dirty="0" err="1"/>
              <a:t>vì</a:t>
            </a:r>
            <a:r>
              <a:rPr lang="en-US" dirty="0"/>
              <a:t> </a:t>
            </a:r>
            <a:r>
              <a:rPr lang="en-US" dirty="0" err="1"/>
              <a:t>chỉ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duy</a:t>
            </a:r>
            <a:r>
              <a:rPr lang="en-US" dirty="0"/>
              <a:t> </a:t>
            </a:r>
            <a:r>
              <a:rPr lang="en-US" dirty="0" err="1"/>
              <a:t>nhất</a:t>
            </a:r>
            <a:r>
              <a:rPr lang="en-US" dirty="0"/>
              <a:t> </a:t>
            </a:r>
            <a:r>
              <a:rPr lang="en-US" b="1" dirty="0"/>
              <a:t>1 </a:t>
            </a:r>
            <a:r>
              <a:rPr lang="en-US" b="1" dirty="0" err="1"/>
              <a:t>tổ</a:t>
            </a:r>
            <a:r>
              <a:rPr lang="en-US" b="1" dirty="0"/>
              <a:t> </a:t>
            </a:r>
            <a:r>
              <a:rPr lang="en-US" b="1" dirty="0" err="1"/>
              <a:t>hợp</a:t>
            </a:r>
            <a:r>
              <a:rPr lang="en-US" b="1" dirty="0"/>
              <a:t> RC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đầu</a:t>
            </a:r>
            <a:r>
              <a:rPr lang="en-US" dirty="0"/>
              <a:t> </a:t>
            </a:r>
            <a:r>
              <a:rPr lang="en-US" dirty="0" err="1"/>
              <a:t>vào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.</a:t>
            </a:r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b="1" dirty="0" err="1"/>
              <a:t>hệ</a:t>
            </a:r>
            <a:r>
              <a:rPr lang="en-US" b="1" dirty="0"/>
              <a:t> </a:t>
            </a:r>
            <a:r>
              <a:rPr lang="en-US" b="1" dirty="0" err="1"/>
              <a:t>số</a:t>
            </a:r>
            <a:r>
              <a:rPr lang="en-US" b="1" dirty="0"/>
              <a:t> </a:t>
            </a:r>
            <a:r>
              <a:rPr lang="en-US" b="1" dirty="0" err="1"/>
              <a:t>dốc</a:t>
            </a:r>
            <a:r>
              <a:rPr lang="en-US" b="1" dirty="0"/>
              <a:t> </a:t>
            </a:r>
            <a:r>
              <a:rPr lang="en-US" dirty="0"/>
              <a:t>(roll-off) </a:t>
            </a:r>
            <a:r>
              <a:rPr lang="en-US" dirty="0" err="1"/>
              <a:t>là</a:t>
            </a:r>
            <a:r>
              <a:rPr lang="en-US" dirty="0"/>
              <a:t> -20dB/</a:t>
            </a:r>
            <a:r>
              <a:rPr lang="en-US" dirty="0" err="1"/>
              <a:t>dec.</a:t>
            </a:r>
            <a:endParaRPr lang="en-US" dirty="0"/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b="1" dirty="0" err="1"/>
              <a:t>tần</a:t>
            </a:r>
            <a:r>
              <a:rPr lang="en-US" b="1" dirty="0"/>
              <a:t> </a:t>
            </a:r>
            <a:r>
              <a:rPr lang="en-US" b="1" dirty="0" err="1"/>
              <a:t>số</a:t>
            </a:r>
            <a:r>
              <a:rPr lang="en-US" b="1" dirty="0"/>
              <a:t> </a:t>
            </a:r>
            <a:r>
              <a:rPr lang="en-US" b="1" dirty="0" err="1"/>
              <a:t>cắt</a:t>
            </a:r>
            <a:r>
              <a:rPr lang="en-US" b="1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b="1" dirty="0" err="1"/>
              <a:t>hệ</a:t>
            </a:r>
            <a:r>
              <a:rPr lang="en-US" b="1" dirty="0"/>
              <a:t> </a:t>
            </a:r>
            <a:r>
              <a:rPr lang="en-US" b="1" dirty="0" err="1"/>
              <a:t>số</a:t>
            </a:r>
            <a:r>
              <a:rPr lang="en-US" b="1" dirty="0"/>
              <a:t> </a:t>
            </a:r>
            <a:r>
              <a:rPr lang="en-US" b="1" dirty="0" err="1"/>
              <a:t>khuếch</a:t>
            </a:r>
            <a:r>
              <a:rPr lang="en-US" b="1" dirty="0"/>
              <a:t> </a:t>
            </a:r>
            <a:r>
              <a:rPr lang="en-US" b="1" dirty="0" err="1"/>
              <a:t>đại</a:t>
            </a:r>
            <a:r>
              <a:rPr lang="en-US" b="1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>
                <a:solidFill>
                  <a:schemeClr val="accent1"/>
                </a:solidFill>
              </a:rPr>
              <a:t>băng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 err="1">
                <a:solidFill>
                  <a:schemeClr val="accent1"/>
                </a:solidFill>
              </a:rPr>
              <a:t>tần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 err="1">
                <a:solidFill>
                  <a:schemeClr val="accent1"/>
                </a:solidFill>
              </a:rPr>
              <a:t>hoạt</a:t>
            </a:r>
            <a:r>
              <a:rPr lang="en-US" dirty="0">
                <a:solidFill>
                  <a:schemeClr val="accent1"/>
                </a:solidFill>
              </a:rPr>
              <a:t> </a:t>
            </a:r>
            <a:r>
              <a:rPr lang="en-US" dirty="0" err="1">
                <a:solidFill>
                  <a:schemeClr val="accent1"/>
                </a:solidFill>
              </a:rPr>
              <a:t>động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3674" y="5066334"/>
            <a:ext cx="2162175" cy="781050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83070" y="3578149"/>
            <a:ext cx="3331368" cy="2705651"/>
          </a:xfrm>
          <a:prstGeom prst="rect">
            <a:avLst/>
          </a:prstGeom>
        </p:spPr>
      </p:pic>
      <p:grpSp>
        <p:nvGrpSpPr>
          <p:cNvPr id="21" name="Groupe 20"/>
          <p:cNvGrpSpPr/>
          <p:nvPr/>
        </p:nvGrpSpPr>
        <p:grpSpPr>
          <a:xfrm>
            <a:off x="7419849" y="4419110"/>
            <a:ext cx="1358576" cy="1645288"/>
            <a:chOff x="5824204" y="4511084"/>
            <a:chExt cx="1178556" cy="1430767"/>
          </a:xfrm>
        </p:grpSpPr>
        <p:cxnSp>
          <p:nvCxnSpPr>
            <p:cNvPr id="22" name="Connecteur droit 21"/>
            <p:cNvCxnSpPr/>
            <p:nvPr/>
          </p:nvCxnSpPr>
          <p:spPr>
            <a:xfrm flipH="1">
              <a:off x="5826588" y="4511084"/>
              <a:ext cx="566718" cy="5825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eur droit 22"/>
            <p:cNvCxnSpPr/>
            <p:nvPr/>
          </p:nvCxnSpPr>
          <p:spPr>
            <a:xfrm flipH="1">
              <a:off x="5834972" y="4545397"/>
              <a:ext cx="825621" cy="84861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eur droit 23"/>
            <p:cNvCxnSpPr/>
            <p:nvPr/>
          </p:nvCxnSpPr>
          <p:spPr>
            <a:xfrm flipH="1">
              <a:off x="5824204" y="4594436"/>
              <a:ext cx="1089350" cy="111968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eur droit 24"/>
            <p:cNvCxnSpPr/>
            <p:nvPr/>
          </p:nvCxnSpPr>
          <p:spPr>
            <a:xfrm flipH="1">
              <a:off x="5925806" y="4822164"/>
              <a:ext cx="1066862" cy="10965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Connecteur droit 25"/>
            <p:cNvCxnSpPr/>
            <p:nvPr/>
          </p:nvCxnSpPr>
          <p:spPr>
            <a:xfrm flipH="1">
              <a:off x="6228429" y="5120834"/>
              <a:ext cx="774331" cy="79589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Connecteur droit 26"/>
            <p:cNvCxnSpPr/>
            <p:nvPr/>
          </p:nvCxnSpPr>
          <p:spPr>
            <a:xfrm flipH="1">
              <a:off x="6504659" y="5443051"/>
              <a:ext cx="485285" cy="498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Connecteur droit 27"/>
            <p:cNvCxnSpPr/>
            <p:nvPr/>
          </p:nvCxnSpPr>
          <p:spPr>
            <a:xfrm flipH="1">
              <a:off x="6808907" y="5741373"/>
              <a:ext cx="191469" cy="1968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eur droit 28"/>
            <p:cNvCxnSpPr/>
            <p:nvPr/>
          </p:nvCxnSpPr>
          <p:spPr>
            <a:xfrm flipH="1">
              <a:off x="5834971" y="4511084"/>
              <a:ext cx="272176" cy="27975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0" name="Image 2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31344" y="1790044"/>
            <a:ext cx="3579576" cy="2330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310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cao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15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9" name="Content Placeholder 11"/>
          <p:cNvSpPr txBox="1">
            <a:spLocks/>
          </p:cNvSpPr>
          <p:nvPr/>
        </p:nvSpPr>
        <p:spPr>
          <a:xfrm>
            <a:off x="891540" y="1898018"/>
            <a:ext cx="4554908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bậc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:</a:t>
            </a:r>
          </a:p>
          <a:p>
            <a:pPr lvl="1" algn="just" fontAlgn="auto">
              <a:buFont typeface="Wingdings" panose="05000000000000000000" pitchFamily="2" charset="2"/>
              <a:buChar char="Ø"/>
            </a:pP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 </a:t>
            </a:r>
            <a:r>
              <a:rPr lang="en-US" dirty="0" err="1"/>
              <a:t>Sallen</a:t>
            </a:r>
            <a:r>
              <a:rPr lang="en-US" dirty="0"/>
              <a:t>-Key:</a:t>
            </a: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604" y="2703688"/>
            <a:ext cx="4240432" cy="3109649"/>
          </a:xfrm>
          <a:prstGeom prst="rect">
            <a:avLst/>
          </a:prstGeom>
        </p:spPr>
      </p:pic>
      <p:pic>
        <p:nvPicPr>
          <p:cNvPr id="29" name="Image 2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7585" y="4992735"/>
            <a:ext cx="2695575" cy="866775"/>
          </a:xfrm>
          <a:prstGeom prst="rect">
            <a:avLst/>
          </a:prstGeom>
        </p:spPr>
      </p:pic>
      <p:pic>
        <p:nvPicPr>
          <p:cNvPr id="31" name="Image 3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1286" y="2528900"/>
            <a:ext cx="3331368" cy="2705651"/>
          </a:xfrm>
          <a:prstGeom prst="rect">
            <a:avLst/>
          </a:prstGeom>
        </p:spPr>
      </p:pic>
      <p:grpSp>
        <p:nvGrpSpPr>
          <p:cNvPr id="32" name="Groupe 31"/>
          <p:cNvGrpSpPr/>
          <p:nvPr/>
        </p:nvGrpSpPr>
        <p:grpSpPr>
          <a:xfrm>
            <a:off x="7708065" y="3369861"/>
            <a:ext cx="1358576" cy="1645288"/>
            <a:chOff x="5824204" y="4511084"/>
            <a:chExt cx="1178556" cy="1430767"/>
          </a:xfrm>
        </p:grpSpPr>
        <p:cxnSp>
          <p:nvCxnSpPr>
            <p:cNvPr id="34" name="Connecteur droit 33"/>
            <p:cNvCxnSpPr/>
            <p:nvPr/>
          </p:nvCxnSpPr>
          <p:spPr>
            <a:xfrm flipH="1">
              <a:off x="5826588" y="4511084"/>
              <a:ext cx="566718" cy="5825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cteur droit 35"/>
            <p:cNvCxnSpPr/>
            <p:nvPr/>
          </p:nvCxnSpPr>
          <p:spPr>
            <a:xfrm flipH="1">
              <a:off x="5834972" y="4545397"/>
              <a:ext cx="825621" cy="84861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cteur droit 36"/>
            <p:cNvCxnSpPr/>
            <p:nvPr/>
          </p:nvCxnSpPr>
          <p:spPr>
            <a:xfrm flipH="1">
              <a:off x="5824204" y="4594436"/>
              <a:ext cx="1089350" cy="111968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necteur droit 39"/>
            <p:cNvCxnSpPr/>
            <p:nvPr/>
          </p:nvCxnSpPr>
          <p:spPr>
            <a:xfrm flipH="1">
              <a:off x="5925806" y="4822164"/>
              <a:ext cx="1066862" cy="1096572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Connecteur droit 43"/>
            <p:cNvCxnSpPr/>
            <p:nvPr/>
          </p:nvCxnSpPr>
          <p:spPr>
            <a:xfrm flipH="1">
              <a:off x="6228429" y="5120834"/>
              <a:ext cx="774331" cy="79589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Connecteur droit 45"/>
            <p:cNvCxnSpPr/>
            <p:nvPr/>
          </p:nvCxnSpPr>
          <p:spPr>
            <a:xfrm flipH="1">
              <a:off x="6504659" y="5443051"/>
              <a:ext cx="485285" cy="49880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Connecteur droit 57"/>
            <p:cNvCxnSpPr/>
            <p:nvPr/>
          </p:nvCxnSpPr>
          <p:spPr>
            <a:xfrm flipH="1">
              <a:off x="6808907" y="5741373"/>
              <a:ext cx="191469" cy="196801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Connecteur droit 58"/>
            <p:cNvCxnSpPr/>
            <p:nvPr/>
          </p:nvCxnSpPr>
          <p:spPr>
            <a:xfrm flipH="1">
              <a:off x="5834971" y="4511084"/>
              <a:ext cx="272176" cy="279755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0" name="Connecteur droit 9"/>
          <p:cNvCxnSpPr/>
          <p:nvPr/>
        </p:nvCxnSpPr>
        <p:spPr>
          <a:xfrm flipH="1">
            <a:off x="6888215" y="3499741"/>
            <a:ext cx="794512" cy="1549439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737033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cao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16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9" name="Content Placeholder 11"/>
          <p:cNvSpPr txBox="1">
            <a:spLocks/>
          </p:cNvSpPr>
          <p:nvPr/>
        </p:nvSpPr>
        <p:spPr>
          <a:xfrm>
            <a:off x="891540" y="1898018"/>
            <a:ext cx="4554908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 </a:t>
            </a: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giá</a:t>
            </a:r>
            <a:r>
              <a:rPr lang="en-US" dirty="0"/>
              <a:t> </a:t>
            </a:r>
            <a:r>
              <a:rPr lang="en-US" dirty="0" err="1"/>
              <a:t>trị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linh</a:t>
            </a:r>
            <a:r>
              <a:rPr lang="en-US" dirty="0"/>
              <a:t> </a:t>
            </a:r>
            <a:r>
              <a:rPr lang="en-US" dirty="0" err="1"/>
              <a:t>kiện</a:t>
            </a:r>
            <a:r>
              <a:rPr lang="en-US" dirty="0"/>
              <a:t> </a:t>
            </a:r>
            <a:r>
              <a:rPr lang="en-US" dirty="0" err="1"/>
              <a:t>trong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sao</a:t>
            </a:r>
            <a:r>
              <a:rPr lang="en-US" dirty="0"/>
              <a:t> </a:t>
            </a:r>
            <a:r>
              <a:rPr lang="en-US" dirty="0" err="1"/>
              <a:t>cho</a:t>
            </a:r>
            <a:r>
              <a:rPr lang="en-US" dirty="0"/>
              <a:t> </a:t>
            </a:r>
            <a:r>
              <a:rPr lang="en-US" dirty="0" err="1"/>
              <a:t>tần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cắt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20kHz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đáp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tần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Butterworth.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marL="0" indent="0" algn="just" fontAlgn="auto">
              <a:buNone/>
            </a:pPr>
            <a:endParaRPr lang="en-US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0606" y="3182525"/>
            <a:ext cx="4676775" cy="13716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1127575" y="4284371"/>
            <a:ext cx="4318873" cy="224749"/>
          </a:xfrm>
          <a:prstGeom prst="rect">
            <a:avLst/>
          </a:prstGeom>
          <a:noFill/>
          <a:ln w="317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3416" y="2595459"/>
            <a:ext cx="4104935" cy="2988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5678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cao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17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9" name="Content Placeholder 11"/>
          <p:cNvSpPr txBox="1">
            <a:spLocks/>
          </p:cNvSpPr>
          <p:nvPr/>
        </p:nvSpPr>
        <p:spPr>
          <a:xfrm>
            <a:off x="891540" y="1898018"/>
            <a:ext cx="8218604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bậc</a:t>
            </a:r>
            <a:r>
              <a:rPr lang="en-US" dirty="0"/>
              <a:t>: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đáp</a:t>
            </a:r>
            <a:r>
              <a:rPr lang="en-US" dirty="0"/>
              <a:t> </a:t>
            </a:r>
            <a:r>
              <a:rPr lang="en-US" dirty="0" err="1"/>
              <a:t>ứng</a:t>
            </a:r>
            <a:r>
              <a:rPr lang="en-US" dirty="0"/>
              <a:t> </a:t>
            </a:r>
            <a:r>
              <a:rPr lang="en-US" dirty="0" err="1"/>
              <a:t>tần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theo</a:t>
            </a:r>
            <a:r>
              <a:rPr lang="en-US" dirty="0"/>
              <a:t> Butterworth,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bên</a:t>
            </a:r>
            <a:r>
              <a:rPr lang="en-US" dirty="0"/>
              <a:t> </a:t>
            </a:r>
            <a:r>
              <a:rPr lang="en-US" dirty="0" err="1"/>
              <a:t>dưới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dốc</a:t>
            </a:r>
            <a:r>
              <a:rPr lang="en-US" dirty="0"/>
              <a:t> roll-off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bao</a:t>
            </a:r>
            <a:r>
              <a:rPr lang="en-US" dirty="0"/>
              <a:t> </a:t>
            </a:r>
            <a:r>
              <a:rPr lang="en-US" dirty="0" err="1"/>
              <a:t>nhiêu</a:t>
            </a:r>
            <a:r>
              <a:rPr lang="en-US" dirty="0"/>
              <a:t>?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232" y="3082965"/>
            <a:ext cx="8286750" cy="3181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88547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dải</a:t>
            </a:r>
            <a:r>
              <a:rPr lang="en-US" dirty="0"/>
              <a:t> </a:t>
            </a:r>
            <a:r>
              <a:rPr lang="en-US" dirty="0" err="1"/>
              <a:t>đơn</a:t>
            </a:r>
            <a:r>
              <a:rPr lang="en-US" dirty="0"/>
              <a:t> </a:t>
            </a:r>
            <a:r>
              <a:rPr lang="en-US" dirty="0" err="1"/>
              <a:t>giản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18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9" name="Content Placeholder 11"/>
          <p:cNvSpPr txBox="1">
            <a:spLocks/>
          </p:cNvSpPr>
          <p:nvPr/>
        </p:nvSpPr>
        <p:spPr>
          <a:xfrm>
            <a:off x="891540" y="1898018"/>
            <a:ext cx="8218604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dải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thể</a:t>
            </a:r>
            <a:r>
              <a:rPr lang="en-US" dirty="0"/>
              <a:t> </a:t>
            </a:r>
            <a:r>
              <a:rPr lang="en-US" dirty="0" err="1"/>
              <a:t>xem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kết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</a:t>
            </a:r>
            <a:r>
              <a:rPr lang="en-US" dirty="0" err="1"/>
              <a:t>giữa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thấp</a:t>
            </a:r>
            <a:r>
              <a:rPr lang="en-US" dirty="0"/>
              <a:t> </a:t>
            </a:r>
            <a:r>
              <a:rPr lang="en-US" dirty="0" err="1"/>
              <a:t>giao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.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Tần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cắt</a:t>
            </a:r>
            <a:r>
              <a:rPr lang="en-US" dirty="0"/>
              <a:t> </a:t>
            </a:r>
            <a:r>
              <a:rPr lang="en-US" dirty="0" err="1"/>
              <a:t>dưới</a:t>
            </a:r>
            <a:r>
              <a:rPr lang="en-US" dirty="0"/>
              <a:t> fc1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tần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cắt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cao</a:t>
            </a: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Tần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cắt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fc2 </a:t>
            </a:r>
            <a:r>
              <a:rPr lang="en-US" dirty="0" err="1"/>
              <a:t>chính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tần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cắt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thấp</a:t>
            </a:r>
            <a:endParaRPr lang="en-US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0" y="3814871"/>
            <a:ext cx="5657494" cy="2314429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7757" y="3713990"/>
            <a:ext cx="4355793" cy="2550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71951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br>
              <a:rPr lang="en-US" dirty="0"/>
            </a:b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dải</a:t>
            </a:r>
            <a:r>
              <a:rPr lang="en-US" dirty="0"/>
              <a:t> </a:t>
            </a:r>
            <a:r>
              <a:rPr lang="en-US" dirty="0" err="1"/>
              <a:t>đơn</a:t>
            </a:r>
            <a:r>
              <a:rPr lang="en-US" dirty="0"/>
              <a:t> </a:t>
            </a:r>
            <a:r>
              <a:rPr lang="en-US" dirty="0" err="1"/>
              <a:t>giản</a:t>
            </a:r>
            <a:endParaRPr lang="en-US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19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9" name="Content Placeholder 11"/>
          <p:cNvSpPr txBox="1">
            <a:spLocks/>
          </p:cNvSpPr>
          <p:nvPr/>
        </p:nvSpPr>
        <p:spPr>
          <a:xfrm>
            <a:off x="891540" y="1898018"/>
            <a:ext cx="8218604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endParaRPr lang="en-US" dirty="0"/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</a:p>
          <a:p>
            <a:pPr marL="0" indent="0" algn="just" fontAlgn="auto">
              <a:buNone/>
            </a:pPr>
            <a:endParaRPr lang="en-US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0" y="3814871"/>
            <a:ext cx="5657494" cy="2314429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47757" y="3713990"/>
            <a:ext cx="4355793" cy="2550325"/>
          </a:xfrm>
          <a:prstGeom prst="rect">
            <a:avLst/>
          </a:prstGeom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2600" y="1838243"/>
            <a:ext cx="2057400" cy="533400"/>
          </a:xfrm>
          <a:prstGeom prst="rect">
            <a:avLst/>
          </a:prstGeom>
        </p:spPr>
      </p:pic>
      <p:pic>
        <p:nvPicPr>
          <p:cNvPr id="10" name="Imag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9533" y="1808820"/>
            <a:ext cx="2549099" cy="743995"/>
          </a:xfrm>
          <a:prstGeom prst="rect">
            <a:avLst/>
          </a:prstGeom>
        </p:spPr>
      </p:pic>
      <p:pic>
        <p:nvPicPr>
          <p:cNvPr id="11" name="Image 10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52599" y="2780590"/>
            <a:ext cx="1348571" cy="400000"/>
          </a:xfrm>
          <a:prstGeom prst="rect">
            <a:avLst/>
          </a:prstGeom>
        </p:spPr>
      </p:pic>
      <p:sp>
        <p:nvSpPr>
          <p:cNvPr id="13" name="ZoneTexte 12"/>
          <p:cNvSpPr txBox="1"/>
          <p:nvPr/>
        </p:nvSpPr>
        <p:spPr>
          <a:xfrm>
            <a:off x="4968088" y="2875993"/>
            <a:ext cx="13837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>
                <a:solidFill>
                  <a:schemeClr val="tx1">
                    <a:lumMod val="75000"/>
                    <a:lumOff val="25000"/>
                  </a:schemeClr>
                </a:solidFill>
                <a:latin typeface="Cambria Math" panose="02040503050406030204" pitchFamily="18" charset="0"/>
                <a:ea typeface="Cambria Math" panose="02040503050406030204" pitchFamily="18" charset="0"/>
                <a:cs typeface="Arial" panose="020B0604020202020204" pitchFamily="34" charset="0"/>
              </a:rPr>
              <a:t>BW=fc2-fc1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ZoneTexte 13"/>
              <p:cNvSpPr txBox="1"/>
              <p:nvPr/>
            </p:nvSpPr>
            <p:spPr>
              <a:xfrm>
                <a:off x="7014451" y="2791450"/>
                <a:ext cx="800667" cy="53841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cs typeface="Arial" panose="020B0604020202020204" pitchFamily="34" charset="0"/>
                  </a:rPr>
                  <a:t>Q=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sz="200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</m:ctrlPr>
                          </m:sSubPr>
                          <m:e>
                            <m:r>
                              <a:rPr lang="en-US" sz="20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sz="2000" b="0" i="1" smtClean="0">
                                <a:solidFill>
                                  <a:schemeClr val="tx1">
                                    <a:lumMod val="75000"/>
                                    <a:lumOff val="25000"/>
                                  </a:schemeClr>
                                </a:solidFill>
                                <a:latin typeface="Cambria Math" panose="02040503050406030204" pitchFamily="18" charset="0"/>
                                <a:cs typeface="Arial" panose="020B0604020202020204" pitchFamily="34" charset="0"/>
                              </a:rPr>
                              <m:t>0</m:t>
                            </m:r>
                          </m:sub>
                        </m:sSub>
                      </m:num>
                      <m:den>
                        <m:r>
                          <a:rPr lang="en-US" sz="2000" b="0" i="1" smtClean="0">
                            <a:solidFill>
                              <a:schemeClr val="tx1">
                                <a:lumMod val="75000"/>
                                <a:lumOff val="25000"/>
                              </a:schemeClr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  <m:t>𝐵𝑊</m:t>
                        </m:r>
                      </m:den>
                    </m:f>
                  </m:oMath>
                </a14:m>
                <a:endParaRPr lang="en-US" sz="20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4" name="ZoneTexte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14451" y="2791450"/>
                <a:ext cx="800667" cy="538417"/>
              </a:xfrm>
              <a:prstGeom prst="rect">
                <a:avLst/>
              </a:prstGeom>
              <a:blipFill rotWithShape="0">
                <a:blip r:embed="rId7"/>
                <a:stretch>
                  <a:fillRect l="-8397" b="-79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185475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hồi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dải</a:t>
            </a:r>
            <a:br>
              <a:rPr lang="en-US" dirty="0"/>
            </a:br>
            <a:r>
              <a:rPr lang="en-US" dirty="0"/>
              <a:t>(multiple-feedback filter)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20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9" name="Content Placeholder 11"/>
          <p:cNvSpPr txBox="1">
            <a:spLocks/>
          </p:cNvSpPr>
          <p:nvPr/>
        </p:nvSpPr>
        <p:spPr>
          <a:xfrm>
            <a:off x="891540" y="1898018"/>
            <a:ext cx="4016456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sử</a:t>
            </a:r>
            <a:r>
              <a:rPr lang="en-US" dirty="0"/>
              <a:t> </a:t>
            </a:r>
            <a:r>
              <a:rPr lang="en-US" dirty="0" err="1"/>
              <a:t>dụng</a:t>
            </a:r>
            <a:r>
              <a:rPr lang="en-US" dirty="0"/>
              <a:t> 2 </a:t>
            </a:r>
            <a:r>
              <a:rPr lang="en-US" dirty="0" err="1"/>
              <a:t>đường</a:t>
            </a:r>
            <a:r>
              <a:rPr lang="en-US" dirty="0"/>
              <a:t> </a:t>
            </a:r>
            <a:r>
              <a:rPr lang="en-US" dirty="0" err="1"/>
              <a:t>hồi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nhau</a:t>
            </a:r>
            <a:r>
              <a:rPr lang="en-US" dirty="0"/>
              <a:t>,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đường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qua C</a:t>
            </a:r>
            <a:r>
              <a:rPr lang="en-US" baseline="-25000" dirty="0"/>
              <a:t>1</a:t>
            </a:r>
            <a:r>
              <a:rPr lang="en-US" dirty="0"/>
              <a:t>,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đường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qua R</a:t>
            </a:r>
            <a:r>
              <a:rPr lang="en-US" baseline="-25000" dirty="0"/>
              <a:t>2</a:t>
            </a:r>
            <a:r>
              <a:rPr lang="en-US" dirty="0"/>
              <a:t>.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Tổ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R</a:t>
            </a:r>
            <a:r>
              <a:rPr lang="en-US" baseline="-25000" dirty="0"/>
              <a:t>1</a:t>
            </a:r>
            <a:r>
              <a:rPr lang="en-US" dirty="0"/>
              <a:t>C</a:t>
            </a:r>
            <a:r>
              <a:rPr lang="en-US" baseline="-25000" dirty="0"/>
              <a:t>1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thấp</a:t>
            </a:r>
            <a:r>
              <a:rPr lang="en-US" dirty="0"/>
              <a:t>.</a:t>
            </a:r>
          </a:p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Tổ</a:t>
            </a:r>
            <a:r>
              <a:rPr lang="en-US" dirty="0"/>
              <a:t> </a:t>
            </a:r>
            <a:r>
              <a:rPr lang="en-US" dirty="0" err="1"/>
              <a:t>hợp</a:t>
            </a:r>
            <a:r>
              <a:rPr lang="en-US" dirty="0"/>
              <a:t> R</a:t>
            </a:r>
            <a:r>
              <a:rPr lang="en-US" baseline="-25000" dirty="0"/>
              <a:t>2</a:t>
            </a:r>
            <a:r>
              <a:rPr lang="en-US" dirty="0"/>
              <a:t>C</a:t>
            </a:r>
            <a:r>
              <a:rPr lang="en-US" baseline="-25000" dirty="0"/>
              <a:t>2</a:t>
            </a:r>
            <a:r>
              <a:rPr lang="en-US" dirty="0"/>
              <a:t> </a:t>
            </a:r>
            <a:r>
              <a:rPr lang="en-US" dirty="0" err="1"/>
              <a:t>hoạt</a:t>
            </a:r>
            <a:r>
              <a:rPr lang="en-US" dirty="0"/>
              <a:t> </a:t>
            </a:r>
            <a:r>
              <a:rPr lang="en-US" dirty="0" err="1"/>
              <a:t>động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.</a:t>
            </a:r>
          </a:p>
          <a:p>
            <a:pPr marL="0" indent="0" algn="just" fontAlgn="auto">
              <a:buNone/>
            </a:pPr>
            <a:endParaRPr lang="en-US" dirty="0"/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6735" y="1898018"/>
            <a:ext cx="5076825" cy="3476625"/>
          </a:xfrm>
          <a:prstGeom prst="rect">
            <a:avLst/>
          </a:prstGeom>
        </p:spPr>
      </p:pic>
      <p:grpSp>
        <p:nvGrpSpPr>
          <p:cNvPr id="27" name="Groupe 26"/>
          <p:cNvGrpSpPr/>
          <p:nvPr/>
        </p:nvGrpSpPr>
        <p:grpSpPr>
          <a:xfrm>
            <a:off x="5643302" y="1898018"/>
            <a:ext cx="3525925" cy="2070636"/>
            <a:chOff x="5538065" y="1898018"/>
            <a:chExt cx="3525925" cy="2070636"/>
          </a:xfrm>
        </p:grpSpPr>
        <p:cxnSp>
          <p:nvCxnSpPr>
            <p:cNvPr id="15" name="Connecteur droit 14"/>
            <p:cNvCxnSpPr/>
            <p:nvPr/>
          </p:nvCxnSpPr>
          <p:spPr>
            <a:xfrm flipH="1">
              <a:off x="6438166" y="2663915"/>
              <a:ext cx="2625824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Connecteur droit 16"/>
            <p:cNvCxnSpPr/>
            <p:nvPr/>
          </p:nvCxnSpPr>
          <p:spPr>
            <a:xfrm>
              <a:off x="6438165" y="2663915"/>
              <a:ext cx="0" cy="1304739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Connecteur droit 18"/>
            <p:cNvCxnSpPr/>
            <p:nvPr/>
          </p:nvCxnSpPr>
          <p:spPr>
            <a:xfrm flipH="1">
              <a:off x="5538065" y="3968654"/>
              <a:ext cx="900100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Connecteur droit 20"/>
            <p:cNvCxnSpPr/>
            <p:nvPr/>
          </p:nvCxnSpPr>
          <p:spPr>
            <a:xfrm flipV="1">
              <a:off x="5538065" y="1898018"/>
              <a:ext cx="0" cy="2070636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Connecteur droit 22"/>
            <p:cNvCxnSpPr/>
            <p:nvPr/>
          </p:nvCxnSpPr>
          <p:spPr>
            <a:xfrm>
              <a:off x="5538065" y="1898018"/>
              <a:ext cx="3525925" cy="0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Connecteur droit 24"/>
            <p:cNvCxnSpPr/>
            <p:nvPr/>
          </p:nvCxnSpPr>
          <p:spPr>
            <a:xfrm>
              <a:off x="9063990" y="1898018"/>
              <a:ext cx="0" cy="765897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0" name="Groupe 39"/>
          <p:cNvGrpSpPr/>
          <p:nvPr/>
        </p:nvGrpSpPr>
        <p:grpSpPr>
          <a:xfrm>
            <a:off x="6633412" y="2753925"/>
            <a:ext cx="2581969" cy="1214729"/>
            <a:chOff x="6528175" y="2753925"/>
            <a:chExt cx="2581969" cy="1214729"/>
          </a:xfrm>
        </p:grpSpPr>
        <p:cxnSp>
          <p:nvCxnSpPr>
            <p:cNvPr id="29" name="Connecteur droit 28"/>
            <p:cNvCxnSpPr/>
            <p:nvPr/>
          </p:nvCxnSpPr>
          <p:spPr>
            <a:xfrm flipH="1">
              <a:off x="6528175" y="2753925"/>
              <a:ext cx="2581969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eur droit 30"/>
            <p:cNvCxnSpPr/>
            <p:nvPr/>
          </p:nvCxnSpPr>
          <p:spPr>
            <a:xfrm>
              <a:off x="6528175" y="2753925"/>
              <a:ext cx="0" cy="1214729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eur droit 32"/>
            <p:cNvCxnSpPr/>
            <p:nvPr/>
          </p:nvCxnSpPr>
          <p:spPr>
            <a:xfrm>
              <a:off x="6528175" y="3968654"/>
              <a:ext cx="63007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cteur droit 34"/>
            <p:cNvCxnSpPr/>
            <p:nvPr/>
          </p:nvCxnSpPr>
          <p:spPr>
            <a:xfrm flipV="1">
              <a:off x="7158245" y="3361289"/>
              <a:ext cx="0" cy="607365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Connecteur droit 36"/>
            <p:cNvCxnSpPr/>
            <p:nvPr/>
          </p:nvCxnSpPr>
          <p:spPr>
            <a:xfrm>
              <a:off x="7158245" y="3316284"/>
              <a:ext cx="1951899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Connecteur droit 38"/>
            <p:cNvCxnSpPr/>
            <p:nvPr/>
          </p:nvCxnSpPr>
          <p:spPr>
            <a:xfrm>
              <a:off x="9110144" y="2753925"/>
              <a:ext cx="0" cy="562359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42" name="Image 4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0967" y="4464114"/>
            <a:ext cx="2036827" cy="594075"/>
          </a:xfrm>
          <a:prstGeom prst="rect">
            <a:avLst/>
          </a:prstGeom>
        </p:spPr>
      </p:pic>
      <p:pic>
        <p:nvPicPr>
          <p:cNvPr id="44" name="Image 4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0754" y="5181505"/>
            <a:ext cx="1261955" cy="326005"/>
          </a:xfrm>
          <a:prstGeom prst="rect">
            <a:avLst/>
          </a:prstGeom>
        </p:spPr>
      </p:pic>
      <p:pic>
        <p:nvPicPr>
          <p:cNvPr id="45" name="Image 4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0967" y="5538973"/>
            <a:ext cx="1181733" cy="628128"/>
          </a:xfrm>
          <a:prstGeom prst="rect">
            <a:avLst/>
          </a:prstGeom>
        </p:spPr>
      </p:pic>
      <p:sp>
        <p:nvSpPr>
          <p:cNvPr id="46" name="ZoneTexte 45"/>
          <p:cNvSpPr txBox="1"/>
          <p:nvPr/>
        </p:nvSpPr>
        <p:spPr>
          <a:xfrm>
            <a:off x="3366717" y="4542306"/>
            <a:ext cx="22765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Tần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trung</a:t>
            </a:r>
            <a:r>
              <a:rPr lang="en-US" dirty="0"/>
              <a:t> </a:t>
            </a:r>
            <a:r>
              <a:rPr lang="en-US" dirty="0" err="1"/>
              <a:t>tâm</a:t>
            </a:r>
            <a:endParaRPr lang="en-US" dirty="0"/>
          </a:p>
        </p:txBody>
      </p:sp>
      <p:sp>
        <p:nvSpPr>
          <p:cNvPr id="47" name="ZoneTexte 46"/>
          <p:cNvSpPr txBox="1"/>
          <p:nvPr/>
        </p:nvSpPr>
        <p:spPr>
          <a:xfrm>
            <a:off x="2432127" y="5106880"/>
            <a:ext cx="16882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lọc</a:t>
            </a:r>
            <a:endParaRPr lang="en-US" dirty="0"/>
          </a:p>
        </p:txBody>
      </p:sp>
      <p:sp>
        <p:nvSpPr>
          <p:cNvPr id="48" name="ZoneTexte 47"/>
          <p:cNvSpPr txBox="1"/>
          <p:nvPr/>
        </p:nvSpPr>
        <p:spPr>
          <a:xfrm>
            <a:off x="2432127" y="5573085"/>
            <a:ext cx="34211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lợi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tần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trung</a:t>
            </a:r>
            <a:r>
              <a:rPr lang="en-US" dirty="0"/>
              <a:t> </a:t>
            </a:r>
            <a:r>
              <a:rPr lang="en-US" dirty="0" err="1"/>
              <a:t>tâm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76785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hồi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dải</a:t>
            </a:r>
            <a:br>
              <a:rPr lang="en-US" dirty="0"/>
            </a:br>
            <a:r>
              <a:rPr lang="en-US" dirty="0"/>
              <a:t>(multiple-feedback filter)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21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9" name="Content Placeholder 11"/>
          <p:cNvSpPr txBox="1">
            <a:spLocks/>
          </p:cNvSpPr>
          <p:nvPr/>
        </p:nvSpPr>
        <p:spPr>
          <a:xfrm>
            <a:off x="891540" y="1898018"/>
            <a:ext cx="4016456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Ví</a:t>
            </a:r>
            <a:r>
              <a:rPr lang="en-US" dirty="0"/>
              <a:t> </a:t>
            </a:r>
            <a:r>
              <a:rPr lang="en-US" dirty="0" err="1"/>
              <a:t>dụ</a:t>
            </a:r>
            <a:r>
              <a:rPr lang="en-US" dirty="0"/>
              <a:t>: </a:t>
            </a:r>
            <a:r>
              <a:rPr lang="en-US" dirty="0" err="1"/>
              <a:t>Tính</a:t>
            </a:r>
            <a:r>
              <a:rPr lang="en-US" dirty="0"/>
              <a:t> </a:t>
            </a:r>
            <a:r>
              <a:rPr lang="en-US" dirty="0" err="1"/>
              <a:t>tần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trung</a:t>
            </a:r>
            <a:r>
              <a:rPr lang="en-US" dirty="0"/>
              <a:t> </a:t>
            </a:r>
            <a:r>
              <a:rPr lang="en-US" dirty="0" err="1"/>
              <a:t>tâm</a:t>
            </a:r>
            <a:r>
              <a:rPr lang="en-US" dirty="0"/>
              <a:t>,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lợi</a:t>
            </a:r>
            <a:r>
              <a:rPr lang="en-US" dirty="0"/>
              <a:t> </a:t>
            </a:r>
            <a:r>
              <a:rPr lang="en-US" dirty="0" err="1"/>
              <a:t>tín</a:t>
            </a:r>
            <a:r>
              <a:rPr lang="en-US" dirty="0"/>
              <a:t> </a:t>
            </a:r>
            <a:r>
              <a:rPr lang="en-US" dirty="0" err="1"/>
              <a:t>hiệu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tần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trung</a:t>
            </a:r>
            <a:r>
              <a:rPr lang="en-US" dirty="0"/>
              <a:t> </a:t>
            </a:r>
            <a:r>
              <a:rPr lang="en-US" dirty="0" err="1"/>
              <a:t>tâm</a:t>
            </a:r>
            <a:r>
              <a:rPr lang="en-US" dirty="0"/>
              <a:t>,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và</a:t>
            </a:r>
            <a:r>
              <a:rPr lang="en-US" dirty="0"/>
              <a:t> </a:t>
            </a:r>
            <a:r>
              <a:rPr lang="en-US" dirty="0" err="1"/>
              <a:t>băng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</a:t>
            </a:r>
            <a:r>
              <a:rPr lang="en-US" dirty="0" err="1"/>
              <a:t>của</a:t>
            </a: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bên</a:t>
            </a:r>
            <a:r>
              <a:rPr lang="en-US" dirty="0"/>
              <a:t>.</a:t>
            </a:r>
          </a:p>
          <a:p>
            <a:pPr marL="0" indent="0" algn="just" fontAlgn="auto">
              <a:buNone/>
            </a:pPr>
            <a:endParaRPr lang="en-US" dirty="0"/>
          </a:p>
        </p:txBody>
      </p:sp>
      <p:pic>
        <p:nvPicPr>
          <p:cNvPr id="42" name="Image 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0967" y="4464114"/>
            <a:ext cx="2036827" cy="594075"/>
          </a:xfrm>
          <a:prstGeom prst="rect">
            <a:avLst/>
          </a:prstGeom>
        </p:spPr>
      </p:pic>
      <p:pic>
        <p:nvPicPr>
          <p:cNvPr id="44" name="Image 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754" y="5181505"/>
            <a:ext cx="1261955" cy="326005"/>
          </a:xfrm>
          <a:prstGeom prst="rect">
            <a:avLst/>
          </a:prstGeom>
        </p:spPr>
      </p:pic>
      <p:pic>
        <p:nvPicPr>
          <p:cNvPr id="45" name="Image 4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0967" y="5538973"/>
            <a:ext cx="1181733" cy="628128"/>
          </a:xfrm>
          <a:prstGeom prst="rect">
            <a:avLst/>
          </a:prstGeom>
        </p:spPr>
      </p:pic>
      <p:sp>
        <p:nvSpPr>
          <p:cNvPr id="47" name="ZoneTexte 46"/>
          <p:cNvSpPr txBox="1"/>
          <p:nvPr/>
        </p:nvSpPr>
        <p:spPr>
          <a:xfrm>
            <a:off x="2432127" y="5106880"/>
            <a:ext cx="168828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chọn</a:t>
            </a:r>
            <a:r>
              <a:rPr lang="en-US" dirty="0"/>
              <a:t> </a:t>
            </a:r>
            <a:r>
              <a:rPr lang="en-US" dirty="0" err="1"/>
              <a:t>lọc</a:t>
            </a:r>
            <a:endParaRPr lang="en-US" dirty="0"/>
          </a:p>
        </p:txBody>
      </p:sp>
      <p:sp>
        <p:nvSpPr>
          <p:cNvPr id="48" name="ZoneTexte 47"/>
          <p:cNvSpPr txBox="1"/>
          <p:nvPr/>
        </p:nvSpPr>
        <p:spPr>
          <a:xfrm>
            <a:off x="2432127" y="5573085"/>
            <a:ext cx="34211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lợi</a:t>
            </a:r>
            <a:r>
              <a:rPr lang="en-US" dirty="0"/>
              <a:t> </a:t>
            </a:r>
            <a:r>
              <a:rPr lang="en-US" dirty="0" err="1"/>
              <a:t>tại</a:t>
            </a:r>
            <a:r>
              <a:rPr lang="en-US" dirty="0"/>
              <a:t> </a:t>
            </a:r>
            <a:r>
              <a:rPr lang="en-US" dirty="0" err="1"/>
              <a:t>tần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trung</a:t>
            </a:r>
            <a:r>
              <a:rPr lang="en-US" dirty="0"/>
              <a:t> </a:t>
            </a:r>
            <a:r>
              <a:rPr lang="en-US" dirty="0" err="1"/>
              <a:t>tâm</a:t>
            </a:r>
            <a:endParaRPr lang="en-US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8045" y="1763815"/>
            <a:ext cx="4318166" cy="2907710"/>
          </a:xfrm>
          <a:prstGeom prst="rect">
            <a:avLst/>
          </a:prstGeom>
        </p:spPr>
      </p:pic>
      <p:sp>
        <p:nvSpPr>
          <p:cNvPr id="28" name="ZoneTexte 27"/>
          <p:cNvSpPr txBox="1"/>
          <p:nvPr/>
        </p:nvSpPr>
        <p:spPr>
          <a:xfrm>
            <a:off x="3366717" y="4542306"/>
            <a:ext cx="22765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Tần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trung</a:t>
            </a:r>
            <a:r>
              <a:rPr lang="en-US" dirty="0"/>
              <a:t> </a:t>
            </a:r>
            <a:r>
              <a:rPr lang="en-US" dirty="0" err="1"/>
              <a:t>tâm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32642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đa</a:t>
            </a:r>
            <a:r>
              <a:rPr lang="en-US" dirty="0"/>
              <a:t> </a:t>
            </a:r>
            <a:r>
              <a:rPr lang="en-US" dirty="0" err="1"/>
              <a:t>hồi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 </a:t>
            </a:r>
            <a:r>
              <a:rPr lang="en-US" dirty="0" err="1"/>
              <a:t>triệt</a:t>
            </a:r>
            <a:r>
              <a:rPr lang="en-US" dirty="0"/>
              <a:t> </a:t>
            </a:r>
            <a:r>
              <a:rPr lang="en-US" dirty="0" err="1"/>
              <a:t>thông</a:t>
            </a:r>
            <a:br>
              <a:rPr lang="en-US" dirty="0"/>
            </a:br>
            <a:r>
              <a:rPr lang="en-US" dirty="0"/>
              <a:t>(multiple-feedback filter)</a:t>
            </a:r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FA1187-AABD-43BF-AA5A-EFAB2BE4579F}" type="slidenum">
              <a:rPr lang="sv-SE" smtClean="0"/>
              <a:pPr/>
              <a:t>22</a:t>
            </a:fld>
            <a:endParaRPr lang="sv-SE" sz="1400">
              <a:latin typeface="Times" pitchFamily="1" charset="0"/>
            </a:endParaRPr>
          </a:p>
        </p:txBody>
      </p:sp>
      <p:sp>
        <p:nvSpPr>
          <p:cNvPr id="9" name="Content Placeholder 11"/>
          <p:cNvSpPr txBox="1">
            <a:spLocks/>
          </p:cNvSpPr>
          <p:nvPr/>
        </p:nvSpPr>
        <p:spPr>
          <a:xfrm>
            <a:off x="891540" y="1898018"/>
            <a:ext cx="4016456" cy="4141272"/>
          </a:xfrm>
          <a:prstGeom prst="rect">
            <a:avLst/>
          </a:prstGeom>
        </p:spPr>
        <p:txBody>
          <a:bodyPr vert="horz" lIns="0" tIns="45720" rIns="0" bIns="45720" rtlCol="0">
            <a:noAutofit/>
          </a:bodyPr>
          <a:lstStyle>
            <a:lvl1pPr marL="91440" indent="-91440" algn="l" defTabSz="914400" rtl="0" eaLnBrk="1" latinLnBrk="0" hangingPunct="1">
              <a:lnSpc>
                <a:spcPct val="9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fontAlgn="auto">
              <a:buFont typeface="Wingdings" panose="05000000000000000000" pitchFamily="2" charset="2"/>
              <a:buChar char="Ø"/>
            </a:pPr>
            <a:r>
              <a:rPr lang="en-US" dirty="0"/>
              <a:t> </a:t>
            </a:r>
            <a:r>
              <a:rPr lang="en-US" dirty="0" err="1"/>
              <a:t>Mạch</a:t>
            </a:r>
            <a:r>
              <a:rPr lang="en-US" dirty="0"/>
              <a:t> </a:t>
            </a:r>
            <a:r>
              <a:rPr lang="en-US" dirty="0" err="1"/>
              <a:t>lọc</a:t>
            </a:r>
            <a:r>
              <a:rPr lang="en-US" dirty="0"/>
              <a:t> </a:t>
            </a:r>
            <a:r>
              <a:rPr lang="en-US" dirty="0" err="1"/>
              <a:t>tích</a:t>
            </a:r>
            <a:r>
              <a:rPr lang="en-US" dirty="0"/>
              <a:t> </a:t>
            </a:r>
            <a:r>
              <a:rPr lang="en-US" dirty="0" err="1"/>
              <a:t>cực</a:t>
            </a:r>
            <a:r>
              <a:rPr lang="en-US" dirty="0"/>
              <a:t> </a:t>
            </a:r>
            <a:r>
              <a:rPr lang="en-US" dirty="0" err="1"/>
              <a:t>triệt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.</a:t>
            </a:r>
          </a:p>
          <a:p>
            <a:pPr marL="0" indent="0" algn="just" fontAlgn="auto">
              <a:buNone/>
            </a:pPr>
            <a:endParaRPr lang="en-US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7445" y="2393884"/>
            <a:ext cx="5760640" cy="3875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1426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sv-SE"/>
              <a:t>Trịnh Lê Huy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B5ABAE-A3C1-4AF6-9B4A-B8A593CBFB77}" type="slidenum">
              <a:rPr lang="sv-SE" smtClean="0"/>
              <a:pPr/>
              <a:t>23</a:t>
            </a:fld>
            <a:endParaRPr lang="sv-SE" sz="1400">
              <a:latin typeface="Times" pitchFamily="1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902958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70602</TotalTime>
  <Words>1433</Words>
  <Application>Microsoft Office PowerPoint</Application>
  <PresentationFormat>A4 Paper (210x297 mm)</PresentationFormat>
  <Paragraphs>162</Paragraphs>
  <Slides>23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0" baseType="lpstr">
      <vt:lpstr>Calibri</vt:lpstr>
      <vt:lpstr>Calibri Light</vt:lpstr>
      <vt:lpstr>Cambria Math</vt:lpstr>
      <vt:lpstr>Times</vt:lpstr>
      <vt:lpstr>Times New Roman</vt:lpstr>
      <vt:lpstr>Wingdings</vt:lpstr>
      <vt:lpstr>Retrospect</vt:lpstr>
      <vt:lpstr>Chương 11</vt:lpstr>
      <vt:lpstr>Mục tiêu</vt:lpstr>
      <vt:lpstr>Khái niệm mạch lọc tích cực</vt:lpstr>
      <vt:lpstr>Đáp ứng tần số của mạch lọc tích cực</vt:lpstr>
      <vt:lpstr>Đáp ứng tần số của mạch lọc tích cực</vt:lpstr>
      <vt:lpstr>Tần số cắt và độ dốc roll-off</vt:lpstr>
      <vt:lpstr>Tần số cắt và độ dốc roll-off</vt:lpstr>
      <vt:lpstr>Mạch lọc tích cực thông thấp</vt:lpstr>
      <vt:lpstr>Mạch lọc tích cực thông thấp</vt:lpstr>
      <vt:lpstr>Mạch lọc tích cực thông thấp</vt:lpstr>
      <vt:lpstr>Mạch lọc tích cực thông thấp</vt:lpstr>
      <vt:lpstr>Mạch lọc tích cực thông thấp</vt:lpstr>
      <vt:lpstr>Mạch lọc tích cực thông thấp</vt:lpstr>
      <vt:lpstr>Mạch lọc tích cực thông cao</vt:lpstr>
      <vt:lpstr>Mạch lọc tích cực thông cao</vt:lpstr>
      <vt:lpstr>Mạch lọc tích cực thông cao</vt:lpstr>
      <vt:lpstr>Mạch lọc tích cực thông cao</vt:lpstr>
      <vt:lpstr>Mạch lọc tích cực  thông dải đơn giản</vt:lpstr>
      <vt:lpstr>Mạch lọc tích cực  thông dải đơn giản</vt:lpstr>
      <vt:lpstr>Mạch lọc đa hồi tiếp thông dải (multiple-feedback filter)</vt:lpstr>
      <vt:lpstr>Mạch lọc đa hồi tiếp thông dải (multiple-feedback filter)</vt:lpstr>
      <vt:lpstr>Mạch lọc đa hồi tiếp triệt thông (multiple-feedback filter)</vt:lpstr>
      <vt:lpstr>Thank you!</vt:lpstr>
    </vt:vector>
  </TitlesOfParts>
  <Company>Mid Sweden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PowerPoint-presentation</dc:title>
  <dc:creator>Kent Bertilsson</dc:creator>
  <cp:lastModifiedBy>huytl</cp:lastModifiedBy>
  <cp:revision>1125</cp:revision>
  <cp:lastPrinted>2004-10-20T11:26:57Z</cp:lastPrinted>
  <dcterms:created xsi:type="dcterms:W3CDTF">2005-06-07T08:25:50Z</dcterms:created>
  <dcterms:modified xsi:type="dcterms:W3CDTF">2018-12-17T13:46:45Z</dcterms:modified>
</cp:coreProperties>
</file>