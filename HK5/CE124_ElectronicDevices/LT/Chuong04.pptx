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75" r:id="rId1"/>
  </p:sldMasterIdLst>
  <p:notesMasterIdLst>
    <p:notesMasterId r:id="rId19"/>
  </p:notesMasterIdLst>
  <p:handoutMasterIdLst>
    <p:handoutMasterId r:id="rId20"/>
  </p:handoutMasterIdLst>
  <p:sldIdLst>
    <p:sldId id="390" r:id="rId2"/>
    <p:sldId id="345" r:id="rId3"/>
    <p:sldId id="376" r:id="rId4"/>
    <p:sldId id="383" r:id="rId5"/>
    <p:sldId id="384" r:id="rId6"/>
    <p:sldId id="385" r:id="rId7"/>
    <p:sldId id="387" r:id="rId8"/>
    <p:sldId id="388" r:id="rId9"/>
    <p:sldId id="386" r:id="rId10"/>
    <p:sldId id="382" r:id="rId11"/>
    <p:sldId id="378" r:id="rId12"/>
    <p:sldId id="380" r:id="rId13"/>
    <p:sldId id="381" r:id="rId14"/>
    <p:sldId id="377" r:id="rId15"/>
    <p:sldId id="379" r:id="rId16"/>
    <p:sldId id="372" r:id="rId17"/>
    <p:sldId id="389" r:id="rId18"/>
  </p:sldIdLst>
  <p:sldSz cx="9906000" cy="6858000" type="A4"/>
  <p:notesSz cx="6858000" cy="9144000"/>
  <p:defaultTextStyle>
    <a:defPPr>
      <a:defRPr lang="sv-SE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4F0"/>
    <a:srgbClr val="FFFF99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0211" autoAdjust="0"/>
  </p:normalViewPr>
  <p:slideViewPr>
    <p:cSldViewPr snapToObjects="1">
      <p:cViewPr varScale="1">
        <p:scale>
          <a:sx n="69" d="100"/>
          <a:sy n="69" d="100"/>
        </p:scale>
        <p:origin x="1723" y="5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8" d="100"/>
          <a:sy n="88" d="100"/>
        </p:scale>
        <p:origin x="3822" y="66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AC2784-202A-43B4-8BBE-F1C2E4013BCD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4149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3A6057-268F-4F30-9FDB-4F3BD4328747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523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A6057-268F-4F30-9FDB-4F3BD4328747}" type="slidenum">
              <a:rPr lang="sv-SE" smtClean="0"/>
              <a:pPr/>
              <a:t>13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71399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A6057-268F-4F30-9FDB-4F3BD4328747}" type="slidenum">
              <a:rPr lang="sv-SE" smtClean="0"/>
              <a:pPr/>
              <a:t>17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11253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758952"/>
            <a:ext cx="817245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3791" y="4455621"/>
            <a:ext cx="817245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CE6A-4F36-49F2-9B13-8DEAF960F767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6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5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758952"/>
            <a:ext cx="817245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4453128"/>
            <a:ext cx="817245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03C9-52B0-430A-AEB2-F6AD00D0027A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16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540" y="1845734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2060" y="1845735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9FBD9-45E0-447C-8C83-56BDF85B5FD9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6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4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206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206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9C9A-188C-42DE-97CB-2E31ACB1EA45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952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5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14CD8-DB15-496A-A859-82D24A1AF52A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75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291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282557" y="0"/>
            <a:ext cx="52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94359"/>
            <a:ext cx="2600325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488" y="731520"/>
            <a:ext cx="5274945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2926080"/>
            <a:ext cx="2600325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0487" y="6459787"/>
            <a:ext cx="3776663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D136CB-44A3-4A56-9571-5AC9E7D220FF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0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9034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5074920"/>
            <a:ext cx="8217337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9905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1540" y="5907024"/>
            <a:ext cx="822198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B1C77-4CB1-498D-9F07-B554D165B420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9B1D-FDCB-443F-93C0-5F97D675AD51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70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412302"/>
            <a:ext cx="2135981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412302"/>
            <a:ext cx="6284119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071D-A73F-4BA5-9F02-094D29CF2789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19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906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9906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39" y="1845734"/>
            <a:ext cx="817245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6F0065D-453A-49D6-B09C-0939AFFF0617}" type="slidenum">
              <a:rPr lang="sv-SE" smtClean="0"/>
              <a:pPr/>
              <a:t>‹#›</a:t>
            </a:fld>
            <a:endParaRPr lang="sv-SE" sz="1400"/>
          </a:p>
        </p:txBody>
      </p:sp>
      <p:cxnSp>
        <p:nvCxnSpPr>
          <p:cNvPr id="10" name="Straight Connector 9"/>
          <p:cNvCxnSpPr/>
          <p:nvPr/>
        </p:nvCxnSpPr>
        <p:spPr>
          <a:xfrm>
            <a:off x="969745" y="1737845"/>
            <a:ext cx="809815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4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jpe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8.png"/><Relationship Id="rId7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7A586-1659-4A5A-99D4-A25E93F40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15’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B8470-4195-4EA7-B787-7A4FC6746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53B76-CFAD-4ACA-8970-BDB2C7083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5" name="ZoneTexte 8">
            <a:extLst>
              <a:ext uri="{FF2B5EF4-FFF2-40B4-BE49-F238E27FC236}">
                <a16:creationId xmlns:a16="http://schemas.microsoft.com/office/drawing/2014/main" id="{2FABCD9E-B011-4D9A-8DDD-BF414577BC26}"/>
              </a:ext>
            </a:extLst>
          </p:cNvPr>
          <p:cNvSpPr txBox="1"/>
          <p:nvPr/>
        </p:nvSpPr>
        <p:spPr>
          <a:xfrm>
            <a:off x="407496" y="2951459"/>
            <a:ext cx="3109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/>
              <a:t>Tính</a:t>
            </a:r>
            <a:r>
              <a:rPr lang="en-US" dirty="0"/>
              <a:t> I</a:t>
            </a:r>
            <a:r>
              <a:rPr lang="en-US" baseline="-25000" dirty="0"/>
              <a:t>E</a:t>
            </a:r>
            <a:r>
              <a:rPr lang="en-US" dirty="0"/>
              <a:t>, I</a:t>
            </a:r>
            <a:r>
              <a:rPr lang="en-US" baseline="-25000" dirty="0"/>
              <a:t>C</a:t>
            </a:r>
            <a:r>
              <a:rPr lang="en-US" dirty="0"/>
              <a:t>, V</a:t>
            </a:r>
            <a:r>
              <a:rPr lang="en-US" baseline="-25000" dirty="0"/>
              <a:t>E</a:t>
            </a:r>
            <a:r>
              <a:rPr lang="en-US" dirty="0"/>
              <a:t>, V</a:t>
            </a:r>
            <a:r>
              <a:rPr lang="en-US" baseline="-25000" dirty="0"/>
              <a:t>B</a:t>
            </a:r>
            <a:r>
              <a:rPr lang="en-US" dirty="0"/>
              <a:t>, V</a:t>
            </a:r>
            <a:r>
              <a:rPr lang="en-US" baseline="-25000" dirty="0"/>
              <a:t>C</a:t>
            </a:r>
            <a:r>
              <a:rPr lang="en-US" dirty="0"/>
              <a:t>?</a:t>
            </a:r>
          </a:p>
        </p:txBody>
      </p:sp>
      <p:pic>
        <p:nvPicPr>
          <p:cNvPr id="6" name="Image 9">
            <a:extLst>
              <a:ext uri="{FF2B5EF4-FFF2-40B4-BE49-F238E27FC236}">
                <a16:creationId xmlns:a16="http://schemas.microsoft.com/office/drawing/2014/main" id="{6BEB1CA5-A68D-4CF5-B9A8-EEF60DB8A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636" y="1824245"/>
            <a:ext cx="4067175" cy="3810000"/>
          </a:xfrm>
          <a:prstGeom prst="rect">
            <a:avLst/>
          </a:prstGeom>
        </p:spPr>
      </p:pic>
      <p:sp>
        <p:nvSpPr>
          <p:cNvPr id="7" name="ZoneTexte 10">
            <a:extLst>
              <a:ext uri="{FF2B5EF4-FFF2-40B4-BE49-F238E27FC236}">
                <a16:creationId xmlns:a16="http://schemas.microsoft.com/office/drawing/2014/main" id="{EDF9B910-22F1-4CBC-9054-FBF1DC27D945}"/>
              </a:ext>
            </a:extLst>
          </p:cNvPr>
          <p:cNvSpPr txBox="1"/>
          <p:nvPr/>
        </p:nvSpPr>
        <p:spPr>
          <a:xfrm>
            <a:off x="407496" y="1853825"/>
            <a:ext cx="47705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Cho V</a:t>
            </a:r>
            <a:r>
              <a:rPr lang="en-US" baseline="-25000" dirty="0"/>
              <a:t>CC</a:t>
            </a:r>
            <a:r>
              <a:rPr lang="en-US" dirty="0"/>
              <a:t> = 12 V</a:t>
            </a:r>
          </a:p>
          <a:p>
            <a:pPr algn="l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 = 20k</a:t>
            </a:r>
            <a:r>
              <a:rPr lang="en-US" dirty="0">
                <a:sym typeface="Symbol" panose="05050102010706020507" pitchFamily="18" charset="2"/>
              </a:rPr>
              <a:t></a:t>
            </a:r>
            <a:r>
              <a:rPr lang="en-US" dirty="0"/>
              <a:t>, R</a:t>
            </a:r>
            <a:r>
              <a:rPr lang="en-US" baseline="-25000" dirty="0"/>
              <a:t>2</a:t>
            </a:r>
            <a:r>
              <a:rPr lang="en-US" dirty="0"/>
              <a:t> = 3.6k</a:t>
            </a:r>
            <a:r>
              <a:rPr lang="en-US" dirty="0">
                <a:sym typeface="Symbol" panose="05050102010706020507" pitchFamily="18" charset="2"/>
              </a:rPr>
              <a:t></a:t>
            </a:r>
            <a:r>
              <a:rPr lang="en-US" dirty="0"/>
              <a:t>, R</a:t>
            </a:r>
            <a:r>
              <a:rPr lang="en-US" baseline="-25000" dirty="0"/>
              <a:t>C</a:t>
            </a:r>
            <a:r>
              <a:rPr lang="en-US" dirty="0"/>
              <a:t> = 1.2k</a:t>
            </a:r>
            <a:r>
              <a:rPr lang="en-US" dirty="0">
                <a:sym typeface="Symbol" panose="05050102010706020507" pitchFamily="18" charset="2"/>
              </a:rPr>
              <a:t></a:t>
            </a:r>
            <a:r>
              <a:rPr lang="en-US" dirty="0"/>
              <a:t>, R</a:t>
            </a:r>
            <a:r>
              <a:rPr lang="en-US" baseline="-25000" dirty="0"/>
              <a:t>E</a:t>
            </a:r>
            <a:r>
              <a:rPr lang="en-US" dirty="0"/>
              <a:t>=  220</a:t>
            </a:r>
            <a:r>
              <a:rPr lang="en-US" dirty="0">
                <a:sym typeface="Symbol" panose="05050102010706020507" pitchFamily="18" charset="2"/>
              </a:rPr>
              <a:t> , </a:t>
            </a:r>
            <a:r>
              <a:rPr lang="en-US" baseline="-25000" dirty="0">
                <a:sym typeface="Symbol" panose="05050102010706020507" pitchFamily="18" charset="2"/>
              </a:rPr>
              <a:t>DC</a:t>
            </a:r>
            <a:r>
              <a:rPr lang="en-US" dirty="0">
                <a:sym typeface="Symbol" panose="05050102010706020507" pitchFamily="18" charset="2"/>
              </a:rPr>
              <a:t> =100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18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4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32820" y="731520"/>
            <a:ext cx="6573180" cy="52578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 THIẾT BỊ VÀ MẠCH ĐIỆN TỬ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>
              <a:buClr>
                <a:srgbClr val="FFC000"/>
              </a:buClr>
            </a:pPr>
            <a:r>
              <a:rPr lang="vi-V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 tích các mạch khuếch đại</a:t>
            </a:r>
            <a:endParaRPr 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khuếch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đại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căn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bản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khuếch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đại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CE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khuếch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đại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CB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khuếch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đại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CC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Bài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tập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</a:t>
            </a:fld>
            <a:endParaRPr lang="sv-SE" sz="1400">
              <a:latin typeface="Times" pitchFamily="1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783455" y="2951780"/>
            <a:ext cx="3509010" cy="1737360"/>
            <a:chOff x="5141976" y="2438890"/>
            <a:chExt cx="3509010" cy="1737360"/>
          </a:xfrm>
        </p:grpSpPr>
        <p:pic>
          <p:nvPicPr>
            <p:cNvPr id="1026" name="Picture 2" descr="http://portal.uit.edu.vn/Styles/profi/images/logo186x150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976" y="2646045"/>
              <a:ext cx="17716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3626" y="2438890"/>
              <a:ext cx="1737360" cy="1737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0908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B310A8-19FC-48B1-90C8-6C97FA258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585" y="2004442"/>
            <a:ext cx="7084898" cy="393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41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4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C8C14B-035A-4690-A84B-2B2D2017A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549" y="3429000"/>
            <a:ext cx="1799679" cy="28891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F61AE2-866D-41F9-AD1E-26CBB621D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35" y="3654025"/>
            <a:ext cx="3360775" cy="25609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A8B42B-4E28-4E89-A14E-D9C683AE50F4}"/>
              </a:ext>
            </a:extLst>
          </p:cNvPr>
          <p:cNvSpPr txBox="1"/>
          <p:nvPr/>
        </p:nvSpPr>
        <p:spPr>
          <a:xfrm>
            <a:off x="851012" y="1853825"/>
            <a:ext cx="82591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DC:</a:t>
            </a:r>
          </a:p>
          <a:p>
            <a:pPr algn="l"/>
            <a:r>
              <a:rPr lang="en-US" dirty="0"/>
              <a:t>_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tụ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nh</a:t>
            </a:r>
            <a:r>
              <a:rPr lang="vi-VN" dirty="0"/>
              <a:t>ư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hở</a:t>
            </a:r>
            <a:endParaRPr lang="en-US" dirty="0"/>
          </a:p>
          <a:p>
            <a:pPr algn="l"/>
            <a:r>
              <a:rPr lang="en-US" dirty="0"/>
              <a:t>_ </a:t>
            </a:r>
            <a:r>
              <a:rPr lang="en-US" dirty="0" err="1"/>
              <a:t>Tải</a:t>
            </a:r>
            <a:r>
              <a:rPr lang="en-US" dirty="0"/>
              <a:t> R</a:t>
            </a:r>
            <a:r>
              <a:rPr lang="en-US" baseline="-25000" dirty="0"/>
              <a:t>L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DC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tụ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C3</a:t>
            </a:r>
          </a:p>
          <a:p>
            <a:pPr algn="l"/>
            <a:r>
              <a:rPr lang="en-US" dirty="0"/>
              <a:t>_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V</a:t>
            </a:r>
            <a:r>
              <a:rPr lang="en-US" baseline="-25000" dirty="0"/>
              <a:t>CE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transistor </a:t>
            </a:r>
          </a:p>
          <a:p>
            <a:pPr algn="l"/>
            <a:endParaRPr lang="en-US" dirty="0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2B258EA9-0AC9-4F74-8C6C-659FDAF0C4EA}"/>
              </a:ext>
            </a:extLst>
          </p:cNvPr>
          <p:cNvSpPr/>
          <p:nvPr/>
        </p:nvSpPr>
        <p:spPr>
          <a:xfrm>
            <a:off x="2965678" y="4447926"/>
            <a:ext cx="405045" cy="405045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6E026213-3E8D-4972-9D37-8A2B0F7CC119}"/>
              </a:ext>
            </a:extLst>
          </p:cNvPr>
          <p:cNvSpPr/>
          <p:nvPr/>
        </p:nvSpPr>
        <p:spPr>
          <a:xfrm>
            <a:off x="947563" y="4801396"/>
            <a:ext cx="405045" cy="405045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64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5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C8C14B-035A-4690-A84B-2B2D2017A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35" y="1853825"/>
            <a:ext cx="2745305" cy="44072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6E4EC1-B44E-43CD-B8A5-AEBD16679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317" y="2130643"/>
            <a:ext cx="1457325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EC2555-B464-4DAB-8FFA-C15CE7847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2509" y="2971800"/>
            <a:ext cx="1685925" cy="304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83A014-96E0-4CE5-B004-85DA9BAFA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9685" y="2947987"/>
            <a:ext cx="1028700" cy="352425"/>
          </a:xfrm>
          <a:prstGeom prst="rect">
            <a:avLst/>
          </a:prstGeom>
        </p:spPr>
      </p:pic>
      <p:sp>
        <p:nvSpPr>
          <p:cNvPr id="14" name="Callout: Line with Border and Accent Bar 13">
            <a:extLst>
              <a:ext uri="{FF2B5EF4-FFF2-40B4-BE49-F238E27FC236}">
                <a16:creationId xmlns:a16="http://schemas.microsoft.com/office/drawing/2014/main" id="{5FC47125-DCEB-459F-8C92-B5BB615DD260}"/>
              </a:ext>
            </a:extLst>
          </p:cNvPr>
          <p:cNvSpPr/>
          <p:nvPr/>
        </p:nvSpPr>
        <p:spPr>
          <a:xfrm rot="10800000">
            <a:off x="3862509" y="2933945"/>
            <a:ext cx="1649808" cy="382219"/>
          </a:xfrm>
          <a:prstGeom prst="accentBorderCallout1">
            <a:avLst>
              <a:gd name="adj1" fmla="val 40250"/>
              <a:gd name="adj2" fmla="val -2035"/>
              <a:gd name="adj3" fmla="val 232117"/>
              <a:gd name="adj4" fmla="val -4085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llout: Line with Border and Accent Bar 14">
            <a:extLst>
              <a:ext uri="{FF2B5EF4-FFF2-40B4-BE49-F238E27FC236}">
                <a16:creationId xmlns:a16="http://schemas.microsoft.com/office/drawing/2014/main" id="{1F322E43-5D39-48C7-A6E1-65091F06884A}"/>
              </a:ext>
            </a:extLst>
          </p:cNvPr>
          <p:cNvSpPr/>
          <p:nvPr/>
        </p:nvSpPr>
        <p:spPr>
          <a:xfrm>
            <a:off x="7389684" y="2911766"/>
            <a:ext cx="1229765" cy="382219"/>
          </a:xfrm>
          <a:prstGeom prst="accentBorderCallout1">
            <a:avLst>
              <a:gd name="adj1" fmla="val 37531"/>
              <a:gd name="adj2" fmla="val -5415"/>
              <a:gd name="adj3" fmla="val -132172"/>
              <a:gd name="adj4" fmla="val -47094"/>
            </a:avLst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C28BE7A-8CE5-42FC-B664-038A5D49020C}"/>
              </a:ext>
            </a:extLst>
          </p:cNvPr>
          <p:cNvGrpSpPr/>
          <p:nvPr/>
        </p:nvGrpSpPr>
        <p:grpSpPr>
          <a:xfrm>
            <a:off x="5200527" y="3895165"/>
            <a:ext cx="2532222" cy="552450"/>
            <a:chOff x="4835790" y="3999367"/>
            <a:chExt cx="2532222" cy="55245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5E09FFE-2916-4276-9C3B-221226763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35790" y="4137480"/>
              <a:ext cx="771525" cy="2762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024F238-D560-4580-826A-98CE08B97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20137" y="3999367"/>
              <a:ext cx="2047875" cy="552450"/>
            </a:xfrm>
            <a:prstGeom prst="rect">
              <a:avLst/>
            </a:prstGeom>
          </p:spPr>
        </p:pic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0A884BFA-A7D2-46F6-ADCE-E9AD5467D8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80875" y="3256125"/>
            <a:ext cx="656148" cy="551851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0A3799A-1281-4F8A-9E9A-51D178035753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5684874" y="3293985"/>
            <a:ext cx="2319693" cy="44898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308FB8C-9537-4817-8131-688C83663857}"/>
              </a:ext>
            </a:extLst>
          </p:cNvPr>
          <p:cNvSpPr/>
          <p:nvPr/>
        </p:nvSpPr>
        <p:spPr>
          <a:xfrm>
            <a:off x="4977765" y="3860125"/>
            <a:ext cx="3026802" cy="67291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9F4FC7B-0121-4CEF-B66E-78CEA36020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0073" y="5540965"/>
            <a:ext cx="1485900" cy="6286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55C01B8-34B2-4EA1-B39F-C9CEB7E662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7030" y="5622973"/>
            <a:ext cx="2057400" cy="590550"/>
          </a:xfrm>
          <a:prstGeom prst="rect">
            <a:avLst/>
          </a:prstGeom>
        </p:spPr>
      </p:pic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7DEFEAB6-3B86-4123-A88B-E4230134181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91799" y="4532923"/>
            <a:ext cx="1007928" cy="99759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9627CA7B-6A68-4DF6-AEAE-74DAC30CBEA4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55464" y="4537001"/>
            <a:ext cx="1054229" cy="1046302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6824D43-3B91-412B-9324-8B2EAE5DE884}"/>
              </a:ext>
            </a:extLst>
          </p:cNvPr>
          <p:cNvSpPr/>
          <p:nvPr/>
        </p:nvSpPr>
        <p:spPr>
          <a:xfrm>
            <a:off x="4213896" y="5540611"/>
            <a:ext cx="1880661" cy="67291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31C296C-D200-49FF-AB3C-4E0B90E3FD11}"/>
              </a:ext>
            </a:extLst>
          </p:cNvPr>
          <p:cNvSpPr/>
          <p:nvPr/>
        </p:nvSpPr>
        <p:spPr>
          <a:xfrm>
            <a:off x="6524359" y="5579065"/>
            <a:ext cx="2110071" cy="67291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9A11495-5C53-44F7-AF90-B43ACE4ACB05}"/>
              </a:ext>
            </a:extLst>
          </p:cNvPr>
          <p:cNvSpPr/>
          <p:nvPr/>
        </p:nvSpPr>
        <p:spPr>
          <a:xfrm>
            <a:off x="5452829" y="2083360"/>
            <a:ext cx="1685926" cy="42253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Picture 2" descr="Image result for question bonhomme">
            <a:extLst>
              <a:ext uri="{FF2B5EF4-FFF2-40B4-BE49-F238E27FC236}">
                <a16:creationId xmlns:a16="http://schemas.microsoft.com/office/drawing/2014/main" id="{EC25A3CD-10ED-42AA-9D52-88D13E3A7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3952" y="1841177"/>
            <a:ext cx="735965" cy="988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353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6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F61AE2-866D-41F9-AD1E-26CBB621D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35" y="3654025"/>
            <a:ext cx="3360775" cy="25609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A8B42B-4E28-4E89-A14E-D9C683AE50F4}"/>
              </a:ext>
            </a:extLst>
          </p:cNvPr>
          <p:cNvSpPr txBox="1"/>
          <p:nvPr/>
        </p:nvSpPr>
        <p:spPr>
          <a:xfrm>
            <a:off x="851012" y="1853825"/>
            <a:ext cx="82591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bé</a:t>
            </a:r>
            <a:r>
              <a:rPr lang="en-US" dirty="0"/>
              <a:t> AC:</a:t>
            </a:r>
          </a:p>
          <a:p>
            <a:pPr algn="l"/>
            <a:r>
              <a:rPr lang="en-US" dirty="0"/>
              <a:t>_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tụ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nh</a:t>
            </a:r>
            <a:r>
              <a:rPr lang="vi-VN" dirty="0"/>
              <a:t>ư</a:t>
            </a:r>
            <a:r>
              <a:rPr lang="en-US" dirty="0"/>
              <a:t> </a:t>
            </a: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mạch</a:t>
            </a:r>
            <a:endParaRPr lang="en-US" dirty="0"/>
          </a:p>
          <a:p>
            <a:pPr algn="l"/>
            <a:r>
              <a:rPr lang="en-US" dirty="0"/>
              <a:t>_ </a:t>
            </a:r>
            <a:r>
              <a:rPr lang="en-US" dirty="0" err="1"/>
              <a:t>Nguồn</a:t>
            </a:r>
            <a:r>
              <a:rPr lang="en-US" dirty="0"/>
              <a:t> DC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nh</a:t>
            </a:r>
            <a:r>
              <a:rPr lang="vi-VN" dirty="0"/>
              <a:t>ư</a:t>
            </a:r>
            <a:r>
              <a:rPr lang="en-US" dirty="0"/>
              <a:t> GND</a:t>
            </a:r>
          </a:p>
          <a:p>
            <a:pPr algn="l"/>
            <a:endParaRPr lang="en-US" dirty="0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6E026213-3E8D-4972-9D37-8A2B0F7CC119}"/>
              </a:ext>
            </a:extLst>
          </p:cNvPr>
          <p:cNvSpPr/>
          <p:nvPr/>
        </p:nvSpPr>
        <p:spPr>
          <a:xfrm>
            <a:off x="2259999" y="3539948"/>
            <a:ext cx="405045" cy="405045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2" descr="Image result for question bonhomme">
            <a:extLst>
              <a:ext uri="{FF2B5EF4-FFF2-40B4-BE49-F238E27FC236}">
                <a16:creationId xmlns:a16="http://schemas.microsoft.com/office/drawing/2014/main" id="{407ADE20-0583-42C3-AD11-43405E0F8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055" y="2011085"/>
            <a:ext cx="735965" cy="988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62D12284-4D3A-440C-88E0-9ECEBBC505B1}"/>
              </a:ext>
            </a:extLst>
          </p:cNvPr>
          <p:cNvSpPr/>
          <p:nvPr/>
        </p:nvSpPr>
        <p:spPr>
          <a:xfrm>
            <a:off x="2259999" y="5454225"/>
            <a:ext cx="405045" cy="405045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39E31-F318-443E-B31F-DC286E813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173" y="3244805"/>
            <a:ext cx="3028950" cy="26144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17CDEC-9399-433A-81E3-E288C49038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3221" y="3446391"/>
            <a:ext cx="647700" cy="227786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F68CF4-A737-4C98-BDF1-451821E77907}"/>
              </a:ext>
            </a:extLst>
          </p:cNvPr>
          <p:cNvCxnSpPr/>
          <p:nvPr/>
        </p:nvCxnSpPr>
        <p:spPr>
          <a:xfrm>
            <a:off x="7383270" y="3564015"/>
            <a:ext cx="8100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6F63D140-ACD0-45A1-A359-E5E1D449B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563" y="3265150"/>
            <a:ext cx="40005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98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4C50147A-97F5-425C-BBCE-BAB6A346E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bé</a:t>
            </a:r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986741C-272C-4570-AE87-4388412169D3}"/>
              </a:ext>
            </a:extLst>
          </p:cNvPr>
          <p:cNvGrpSpPr/>
          <p:nvPr/>
        </p:nvGrpSpPr>
        <p:grpSpPr>
          <a:xfrm>
            <a:off x="560853" y="2391238"/>
            <a:ext cx="3032744" cy="2614465"/>
            <a:chOff x="452500" y="2033845"/>
            <a:chExt cx="3032744" cy="2614465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329C9BA4-695E-4560-B7DC-F8A504F20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500" y="2033845"/>
              <a:ext cx="3028950" cy="2614465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D45A09E5-B485-48B8-94D3-0B691F120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66144" y="2057419"/>
              <a:ext cx="419100" cy="447675"/>
            </a:xfrm>
            <a:prstGeom prst="rect">
              <a:avLst/>
            </a:prstGeom>
          </p:spPr>
        </p:pic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1290478-51A0-463E-8E86-589706B99E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7766" y="2354937"/>
              <a:ext cx="31503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6501379-68A8-41B9-8407-75DBB9A66C30}"/>
                </a:ext>
              </a:extLst>
            </p:cNvPr>
            <p:cNvSpPr txBox="1"/>
            <p:nvPr/>
          </p:nvSpPr>
          <p:spPr>
            <a:xfrm>
              <a:off x="1641773" y="2464728"/>
              <a:ext cx="3898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478F940-EBEE-446D-B3F0-113A992287FE}"/>
                </a:ext>
              </a:extLst>
            </p:cNvPr>
            <p:cNvSpPr txBox="1"/>
            <p:nvPr/>
          </p:nvSpPr>
          <p:spPr>
            <a:xfrm>
              <a:off x="2350299" y="2354937"/>
              <a:ext cx="3898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6BC6284-A462-463A-BFA3-7C45FA94F42D}"/>
                </a:ext>
              </a:extLst>
            </p:cNvPr>
            <p:cNvSpPr txBox="1"/>
            <p:nvPr/>
          </p:nvSpPr>
          <p:spPr>
            <a:xfrm>
              <a:off x="2316589" y="3028186"/>
              <a:ext cx="372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E1EC4CC5-B1F3-4075-9B28-EDA33520F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930" y="2811641"/>
            <a:ext cx="2247900" cy="230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C6DB6F-92E2-4447-9A3D-139CE4E0BD85}"/>
              </a:ext>
            </a:extLst>
          </p:cNvPr>
          <p:cNvSpPr/>
          <p:nvPr/>
        </p:nvSpPr>
        <p:spPr>
          <a:xfrm>
            <a:off x="2043860" y="2414812"/>
            <a:ext cx="1784015" cy="270187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AD8750-B6D4-496F-B657-13A69173947E}"/>
              </a:ext>
            </a:extLst>
          </p:cNvPr>
          <p:cNvSpPr/>
          <p:nvPr/>
        </p:nvSpPr>
        <p:spPr>
          <a:xfrm>
            <a:off x="5615292" y="3112386"/>
            <a:ext cx="831391" cy="20043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C51D23-913B-4227-B2F5-C0C3209D10D8}"/>
              </a:ext>
            </a:extLst>
          </p:cNvPr>
          <p:cNvSpPr txBox="1"/>
          <p:nvPr/>
        </p:nvSpPr>
        <p:spPr>
          <a:xfrm>
            <a:off x="764830" y="1760936"/>
            <a:ext cx="4819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(input impedance)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0D2E7C-D359-4867-A01C-3D63F6C511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0088" y="2772388"/>
            <a:ext cx="2628900" cy="22669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9E5CDC-5970-4D7E-A799-1D11A704E907}"/>
              </a:ext>
            </a:extLst>
          </p:cNvPr>
          <p:cNvSpPr/>
          <p:nvPr/>
        </p:nvSpPr>
        <p:spPr>
          <a:xfrm>
            <a:off x="4547955" y="2712330"/>
            <a:ext cx="2155411" cy="2561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285DC3-2857-43AE-B6E8-4DA5339BC0EA}"/>
              </a:ext>
            </a:extLst>
          </p:cNvPr>
          <p:cNvSpPr/>
          <p:nvPr/>
        </p:nvSpPr>
        <p:spPr>
          <a:xfrm>
            <a:off x="7270088" y="2712330"/>
            <a:ext cx="2543452" cy="2561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Curved Up 34">
            <a:extLst>
              <a:ext uri="{FF2B5EF4-FFF2-40B4-BE49-F238E27FC236}">
                <a16:creationId xmlns:a16="http://schemas.microsoft.com/office/drawing/2014/main" id="{56EE9F63-A0C7-4707-81F4-27D2C68E8BC2}"/>
              </a:ext>
            </a:extLst>
          </p:cNvPr>
          <p:cNvSpPr/>
          <p:nvPr/>
        </p:nvSpPr>
        <p:spPr>
          <a:xfrm>
            <a:off x="2924432" y="5149969"/>
            <a:ext cx="2973673" cy="66429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Arrow: Curved Up 35">
            <a:extLst>
              <a:ext uri="{FF2B5EF4-FFF2-40B4-BE49-F238E27FC236}">
                <a16:creationId xmlns:a16="http://schemas.microsoft.com/office/drawing/2014/main" id="{42DBDAB3-AE93-42E7-B8BD-B571B7319202}"/>
              </a:ext>
            </a:extLst>
          </p:cNvPr>
          <p:cNvSpPr/>
          <p:nvPr/>
        </p:nvSpPr>
        <p:spPr>
          <a:xfrm flipV="1">
            <a:off x="5568141" y="1965640"/>
            <a:ext cx="2973673" cy="692174"/>
          </a:xfrm>
          <a:prstGeom prst="curvedUp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278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4C50147A-97F5-425C-BBCE-BAB6A346E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bé</a:t>
            </a:r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986741C-272C-4570-AE87-4388412169D3}"/>
              </a:ext>
            </a:extLst>
          </p:cNvPr>
          <p:cNvGrpSpPr/>
          <p:nvPr/>
        </p:nvGrpSpPr>
        <p:grpSpPr>
          <a:xfrm>
            <a:off x="560853" y="2847729"/>
            <a:ext cx="3032744" cy="2614465"/>
            <a:chOff x="452500" y="2033845"/>
            <a:chExt cx="3032744" cy="2614465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329C9BA4-695E-4560-B7DC-F8A504F20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500" y="2033845"/>
              <a:ext cx="3028950" cy="2614465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D45A09E5-B485-48B8-94D3-0B691F120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66144" y="2057419"/>
              <a:ext cx="419100" cy="447675"/>
            </a:xfrm>
            <a:prstGeom prst="rect">
              <a:avLst/>
            </a:prstGeom>
          </p:spPr>
        </p:pic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1290478-51A0-463E-8E86-589706B99E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7766" y="2354937"/>
              <a:ext cx="31503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6501379-68A8-41B9-8407-75DBB9A66C30}"/>
                </a:ext>
              </a:extLst>
            </p:cNvPr>
            <p:cNvSpPr txBox="1"/>
            <p:nvPr/>
          </p:nvSpPr>
          <p:spPr>
            <a:xfrm>
              <a:off x="1641773" y="2464728"/>
              <a:ext cx="3898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478F940-EBEE-446D-B3F0-113A992287FE}"/>
                </a:ext>
              </a:extLst>
            </p:cNvPr>
            <p:cNvSpPr txBox="1"/>
            <p:nvPr/>
          </p:nvSpPr>
          <p:spPr>
            <a:xfrm>
              <a:off x="2350299" y="2354937"/>
              <a:ext cx="3898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6BC6284-A462-463A-BFA3-7C45FA94F42D}"/>
                </a:ext>
              </a:extLst>
            </p:cNvPr>
            <p:cNvSpPr txBox="1"/>
            <p:nvPr/>
          </p:nvSpPr>
          <p:spPr>
            <a:xfrm>
              <a:off x="2316589" y="3028186"/>
              <a:ext cx="372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E7ECA7B-BA1E-4C26-8DE9-D6EADD259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941" y="2440461"/>
            <a:ext cx="2762250" cy="34290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7B69AC5A-9076-461E-A09A-AFFEDA4F31BF}"/>
              </a:ext>
            </a:extLst>
          </p:cNvPr>
          <p:cNvSpPr/>
          <p:nvPr/>
        </p:nvSpPr>
        <p:spPr>
          <a:xfrm>
            <a:off x="1772696" y="3165411"/>
            <a:ext cx="1075807" cy="11383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447860C2-BC49-462C-8CF5-02AB427D9623}"/>
              </a:ext>
            </a:extLst>
          </p:cNvPr>
          <p:cNvSpPr/>
          <p:nvPr/>
        </p:nvSpPr>
        <p:spPr>
          <a:xfrm rot="711665" flipV="1">
            <a:off x="2354530" y="2344925"/>
            <a:ext cx="3117145" cy="86801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927BF7-56C0-4123-BC76-703384C92A3E}"/>
              </a:ext>
            </a:extLst>
          </p:cNvPr>
          <p:cNvSpPr txBox="1"/>
          <p:nvPr/>
        </p:nvSpPr>
        <p:spPr>
          <a:xfrm>
            <a:off x="764830" y="1760936"/>
            <a:ext cx="4819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(input impedance)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3521C5-1770-4BD4-AD6A-4D15FF01CC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7506" y="4172068"/>
            <a:ext cx="1924050" cy="638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8DD16C-B67E-469F-96CD-C79D84CC74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1122" y="5272422"/>
            <a:ext cx="990600" cy="4286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045BF7-6CD9-4AEF-8986-7775EFAB1C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2919" y="5153359"/>
            <a:ext cx="1057275" cy="66675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FC74311-F83D-4F70-B66D-BDB3E8EA5F37}"/>
              </a:ext>
            </a:extLst>
          </p:cNvPr>
          <p:cNvSpPr/>
          <p:nvPr/>
        </p:nvSpPr>
        <p:spPr>
          <a:xfrm>
            <a:off x="6831055" y="4150729"/>
            <a:ext cx="2287982" cy="666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995366-3F4A-4D5D-AC3F-2D69A610FC72}"/>
              </a:ext>
            </a:extLst>
          </p:cNvPr>
          <p:cNvSpPr/>
          <p:nvPr/>
        </p:nvSpPr>
        <p:spPr>
          <a:xfrm>
            <a:off x="6669582" y="5256032"/>
            <a:ext cx="990600" cy="4286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867AE5-E621-4941-85E2-095B44C38D36}"/>
              </a:ext>
            </a:extLst>
          </p:cNvPr>
          <p:cNvSpPr/>
          <p:nvPr/>
        </p:nvSpPr>
        <p:spPr>
          <a:xfrm>
            <a:off x="8336744" y="5153359"/>
            <a:ext cx="1063450" cy="666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39BD8ED-D975-4819-8B6A-C64628E0EFBC}"/>
              </a:ext>
            </a:extLst>
          </p:cNvPr>
          <p:cNvCxnSpPr>
            <a:stCxn id="28" idx="0"/>
          </p:cNvCxnSpPr>
          <p:nvPr/>
        </p:nvCxnSpPr>
        <p:spPr>
          <a:xfrm flipV="1">
            <a:off x="7164882" y="4817479"/>
            <a:ext cx="273435" cy="438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DA4498A-678E-4DF8-B6F8-91C1A64AAAC1}"/>
              </a:ext>
            </a:extLst>
          </p:cNvPr>
          <p:cNvCxnSpPr>
            <a:stCxn id="29" idx="0"/>
          </p:cNvCxnSpPr>
          <p:nvPr/>
        </p:nvCxnSpPr>
        <p:spPr>
          <a:xfrm flipH="1" flipV="1">
            <a:off x="8698457" y="4817479"/>
            <a:ext cx="170012" cy="335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F6F65AE5-CF74-4FF9-B358-277B01CE79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0350" y="2949999"/>
            <a:ext cx="2133600" cy="657225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E116D4F6-E67D-448C-BD7C-AAE19F0A6BE6}"/>
              </a:ext>
            </a:extLst>
          </p:cNvPr>
          <p:cNvSpPr/>
          <p:nvPr/>
        </p:nvSpPr>
        <p:spPr>
          <a:xfrm>
            <a:off x="6776008" y="2878852"/>
            <a:ext cx="2287982" cy="666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5D42F3-F724-43D3-92B7-1F0A9AAE311E}"/>
              </a:ext>
            </a:extLst>
          </p:cNvPr>
          <p:cNvCxnSpPr>
            <a:stCxn id="10" idx="0"/>
            <a:endCxn id="37" idx="2"/>
          </p:cNvCxnSpPr>
          <p:nvPr/>
        </p:nvCxnSpPr>
        <p:spPr>
          <a:xfrm flipV="1">
            <a:off x="7909531" y="3545602"/>
            <a:ext cx="10468" cy="626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10609F28-CEAA-4A52-8CCC-CB99B1A313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9940" y="1917581"/>
            <a:ext cx="1609725" cy="390525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D9F47FA1-1148-473C-9631-4490445C2B20}"/>
              </a:ext>
            </a:extLst>
          </p:cNvPr>
          <p:cNvSpPr/>
          <p:nvPr/>
        </p:nvSpPr>
        <p:spPr>
          <a:xfrm>
            <a:off x="7061375" y="1868058"/>
            <a:ext cx="1678290" cy="538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095EA46-137A-459C-9BAE-1956FD38D59C}"/>
              </a:ext>
            </a:extLst>
          </p:cNvPr>
          <p:cNvCxnSpPr>
            <a:cxnSpLocks/>
          </p:cNvCxnSpPr>
          <p:nvPr/>
        </p:nvCxnSpPr>
        <p:spPr>
          <a:xfrm flipV="1">
            <a:off x="7895267" y="2394524"/>
            <a:ext cx="0" cy="457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ADBA9171-D00A-4345-A2CA-1B2E5688688C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/>
          <a:stretch/>
        </p:blipFill>
        <p:spPr>
          <a:xfrm>
            <a:off x="3602850" y="5818305"/>
            <a:ext cx="1266825" cy="581025"/>
          </a:xfrm>
          <a:prstGeom prst="rect">
            <a:avLst/>
          </a:prstGeom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A1A1C96-776F-4820-B349-4E04187B2419}"/>
              </a:ext>
            </a:extLst>
          </p:cNvPr>
          <p:cNvCxnSpPr>
            <a:cxnSpLocks/>
          </p:cNvCxnSpPr>
          <p:nvPr/>
        </p:nvCxnSpPr>
        <p:spPr>
          <a:xfrm flipH="1">
            <a:off x="4314825" y="4638565"/>
            <a:ext cx="1022249" cy="11815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132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4C50147A-97F5-425C-BBCE-BAB6A346E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bé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CA17C16-7C4D-4672-9A64-148EFDF66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835" y="5445764"/>
            <a:ext cx="1628775" cy="69532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4345511-702E-411E-8DC5-3DEB63CF5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726" y="2565103"/>
            <a:ext cx="2540913" cy="3003722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1986741C-272C-4570-AE87-4388412169D3}"/>
              </a:ext>
            </a:extLst>
          </p:cNvPr>
          <p:cNvGrpSpPr/>
          <p:nvPr/>
        </p:nvGrpSpPr>
        <p:grpSpPr>
          <a:xfrm>
            <a:off x="14325" y="2528900"/>
            <a:ext cx="5478735" cy="2614465"/>
            <a:chOff x="-94028" y="2033845"/>
            <a:chExt cx="5478735" cy="2614465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329C9BA4-695E-4560-B7DC-F8A504F20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2500" y="2033845"/>
              <a:ext cx="3028950" cy="2614465"/>
            </a:xfrm>
            <a:prstGeom prst="rect">
              <a:avLst/>
            </a:prstGeom>
          </p:spPr>
        </p:pic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C6B4631-80E7-4ECE-9E7A-F984A57106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270" y="2926393"/>
              <a:ext cx="0" cy="144771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C99E861-6677-4ECC-8D3C-00B8151F2461}"/>
                </a:ext>
              </a:extLst>
            </p:cNvPr>
            <p:cNvSpPr txBox="1"/>
            <p:nvPr/>
          </p:nvSpPr>
          <p:spPr>
            <a:xfrm>
              <a:off x="-94028" y="3341077"/>
              <a:ext cx="5493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in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EC31B5A-39E8-40A9-8F70-F5550B2862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41765" y="2354937"/>
              <a:ext cx="0" cy="210917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D45A09E5-B485-48B8-94D3-0B691F120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66144" y="2057419"/>
              <a:ext cx="419100" cy="447675"/>
            </a:xfrm>
            <a:prstGeom prst="rect">
              <a:avLst/>
            </a:prstGeom>
          </p:spPr>
        </p:pic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1290478-51A0-463E-8E86-589706B99E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7766" y="2354937"/>
              <a:ext cx="31503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AA17DC6-AE39-4207-AB95-B74520542EEC}"/>
                </a:ext>
              </a:extLst>
            </p:cNvPr>
            <p:cNvSpPr txBox="1"/>
            <p:nvPr/>
          </p:nvSpPr>
          <p:spPr>
            <a:xfrm>
              <a:off x="3537970" y="3110244"/>
              <a:ext cx="7849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V</a:t>
              </a:r>
              <a:r>
                <a:rPr lang="en-US" baseline="-25000" dirty="0" err="1"/>
                <a:t>out</a:t>
              </a:r>
              <a:endParaRPr lang="en-US" baseline="-250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6501379-68A8-41B9-8407-75DBB9A66C30}"/>
                </a:ext>
              </a:extLst>
            </p:cNvPr>
            <p:cNvSpPr txBox="1"/>
            <p:nvPr/>
          </p:nvSpPr>
          <p:spPr>
            <a:xfrm>
              <a:off x="1641773" y="2464728"/>
              <a:ext cx="3898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478F940-EBEE-446D-B3F0-113A992287FE}"/>
                </a:ext>
              </a:extLst>
            </p:cNvPr>
            <p:cNvSpPr txBox="1"/>
            <p:nvPr/>
          </p:nvSpPr>
          <p:spPr>
            <a:xfrm>
              <a:off x="2350299" y="2354937"/>
              <a:ext cx="3898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6BC6284-A462-463A-BFA3-7C45FA94F42D}"/>
                </a:ext>
              </a:extLst>
            </p:cNvPr>
            <p:cNvSpPr txBox="1"/>
            <p:nvPr/>
          </p:nvSpPr>
          <p:spPr>
            <a:xfrm>
              <a:off x="2316589" y="3028186"/>
              <a:ext cx="372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29A5257-0616-4E78-879C-E6802BED74D0}"/>
                </a:ext>
              </a:extLst>
            </p:cNvPr>
            <p:cNvSpPr/>
            <p:nvPr/>
          </p:nvSpPr>
          <p:spPr>
            <a:xfrm>
              <a:off x="1664343" y="2213865"/>
              <a:ext cx="1145030" cy="127598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8EC0FC4-5157-4781-9436-E56E32EA4AF2}"/>
                </a:ext>
              </a:extLst>
            </p:cNvPr>
            <p:cNvCxnSpPr>
              <a:cxnSpLocks/>
              <a:stCxn id="56" idx="5"/>
            </p:cNvCxnSpPr>
            <p:nvPr/>
          </p:nvCxnSpPr>
          <p:spPr>
            <a:xfrm>
              <a:off x="2641687" y="3302987"/>
              <a:ext cx="2743020" cy="59644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38D3E1F4-2EBE-4A9C-A616-C1E91D87B5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351" y="6450597"/>
            <a:ext cx="1924050" cy="285750"/>
          </a:xfrm>
          <a:prstGeom prst="rect">
            <a:avLst/>
          </a:prstGeom>
        </p:spPr>
      </p:pic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0DB299D-E2CD-4C7F-98ED-B4466F839DFE}"/>
              </a:ext>
            </a:extLst>
          </p:cNvPr>
          <p:cNvCxnSpPr/>
          <p:nvPr/>
        </p:nvCxnSpPr>
        <p:spPr>
          <a:xfrm flipV="1">
            <a:off x="1532620" y="6066411"/>
            <a:ext cx="1728533" cy="376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62">
            <a:extLst>
              <a:ext uri="{FF2B5EF4-FFF2-40B4-BE49-F238E27FC236}">
                <a16:creationId xmlns:a16="http://schemas.microsoft.com/office/drawing/2014/main" id="{DB2BB924-7FAA-400E-832E-357E0B5EB8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8155" y="6431547"/>
            <a:ext cx="819150" cy="304800"/>
          </a:xfrm>
          <a:prstGeom prst="rect">
            <a:avLst/>
          </a:prstGeom>
        </p:spPr>
      </p:pic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51E91FF-F4CD-4057-B67F-F611D698D626}"/>
              </a:ext>
            </a:extLst>
          </p:cNvPr>
          <p:cNvCxnSpPr>
            <a:cxnSpLocks/>
          </p:cNvCxnSpPr>
          <p:nvPr/>
        </p:nvCxnSpPr>
        <p:spPr>
          <a:xfrm flipH="1" flipV="1">
            <a:off x="5223030" y="6066411"/>
            <a:ext cx="1421819" cy="340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A5FEE579-B88F-4DFC-8CD4-445317DE66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1789" y="5460051"/>
            <a:ext cx="990600" cy="666750"/>
          </a:xfrm>
          <a:prstGeom prst="rect">
            <a:avLst/>
          </a:prstGeom>
        </p:spPr>
      </p:pic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3E23EA0-0403-45C5-94E8-E2937AB886F7}"/>
              </a:ext>
            </a:extLst>
          </p:cNvPr>
          <p:cNvCxnSpPr>
            <a:cxnSpLocks/>
          </p:cNvCxnSpPr>
          <p:nvPr/>
        </p:nvCxnSpPr>
        <p:spPr>
          <a:xfrm flipV="1">
            <a:off x="5145598" y="5785309"/>
            <a:ext cx="2822737" cy="264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70">
            <a:extLst>
              <a:ext uri="{FF2B5EF4-FFF2-40B4-BE49-F238E27FC236}">
                <a16:creationId xmlns:a16="http://schemas.microsoft.com/office/drawing/2014/main" id="{68D5EF22-7131-4008-86DE-41D3865C64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4296" y="3805400"/>
            <a:ext cx="1123950" cy="590550"/>
          </a:xfrm>
          <a:prstGeom prst="rect">
            <a:avLst/>
          </a:prstGeom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2A75BCD-1CC9-459C-A9C3-3728B5014E6D}"/>
              </a:ext>
            </a:extLst>
          </p:cNvPr>
          <p:cNvCxnSpPr>
            <a:cxnSpLocks/>
            <a:stCxn id="67" idx="0"/>
          </p:cNvCxnSpPr>
          <p:nvPr/>
        </p:nvCxnSpPr>
        <p:spPr>
          <a:xfrm flipV="1">
            <a:off x="8727089" y="4504731"/>
            <a:ext cx="219182" cy="9553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13312F8B-59FA-4A72-ABD1-CCBB36F29679}"/>
              </a:ext>
            </a:extLst>
          </p:cNvPr>
          <p:cNvSpPr/>
          <p:nvPr/>
        </p:nvSpPr>
        <p:spPr>
          <a:xfrm>
            <a:off x="8384296" y="3754073"/>
            <a:ext cx="1180472" cy="67291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9D30807-0D6B-4E51-8813-BF7C70A6D5A4}"/>
              </a:ext>
            </a:extLst>
          </p:cNvPr>
          <p:cNvSpPr/>
          <p:nvPr/>
        </p:nvSpPr>
        <p:spPr>
          <a:xfrm>
            <a:off x="3558658" y="5476611"/>
            <a:ext cx="1480882" cy="67291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D7EDF82-FCFF-410F-9340-082D57800B8A}"/>
              </a:ext>
            </a:extLst>
          </p:cNvPr>
          <p:cNvSpPr txBox="1"/>
          <p:nvPr/>
        </p:nvSpPr>
        <p:spPr>
          <a:xfrm>
            <a:off x="1005742" y="1808928"/>
            <a:ext cx="3092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Av</a:t>
            </a:r>
          </a:p>
        </p:txBody>
      </p:sp>
    </p:spTree>
    <p:extLst>
      <p:ext uri="{BB962C8B-B14F-4D97-AF65-F5344CB8AC3E}">
        <p14:creationId xmlns:p14="http://schemas.microsoft.com/office/powerpoint/2010/main" val="329241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864" y="1888774"/>
            <a:ext cx="5996245" cy="358538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10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5" y="1888773"/>
            <a:ext cx="1554480" cy="2041164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5" y="3946409"/>
            <a:ext cx="1554480" cy="2193203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2630" y="1888774"/>
            <a:ext cx="2942760" cy="1479248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1667635" y="5445782"/>
            <a:ext cx="36722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/>
              <a:t>Tính</a:t>
            </a:r>
            <a:r>
              <a:rPr lang="en-US" dirty="0"/>
              <a:t> I</a:t>
            </a:r>
            <a:r>
              <a:rPr lang="en-US" baseline="-25000" dirty="0"/>
              <a:t>E</a:t>
            </a:r>
            <a:r>
              <a:rPr lang="en-US" dirty="0"/>
              <a:t>, I</a:t>
            </a:r>
            <a:r>
              <a:rPr lang="en-US" baseline="-25000" dirty="0"/>
              <a:t>C</a:t>
            </a:r>
            <a:r>
              <a:rPr lang="en-US" dirty="0"/>
              <a:t>, V</a:t>
            </a:r>
            <a:r>
              <a:rPr lang="en-US" baseline="-25000" dirty="0"/>
              <a:t>E</a:t>
            </a:r>
            <a:r>
              <a:rPr lang="en-US" dirty="0"/>
              <a:t>, V</a:t>
            </a:r>
            <a:r>
              <a:rPr lang="en-US" baseline="-25000" dirty="0"/>
              <a:t>B</a:t>
            </a:r>
            <a:r>
              <a:rPr lang="en-US" dirty="0"/>
              <a:t>, V</a:t>
            </a:r>
            <a:r>
              <a:rPr lang="en-US" baseline="-25000" dirty="0"/>
              <a:t>C</a:t>
            </a:r>
            <a:r>
              <a:rPr lang="en-US" dirty="0"/>
              <a:t>?</a:t>
            </a:r>
          </a:p>
          <a:p>
            <a:pPr algn="l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baseline="-25000" dirty="0"/>
              <a:t>(base)</a:t>
            </a:r>
            <a:r>
              <a:rPr lang="en-US" dirty="0"/>
              <a:t>,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dirty="0"/>
              <a:t>, A</a:t>
            </a:r>
            <a:r>
              <a:rPr lang="en-US" baseline="-25000" dirty="0"/>
              <a:t>v</a:t>
            </a:r>
            <a:r>
              <a:rPr lang="en-US" dirty="0"/>
              <a:t>, A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A</a:t>
            </a:r>
            <a:r>
              <a:rPr lang="en-US" baseline="-25000" dirty="0" err="1"/>
              <a:t>p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48354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542510" y="3023955"/>
            <a:ext cx="36722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/>
              <a:t>Tính</a:t>
            </a:r>
            <a:r>
              <a:rPr lang="en-US" dirty="0"/>
              <a:t> I</a:t>
            </a:r>
            <a:r>
              <a:rPr lang="en-US" baseline="-25000" dirty="0"/>
              <a:t>E</a:t>
            </a:r>
            <a:r>
              <a:rPr lang="en-US" dirty="0"/>
              <a:t>, I</a:t>
            </a:r>
            <a:r>
              <a:rPr lang="en-US" baseline="-25000" dirty="0"/>
              <a:t>C</a:t>
            </a:r>
            <a:r>
              <a:rPr lang="en-US" dirty="0"/>
              <a:t>, V</a:t>
            </a:r>
            <a:r>
              <a:rPr lang="en-US" baseline="-25000" dirty="0"/>
              <a:t>E</a:t>
            </a:r>
            <a:r>
              <a:rPr lang="en-US" dirty="0"/>
              <a:t>, V</a:t>
            </a:r>
            <a:r>
              <a:rPr lang="en-US" baseline="-25000" dirty="0"/>
              <a:t>B</a:t>
            </a:r>
            <a:r>
              <a:rPr lang="en-US" dirty="0"/>
              <a:t>, V</a:t>
            </a:r>
            <a:r>
              <a:rPr lang="en-US" baseline="-25000" dirty="0"/>
              <a:t>C</a:t>
            </a:r>
            <a:r>
              <a:rPr lang="en-US" dirty="0"/>
              <a:t>?</a:t>
            </a:r>
          </a:p>
          <a:p>
            <a:pPr algn="l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baseline="-25000" dirty="0"/>
              <a:t>(base)</a:t>
            </a:r>
            <a:r>
              <a:rPr lang="en-US" dirty="0"/>
              <a:t>,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dirty="0"/>
              <a:t>, A</a:t>
            </a:r>
            <a:r>
              <a:rPr lang="en-US" baseline="-25000" dirty="0"/>
              <a:t>v</a:t>
            </a:r>
            <a:r>
              <a:rPr lang="en-US" dirty="0"/>
              <a:t>, A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A</a:t>
            </a:r>
            <a:r>
              <a:rPr lang="en-US" baseline="-25000" dirty="0" err="1"/>
              <a:t>p</a:t>
            </a:r>
            <a:r>
              <a:rPr lang="en-US" dirty="0"/>
              <a:t>?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980" y="1920370"/>
            <a:ext cx="500062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807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12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026" y="1803995"/>
            <a:ext cx="6572250" cy="4505325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362490" y="2357122"/>
            <a:ext cx="36722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/>
              <a:t>Tính</a:t>
            </a:r>
            <a:r>
              <a:rPr lang="en-US" dirty="0"/>
              <a:t> I</a:t>
            </a:r>
            <a:r>
              <a:rPr lang="en-US" baseline="-25000" dirty="0"/>
              <a:t>E</a:t>
            </a:r>
            <a:r>
              <a:rPr lang="en-US" dirty="0"/>
              <a:t>, I</a:t>
            </a:r>
            <a:r>
              <a:rPr lang="en-US" baseline="-25000" dirty="0"/>
              <a:t>C</a:t>
            </a:r>
            <a:r>
              <a:rPr lang="en-US" dirty="0"/>
              <a:t>, V</a:t>
            </a:r>
            <a:r>
              <a:rPr lang="en-US" baseline="-25000" dirty="0"/>
              <a:t>E</a:t>
            </a:r>
            <a:r>
              <a:rPr lang="en-US" dirty="0"/>
              <a:t>, V</a:t>
            </a:r>
            <a:r>
              <a:rPr lang="en-US" baseline="-25000" dirty="0"/>
              <a:t>B</a:t>
            </a:r>
            <a:r>
              <a:rPr lang="en-US" dirty="0"/>
              <a:t>, V</a:t>
            </a:r>
            <a:r>
              <a:rPr lang="en-US" baseline="-25000" dirty="0"/>
              <a:t>C</a:t>
            </a:r>
            <a:r>
              <a:rPr lang="en-US" dirty="0"/>
              <a:t>?</a:t>
            </a:r>
          </a:p>
          <a:p>
            <a:pPr algn="l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baseline="-25000" dirty="0"/>
              <a:t>(base)</a:t>
            </a:r>
            <a:r>
              <a:rPr lang="en-US" dirty="0"/>
              <a:t>,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dirty="0"/>
              <a:t>, A</a:t>
            </a:r>
            <a:r>
              <a:rPr lang="en-US" baseline="-25000" dirty="0"/>
              <a:t>v</a:t>
            </a:r>
            <a:r>
              <a:rPr lang="en-US" dirty="0"/>
              <a:t>, A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A</a:t>
            </a:r>
            <a:r>
              <a:rPr lang="en-US" baseline="-25000" dirty="0" err="1"/>
              <a:t>p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91319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13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260" y="1851945"/>
            <a:ext cx="5429250" cy="4467225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5823" y="2357122"/>
            <a:ext cx="501932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dirty="0" err="1"/>
              <a:t>Tính</a:t>
            </a:r>
            <a:r>
              <a:rPr lang="en-US" dirty="0"/>
              <a:t> I</a:t>
            </a:r>
            <a:r>
              <a:rPr lang="en-US" baseline="-25000" dirty="0"/>
              <a:t>E</a:t>
            </a:r>
            <a:r>
              <a:rPr lang="en-US" dirty="0"/>
              <a:t>, I</a:t>
            </a:r>
            <a:r>
              <a:rPr lang="en-US" baseline="-25000" dirty="0"/>
              <a:t>C</a:t>
            </a:r>
            <a:r>
              <a:rPr lang="en-US" dirty="0"/>
              <a:t>, V</a:t>
            </a:r>
            <a:r>
              <a:rPr lang="en-US" baseline="-25000" dirty="0"/>
              <a:t>E</a:t>
            </a:r>
            <a:r>
              <a:rPr lang="en-US" dirty="0"/>
              <a:t>, V</a:t>
            </a:r>
            <a:r>
              <a:rPr lang="en-US" baseline="-25000" dirty="0"/>
              <a:t>B</a:t>
            </a:r>
            <a:r>
              <a:rPr lang="en-US" dirty="0"/>
              <a:t>, V</a:t>
            </a:r>
            <a:r>
              <a:rPr lang="en-US" baseline="-25000" dirty="0"/>
              <a:t>C</a:t>
            </a:r>
            <a:r>
              <a:rPr lang="en-US" dirty="0"/>
              <a:t>?</a:t>
            </a:r>
          </a:p>
          <a:p>
            <a:pPr algn="just"/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IC(VCE)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Q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baseline="-25000" dirty="0"/>
              <a:t>(base)</a:t>
            </a:r>
            <a:r>
              <a:rPr lang="en-US" dirty="0"/>
              <a:t>,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dirty="0"/>
              <a:t>, A</a:t>
            </a:r>
            <a:r>
              <a:rPr lang="en-US" baseline="-25000" dirty="0"/>
              <a:t>v</a:t>
            </a:r>
            <a:r>
              <a:rPr lang="en-US" dirty="0"/>
              <a:t>, A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A</a:t>
            </a:r>
            <a:r>
              <a:rPr lang="en-US" baseline="-25000" dirty="0" err="1"/>
              <a:t>p</a:t>
            </a:r>
            <a:r>
              <a:rPr lang="en-US" dirty="0"/>
              <a:t> </a:t>
            </a:r>
            <a:r>
              <a:rPr lang="en-US" dirty="0" err="1"/>
              <a:t>khi</a:t>
            </a:r>
            <a:br>
              <a:rPr lang="en-US" dirty="0"/>
            </a:b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R</a:t>
            </a:r>
            <a:r>
              <a:rPr lang="en-US" baseline="-25000" dirty="0"/>
              <a:t>E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0 </a:t>
            </a:r>
            <a:r>
              <a:rPr lang="en-US" dirty="0" err="1"/>
              <a:t>đến</a:t>
            </a:r>
            <a:r>
              <a:rPr lang="en-US" dirty="0"/>
              <a:t> 100</a:t>
            </a:r>
          </a:p>
        </p:txBody>
      </p:sp>
    </p:spTree>
    <p:extLst>
      <p:ext uri="{BB962C8B-B14F-4D97-AF65-F5344CB8AC3E}">
        <p14:creationId xmlns:p14="http://schemas.microsoft.com/office/powerpoint/2010/main" val="275800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CC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14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31" y="1878600"/>
            <a:ext cx="1371600" cy="186690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31" y="3886738"/>
            <a:ext cx="2028825" cy="190500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895" y="2356955"/>
            <a:ext cx="5467350" cy="3419475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667635" y="1824671"/>
            <a:ext cx="36722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/>
              <a:t>Tính</a:t>
            </a:r>
            <a:r>
              <a:rPr lang="en-US" dirty="0"/>
              <a:t> I</a:t>
            </a:r>
            <a:r>
              <a:rPr lang="en-US" baseline="-25000" dirty="0"/>
              <a:t>E</a:t>
            </a:r>
            <a:r>
              <a:rPr lang="en-US" dirty="0"/>
              <a:t>, I</a:t>
            </a:r>
            <a:r>
              <a:rPr lang="en-US" baseline="-25000" dirty="0"/>
              <a:t>C</a:t>
            </a:r>
            <a:r>
              <a:rPr lang="en-US" dirty="0"/>
              <a:t>, V</a:t>
            </a:r>
            <a:r>
              <a:rPr lang="en-US" baseline="-25000" dirty="0"/>
              <a:t>E</a:t>
            </a:r>
            <a:r>
              <a:rPr lang="en-US" dirty="0"/>
              <a:t>, V</a:t>
            </a:r>
            <a:r>
              <a:rPr lang="en-US" baseline="-25000" dirty="0"/>
              <a:t>B</a:t>
            </a:r>
            <a:r>
              <a:rPr lang="en-US" dirty="0"/>
              <a:t>, V</a:t>
            </a:r>
            <a:r>
              <a:rPr lang="en-US" baseline="-25000" dirty="0"/>
              <a:t>C</a:t>
            </a:r>
            <a:r>
              <a:rPr lang="en-US" dirty="0"/>
              <a:t>?</a:t>
            </a:r>
          </a:p>
          <a:p>
            <a:pPr algn="l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baseline="-25000" dirty="0"/>
              <a:t>(base)</a:t>
            </a:r>
            <a:r>
              <a:rPr lang="en-US" dirty="0"/>
              <a:t>,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dirty="0"/>
              <a:t>, A</a:t>
            </a:r>
            <a:r>
              <a:rPr lang="en-US" baseline="-25000" dirty="0"/>
              <a:t>v</a:t>
            </a:r>
            <a:r>
              <a:rPr lang="en-US" dirty="0"/>
              <a:t>, A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A</a:t>
            </a:r>
            <a:r>
              <a:rPr lang="en-US" baseline="-25000" dirty="0" err="1"/>
              <a:t>p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87394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CC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335368" y="2655668"/>
            <a:ext cx="36722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/>
              <a:t>Tính</a:t>
            </a:r>
            <a:r>
              <a:rPr lang="en-US" dirty="0"/>
              <a:t> I</a:t>
            </a:r>
            <a:r>
              <a:rPr lang="en-US" baseline="-25000" dirty="0"/>
              <a:t>E</a:t>
            </a:r>
            <a:r>
              <a:rPr lang="en-US" dirty="0"/>
              <a:t>, I</a:t>
            </a:r>
            <a:r>
              <a:rPr lang="en-US" baseline="-25000" dirty="0"/>
              <a:t>C</a:t>
            </a:r>
            <a:r>
              <a:rPr lang="en-US" dirty="0"/>
              <a:t>, V</a:t>
            </a:r>
            <a:r>
              <a:rPr lang="en-US" baseline="-25000" dirty="0"/>
              <a:t>E</a:t>
            </a:r>
            <a:r>
              <a:rPr lang="en-US" dirty="0"/>
              <a:t>, V</a:t>
            </a:r>
            <a:r>
              <a:rPr lang="en-US" baseline="-25000" dirty="0"/>
              <a:t>B</a:t>
            </a:r>
            <a:r>
              <a:rPr lang="en-US" dirty="0"/>
              <a:t>, V</a:t>
            </a:r>
            <a:r>
              <a:rPr lang="en-US" baseline="-25000" dirty="0"/>
              <a:t>C</a:t>
            </a:r>
            <a:r>
              <a:rPr lang="en-US" dirty="0"/>
              <a:t>?</a:t>
            </a:r>
          </a:p>
          <a:p>
            <a:pPr algn="l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baseline="-25000" dirty="0"/>
              <a:t>(base)</a:t>
            </a:r>
            <a:r>
              <a:rPr lang="en-US" dirty="0"/>
              <a:t>,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dirty="0"/>
              <a:t>, A</a:t>
            </a:r>
            <a:r>
              <a:rPr lang="en-US" baseline="-25000" dirty="0"/>
              <a:t>v</a:t>
            </a:r>
            <a:r>
              <a:rPr lang="en-US" dirty="0"/>
              <a:t>, A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A</a:t>
            </a:r>
            <a:r>
              <a:rPr lang="en-US" baseline="-25000" dirty="0" err="1"/>
              <a:t>p</a:t>
            </a:r>
            <a:r>
              <a:rPr lang="en-US" dirty="0"/>
              <a:t>?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9" y="1808820"/>
            <a:ext cx="4467225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528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16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910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06487" y="1847850"/>
            <a:ext cx="7743825" cy="4019550"/>
          </a:xfrm>
          <a:prstGeom prst="rect">
            <a:avLst/>
          </a:prstGeom>
        </p:spPr>
      </p:pic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17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622630" y="5870028"/>
            <a:ext cx="3926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DC </a:t>
            </a:r>
            <a:r>
              <a:rPr lang="en-US" dirty="0" err="1"/>
              <a:t>và</a:t>
            </a:r>
            <a:r>
              <a:rPr lang="en-US" dirty="0"/>
              <a:t> AC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31221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44277</TotalTime>
  <Words>479</Words>
  <Application>Microsoft Office PowerPoint</Application>
  <PresentationFormat>A4 Paper (210x297 mm)</PresentationFormat>
  <Paragraphs>93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Times</vt:lpstr>
      <vt:lpstr>Times New Roman</vt:lpstr>
      <vt:lpstr>Wingdings</vt:lpstr>
      <vt:lpstr>Retrospect</vt:lpstr>
      <vt:lpstr>Kiểm tra 15’</vt:lpstr>
      <vt:lpstr>Chương 4</vt:lpstr>
      <vt:lpstr>Phân tích mạch khuếch đại CE</vt:lpstr>
      <vt:lpstr>Phân tích mạch khuếch đại CE</vt:lpstr>
      <vt:lpstr>Phân tích tín hiệu lớn</vt:lpstr>
      <vt:lpstr>Phân tích mạch khuếch đại CE</vt:lpstr>
      <vt:lpstr>Phân tích tín hiệu bé</vt:lpstr>
      <vt:lpstr>Phân tích tín hiệu bé</vt:lpstr>
      <vt:lpstr>Phân tích tín hiệu bé</vt:lpstr>
      <vt:lpstr>Phân tích mạch khuếch đại CE</vt:lpstr>
      <vt:lpstr>Phân tích mạch khuếch đại CE</vt:lpstr>
      <vt:lpstr>Phân tích mạch khuếch đại CE</vt:lpstr>
      <vt:lpstr>Phân tích mạch khuếch đại CE</vt:lpstr>
      <vt:lpstr>Phân tích mạch khuếch đại CC</vt:lpstr>
      <vt:lpstr>Phân tích mạch khuếch đại CC</vt:lpstr>
      <vt:lpstr>Thank you!</vt:lpstr>
      <vt:lpstr>Bài Tập</vt:lpstr>
    </vt:vector>
  </TitlesOfParts>
  <Company>Mid Sweden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Kent Bertilsson</dc:creator>
  <cp:lastModifiedBy>Trịnh Lê Huy</cp:lastModifiedBy>
  <cp:revision>891</cp:revision>
  <cp:lastPrinted>2004-10-20T11:26:57Z</cp:lastPrinted>
  <dcterms:created xsi:type="dcterms:W3CDTF">2005-06-07T08:25:50Z</dcterms:created>
  <dcterms:modified xsi:type="dcterms:W3CDTF">2019-10-03T00:57:48Z</dcterms:modified>
</cp:coreProperties>
</file>