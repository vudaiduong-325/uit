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42"/>
  </p:notesMasterIdLst>
  <p:handoutMasterIdLst>
    <p:handoutMasterId r:id="rId43"/>
  </p:handoutMasterIdLst>
  <p:sldIdLst>
    <p:sldId id="436" r:id="rId2"/>
    <p:sldId id="345" r:id="rId3"/>
    <p:sldId id="376" r:id="rId4"/>
    <p:sldId id="402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1" r:id="rId13"/>
    <p:sldId id="410" r:id="rId14"/>
    <p:sldId id="412" r:id="rId15"/>
    <p:sldId id="414" r:id="rId16"/>
    <p:sldId id="415" r:id="rId17"/>
    <p:sldId id="416" r:id="rId18"/>
    <p:sldId id="413" r:id="rId19"/>
    <p:sldId id="417" r:id="rId20"/>
    <p:sldId id="418" r:id="rId21"/>
    <p:sldId id="372" r:id="rId22"/>
    <p:sldId id="401" r:id="rId23"/>
    <p:sldId id="421" r:id="rId24"/>
    <p:sldId id="420" r:id="rId25"/>
    <p:sldId id="422" r:id="rId26"/>
    <p:sldId id="423" r:id="rId27"/>
    <p:sldId id="426" r:id="rId28"/>
    <p:sldId id="424" r:id="rId29"/>
    <p:sldId id="425" r:id="rId30"/>
    <p:sldId id="427" r:id="rId31"/>
    <p:sldId id="428" r:id="rId32"/>
    <p:sldId id="429" r:id="rId33"/>
    <p:sldId id="430" r:id="rId34"/>
    <p:sldId id="431" r:id="rId35"/>
    <p:sldId id="432" r:id="rId36"/>
    <p:sldId id="433" r:id="rId37"/>
    <p:sldId id="434" r:id="rId38"/>
    <p:sldId id="435" r:id="rId39"/>
    <p:sldId id="437" r:id="rId40"/>
    <p:sldId id="419" r:id="rId41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0211" autoAdjust="0"/>
  </p:normalViewPr>
  <p:slideViewPr>
    <p:cSldViewPr snapToObjects="1">
      <p:cViewPr varScale="1">
        <p:scale>
          <a:sx n="86" d="100"/>
          <a:sy n="86" d="100"/>
        </p:scale>
        <p:origin x="1176" y="5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22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‹#›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3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2473F04-DD3B-4D87-8FAF-958F4AFF59CA}"/>
              </a:ext>
            </a:extLst>
          </p:cNvPr>
          <p:cNvSpPr txBox="1">
            <a:spLocks/>
          </p:cNvSpPr>
          <p:nvPr/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15’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35CFBC2-77A7-4046-96F4-F1C9BF9008B5}"/>
              </a:ext>
            </a:extLst>
          </p:cNvPr>
          <p:cNvSpPr txBox="1">
            <a:spLocks/>
          </p:cNvSpPr>
          <p:nvPr/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/>
              <a:t>Tính VGS, VDS và trạng thái của MOSFET</a:t>
            </a:r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20A593A-66FE-49AA-9FAD-00F8276E3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95026" y="6459787"/>
            <a:ext cx="3918528" cy="365125"/>
          </a:xfrm>
        </p:spPr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D8E5E3C5-2495-4FD0-8B44-66902FCD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4123" y="6459787"/>
            <a:ext cx="1066021" cy="365125"/>
          </a:xfrm>
        </p:spPr>
        <p:txBody>
          <a:bodyPr/>
          <a:lstStyle/>
          <a:p>
            <a:fld id="{1DB5ABAE-A3C1-4AF6-9B4A-B8A593CBFB77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EA5046D-1565-408B-8681-42B9D01C7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745" y="2422213"/>
            <a:ext cx="41243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9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6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thuật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đặc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chế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hoạt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số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cơ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bản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>
              <a:buClr>
                <a:srgbClr val="FFC000"/>
              </a:buClr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đặc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b="1" dirty="0"/>
              <a:t>Op-Amp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 err="1"/>
              <a:t>chế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b="1" dirty="0"/>
              <a:t>Op-Amp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b="1" dirty="0"/>
              <a:t>Op-Amp</a:t>
            </a:r>
          </a:p>
        </p:txBody>
      </p:sp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b="1" dirty="0" err="1"/>
              <a:t>Mạch</a:t>
            </a:r>
            <a:r>
              <a:rPr lang="en-US" sz="2400" b="1" dirty="0"/>
              <a:t> </a:t>
            </a:r>
            <a:r>
              <a:rPr lang="en-US" sz="2400" b="1" dirty="0" err="1"/>
              <a:t>khuếch</a:t>
            </a:r>
            <a:r>
              <a:rPr lang="en-US" sz="2400" b="1" dirty="0"/>
              <a:t> </a:t>
            </a:r>
            <a:r>
              <a:rPr lang="en-US" sz="2400" b="1" dirty="0" err="1"/>
              <a:t>đại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Op-Amp</a:t>
            </a:r>
            <a:endParaRPr lang="en-US" b="1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Op-Amp </a:t>
            </a:r>
            <a:r>
              <a:rPr lang="en-US" dirty="0" err="1"/>
              <a:t>có</a:t>
            </a:r>
            <a:r>
              <a:rPr lang="en-US" dirty="0"/>
              <a:t> 5 </a:t>
            </a:r>
            <a:r>
              <a:rPr lang="en-US" dirty="0" err="1"/>
              <a:t>cổng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(Inverting Input Terminal)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(Non-Inverting Input Terminal)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(Supply Voltage </a:t>
            </a:r>
            <a:r>
              <a:rPr lang="mr-IN" dirty="0"/>
              <a:t>–</a:t>
            </a:r>
            <a:r>
              <a:rPr lang="en-US" dirty="0"/>
              <a:t> Terminal)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 (Supply Voltage + Terminal)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(Output Terminal)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Op-Amp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-</a:t>
            </a:r>
            <a:r>
              <a:rPr lang="en-US" dirty="0" err="1"/>
              <a:t>Vcc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+</a:t>
            </a:r>
            <a:r>
              <a:rPr lang="en-US" dirty="0" err="1"/>
              <a:t>Vcc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Vcc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(supply voltage) </a:t>
            </a:r>
            <a:r>
              <a:rPr lang="en-US" dirty="0" err="1"/>
              <a:t>cho</a:t>
            </a:r>
            <a:r>
              <a:rPr lang="en-US" dirty="0"/>
              <a:t> Op-Amp.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89025" y="2753925"/>
            <a:ext cx="3299490" cy="2368714"/>
            <a:chOff x="6289025" y="2753925"/>
            <a:chExt cx="3299490" cy="2368714"/>
          </a:xfrm>
        </p:grpSpPr>
        <p:grpSp>
          <p:nvGrpSpPr>
            <p:cNvPr id="14" name="Group 13"/>
            <p:cNvGrpSpPr/>
            <p:nvPr/>
          </p:nvGrpSpPr>
          <p:grpSpPr>
            <a:xfrm>
              <a:off x="6289025" y="2753925"/>
              <a:ext cx="3299490" cy="2368714"/>
              <a:chOff x="6069810" y="2753925"/>
              <a:chExt cx="3299490" cy="2368714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6913554" y="2753925"/>
                <a:ext cx="2455746" cy="2368714"/>
                <a:chOff x="6913554" y="2843935"/>
                <a:chExt cx="2455746" cy="2368714"/>
              </a:xfrm>
            </p:grpSpPr>
            <p:pic>
              <p:nvPicPr>
                <p:cNvPr id="5" name="Picture 4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913554" y="3203975"/>
                  <a:ext cx="2455746" cy="1761970"/>
                </a:xfrm>
                <a:prstGeom prst="rect">
                  <a:avLst/>
                </a:prstGeom>
              </p:spPr>
            </p:pic>
            <p:sp>
              <p:nvSpPr>
                <p:cNvPr id="7" name="TextBox 6"/>
                <p:cNvSpPr txBox="1"/>
                <p:nvPr/>
              </p:nvSpPr>
              <p:spPr>
                <a:xfrm>
                  <a:off x="8061862" y="2843935"/>
                  <a:ext cx="645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/>
                    <a:t>+</a:t>
                  </a:r>
                  <a:r>
                    <a:rPr lang="en-US" sz="1600" dirty="0" err="1"/>
                    <a:t>Vcc</a:t>
                  </a:r>
                  <a:endParaRPr lang="en-US" sz="1800" dirty="0"/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8092788" y="4874095"/>
                  <a:ext cx="58331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-</a:t>
                  </a:r>
                  <a:r>
                    <a:rPr lang="en-US" sz="1600" dirty="0" err="1"/>
                    <a:t>Vcc</a:t>
                  </a:r>
                  <a:endParaRPr lang="en-US" sz="1600" dirty="0"/>
                </a:p>
              </p:txBody>
            </p:sp>
          </p:grpSp>
          <p:sp>
            <p:nvSpPr>
              <p:cNvPr id="12" name="TextBox 11"/>
              <p:cNvSpPr txBox="1"/>
              <p:nvPr/>
            </p:nvSpPr>
            <p:spPr>
              <a:xfrm>
                <a:off x="6258145" y="3294274"/>
                <a:ext cx="93677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069810" y="3969060"/>
                <a:ext cx="135846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Non-Inverting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8818765" y="3569188"/>
              <a:ext cx="7546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354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b="1" dirty="0" err="1"/>
              <a:t>Mạch</a:t>
            </a:r>
            <a:r>
              <a:rPr lang="en-US" sz="2400" b="1" dirty="0"/>
              <a:t> </a:t>
            </a:r>
            <a:r>
              <a:rPr lang="en-US" sz="2400" b="1" dirty="0" err="1"/>
              <a:t>khuếch</a:t>
            </a:r>
            <a:r>
              <a:rPr lang="en-US" sz="2400" b="1" dirty="0"/>
              <a:t> </a:t>
            </a:r>
            <a:r>
              <a:rPr lang="en-US" sz="2400" b="1" dirty="0" err="1"/>
              <a:t>đại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Op-Amp </a:t>
            </a:r>
            <a:r>
              <a:rPr lang="en-US" sz="2400" b="1" dirty="0" err="1"/>
              <a:t>lý</a:t>
            </a:r>
            <a:r>
              <a:rPr lang="en-US" sz="2400" b="1" dirty="0"/>
              <a:t> </a:t>
            </a:r>
            <a:r>
              <a:rPr lang="en-US" sz="2400" b="1" dirty="0" err="1"/>
              <a:t>tưởng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) 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cùng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Offset voltage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không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232" y="3680553"/>
            <a:ext cx="4093758" cy="26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68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984" y="2438890"/>
            <a:ext cx="4451561" cy="2685740"/>
          </a:xfrm>
          <a:prstGeom prst="rect">
            <a:avLst/>
          </a:prstGeom>
        </p:spPr>
      </p:pic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703179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b="1" dirty="0" err="1"/>
              <a:t>Mạch</a:t>
            </a:r>
            <a:r>
              <a:rPr lang="en-US" sz="2400" b="1" dirty="0"/>
              <a:t> </a:t>
            </a:r>
            <a:r>
              <a:rPr lang="en-US" sz="2400" b="1" dirty="0" err="1"/>
              <a:t>khuếch</a:t>
            </a:r>
            <a:r>
              <a:rPr lang="en-US" sz="2400" b="1" dirty="0"/>
              <a:t> </a:t>
            </a:r>
            <a:r>
              <a:rPr lang="en-US" sz="2400" b="1" dirty="0" err="1"/>
              <a:t>đại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Op-Amp </a:t>
            </a:r>
            <a:r>
              <a:rPr lang="en-US" sz="2400" b="1" dirty="0" err="1"/>
              <a:t>thực</a:t>
            </a:r>
            <a:r>
              <a:rPr lang="en-US" sz="2400" b="1" dirty="0"/>
              <a:t> </a:t>
            </a:r>
            <a:r>
              <a:rPr lang="en-US" sz="2400" b="1" dirty="0" err="1"/>
              <a:t>tế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bé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bù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Op-Amp</a:t>
            </a:r>
          </a:p>
        </p:txBody>
      </p:sp>
    </p:spTree>
    <p:extLst>
      <p:ext uri="{BB962C8B-B14F-4D97-AF65-F5344CB8AC3E}">
        <p14:creationId xmlns:p14="http://schemas.microsoft.com/office/powerpoint/2010/main" val="60068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b="1" dirty="0" err="1"/>
              <a:t>Mạch</a:t>
            </a:r>
            <a:r>
              <a:rPr lang="en-US" sz="2400" b="1" dirty="0"/>
              <a:t> </a:t>
            </a:r>
            <a:r>
              <a:rPr lang="en-US" sz="2400" b="1" dirty="0" err="1"/>
              <a:t>khuếch</a:t>
            </a:r>
            <a:r>
              <a:rPr lang="en-US" sz="2400" b="1" dirty="0"/>
              <a:t> </a:t>
            </a:r>
            <a:r>
              <a:rPr lang="en-US" sz="2400" b="1" dirty="0" err="1"/>
              <a:t>đại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Op-Amp </a:t>
            </a:r>
            <a:r>
              <a:rPr lang="en-US" sz="2400" b="1" dirty="0" err="1"/>
              <a:t>thực</a:t>
            </a:r>
            <a:r>
              <a:rPr lang="en-US" sz="2400" b="1" dirty="0"/>
              <a:t> </a:t>
            </a:r>
            <a:r>
              <a:rPr lang="en-US" sz="2400" b="1" dirty="0" err="1"/>
              <a:t>tế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3" y="2663915"/>
            <a:ext cx="96901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b="1" dirty="0" err="1"/>
              <a:t>Mạch</a:t>
            </a:r>
            <a:r>
              <a:rPr lang="en-US" sz="2400" b="1" dirty="0"/>
              <a:t> </a:t>
            </a:r>
            <a:r>
              <a:rPr lang="en-US" sz="2400" b="1" dirty="0" err="1"/>
              <a:t>khuếch</a:t>
            </a:r>
            <a:r>
              <a:rPr lang="en-US" sz="2400" b="1" dirty="0"/>
              <a:t> </a:t>
            </a:r>
            <a:r>
              <a:rPr lang="en-US" sz="2400" b="1" dirty="0" err="1"/>
              <a:t>đại</a:t>
            </a:r>
            <a:r>
              <a:rPr lang="en-US" sz="2400" b="1" dirty="0"/>
              <a:t> </a:t>
            </a:r>
            <a:r>
              <a:rPr lang="en-US" sz="2400" b="1" dirty="0" err="1"/>
              <a:t>thuật</a:t>
            </a:r>
            <a:r>
              <a:rPr lang="en-US" sz="2400" b="1" dirty="0"/>
              <a:t> </a:t>
            </a:r>
            <a:r>
              <a:rPr lang="en-US" sz="2400" b="1" dirty="0" err="1"/>
              <a:t>toán</a:t>
            </a:r>
            <a:r>
              <a:rPr lang="en-US" sz="2400" b="1" dirty="0"/>
              <a:t> Op-Amp </a:t>
            </a:r>
            <a:r>
              <a:rPr lang="en-US" sz="2400" b="1" dirty="0" err="1"/>
              <a:t>thực</a:t>
            </a:r>
            <a:r>
              <a:rPr lang="en-US" sz="2400" b="1" dirty="0"/>
              <a:t> </a:t>
            </a:r>
            <a:r>
              <a:rPr lang="en-US" sz="2400" b="1" dirty="0" err="1"/>
              <a:t>tế</a:t>
            </a:r>
            <a:endParaRPr lang="en-US" b="1" dirty="0"/>
          </a:p>
        </p:txBody>
      </p:sp>
      <p:pic>
        <p:nvPicPr>
          <p:cNvPr id="7" name="Picture 2" descr="http://upload.wikimedia.org/wikipedia/commons/thumb/e/e0/OpAmpTransistorLevel_Colored_Labeled.svg/780px-OpAmpTransistorLevel_Colored_Labeled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395" y="2348880"/>
            <a:ext cx="6523865" cy="401468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7475" y="4216353"/>
            <a:ext cx="1707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00FF"/>
                </a:solidFill>
              </a:rPr>
              <a:t>Mạch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khuếch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đại</a:t>
            </a:r>
            <a:r>
              <a:rPr lang="en-US" sz="2000" dirty="0">
                <a:solidFill>
                  <a:srgbClr val="0000FF"/>
                </a:solidFill>
              </a:rPr>
              <a:t> vi </a:t>
            </a:r>
            <a:r>
              <a:rPr lang="en-US" sz="2000" dirty="0" err="1">
                <a:solidFill>
                  <a:srgbClr val="0000FF"/>
                </a:solidFill>
              </a:rPr>
              <a:t>sai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08295" y="5331404"/>
            <a:ext cx="1707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E014F0"/>
                </a:solidFill>
              </a:rPr>
              <a:t>Mạch</a:t>
            </a:r>
            <a:r>
              <a:rPr lang="en-US" sz="2000" dirty="0">
                <a:solidFill>
                  <a:srgbClr val="E014F0"/>
                </a:solidFill>
              </a:rPr>
              <a:t> </a:t>
            </a:r>
            <a:r>
              <a:rPr lang="en-US" sz="2000" dirty="0" err="1">
                <a:solidFill>
                  <a:srgbClr val="E014F0"/>
                </a:solidFill>
              </a:rPr>
              <a:t>khuếch</a:t>
            </a:r>
            <a:r>
              <a:rPr lang="en-US" sz="2000" dirty="0">
                <a:solidFill>
                  <a:srgbClr val="E014F0"/>
                </a:solidFill>
              </a:rPr>
              <a:t> </a:t>
            </a:r>
            <a:r>
              <a:rPr lang="en-US" sz="2000" dirty="0" err="1">
                <a:solidFill>
                  <a:srgbClr val="E014F0"/>
                </a:solidFill>
              </a:rPr>
              <a:t>đại</a:t>
            </a:r>
            <a:r>
              <a:rPr lang="en-US" sz="2000" dirty="0">
                <a:solidFill>
                  <a:srgbClr val="E014F0"/>
                </a:solidFill>
              </a:rPr>
              <a:t> </a:t>
            </a:r>
            <a:r>
              <a:rPr lang="en-US" sz="2000" dirty="0" err="1">
                <a:solidFill>
                  <a:srgbClr val="E014F0"/>
                </a:solidFill>
              </a:rPr>
              <a:t>áp</a:t>
            </a:r>
            <a:endParaRPr lang="en-US" sz="2000" dirty="0">
              <a:solidFill>
                <a:srgbClr val="E014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33320" y="3023955"/>
            <a:ext cx="1707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Mạch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khuếch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đại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dòng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552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dirty="0" err="1"/>
              <a:t>Mạch</a:t>
            </a:r>
            <a:r>
              <a:rPr lang="en-US" sz="2400" dirty="0"/>
              <a:t> </a:t>
            </a:r>
            <a:r>
              <a:rPr lang="en-US" sz="2400" dirty="0" err="1"/>
              <a:t>khuếch</a:t>
            </a:r>
            <a:r>
              <a:rPr lang="en-US" sz="2400" dirty="0"/>
              <a:t> </a:t>
            </a:r>
            <a:r>
              <a:rPr lang="en-US" sz="2400" dirty="0" err="1"/>
              <a:t>đại</a:t>
            </a:r>
            <a:r>
              <a:rPr lang="en-US" sz="2400" dirty="0"/>
              <a:t>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hoạt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:</a:t>
            </a:r>
          </a:p>
          <a:p>
            <a:pPr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Differential mode</a:t>
            </a:r>
          </a:p>
          <a:p>
            <a:pPr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Common mode</a:t>
            </a:r>
          </a:p>
        </p:txBody>
      </p:sp>
    </p:spTree>
    <p:extLst>
      <p:ext uri="{BB962C8B-B14F-4D97-AF65-F5344CB8AC3E}">
        <p14:creationId xmlns:p14="http://schemas.microsoft.com/office/powerpoint/2010/main" val="119925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/>
              <a:t>Differential mode </a:t>
            </a:r>
            <a:r>
              <a:rPr lang="en-US" sz="2400" dirty="0" err="1"/>
              <a:t>bao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: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Single-ended: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1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đất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(a):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(inverting input),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(b):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(non-inverting input),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4539668"/>
            <a:ext cx="7200800" cy="17568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290" y="5410135"/>
            <a:ext cx="630070" cy="8852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782870" y="5429563"/>
            <a:ext cx="627503" cy="88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2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400" dirty="0"/>
              <a:t>Differential mode </a:t>
            </a:r>
            <a:r>
              <a:rPr lang="en-US" sz="2400" dirty="0" err="1"/>
              <a:t>bao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:</a:t>
            </a:r>
            <a:endParaRPr lang="en-US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Single-ended: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1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.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Double-ended: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Op-Amp,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nhiêu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pPr marL="0" indent="0" fontAlgn="auto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9" y="3982818"/>
            <a:ext cx="8079152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80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dirty="0"/>
              <a:t>Common mode: Hai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,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ở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.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.</a:t>
            </a:r>
          </a:p>
          <a:p>
            <a:pPr marL="0" indent="0" algn="just" fontAlgn="auto">
              <a:buNone/>
            </a:pPr>
            <a:endParaRPr lang="en-US" sz="2400" dirty="0"/>
          </a:p>
          <a:p>
            <a:pPr marL="0" indent="0" algn="just" fontAlgn="auto">
              <a:buNone/>
            </a:pPr>
            <a:endParaRPr lang="en-US" sz="2400" dirty="0"/>
          </a:p>
          <a:p>
            <a:pPr marL="0" indent="0" algn="just" fontAlgn="auto">
              <a:buNone/>
            </a:pPr>
            <a:endParaRPr lang="en-US" sz="2400" dirty="0"/>
          </a:p>
          <a:p>
            <a:pPr marL="0" indent="0" algn="just" fontAlgn="auto">
              <a:buNone/>
            </a:pPr>
            <a:endParaRPr lang="en-US" sz="2400" dirty="0"/>
          </a:p>
          <a:p>
            <a:pPr marL="0" indent="0" algn="just" fontAlgn="auto">
              <a:buNone/>
            </a:pP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ở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Op-Amp.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,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Do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Op-Amp,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(differential mode)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khử</a:t>
            </a:r>
            <a:r>
              <a:rPr lang="en-US" dirty="0"/>
              <a:t> (common mode)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410" y="2843935"/>
            <a:ext cx="38862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38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(CMRR)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hở</a:t>
            </a:r>
            <a:r>
              <a:rPr lang="en-US" dirty="0"/>
              <a:t> (Open-loop Voltage Gain)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(Maximum Output Voltage Swing)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(Input Offset Voltage)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(Input Offset Current)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(Input Bias Current)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(Input Impedance)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(Output Impedance)</a:t>
            </a:r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dốc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(Slew-rate)</a:t>
            </a:r>
          </a:p>
          <a:p>
            <a:pPr marL="0" indent="0" fontAlgn="auto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85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triệt</a:t>
            </a:r>
            <a:r>
              <a:rPr lang="en-US" sz="2400" dirty="0"/>
              <a:t> </a:t>
            </a:r>
            <a:r>
              <a:rPr lang="en-US" sz="2400" dirty="0" err="1"/>
              <a:t>tín</a:t>
            </a:r>
            <a:r>
              <a:rPr lang="en-US" sz="2400" dirty="0"/>
              <a:t> </a:t>
            </a:r>
            <a:r>
              <a:rPr lang="en-US" sz="2400" dirty="0" err="1"/>
              <a:t>hiệu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pha</a:t>
            </a:r>
            <a:r>
              <a:rPr lang="en-US" sz="2400" dirty="0"/>
              <a:t> (Common-mode Rejection Ratio)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.</a:t>
            </a:r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			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CMRR = 100,000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gấp</a:t>
            </a:r>
            <a:r>
              <a:rPr lang="en-US" dirty="0"/>
              <a:t> 100,000 </a:t>
            </a:r>
            <a:r>
              <a:rPr lang="en-US" dirty="0" err="1"/>
              <a:t>lần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CMRR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dB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75" y="3338990"/>
            <a:ext cx="2430270" cy="9207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737864" y="3320971"/>
            <a:ext cx="53722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/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Với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A</a:t>
            </a:r>
            <a:r>
              <a:rPr lang="en-US" sz="2000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ol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là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độ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lợi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vòng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hở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(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o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pen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l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oop) # 200,000</a:t>
            </a:r>
          </a:p>
          <a:p>
            <a:pPr algn="l" fontAlgn="auto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và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A</a:t>
            </a:r>
            <a:r>
              <a:rPr lang="en-US" sz="2000" baseline="-25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cm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là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độ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lợi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đồng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pha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 (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c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ommon-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"/>
              </a:rPr>
              <a:t>ode) #&lt; 1</a:t>
            </a:r>
            <a:endParaRPr lang="en-US" sz="2000" baseline="-250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835" y="4848299"/>
            <a:ext cx="3681645" cy="105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9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lợi</a:t>
            </a:r>
            <a:r>
              <a:rPr lang="en-US" sz="2400" dirty="0"/>
              <a:t> </a:t>
            </a:r>
            <a:r>
              <a:rPr lang="en-US" sz="2400" dirty="0" err="1"/>
              <a:t>vòng</a:t>
            </a:r>
            <a:r>
              <a:rPr lang="en-US" sz="2400" dirty="0"/>
              <a:t> </a:t>
            </a:r>
            <a:r>
              <a:rPr lang="en-US" sz="2400" dirty="0" err="1"/>
              <a:t>hở</a:t>
            </a:r>
            <a:r>
              <a:rPr lang="en-US" sz="2400" dirty="0"/>
              <a:t> (Open-loop Voltage Gain)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ol</a:t>
            </a:r>
            <a:endParaRPr lang="en-US" baseline="-25000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Op-Amp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kì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ol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200,000 (106 dB)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ý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118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5449289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V</a:t>
            </a:r>
            <a:r>
              <a:rPr lang="en-US" baseline="-25000" dirty="0"/>
              <a:t>O(p-p)</a:t>
            </a:r>
            <a:r>
              <a:rPr lang="en-US" dirty="0"/>
              <a:t> 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.</a:t>
            </a:r>
            <a:r>
              <a:rPr lang="en-US" baseline="-25000" dirty="0"/>
              <a:t> 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baseline="-25000" dirty="0"/>
              <a:t> </a:t>
            </a:r>
            <a:r>
              <a:rPr lang="en-US" dirty="0" err="1"/>
              <a:t>Một</a:t>
            </a:r>
            <a:r>
              <a:rPr lang="en-US" dirty="0"/>
              <a:t> Op-Amp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Op-Amp </a:t>
            </a:r>
            <a:r>
              <a:rPr lang="en-US" dirty="0" err="1"/>
              <a:t>Vcc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,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bé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Vcc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tải</a:t>
            </a:r>
            <a:endParaRPr lang="en-US" dirty="0"/>
          </a:p>
          <a:p>
            <a:pPr marL="0" indent="0" algn="just" fontAlgn="auto">
              <a:buNone/>
            </a:pPr>
            <a:endParaRPr lang="en-US" dirty="0"/>
          </a:p>
        </p:txBody>
      </p:sp>
      <p:grpSp>
        <p:nvGrpSpPr>
          <p:cNvPr id="7" name="Group 15"/>
          <p:cNvGrpSpPr/>
          <p:nvPr/>
        </p:nvGrpSpPr>
        <p:grpSpPr>
          <a:xfrm>
            <a:off x="6573180" y="2545451"/>
            <a:ext cx="3299490" cy="2368714"/>
            <a:chOff x="6289025" y="2753925"/>
            <a:chExt cx="3299490" cy="2368714"/>
          </a:xfrm>
        </p:grpSpPr>
        <p:grpSp>
          <p:nvGrpSpPr>
            <p:cNvPr id="9" name="Group 13"/>
            <p:cNvGrpSpPr/>
            <p:nvPr/>
          </p:nvGrpSpPr>
          <p:grpSpPr>
            <a:xfrm>
              <a:off x="6289025" y="2753925"/>
              <a:ext cx="3299490" cy="2368714"/>
              <a:chOff x="6069810" y="2753925"/>
              <a:chExt cx="3299490" cy="2368714"/>
            </a:xfrm>
          </p:grpSpPr>
          <p:grpSp>
            <p:nvGrpSpPr>
              <p:cNvPr id="12" name="Group 8"/>
              <p:cNvGrpSpPr/>
              <p:nvPr/>
            </p:nvGrpSpPr>
            <p:grpSpPr>
              <a:xfrm>
                <a:off x="6913554" y="2753925"/>
                <a:ext cx="2455746" cy="2368714"/>
                <a:chOff x="6913554" y="2843935"/>
                <a:chExt cx="2455746" cy="2368714"/>
              </a:xfrm>
            </p:grpSpPr>
            <p:pic>
              <p:nvPicPr>
                <p:cNvPr id="15" name="Picture 4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913554" y="3203975"/>
                  <a:ext cx="2455746" cy="1761970"/>
                </a:xfrm>
                <a:prstGeom prst="rect">
                  <a:avLst/>
                </a:prstGeom>
              </p:spPr>
            </p:pic>
            <p:sp>
              <p:nvSpPr>
                <p:cNvPr id="16" name="TextBox 6"/>
                <p:cNvSpPr txBox="1"/>
                <p:nvPr/>
              </p:nvSpPr>
              <p:spPr>
                <a:xfrm>
                  <a:off x="8061862" y="2843935"/>
                  <a:ext cx="645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/>
                    <a:t>+</a:t>
                  </a:r>
                  <a:r>
                    <a:rPr lang="en-US" sz="1600" dirty="0" err="1"/>
                    <a:t>Vcc</a:t>
                  </a:r>
                  <a:endParaRPr lang="en-US" sz="1800" dirty="0"/>
                </a:p>
              </p:txBody>
            </p:sp>
            <p:sp>
              <p:nvSpPr>
                <p:cNvPr id="17" name="TextBox 9"/>
                <p:cNvSpPr txBox="1"/>
                <p:nvPr/>
              </p:nvSpPr>
              <p:spPr>
                <a:xfrm>
                  <a:off x="8092788" y="4874095"/>
                  <a:ext cx="58331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-</a:t>
                  </a:r>
                  <a:r>
                    <a:rPr lang="en-US" sz="1600" dirty="0" err="1"/>
                    <a:t>Vcc</a:t>
                  </a:r>
                  <a:endParaRPr lang="en-US" sz="1600" dirty="0"/>
                </a:p>
              </p:txBody>
            </p:sp>
          </p:grpSp>
          <p:sp>
            <p:nvSpPr>
              <p:cNvPr id="13" name="TextBox 11"/>
              <p:cNvSpPr txBox="1"/>
              <p:nvPr/>
            </p:nvSpPr>
            <p:spPr>
              <a:xfrm>
                <a:off x="6258145" y="3294274"/>
                <a:ext cx="93677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  <p:sp>
            <p:nvSpPr>
              <p:cNvPr id="14" name="TextBox 12"/>
              <p:cNvSpPr txBox="1"/>
              <p:nvPr/>
            </p:nvSpPr>
            <p:spPr>
              <a:xfrm>
                <a:off x="6069810" y="3969060"/>
                <a:ext cx="135846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Non-Inverting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</p:grpSp>
        <p:sp>
          <p:nvSpPr>
            <p:cNvPr id="10" name="TextBox 14"/>
            <p:cNvSpPr txBox="1"/>
            <p:nvPr/>
          </p:nvSpPr>
          <p:spPr>
            <a:xfrm>
              <a:off x="8818765" y="3569188"/>
              <a:ext cx="7546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Output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820248" y="5122684"/>
            <a:ext cx="85245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fontAlgn="auto">
              <a:buNone/>
            </a:pPr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: </a:t>
            </a:r>
          </a:p>
          <a:p>
            <a:pPr marL="0" indent="0" algn="just" fontAlgn="auto">
              <a:buNone/>
            </a:pPr>
            <a:r>
              <a:rPr lang="en-US" sz="2000" dirty="0"/>
              <a:t>Op-Amp KA741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Vcc</a:t>
            </a:r>
            <a:r>
              <a:rPr lang="en-US" sz="2000" dirty="0"/>
              <a:t>=</a:t>
            </a:r>
            <a:r>
              <a:rPr lang="en-US" sz="2000" dirty="0">
                <a:sym typeface="Symbol" panose="05050102010706020507" pitchFamily="18" charset="2"/>
              </a:rPr>
              <a:t> 15V, </a:t>
            </a:r>
            <a:r>
              <a:rPr lang="en-US" sz="2000" dirty="0" err="1">
                <a:sym typeface="Symbol" panose="05050102010706020507" pitchFamily="18" charset="2"/>
              </a:rPr>
              <a:t>nhưng</a:t>
            </a:r>
            <a:r>
              <a:rPr lang="en-US" sz="2000" dirty="0"/>
              <a:t> V</a:t>
            </a:r>
            <a:r>
              <a:rPr lang="en-US" sz="2000" baseline="-25000" dirty="0"/>
              <a:t>O(p-p)</a:t>
            </a:r>
            <a:r>
              <a:rPr lang="en-US" sz="2000" dirty="0"/>
              <a:t>= </a:t>
            </a:r>
            <a:r>
              <a:rPr lang="en-US" sz="2000" dirty="0">
                <a:sym typeface="Symbol" panose="05050102010706020507" pitchFamily="18" charset="2"/>
              </a:rPr>
              <a:t> 13V </a:t>
            </a:r>
            <a:r>
              <a:rPr lang="en-US" sz="2000" dirty="0" err="1">
                <a:sym typeface="Symbol" panose="05050102010706020507" pitchFamily="18" charset="2"/>
              </a:rPr>
              <a:t>khi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dirty="0" err="1">
                <a:sym typeface="Symbol" panose="05050102010706020507" pitchFamily="18" charset="2"/>
              </a:rPr>
              <a:t>tải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dirty="0" err="1">
                <a:sym typeface="Symbol" panose="05050102010706020507" pitchFamily="18" charset="2"/>
              </a:rPr>
              <a:t>bằng</a:t>
            </a:r>
            <a:r>
              <a:rPr lang="en-US" sz="2000" dirty="0">
                <a:sym typeface="Symbol" panose="05050102010706020507" pitchFamily="18" charset="2"/>
              </a:rPr>
              <a:t> 2k  </a:t>
            </a:r>
            <a:r>
              <a:rPr lang="en-US" sz="2000" dirty="0" err="1">
                <a:sym typeface="Symbol" panose="05050102010706020507" pitchFamily="18" charset="2"/>
              </a:rPr>
              <a:t>và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</a:p>
          <a:p>
            <a:pPr marL="0" indent="0" algn="just" fontAlgn="auto">
              <a:buNone/>
            </a:pPr>
            <a:r>
              <a:rPr lang="en-US" sz="2000" dirty="0"/>
              <a:t>V</a:t>
            </a:r>
            <a:r>
              <a:rPr lang="en-US" sz="2000" baseline="-25000" dirty="0"/>
              <a:t>O(p-p)</a:t>
            </a:r>
            <a:r>
              <a:rPr lang="en-US" sz="2000" dirty="0"/>
              <a:t>= </a:t>
            </a:r>
            <a:r>
              <a:rPr lang="en-US" sz="2000" dirty="0">
                <a:sym typeface="Symbol" panose="05050102010706020507" pitchFamily="18" charset="2"/>
              </a:rPr>
              <a:t> 14V </a:t>
            </a:r>
            <a:r>
              <a:rPr lang="en-US" sz="2000" dirty="0" err="1">
                <a:sym typeface="Symbol" panose="05050102010706020507" pitchFamily="18" charset="2"/>
              </a:rPr>
              <a:t>khi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dirty="0" err="1">
                <a:sym typeface="Symbol" panose="05050102010706020507" pitchFamily="18" charset="2"/>
              </a:rPr>
              <a:t>tải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dirty="0" err="1">
                <a:sym typeface="Symbol" panose="05050102010706020507" pitchFamily="18" charset="2"/>
              </a:rPr>
              <a:t>bằng</a:t>
            </a:r>
            <a:r>
              <a:rPr lang="en-US" sz="2000" dirty="0">
                <a:sym typeface="Symbol" panose="05050102010706020507" pitchFamily="18" charset="2"/>
              </a:rPr>
              <a:t> 10k</a:t>
            </a:r>
            <a:endParaRPr lang="en-US" sz="2000" dirty="0"/>
          </a:p>
        </p:txBody>
      </p:sp>
      <p:sp>
        <p:nvSpPr>
          <p:cNvPr id="19" name="Content Placeholder 11"/>
          <p:cNvSpPr txBox="1">
            <a:spLocks/>
          </p:cNvSpPr>
          <p:nvPr/>
        </p:nvSpPr>
        <p:spPr>
          <a:xfrm>
            <a:off x="887453" y="1853013"/>
            <a:ext cx="7964971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/>
              <a:t>Ngưỡng</a:t>
            </a:r>
            <a:r>
              <a:rPr lang="en-US" sz="2400" dirty="0"/>
              <a:t> </a:t>
            </a:r>
            <a:r>
              <a:rPr lang="en-US" sz="2400" dirty="0" err="1"/>
              <a:t>áp</a:t>
            </a:r>
            <a:r>
              <a:rPr lang="en-US" sz="2400" dirty="0"/>
              <a:t>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đa</a:t>
            </a:r>
            <a:r>
              <a:rPr lang="en-US" sz="2400" dirty="0"/>
              <a:t> (Maximum Output Voltage Swing)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798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V</a:t>
            </a:r>
            <a:r>
              <a:rPr lang="en-US" baseline="-25000" dirty="0"/>
              <a:t>OS</a:t>
            </a:r>
            <a:r>
              <a:rPr lang="en-US" dirty="0"/>
              <a:t> 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ở Op-Amp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0</a:t>
            </a:r>
            <a:endParaRPr lang="en-US" baseline="-25000" dirty="0"/>
          </a:p>
          <a:p>
            <a:pPr marL="0" indent="0" algn="just" fontAlgn="auto">
              <a:buNone/>
            </a:pPr>
            <a:endParaRPr lang="en-US" dirty="0"/>
          </a:p>
        </p:txBody>
      </p:sp>
      <p:grpSp>
        <p:nvGrpSpPr>
          <p:cNvPr id="7" name="Group 15"/>
          <p:cNvGrpSpPr/>
          <p:nvPr/>
        </p:nvGrpSpPr>
        <p:grpSpPr>
          <a:xfrm>
            <a:off x="3432765" y="3969060"/>
            <a:ext cx="3299490" cy="2368714"/>
            <a:chOff x="6289025" y="2753925"/>
            <a:chExt cx="3299490" cy="2368714"/>
          </a:xfrm>
        </p:grpSpPr>
        <p:grpSp>
          <p:nvGrpSpPr>
            <p:cNvPr id="9" name="Group 13"/>
            <p:cNvGrpSpPr/>
            <p:nvPr/>
          </p:nvGrpSpPr>
          <p:grpSpPr>
            <a:xfrm>
              <a:off x="6289025" y="2753925"/>
              <a:ext cx="3299490" cy="2368714"/>
              <a:chOff x="6069810" y="2753925"/>
              <a:chExt cx="3299490" cy="2368714"/>
            </a:xfrm>
          </p:grpSpPr>
          <p:grpSp>
            <p:nvGrpSpPr>
              <p:cNvPr id="12" name="Group 8"/>
              <p:cNvGrpSpPr/>
              <p:nvPr/>
            </p:nvGrpSpPr>
            <p:grpSpPr>
              <a:xfrm>
                <a:off x="6913554" y="2753925"/>
                <a:ext cx="2455746" cy="2368714"/>
                <a:chOff x="6913554" y="2843935"/>
                <a:chExt cx="2455746" cy="2368714"/>
              </a:xfrm>
            </p:grpSpPr>
            <p:pic>
              <p:nvPicPr>
                <p:cNvPr id="15" name="Picture 4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913554" y="3203975"/>
                  <a:ext cx="2455746" cy="1761970"/>
                </a:xfrm>
                <a:prstGeom prst="rect">
                  <a:avLst/>
                </a:prstGeom>
              </p:spPr>
            </p:pic>
            <p:sp>
              <p:nvSpPr>
                <p:cNvPr id="16" name="TextBox 6"/>
                <p:cNvSpPr txBox="1"/>
                <p:nvPr/>
              </p:nvSpPr>
              <p:spPr>
                <a:xfrm>
                  <a:off x="8061862" y="2843935"/>
                  <a:ext cx="645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800" dirty="0"/>
                    <a:t>+</a:t>
                  </a:r>
                  <a:r>
                    <a:rPr lang="en-US" sz="1600" dirty="0" err="1"/>
                    <a:t>Vcc</a:t>
                  </a:r>
                  <a:endParaRPr lang="en-US" sz="1800" dirty="0"/>
                </a:p>
              </p:txBody>
            </p:sp>
            <p:sp>
              <p:nvSpPr>
                <p:cNvPr id="17" name="TextBox 9"/>
                <p:cNvSpPr txBox="1"/>
                <p:nvPr/>
              </p:nvSpPr>
              <p:spPr>
                <a:xfrm>
                  <a:off x="8092788" y="4874095"/>
                  <a:ext cx="58331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-</a:t>
                  </a:r>
                  <a:r>
                    <a:rPr lang="en-US" sz="1600" dirty="0" err="1"/>
                    <a:t>Vcc</a:t>
                  </a:r>
                  <a:endParaRPr lang="en-US" sz="1600" dirty="0"/>
                </a:p>
              </p:txBody>
            </p:sp>
          </p:grpSp>
          <p:sp>
            <p:nvSpPr>
              <p:cNvPr id="13" name="TextBox 11"/>
              <p:cNvSpPr txBox="1"/>
              <p:nvPr/>
            </p:nvSpPr>
            <p:spPr>
              <a:xfrm>
                <a:off x="6258145" y="3294274"/>
                <a:ext cx="93677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  <p:sp>
            <p:nvSpPr>
              <p:cNvPr id="14" name="TextBox 12"/>
              <p:cNvSpPr txBox="1"/>
              <p:nvPr/>
            </p:nvSpPr>
            <p:spPr>
              <a:xfrm>
                <a:off x="6069810" y="3969060"/>
                <a:ext cx="135846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Non-Inverting</a:t>
                </a:r>
              </a:p>
              <a:p>
                <a:r>
                  <a:rPr lang="en-US" sz="1600" dirty="0"/>
                  <a:t>Input</a:t>
                </a:r>
              </a:p>
            </p:txBody>
          </p:sp>
        </p:grpSp>
        <p:sp>
          <p:nvSpPr>
            <p:cNvPr id="10" name="TextBox 14"/>
            <p:cNvSpPr txBox="1"/>
            <p:nvPr/>
          </p:nvSpPr>
          <p:spPr>
            <a:xfrm>
              <a:off x="8818765" y="3569188"/>
              <a:ext cx="7546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Output</a:t>
              </a:r>
            </a:p>
          </p:txBody>
        </p:sp>
      </p:grpSp>
      <p:sp>
        <p:nvSpPr>
          <p:cNvPr id="19" name="Content Placeholder 11"/>
          <p:cNvSpPr txBox="1">
            <a:spLocks/>
          </p:cNvSpPr>
          <p:nvPr/>
        </p:nvSpPr>
        <p:spPr>
          <a:xfrm>
            <a:off x="887453" y="1853013"/>
            <a:ext cx="7964971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/>
              <a:t>Điện</a:t>
            </a:r>
            <a:r>
              <a:rPr lang="en-US" sz="2400" dirty="0"/>
              <a:t> </a:t>
            </a:r>
            <a:r>
              <a:rPr lang="en-US" sz="2400" dirty="0" err="1"/>
              <a:t>áp</a:t>
            </a:r>
            <a:r>
              <a:rPr lang="en-US" sz="2400" dirty="0"/>
              <a:t> </a:t>
            </a:r>
            <a:r>
              <a:rPr lang="en-US" sz="2400" dirty="0" err="1"/>
              <a:t>bù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(Input Offset Voltage)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520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/>
              <a:t>Dòng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cực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I</a:t>
            </a:r>
            <a:r>
              <a:rPr lang="en-US" sz="2400" baseline="-25000" dirty="0"/>
              <a:t>BIAS </a:t>
            </a:r>
            <a:r>
              <a:rPr lang="en-US" sz="2400" dirty="0"/>
              <a:t>(Input Bias Current)</a:t>
            </a:r>
            <a:endParaRPr lang="en-US" sz="2400" baseline="-25000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cường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vi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Op-Amp		</a:t>
            </a:r>
          </a:p>
          <a:p>
            <a:pPr marL="0" indent="0" algn="just" fontAlgn="auto">
              <a:buNone/>
            </a:pPr>
            <a:r>
              <a:rPr lang="en-US" sz="2400" dirty="0" err="1"/>
              <a:t>Dòng</a:t>
            </a:r>
            <a:r>
              <a:rPr lang="en-US" sz="2400" dirty="0"/>
              <a:t> </a:t>
            </a:r>
            <a:r>
              <a:rPr lang="en-US" sz="2400" dirty="0" err="1"/>
              <a:t>bù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I</a:t>
            </a:r>
            <a:r>
              <a:rPr lang="en-US" sz="2400" baseline="-25000" dirty="0"/>
              <a:t>OS</a:t>
            </a:r>
            <a:r>
              <a:rPr lang="en-US" sz="2400" dirty="0"/>
              <a:t> (Input Offset Current)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cường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vi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ngõ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Op-Amp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740" y="4732577"/>
            <a:ext cx="3448050" cy="141922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230" y="5299314"/>
            <a:ext cx="1343025" cy="28575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275" y="5223114"/>
            <a:ext cx="13430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88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/>
              <a:t>Trở</a:t>
            </a:r>
            <a:r>
              <a:rPr lang="en-US" sz="2400" dirty="0"/>
              <a:t> </a:t>
            </a:r>
            <a:r>
              <a:rPr lang="en-US" sz="2400" dirty="0" err="1"/>
              <a:t>kháng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: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ở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Differential mode Z</a:t>
            </a:r>
            <a:r>
              <a:rPr lang="en-US" baseline="-25000" dirty="0"/>
              <a:t>IN(d)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ở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common-mode Z</a:t>
            </a:r>
            <a:r>
              <a:rPr lang="en-US" baseline="-25000" dirty="0"/>
              <a:t>IN(cm)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r>
              <a:rPr lang="en-US" sz="2400" dirty="0" err="1"/>
              <a:t>Trở</a:t>
            </a:r>
            <a:r>
              <a:rPr lang="en-US" sz="2400" dirty="0"/>
              <a:t> </a:t>
            </a:r>
            <a:r>
              <a:rPr lang="en-US" sz="2400" dirty="0" err="1"/>
              <a:t>kháng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Op-Amp Z</a:t>
            </a:r>
            <a:r>
              <a:rPr lang="en-US" sz="2400" baseline="-25000" dirty="0"/>
              <a:t>OUT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73" y="3286999"/>
            <a:ext cx="5794973" cy="152173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125" y="4722181"/>
            <a:ext cx="28003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86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br>
              <a:rPr lang="en-US" dirty="0"/>
            </a:br>
            <a:r>
              <a:rPr lang="en-US" dirty="0"/>
              <a:t>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dốc</a:t>
            </a:r>
            <a:r>
              <a:rPr lang="en-US" sz="2400" dirty="0"/>
              <a:t> </a:t>
            </a:r>
            <a:r>
              <a:rPr lang="en-US" sz="2400" dirty="0" err="1"/>
              <a:t>điện</a:t>
            </a:r>
            <a:r>
              <a:rPr lang="en-US" sz="2400" dirty="0"/>
              <a:t> </a:t>
            </a:r>
            <a:r>
              <a:rPr lang="en-US" sz="2400" dirty="0" err="1"/>
              <a:t>áp</a:t>
            </a:r>
            <a:r>
              <a:rPr lang="en-US" sz="2400" dirty="0"/>
              <a:t> (Slew-rate)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 ở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baseline="-25000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02" y="2916723"/>
            <a:ext cx="8258175" cy="33528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815" y="5381947"/>
            <a:ext cx="21621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62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21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10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7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thuật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hồi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tiếp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âm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sử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dụng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hồi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tiếp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âm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Trở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(Input and Output Impedances)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Dòng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hiêu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điện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thế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bù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(Bias current and Offset Voltage)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Băng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hoạt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22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6768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Problem!!!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Op-Amp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,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100,000 </a:t>
            </a:r>
            <a:r>
              <a:rPr lang="en-US" dirty="0" err="1"/>
              <a:t>đến</a:t>
            </a:r>
            <a:r>
              <a:rPr lang="en-US" dirty="0"/>
              <a:t> 200,000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1mV,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:</a:t>
            </a:r>
          </a:p>
          <a:p>
            <a:pPr marL="0" indent="0" algn="just" fontAlgn="auto">
              <a:buNone/>
            </a:pPr>
            <a:r>
              <a:rPr lang="en-US" dirty="0"/>
              <a:t>		</a:t>
            </a:r>
            <a:r>
              <a:rPr lang="en-US" dirty="0" err="1"/>
              <a:t>Vout</a:t>
            </a:r>
            <a:r>
              <a:rPr lang="en-US" dirty="0"/>
              <a:t>=Vin x </a:t>
            </a:r>
            <a:r>
              <a:rPr lang="en-US" dirty="0" err="1"/>
              <a:t>A</a:t>
            </a:r>
            <a:r>
              <a:rPr lang="en-US" baseline="-25000" dirty="0" err="1"/>
              <a:t>ol</a:t>
            </a:r>
            <a:r>
              <a:rPr lang="en-US" dirty="0"/>
              <a:t> = 1mV x 100,000 = 100V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100V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Op-Amp, do </a:t>
            </a:r>
            <a:r>
              <a:rPr lang="en-US" dirty="0" err="1"/>
              <a:t>đó</a:t>
            </a:r>
            <a:r>
              <a:rPr lang="en-US" dirty="0"/>
              <a:t> Op-Amp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rơi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bão</a:t>
            </a:r>
            <a:r>
              <a:rPr lang="en-US" dirty="0"/>
              <a:t> </a:t>
            </a:r>
            <a:r>
              <a:rPr lang="en-US" dirty="0" err="1"/>
              <a:t>hòa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Do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Op-Amp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b="1" dirty="0" err="1"/>
              <a:t>hồi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r>
              <a:rPr lang="en-US" b="1" dirty="0"/>
              <a:t> </a:t>
            </a:r>
            <a:r>
              <a:rPr lang="en-US" b="1" dirty="0" err="1"/>
              <a:t>âm</a:t>
            </a:r>
            <a:endParaRPr lang="en-US" b="1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5" y="4194085"/>
            <a:ext cx="4043700" cy="138521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264" y="4251752"/>
            <a:ext cx="4097570" cy="126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5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âm</a:t>
            </a:r>
            <a:br>
              <a:rPr lang="en-US" dirty="0"/>
            </a:br>
            <a:r>
              <a:rPr lang="en-US" dirty="0"/>
              <a:t>(Negative Feedback)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180</a:t>
            </a:r>
            <a:r>
              <a:rPr lang="en-US" dirty="0">
                <a:sym typeface="Symbol" panose="05050102010706020507" pitchFamily="18" charset="2"/>
              </a:rPr>
              <a:t>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baseline="-25000" dirty="0">
              <a:sym typeface="Symbol" panose="05050102010706020507" pitchFamily="18" charset="2"/>
            </a:endParaRP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baseline="-25000" dirty="0">
              <a:sym typeface="Symbol" panose="05050102010706020507" pitchFamily="18" charset="2"/>
            </a:endParaRP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baseline="-25000" dirty="0">
              <a:sym typeface="Symbol" panose="05050102010706020507" pitchFamily="18" charset="2"/>
            </a:endParaRPr>
          </a:p>
          <a:p>
            <a:pPr marL="0" indent="0" algn="just" fontAlgn="auto">
              <a:buNone/>
            </a:pPr>
            <a:endParaRPr lang="en-US" baseline="-25000" dirty="0">
              <a:sym typeface="Symbol" panose="05050102010706020507" pitchFamily="18" charset="2"/>
            </a:endParaRP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baseline="-25000" dirty="0">
              <a:sym typeface="Symbol" panose="05050102010706020507" pitchFamily="18" charset="2"/>
            </a:endParaRP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Nhờ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việc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sử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dụng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hồi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tiếp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âm</a:t>
            </a:r>
            <a:r>
              <a:rPr lang="en-US" dirty="0">
                <a:sym typeface="Symbol" panose="05050102010706020507" pitchFamily="18" charset="2"/>
              </a:rPr>
              <a:t>, Op-Amp </a:t>
            </a:r>
            <a:r>
              <a:rPr lang="en-US" dirty="0" err="1">
                <a:sym typeface="Symbol" panose="05050102010706020507" pitchFamily="18" charset="2"/>
              </a:rPr>
              <a:t>sẽ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hoạt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động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trong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vùng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tuyến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tính</a:t>
            </a:r>
            <a:r>
              <a:rPr lang="en-US" dirty="0">
                <a:sym typeface="Symbol" panose="05050102010706020507" pitchFamily="18" charset="2"/>
              </a:rPr>
              <a:t>. </a:t>
            </a:r>
            <a:r>
              <a:rPr lang="en-US" dirty="0" err="1">
                <a:sym typeface="Symbol" panose="05050102010706020507" pitchFamily="18" charset="2"/>
              </a:rPr>
              <a:t>Đồng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thời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 err="1">
                <a:sym typeface="Symbol" panose="05050102010706020507" pitchFamily="18" charset="2"/>
              </a:rPr>
              <a:t>hệ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số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thể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thay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đổi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theo</a:t>
            </a:r>
            <a:r>
              <a:rPr lang="en-US" dirty="0">
                <a:sym typeface="Symbol" panose="05050102010706020507" pitchFamily="18" charset="2"/>
              </a:rPr>
              <a:t> ý </a:t>
            </a:r>
            <a:r>
              <a:rPr lang="en-US" dirty="0" err="1">
                <a:sym typeface="Symbol" panose="05050102010706020507" pitchFamily="18" charset="2"/>
              </a:rPr>
              <a:t>muốn</a:t>
            </a:r>
            <a:r>
              <a:rPr lang="en-US" dirty="0">
                <a:sym typeface="Symbol" panose="05050102010706020507" pitchFamily="18" charset="2"/>
              </a:rPr>
              <a:t>. </a:t>
            </a:r>
            <a:r>
              <a:rPr lang="en-US" dirty="0" err="1">
                <a:sym typeface="Symbol" panose="05050102010706020507" pitchFamily="18" charset="2"/>
              </a:rPr>
              <a:t>Ngoài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ra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 err="1">
                <a:sym typeface="Symbol" panose="05050102010706020507" pitchFamily="18" charset="2"/>
              </a:rPr>
              <a:t>băng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thông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hoạt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động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 err="1">
                <a:sym typeface="Symbol" panose="05050102010706020507" pitchFamily="18" charset="2"/>
              </a:rPr>
              <a:t>trở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kháng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đầu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trở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kháng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đầu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ra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thể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điều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chỉnh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Hệ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số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của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hồi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tiếp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âm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gọi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là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hệ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số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vòng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kín</a:t>
            </a:r>
            <a:r>
              <a:rPr lang="en-US" dirty="0">
                <a:sym typeface="Symbol" panose="05050102010706020507" pitchFamily="18" charset="2"/>
              </a:rPr>
              <a:t> (closed loop gain) </a:t>
            </a:r>
            <a:r>
              <a:rPr lang="en-US" dirty="0" err="1">
                <a:sym typeface="Symbol" panose="05050102010706020507" pitchFamily="18" charset="2"/>
              </a:rPr>
              <a:t>A</a:t>
            </a:r>
            <a:r>
              <a:rPr lang="en-US" baseline="-25000" dirty="0" err="1">
                <a:sym typeface="Symbol" panose="05050102010706020507" pitchFamily="18" charset="2"/>
              </a:rPr>
              <a:t>cl</a:t>
            </a:r>
            <a:endParaRPr lang="en-US" baseline="-25000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088" y="2348880"/>
            <a:ext cx="348535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42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âm</a:t>
            </a:r>
            <a:br>
              <a:rPr lang="en-US" dirty="0"/>
            </a:br>
            <a:r>
              <a:rPr lang="en-US" dirty="0"/>
              <a:t>(Negative Feedback)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ba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mạch</a:t>
            </a:r>
            <a:r>
              <a:rPr lang="en-US" sz="2400" dirty="0"/>
              <a:t> </a:t>
            </a:r>
            <a:r>
              <a:rPr lang="en-US" sz="2400" dirty="0" err="1"/>
              <a:t>hồi</a:t>
            </a:r>
            <a:r>
              <a:rPr lang="en-US" sz="2400" dirty="0"/>
              <a:t> </a:t>
            </a:r>
            <a:r>
              <a:rPr lang="en-US" sz="2400" dirty="0" err="1"/>
              <a:t>tiếp</a:t>
            </a:r>
            <a:r>
              <a:rPr lang="en-US" sz="2400" dirty="0"/>
              <a:t> </a:t>
            </a:r>
            <a:r>
              <a:rPr lang="en-US" sz="2400" dirty="0" err="1"/>
              <a:t>âm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Op-Amp</a:t>
            </a:r>
            <a:r>
              <a:rPr lang="en-US" dirty="0"/>
              <a:t> 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không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r>
              <a:rPr lang="en-US" dirty="0">
                <a:sym typeface="Symbol" panose="05050102010706020507" pitchFamily="18" charset="2"/>
              </a:rPr>
              <a:t> (Non-Inverting Amplifier)</a:t>
            </a:r>
            <a:endParaRPr lang="en-US" baseline="-25000" dirty="0">
              <a:sym typeface="Symbol" panose="05050102010706020507" pitchFamily="18" charset="2"/>
            </a:endParaRP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theo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điện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áp</a:t>
            </a:r>
            <a:r>
              <a:rPr lang="en-US" dirty="0">
                <a:sym typeface="Symbol" panose="05050102010706020507" pitchFamily="18" charset="2"/>
              </a:rPr>
              <a:t> (Voltage Follower)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r>
              <a:rPr lang="en-US" dirty="0">
                <a:sym typeface="Symbol" panose="05050102010706020507" pitchFamily="18" charset="2"/>
              </a:rPr>
              <a:t> (Inverting Amplifier)</a:t>
            </a:r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31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(Non-Inverting Amplifier)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Là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tín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hiệu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cần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kết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cổng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không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r>
              <a:rPr lang="en-US" dirty="0">
                <a:sym typeface="Symbol" panose="05050102010706020507" pitchFamily="18" charset="2"/>
              </a:rPr>
              <a:t> (Non-Inverting Terminal)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tín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hiệu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hồi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tiếp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sẽ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kết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cổng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r>
              <a:rPr lang="en-US" dirty="0">
                <a:sym typeface="Symbol" panose="05050102010706020507" pitchFamily="18" charset="2"/>
              </a:rPr>
              <a:t> (Inverting Terminal)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880" y="3150778"/>
            <a:ext cx="5029200" cy="30861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90" y="4094795"/>
            <a:ext cx="2066925" cy="885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9650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(Non-Inverting Amplifier)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Là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tín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hiệu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cần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kết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cổng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không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r>
              <a:rPr lang="en-US" dirty="0">
                <a:sym typeface="Symbol" panose="05050102010706020507" pitchFamily="18" charset="2"/>
              </a:rPr>
              <a:t> (Non-Inverting Terminal)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tín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hiệu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hồi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tiếp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sẽ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kết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cổng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r>
              <a:rPr lang="en-US" dirty="0">
                <a:sym typeface="Symbol" panose="05050102010706020507" pitchFamily="18" charset="2"/>
              </a:rPr>
              <a:t> (Inverting Terminal)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880" y="3150778"/>
            <a:ext cx="5029200" cy="30861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90" y="4094795"/>
            <a:ext cx="2066925" cy="885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9120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br>
              <a:rPr lang="en-US" dirty="0"/>
            </a:br>
            <a:r>
              <a:rPr lang="en-US" dirty="0"/>
              <a:t>(Voltage Follower)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grpSp>
        <p:nvGrpSpPr>
          <p:cNvPr id="10" name="Groupe 9"/>
          <p:cNvGrpSpPr/>
          <p:nvPr/>
        </p:nvGrpSpPr>
        <p:grpSpPr>
          <a:xfrm>
            <a:off x="5924550" y="1932835"/>
            <a:ext cx="3981450" cy="3333750"/>
            <a:chOff x="5924550" y="2705540"/>
            <a:chExt cx="3981450" cy="3333750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4550" y="2705540"/>
              <a:ext cx="3981450" cy="3333750"/>
            </a:xfrm>
            <a:prstGeom prst="rect">
              <a:avLst/>
            </a:prstGeom>
          </p:spPr>
        </p:pic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68530" y="4676040"/>
              <a:ext cx="1504950" cy="47625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2" name="Content Placeholder 11"/>
          <p:cNvSpPr txBox="1">
            <a:spLocks/>
          </p:cNvSpPr>
          <p:nvPr/>
        </p:nvSpPr>
        <p:spPr>
          <a:xfrm>
            <a:off x="891540" y="1898018"/>
            <a:ext cx="5366605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Là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trường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hợp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đặc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biệt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của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r>
              <a:rPr lang="en-US" dirty="0">
                <a:sym typeface="Symbol" panose="05050102010706020507" pitchFamily="18" charset="2"/>
              </a:rPr>
              <a:t>. </a:t>
            </a:r>
            <a:r>
              <a:rPr lang="en-US" dirty="0" err="1">
                <a:sym typeface="Symbol" panose="05050102010706020507" pitchFamily="18" charset="2"/>
              </a:rPr>
              <a:t>Lúc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này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Rf</a:t>
            </a:r>
            <a:r>
              <a:rPr lang="en-US" dirty="0">
                <a:sym typeface="Symbol" panose="05050102010706020507" pitchFamily="18" charset="2"/>
              </a:rPr>
              <a:t> = 0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Ri</a:t>
            </a:r>
            <a:r>
              <a:rPr lang="en-US" dirty="0">
                <a:sym typeface="Symbol" panose="05050102010706020507" pitchFamily="18" charset="2"/>
              </a:rPr>
              <a:t> = . </a:t>
            </a:r>
            <a:r>
              <a:rPr lang="en-US" dirty="0" err="1">
                <a:sym typeface="Symbol" panose="05050102010706020507" pitchFamily="18" charset="2"/>
              </a:rPr>
              <a:t>Lúc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này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 err="1">
                <a:sym typeface="Symbol" panose="05050102010706020507" pitchFamily="18" charset="2"/>
              </a:rPr>
              <a:t>hệ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số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sẽ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bằng</a:t>
            </a:r>
            <a:r>
              <a:rPr lang="en-US" dirty="0">
                <a:sym typeface="Symbol" panose="05050102010706020507" pitchFamily="18" charset="2"/>
              </a:rPr>
              <a:t> 1.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Voltage Follower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trở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kháng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đầu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rất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cao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trở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kháng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đầu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ra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rất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thấp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Nhờ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tính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chất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trên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Voltage Follower </a:t>
            </a:r>
            <a:r>
              <a:rPr lang="en-US" dirty="0" err="1">
                <a:sym typeface="Symbol" panose="05050102010706020507" pitchFamily="18" charset="2"/>
              </a:rPr>
              <a:t>thường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sử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dụng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để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kết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giữa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nguồn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thông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thường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với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tải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trở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kháng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thấp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giữa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tải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thông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thường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với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nguồn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trở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kháng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cao</a:t>
            </a:r>
            <a:endParaRPr lang="en-US" dirty="0">
              <a:sym typeface="Symbol" panose="05050102010706020507" pitchFamily="18" charset="2"/>
            </a:endParaRPr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71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đảo</a:t>
            </a:r>
            <a:br>
              <a:rPr lang="en-US" dirty="0"/>
            </a:br>
            <a:r>
              <a:rPr lang="en-US" dirty="0"/>
              <a:t>(Inverting Amplifier)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Là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tín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hiệu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cần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kết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cổng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r>
              <a:rPr lang="en-US" dirty="0">
                <a:sym typeface="Symbol" panose="05050102010706020507" pitchFamily="18" charset="2"/>
              </a:rPr>
              <a:t> (Inverting Terminal) </a:t>
            </a:r>
            <a:r>
              <a:rPr lang="en-US" dirty="0" err="1">
                <a:sym typeface="Symbol" panose="05050102010706020507" pitchFamily="18" charset="2"/>
              </a:rPr>
              <a:t>thông</a:t>
            </a:r>
            <a:r>
              <a:rPr lang="en-US" dirty="0">
                <a:sym typeface="Symbol" panose="05050102010706020507" pitchFamily="18" charset="2"/>
              </a:rPr>
              <a:t> qua </a:t>
            </a:r>
            <a:r>
              <a:rPr lang="en-US" dirty="0" err="1">
                <a:sym typeface="Symbol" panose="05050102010706020507" pitchFamily="18" charset="2"/>
              </a:rPr>
              <a:t>điện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trở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Ri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tín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hiệu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hồi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tiếp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sẽ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kết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cổng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thông</a:t>
            </a:r>
            <a:r>
              <a:rPr lang="en-US" dirty="0">
                <a:sym typeface="Symbol" panose="05050102010706020507" pitchFamily="18" charset="2"/>
              </a:rPr>
              <a:t> qua </a:t>
            </a:r>
            <a:r>
              <a:rPr lang="en-US" dirty="0" err="1">
                <a:sym typeface="Symbol" panose="05050102010706020507" pitchFamily="18" charset="2"/>
              </a:rPr>
              <a:t>điện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trở</a:t>
            </a:r>
            <a:r>
              <a:rPr lang="en-US" dirty="0">
                <a:sym typeface="Symbol" panose="05050102010706020507" pitchFamily="18" charset="2"/>
              </a:rPr>
              <a:t> Rf. </a:t>
            </a:r>
            <a:r>
              <a:rPr lang="en-US" dirty="0" err="1">
                <a:sym typeface="Symbol" panose="05050102010706020507" pitchFamily="18" charset="2"/>
              </a:rPr>
              <a:t>Cổng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không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r>
              <a:rPr lang="en-US" dirty="0">
                <a:sym typeface="Symbol" panose="05050102010706020507" pitchFamily="18" charset="2"/>
              </a:rPr>
              <a:t> (Non-Inverting Terminal) </a:t>
            </a:r>
            <a:r>
              <a:rPr lang="en-US" dirty="0" err="1">
                <a:sym typeface="Symbol" panose="05050102010706020507" pitchFamily="18" charset="2"/>
              </a:rPr>
              <a:t>sẽ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được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với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đất</a:t>
            </a:r>
            <a:r>
              <a:rPr lang="en-US" dirty="0">
                <a:sym typeface="Symbol" panose="05050102010706020507" pitchFamily="18" charset="2"/>
              </a:rPr>
              <a:t>.</a:t>
            </a:r>
            <a:endParaRPr lang="en-US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030" y="3013707"/>
            <a:ext cx="4562475" cy="3048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535" y="4412012"/>
            <a:ext cx="2225030" cy="1147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5809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âm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không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endParaRPr lang="en-US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474" y="1991414"/>
            <a:ext cx="5029200" cy="3086100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937436" y="2614812"/>
            <a:ext cx="3359991" cy="1929999"/>
            <a:chOff x="554285" y="3260725"/>
            <a:chExt cx="3359991" cy="1929999"/>
          </a:xfrm>
        </p:grpSpPr>
        <p:graphicFrame>
          <p:nvGraphicFramePr>
            <p:cNvPr id="1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9952764"/>
                </p:ext>
              </p:extLst>
            </p:nvPr>
          </p:nvGraphicFramePr>
          <p:xfrm>
            <a:off x="1131430" y="3260725"/>
            <a:ext cx="2209800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8" name="Equation" r:id="rId4" imgW="1320227" imgH="253890" progId="">
                    <p:embed/>
                  </p:oleObj>
                </mc:Choice>
                <mc:Fallback>
                  <p:oleObj name="Equation" r:id="rId4" imgW="1320227" imgH="25389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1430" y="3260725"/>
                          <a:ext cx="2209800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2652006"/>
                </p:ext>
              </p:extLst>
            </p:nvPr>
          </p:nvGraphicFramePr>
          <p:xfrm>
            <a:off x="1107042" y="4143375"/>
            <a:ext cx="2017713" cy="744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9" name="Equation" r:id="rId6" imgW="1205977" imgH="444307" progId="">
                    <p:embed/>
                  </p:oleObj>
                </mc:Choice>
                <mc:Fallback>
                  <p:oleObj name="Equation" r:id="rId6" imgW="1205977" imgH="444307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7042" y="4143375"/>
                          <a:ext cx="2017713" cy="744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554285" y="3579812"/>
              <a:ext cx="33528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 err="1">
                  <a:solidFill>
                    <a:srgbClr val="FF0000"/>
                  </a:solidFill>
                </a:rPr>
                <a:t>Thông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thường</a:t>
              </a:r>
              <a:r>
                <a:rPr lang="en-US" sz="2000" dirty="0">
                  <a:solidFill>
                    <a:srgbClr val="FF0000"/>
                  </a:solidFill>
                </a:rPr>
                <a:t>, </a:t>
              </a:r>
              <a:r>
                <a:rPr lang="en-US" sz="2000" dirty="0" err="1">
                  <a:solidFill>
                    <a:srgbClr val="FF0000"/>
                  </a:solidFill>
                </a:rPr>
                <a:t>có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giá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trị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là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cs typeface="Times New Roman" pitchFamily="18" charset="0"/>
                </a:rPr>
                <a:t>∞</a:t>
              </a:r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561476" y="4793849"/>
              <a:ext cx="3352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 err="1">
                  <a:solidFill>
                    <a:srgbClr val="FF0000"/>
                  </a:solidFill>
                </a:rPr>
                <a:t>Thông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thường</a:t>
              </a:r>
              <a:r>
                <a:rPr lang="en-US" sz="2000" dirty="0">
                  <a:solidFill>
                    <a:srgbClr val="FF0000"/>
                  </a:solidFill>
                </a:rPr>
                <a:t>, </a:t>
              </a:r>
              <a:r>
                <a:rPr lang="en-US" sz="2000" dirty="0" err="1">
                  <a:solidFill>
                    <a:srgbClr val="FF0000"/>
                  </a:solidFill>
                </a:rPr>
                <a:t>có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giá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trị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là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cs typeface="Times New Roman" pitchFamily="18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1176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âm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8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khuếch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đảo</a:t>
            </a:r>
            <a:endParaRPr lang="en-US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grpSp>
        <p:nvGrpSpPr>
          <p:cNvPr id="7" name="Groupe 6"/>
          <p:cNvGrpSpPr/>
          <p:nvPr/>
        </p:nvGrpSpPr>
        <p:grpSpPr>
          <a:xfrm>
            <a:off x="937436" y="2618910"/>
            <a:ext cx="3359991" cy="1925901"/>
            <a:chOff x="937436" y="2618910"/>
            <a:chExt cx="3359991" cy="1925901"/>
          </a:xfrm>
        </p:grpSpPr>
        <p:grpSp>
          <p:nvGrpSpPr>
            <p:cNvPr id="5" name="Groupe 4"/>
            <p:cNvGrpSpPr/>
            <p:nvPr/>
          </p:nvGrpSpPr>
          <p:grpSpPr>
            <a:xfrm>
              <a:off x="937436" y="2933899"/>
              <a:ext cx="3359991" cy="1610912"/>
              <a:chOff x="554285" y="3579812"/>
              <a:chExt cx="3359991" cy="1610912"/>
            </a:xfrm>
          </p:grpSpPr>
          <p:sp>
            <p:nvSpPr>
              <p:cNvPr id="16" name="Text Box 19"/>
              <p:cNvSpPr txBox="1">
                <a:spLocks noChangeArrowheads="1"/>
              </p:cNvSpPr>
              <p:nvPr/>
            </p:nvSpPr>
            <p:spPr bwMode="auto">
              <a:xfrm>
                <a:off x="554285" y="3579812"/>
                <a:ext cx="33528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dirty="0" err="1">
                    <a:solidFill>
                      <a:srgbClr val="FF0000"/>
                    </a:solidFill>
                  </a:rPr>
                  <a:t>Thông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thường</a:t>
                </a:r>
                <a:r>
                  <a:rPr lang="en-US" sz="2000" dirty="0">
                    <a:solidFill>
                      <a:srgbClr val="FF0000"/>
                    </a:solidFill>
                  </a:rPr>
                  <a:t>,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có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giá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trị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là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cs typeface="Times New Roman" pitchFamily="18" charset="0"/>
                  </a:rPr>
                  <a:t>∞</a:t>
                </a:r>
              </a:p>
            </p:txBody>
          </p:sp>
          <p:sp>
            <p:nvSpPr>
              <p:cNvPr id="17" name="Text Box 20"/>
              <p:cNvSpPr txBox="1">
                <a:spLocks noChangeArrowheads="1"/>
              </p:cNvSpPr>
              <p:nvPr/>
            </p:nvSpPr>
            <p:spPr bwMode="auto">
              <a:xfrm>
                <a:off x="561476" y="4793849"/>
                <a:ext cx="33528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dirty="0" err="1">
                    <a:solidFill>
                      <a:srgbClr val="FF0000"/>
                    </a:solidFill>
                  </a:rPr>
                  <a:t>Thông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thường</a:t>
                </a:r>
                <a:r>
                  <a:rPr lang="en-US" sz="2000" dirty="0">
                    <a:solidFill>
                      <a:srgbClr val="FF0000"/>
                    </a:solidFill>
                  </a:rPr>
                  <a:t>,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có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giá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trị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là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cs typeface="Times New Roman" pitchFamily="18" charset="0"/>
                  </a:rPr>
                  <a:t>0</a:t>
                </a:r>
              </a:p>
            </p:txBody>
          </p:sp>
        </p:grpSp>
        <p:graphicFrame>
          <p:nvGraphicFramePr>
            <p:cNvPr id="1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9524984"/>
                </p:ext>
              </p:extLst>
            </p:nvPr>
          </p:nvGraphicFramePr>
          <p:xfrm>
            <a:off x="2093136" y="2618910"/>
            <a:ext cx="1041400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" name="Equation" r:id="rId3" imgW="622030" imgH="241195" progId="">
                    <p:embed/>
                  </p:oleObj>
                </mc:Choice>
                <mc:Fallback>
                  <p:oleObj name="Equation" r:id="rId3" imgW="622030" imgH="241195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3136" y="2618910"/>
                          <a:ext cx="1041400" cy="403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421022"/>
              </p:ext>
            </p:extLst>
          </p:nvPr>
        </p:nvGraphicFramePr>
        <p:xfrm>
          <a:off x="1665352" y="3519010"/>
          <a:ext cx="19113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5" imgW="1143000" imgH="444240" progId="">
                  <p:embed/>
                </p:oleObj>
              </mc:Choice>
              <mc:Fallback>
                <p:oleObj name="Equation" r:id="rId5" imgW="1143000" imgH="4442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352" y="3519010"/>
                        <a:ext cx="1911350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Imag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7794" y="2123855"/>
            <a:ext cx="45624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43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bù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99" y="2447453"/>
            <a:ext cx="4525509" cy="2224789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6304599" y="3480227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áp</a:t>
            </a:r>
            <a:endParaRPr lang="en-US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050" y="1829427"/>
            <a:ext cx="3664064" cy="1734928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1352600" y="4867715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kđ</a:t>
            </a:r>
            <a:r>
              <a:rPr lang="en-US" dirty="0"/>
              <a:t> </a:t>
            </a:r>
            <a:r>
              <a:rPr lang="en-US" dirty="0" err="1"/>
              <a:t>đảo</a:t>
            </a:r>
            <a:endParaRPr lang="en-US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599" y="3967477"/>
            <a:ext cx="2975825" cy="2322422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5253100" y="5695138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kđ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97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9" name="ZoneTexte 8"/>
          <p:cNvSpPr txBox="1"/>
          <p:nvPr/>
        </p:nvSpPr>
        <p:spPr>
          <a:xfrm>
            <a:off x="6304599" y="3480227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áp</a:t>
            </a:r>
            <a:endParaRPr lang="en-US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050" y="1829427"/>
            <a:ext cx="3664064" cy="1734928"/>
          </a:xfrm>
          <a:prstGeom prst="rect">
            <a:avLst/>
          </a:prstGeom>
        </p:spPr>
      </p:pic>
      <p:sp>
        <p:nvSpPr>
          <p:cNvPr id="21" name="ZoneTexte 20"/>
          <p:cNvSpPr txBox="1"/>
          <p:nvPr/>
        </p:nvSpPr>
        <p:spPr>
          <a:xfrm>
            <a:off x="1352600" y="4867715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kđ</a:t>
            </a:r>
            <a:r>
              <a:rPr lang="en-US" dirty="0"/>
              <a:t> </a:t>
            </a:r>
            <a:r>
              <a:rPr lang="en-US" dirty="0" err="1"/>
              <a:t>đảo</a:t>
            </a:r>
            <a:endParaRPr lang="en-US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599" y="3967477"/>
            <a:ext cx="2975825" cy="2322422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5253100" y="5695138"/>
            <a:ext cx="27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kđ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endParaRPr lang="en-US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99" y="2447453"/>
            <a:ext cx="4525509" cy="2224789"/>
          </a:xfrm>
          <a:prstGeom prst="rect">
            <a:avLst/>
          </a:prstGeom>
        </p:spPr>
      </p:pic>
      <p:cxnSp>
        <p:nvCxnSpPr>
          <p:cNvPr id="7" name="Connecteur droit avec flèche 6"/>
          <p:cNvCxnSpPr/>
          <p:nvPr/>
        </p:nvCxnSpPr>
        <p:spPr>
          <a:xfrm>
            <a:off x="1487615" y="4284095"/>
            <a:ext cx="945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6573180" y="3967477"/>
            <a:ext cx="340374" cy="316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H="1" flipV="1">
            <a:off x="7792511" y="1907250"/>
            <a:ext cx="78703" cy="528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443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15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những</a:t>
            </a:r>
            <a:r>
              <a:rPr lang="en-US" dirty="0">
                <a:sym typeface="Symbol" panose="05050102010706020507" pitchFamily="18" charset="2"/>
              </a:rPr>
              <a:t> IC </a:t>
            </a:r>
            <a:r>
              <a:rPr lang="en-US" dirty="0" err="1">
                <a:sym typeface="Symbol" panose="05050102010706020507" pitchFamily="18" charset="2"/>
              </a:rPr>
              <a:t>cung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cấp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các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cổng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để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điều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chỉnh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với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mục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đích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hủy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giá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trị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hiệu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điện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thế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lỗi</a:t>
            </a:r>
            <a:r>
              <a:rPr lang="en-US" dirty="0">
                <a:sym typeface="Symbol" panose="05050102010706020507" pitchFamily="18" charset="2"/>
              </a:rPr>
              <a:t>.</a:t>
            </a:r>
            <a:endParaRPr lang="en-US" dirty="0"/>
          </a:p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31" y="2843935"/>
            <a:ext cx="7808068" cy="274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337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br>
              <a:rPr lang="en-US" dirty="0"/>
            </a:br>
            <a:r>
              <a:rPr lang="en-US" dirty="0" err="1"/>
              <a:t>của</a:t>
            </a:r>
            <a:r>
              <a:rPr lang="en-US" dirty="0"/>
              <a:t> Op-Amp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15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340" y="2480965"/>
            <a:ext cx="52768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54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br>
              <a:rPr lang="en-US" dirty="0"/>
            </a:br>
            <a:r>
              <a:rPr lang="en-US" dirty="0" err="1"/>
              <a:t>của</a:t>
            </a:r>
            <a:r>
              <a:rPr lang="en-US" dirty="0"/>
              <a:t> Op-Amp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âm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8381940" cy="436629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</p:txBody>
      </p:sp>
      <p:sp>
        <p:nvSpPr>
          <p:cNvPr id="15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buNone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001" y="2026590"/>
            <a:ext cx="5678578" cy="40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0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736368" y="1743376"/>
            <a:ext cx="55675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Times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-19213" y="1808820"/>
            <a:ext cx="3060774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Operational amplifier  </a:t>
            </a: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Differential mode</a:t>
            </a:r>
            <a:endParaRPr lang="en-US" b="1" i="1" dirty="0">
              <a:solidFill>
                <a:srgbClr val="0000FF"/>
              </a:solidFill>
              <a:latin typeface="Wingdings" pitchFamily="2" charset="2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Wingdings" pitchFamily="2" charset="2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Common mode</a:t>
            </a: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041561" y="1808820"/>
            <a:ext cx="621194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1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loại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mạch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khuếch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đại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hệ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số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kđ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cao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trở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kháng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rất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cao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trở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kháng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rất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thấp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khả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năng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khử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nhiễu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rất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tốt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3041561" y="3290208"/>
            <a:ext cx="621194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1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hoạt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động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Op-Amp,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đó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tín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hiệu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sẽ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ngược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pha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nhau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nối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2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cổng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(double ended)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hoặc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chỉ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1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tín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hiệu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nối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1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cổng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cổng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còn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lại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sẽ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nối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đất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(single ended)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041560" y="5094185"/>
            <a:ext cx="602242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trạng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thái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mà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tín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hiệu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cùng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pha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nhau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Giá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trị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sẽ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bằng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0</a:t>
            </a:r>
            <a:endParaRPr lang="en-US" b="1" i="1" dirty="0">
              <a:solidFill>
                <a:schemeClr val="tx1">
                  <a:lumMod val="65000"/>
                  <a:lumOff val="35000"/>
                </a:schemeClr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24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736368" y="1743376"/>
            <a:ext cx="55675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Times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0" y="1780570"/>
            <a:ext cx="2667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Open-loop voltage gain  </a:t>
            </a: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Negative feedback</a:t>
            </a:r>
            <a:endParaRPr lang="en-US" b="1" i="1" dirty="0">
              <a:solidFill>
                <a:srgbClr val="0000FF"/>
              </a:solidFill>
              <a:latin typeface="Wingdings" pitchFamily="2" charset="2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Wingdings" pitchFamily="2" charset="2"/>
              <a:cs typeface="Times New Roman" pitchFamily="18" charset="0"/>
            </a:endParaRP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Closed-loop voltage gain</a:t>
            </a: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  <a:p>
            <a:pPr algn="r"/>
            <a:r>
              <a:rPr lang="en-US" b="1" i="1" dirty="0">
                <a:solidFill>
                  <a:srgbClr val="0000FF"/>
                </a:solidFill>
                <a:latin typeface="Times" pitchFamily="18" charset="0"/>
                <a:cs typeface="Times New Roman" pitchFamily="18" charset="0"/>
              </a:rPr>
              <a:t>Gain-bandwidth product</a:t>
            </a:r>
          </a:p>
          <a:p>
            <a:pPr algn="r"/>
            <a:endParaRPr lang="en-US" b="1" i="1" dirty="0">
              <a:solidFill>
                <a:srgbClr val="0000FF"/>
              </a:solidFill>
              <a:latin typeface="Times" pitchFamily="18" charset="0"/>
              <a:cs typeface="Times New Roman" pitchFamily="18" charset="0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2644775" y="1796585"/>
            <a:ext cx="65837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hệ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số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khuếch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đại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Op-Amp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không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mạch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hồi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tiếp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2670175" y="2858741"/>
            <a:ext cx="6558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phương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pháp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sử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dụng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tín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hiệu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ra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nối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cổng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đảo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18" charset="0"/>
                <a:cs typeface="Times New Roman" pitchFamily="18" charset="0"/>
              </a:rPr>
              <a:t> Op-Amp.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2670175" y="3994834"/>
            <a:ext cx="6558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dirty="0" err="1">
                <a:solidFill>
                  <a:schemeClr val="tx2"/>
                </a:solidFill>
              </a:rPr>
              <a:t>Là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hệ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số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khuếch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đại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của</a:t>
            </a:r>
            <a:r>
              <a:rPr lang="en-US" dirty="0">
                <a:solidFill>
                  <a:schemeClr val="tx2"/>
                </a:solidFill>
              </a:rPr>
              <a:t> Op-Amp </a:t>
            </a:r>
            <a:r>
              <a:rPr lang="en-US" dirty="0" err="1">
                <a:solidFill>
                  <a:schemeClr val="tx2"/>
                </a:solidFill>
              </a:rPr>
              <a:t>khi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có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mạch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hồi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tiếp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2644776" y="5063986"/>
            <a:ext cx="6583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dirty="0" err="1">
                <a:solidFill>
                  <a:schemeClr val="tx2"/>
                </a:solidFill>
              </a:rPr>
              <a:t>Là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băng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thông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có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giá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trị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bằng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với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tần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số</a:t>
            </a:r>
            <a:r>
              <a:rPr lang="en-US" dirty="0">
                <a:solidFill>
                  <a:schemeClr val="tx2"/>
                </a:solidFill>
              </a:rPr>
              <a:t> f</a:t>
            </a:r>
            <a:r>
              <a:rPr lang="en-US" baseline="-25000" dirty="0">
                <a:solidFill>
                  <a:schemeClr val="tx2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1629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C2FB-1B2D-469D-A38D-7FF2D092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552C7-BC47-44E2-9383-9CDCB5642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61F1-E1F7-4398-98F5-E79C772F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39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847ED-95D5-4994-891C-21118C8DB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960" y="1737362"/>
            <a:ext cx="4914900" cy="4448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562DBE-1027-43E5-9E63-A5569EECAD60}"/>
              </a:ext>
            </a:extLst>
          </p:cNvPr>
          <p:cNvSpPr txBox="1"/>
          <p:nvPr/>
        </p:nvSpPr>
        <p:spPr>
          <a:xfrm>
            <a:off x="272480" y="2528914"/>
            <a:ext cx="444865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Cho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nh</a:t>
            </a:r>
            <a:r>
              <a:rPr lang="vi-VN" dirty="0"/>
              <a:t>ư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hở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kín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ra</a:t>
            </a:r>
          </a:p>
        </p:txBody>
      </p:sp>
    </p:spTree>
    <p:extLst>
      <p:ext uri="{BB962C8B-B14F-4D97-AF65-F5344CB8AC3E}">
        <p14:creationId xmlns:p14="http://schemas.microsoft.com/office/powerpoint/2010/main" val="787637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40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295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47346</TotalTime>
  <Words>2362</Words>
  <Application>Microsoft Office PowerPoint</Application>
  <PresentationFormat>A4 Paper (210x297 mm)</PresentationFormat>
  <Paragraphs>340</Paragraphs>
  <Slides>40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Calibri</vt:lpstr>
      <vt:lpstr>Calibri Light</vt:lpstr>
      <vt:lpstr>Times</vt:lpstr>
      <vt:lpstr>Times New Roman</vt:lpstr>
      <vt:lpstr>Wingdings</vt:lpstr>
      <vt:lpstr>Retrospect</vt:lpstr>
      <vt:lpstr>Equation</vt:lpstr>
      <vt:lpstr>PowerPoint Presentation</vt:lpstr>
      <vt:lpstr>Chương 6</vt:lpstr>
      <vt:lpstr>Mục tiêu</vt:lpstr>
      <vt:lpstr>Cấu tạo và đặc tính của mạch khuếch đại thuật toán Op-Amp</vt:lpstr>
      <vt:lpstr>Cấu tạo và đặc tính của mạch khuếch đại thuật toán Op-Amp</vt:lpstr>
      <vt:lpstr>Cấu tạo và đặc tính của mạch khuếch đại thuật toán Op-Amp</vt:lpstr>
      <vt:lpstr>Cấu tạo và đặc tính của mạch khuếch đại thuật toán Op-Amp</vt:lpstr>
      <vt:lpstr>Cấu tạo và đặc tính của mạch khuếch đại thuật toán Op-Amp</vt:lpstr>
      <vt:lpstr>Các chế độ hoạt động của Op-Amp</vt:lpstr>
      <vt:lpstr>Các chế độ hoạt động của Op-Amp</vt:lpstr>
      <vt:lpstr>Các chế độ hoạt động của Op-Amp</vt:lpstr>
      <vt:lpstr>Các chế độ hoạt động của Op-Amp</vt:lpstr>
      <vt:lpstr>Các thông số cơ bản của Op-Amp</vt:lpstr>
      <vt:lpstr>Các thông số cơ bản của Op-Amp</vt:lpstr>
      <vt:lpstr>Các thông số cơ bản của Op-Amp</vt:lpstr>
      <vt:lpstr>Các thông số cơ bản của Op-Amp</vt:lpstr>
      <vt:lpstr>Các thông số cơ bản của Op-Amp</vt:lpstr>
      <vt:lpstr>Các thông số cơ bản của Op-Amp</vt:lpstr>
      <vt:lpstr>Các thông số cơ bản của Op-Amp</vt:lpstr>
      <vt:lpstr>Các thông số cơ bản của Op-Amp</vt:lpstr>
      <vt:lpstr>Thank you!</vt:lpstr>
      <vt:lpstr>Chương 7</vt:lpstr>
      <vt:lpstr>Problem!!!</vt:lpstr>
      <vt:lpstr>Mạch hồi tiếp âm (Negative Feedback)</vt:lpstr>
      <vt:lpstr>Mạch hồi tiếp âm (Negative Feedback)</vt:lpstr>
      <vt:lpstr>Mạch khuếch đại không đảo (Non-Inverting Amplifier)</vt:lpstr>
      <vt:lpstr>Mạch khuếch đại không đảo (Non-Inverting Amplifier)</vt:lpstr>
      <vt:lpstr>Mạch theo điện áp (Voltage Follower)</vt:lpstr>
      <vt:lpstr>Mạch khuếch đại đảo (Inverting Amplifier)</vt:lpstr>
      <vt:lpstr>Trở kháng của mạch hồi tiếp âm</vt:lpstr>
      <vt:lpstr>Trở kháng của mạch hồi tiếp âm</vt:lpstr>
      <vt:lpstr>Ảnh hưởng của điện phân cực và hiệu điện thế bù</vt:lpstr>
      <vt:lpstr>Cách giảm ảnh hưởng của dòng phân cực cho mạch Op-Amp</vt:lpstr>
      <vt:lpstr>Cách giảm ảnh hưởng của dòng phân cực cho mạch Op-Amp</vt:lpstr>
      <vt:lpstr>Băng thông hoạt động của Op-Amp</vt:lpstr>
      <vt:lpstr>Băng thông hoạt động của Op-Amp có hồi tiếp âm</vt:lpstr>
      <vt:lpstr>Tóm lại</vt:lpstr>
      <vt:lpstr>Tóm lại</vt:lpstr>
      <vt:lpstr>Kiểm tra 15 phút</vt:lpstr>
      <vt:lpstr>Thank you!</vt:lpstr>
    </vt:vector>
  </TitlesOfParts>
  <Company>Mid Sweden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huytl</cp:lastModifiedBy>
  <cp:revision>985</cp:revision>
  <cp:lastPrinted>2004-10-20T11:26:57Z</cp:lastPrinted>
  <dcterms:created xsi:type="dcterms:W3CDTF">2005-06-07T08:25:50Z</dcterms:created>
  <dcterms:modified xsi:type="dcterms:W3CDTF">2018-12-04T08:08:46Z</dcterms:modified>
</cp:coreProperties>
</file>